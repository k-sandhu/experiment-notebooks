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THE STOCKROOM GUIDE  /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Know when to reorder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691640"/>
            <a:ext cx="92628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A3B2A"/>
                </a:solidFill>
                <a:latin typeface="Georgia"/>
              </a:defRPr>
            </a:pPr>
            <a:r>
              <a:t>Learn a simple reorder-point rule you can use during your daily stockroom review.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2743200"/>
            <a:ext cx="1090879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3063240"/>
            <a:ext cx="3474720" cy="22860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3017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01  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301752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See how demand, delivery time and a safety buffer set the reorder trigger.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3063240"/>
            <a:ext cx="3474720" cy="22860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3291840"/>
            <a:ext cx="3017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02  Work it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840480"/>
            <a:ext cx="301752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Follow one item from its reorder point to an order decision and quantity.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3063240"/>
            <a:ext cx="3474720" cy="22860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3291840"/>
            <a:ext cx="3017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03  Try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3840480"/>
            <a:ext cx="301752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Make a practice decision, then check the answer on the following slide.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669280"/>
            <a:ext cx="100584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Your goal: calculate the position, check the trigger, choose ORDER or WAIT.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400800"/>
            <a:ext cx="10908792" cy="0"/>
          </a:xfrm>
          <a:prstGeom prst="line">
            <a:avLst/>
          </a:prstGeom>
          <a:ln w="12700">
            <a:solidFill>
              <a:srgbClr val="D9C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49224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TRAINING GUIDE  •  All example data are synthetic.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THE RULE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4A3B2A"/>
                </a:solidFill>
                <a:latin typeface="Georgia"/>
              </a:defRPr>
            </a:pPr>
            <a:r>
              <a:t>Two calculations. One decision.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0879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783080"/>
            <a:ext cx="10725912" cy="150876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012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1  SET THE REORDER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50008"/>
            <a:ext cx="1001268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Reorder point = daily demand × lead time in days + safety stock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52928"/>
            <a:ext cx="10012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Cover expected demand during the delivery wait, then add a safety buffer.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93008"/>
            <a:ext cx="10725912" cy="150876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30168"/>
            <a:ext cx="10012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2  CALCULATE INVENTORY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59936"/>
            <a:ext cx="1001268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A3B2A"/>
                </a:solidFill>
                <a:latin typeface="Georgia"/>
              </a:defRPr>
            </a:pPr>
            <a:r>
              <a:t>Inventory position = on-hand + on-order − committed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62856"/>
            <a:ext cx="10012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Count stock here, add stock already ordered, subtract stock already promised.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30368"/>
            <a:ext cx="10725912" cy="8686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422392"/>
            <a:ext cx="10012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8E7"/>
                </a:solidFill>
                <a:latin typeface="Georgia"/>
              </a:defRPr>
            </a:pPr>
            <a:r>
              <a:t>ORDER when position ≤ reorder point. Otherwise, WAIT.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400800"/>
            <a:ext cx="10908792" cy="0"/>
          </a:xfrm>
          <a:prstGeom prst="line">
            <a:avLst/>
          </a:prstGeom>
          <a:ln w="12700">
            <a:solidFill>
              <a:srgbClr val="D9C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649224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TRAINING GUIDE  •  Exactly at the reorder point means ORDER.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WORKED EXAMPLE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Build the 123-unit trigger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0879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828800"/>
            <a:ext cx="3017520" cy="425196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057400"/>
            <a:ext cx="250545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A3B2A"/>
                </a:solidFill>
                <a:latin typeface="Georgia"/>
              </a:defRPr>
            </a:pPr>
            <a:r>
              <a:t>The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43200"/>
            <a:ext cx="2505456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Daily demand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19 units per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730752"/>
            <a:ext cx="2505456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Lead 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5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718304"/>
            <a:ext cx="2505456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Safety stock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28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901952"/>
            <a:ext cx="70408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A3B2A"/>
                </a:solidFill>
                <a:latin typeface="Georgia"/>
              </a:defRPr>
            </a:pPr>
            <a:r>
              <a:t>1  Cover the delivery wait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50592"/>
            <a:ext cx="70408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C45B3A"/>
                </a:solidFill>
                <a:latin typeface="Georgia"/>
              </a:defRPr>
            </a:pPr>
            <a:r>
              <a:t>19 units/day × 5 days = 95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990088"/>
            <a:ext cx="70408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Expected demand during the 5-day lead time.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3611880"/>
            <a:ext cx="7086600" cy="0"/>
          </a:xfrm>
          <a:prstGeom prst="line">
            <a:avLst/>
          </a:prstGeom>
          <a:ln w="12700">
            <a:solidFill>
              <a:srgbClr val="D9C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60520" y="3794760"/>
            <a:ext cx="70408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A3B2A"/>
                </a:solidFill>
                <a:latin typeface="Georgia"/>
              </a:defRPr>
            </a:pPr>
            <a:r>
              <a:t>2  Add the safety buffer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4343400"/>
            <a:ext cx="70408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C45B3A"/>
                </a:solidFill>
                <a:latin typeface="Georgia"/>
              </a:defRPr>
            </a:pPr>
            <a:r>
              <a:t>95 units + 28 units = 123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4882896"/>
            <a:ext cx="70408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Add safety stock once, after multiplying.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5477256"/>
            <a:ext cx="7086600" cy="603504"/>
          </a:xfrm>
          <a:prstGeom prst="roundRect">
            <a:avLst/>
          </a:prstGeom>
          <a:solidFill>
            <a:srgbClr val="E9D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5596128"/>
            <a:ext cx="6675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Reorder at a position of 123 units or less.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400800"/>
            <a:ext cx="10908792" cy="0"/>
          </a:xfrm>
          <a:prstGeom prst="line">
            <a:avLst/>
          </a:prstGeom>
          <a:ln w="12700">
            <a:solidFill>
              <a:srgbClr val="D9C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9224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TRAINING GUIDE  •  Synthetic example  •  Lead time is the wait for replenishment.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INVENTORY CHECK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118 units means 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0879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48006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</a:tblGrid>
              <a:tr h="60579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Inventory input</a:t>
                      </a:r>
                    </a:p>
                  </a:txBody>
                  <a:tcPr marL="64008" marR="64008" marT="36576" marB="36576">
                    <a:solidFill>
                      <a:srgbClr val="E9D7B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E9D7B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7EE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115</a:t>
                      </a:r>
                    </a:p>
                  </a:txBody>
                  <a:tcPr marL="64008" marR="64008" marT="36576" marB="36576">
                    <a:solidFill>
                      <a:srgbClr val="F7EED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7EE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20</a:t>
                      </a:r>
                    </a:p>
                  </a:txBody>
                  <a:tcPr marL="64008" marR="64008" marT="36576" marB="36576">
                    <a:solidFill>
                      <a:srgbClr val="F7EED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7EE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7EED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526280"/>
            <a:ext cx="4663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38344"/>
            <a:ext cx="46634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45B3A"/>
                </a:solidFill>
                <a:latin typeface="Georgia"/>
              </a:defRPr>
            </a:pPr>
            <a:r>
              <a:t>115 + 20 − 17 = 118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32704"/>
            <a:ext cx="4663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Include existing orders; subtract commitments.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828800"/>
            <a:ext cx="5468112" cy="150876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048256"/>
            <a:ext cx="49194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8E7"/>
                </a:solidFill>
                <a:latin typeface="Georgia"/>
              </a:defRPr>
            </a:pPr>
            <a:r>
              <a:t>118 &lt; 123 units →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697480"/>
            <a:ext cx="49194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8E7"/>
                </a:solidFill>
                <a:latin typeface="Georgia"/>
              </a:defRPr>
            </a:pPr>
            <a:r>
              <a:t>Position is 5 units below the trigger.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611880"/>
            <a:ext cx="5468112" cy="246888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813048"/>
            <a:ext cx="49194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A3B2A"/>
                </a:solidFill>
                <a:latin typeface="Georgia"/>
              </a:defRPr>
            </a:pPr>
            <a:r>
              <a:t>How much to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379976"/>
            <a:ext cx="49194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Given target position: 223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82896"/>
            <a:ext cx="49194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C45B3A"/>
                </a:solidFill>
                <a:latin typeface="Georgia"/>
              </a:defRPr>
            </a:pPr>
            <a:r>
              <a:t>223 − 118 = 105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495544"/>
            <a:ext cx="49194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Order 105 units to reach the target.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400800"/>
            <a:ext cx="10908792" cy="0"/>
          </a:xfrm>
          <a:prstGeom prst="line">
            <a:avLst/>
          </a:prstGeom>
          <a:ln w="12700">
            <a:solidFill>
              <a:srgbClr val="D9C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49224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TRAINING GUIDE  •  Synthetic example  •  Trigger: 123 units  |  Target: 223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DAILY PROCESS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Follow the decision from left to right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0879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8308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At each daily review, read the current counts and apply the same rule.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377440" cy="16459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70632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1  Read 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00984"/>
            <a:ext cx="20116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On-hand, on-order,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committed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3383280"/>
            <a:ext cx="4572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2560320"/>
            <a:ext cx="2880360" cy="16459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770632"/>
            <a:ext cx="2514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2  Calculate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300984"/>
            <a:ext cx="2514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Position = on-hand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+ on-order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− committed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46520" y="3383280"/>
            <a:ext cx="4572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03720" y="2560320"/>
            <a:ext cx="2423160" cy="1645920"/>
          </a:xfrm>
          <a:prstGeom prst="roundRect">
            <a:avLst/>
          </a:prstGeom>
          <a:solidFill>
            <a:srgbClr val="E9D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770632"/>
            <a:ext cx="2057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3  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300984"/>
            <a:ext cx="20574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Position ≤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reorder point?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26880" y="3081528"/>
            <a:ext cx="41148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38360" y="2560320"/>
            <a:ext cx="1719072" cy="105156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734056"/>
            <a:ext cx="144475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8E7"/>
                </a:solidFill>
                <a:latin typeface="Georgia"/>
              </a:defRPr>
            </a:pPr>
            <a:r>
              <a:t>YES →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8E7"/>
                </a:solidFill>
                <a:latin typeface="Georgia"/>
              </a:defRPr>
            </a:pPr>
            <a:r>
              <a:t>ORDER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15300" y="4206240"/>
            <a:ext cx="0" cy="50292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03720" y="4709160"/>
            <a:ext cx="2423160" cy="77724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4892040"/>
            <a:ext cx="2057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NO → WAIT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15300" y="5486400"/>
            <a:ext cx="0" cy="54864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920240" y="6035040"/>
            <a:ext cx="619506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920240" y="4206240"/>
            <a:ext cx="0" cy="182880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719072" y="4224528"/>
            <a:ext cx="40233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C45B3A"/>
                </a:solidFill>
                <a:latin typeface="Georgia"/>
              </a:defRPr>
            </a:pPr>
            <a:r>
              <a:t>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559552"/>
            <a:ext cx="4251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45B3A"/>
                </a:solidFill>
                <a:latin typeface="Georgia"/>
              </a:defRPr>
            </a:pPr>
            <a:r>
              <a:t>Return at the next daily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9224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TRAINING GUIDE  •  At or below the trigger: ORDER. Above the trigger: WAIT.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YOUR TURN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Would you ORDER or WAIT?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0879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1560" y="1874519"/>
            <a:ext cx="10058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You have calculated today’s inventory position. Apply the rule.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697480"/>
            <a:ext cx="4846320" cy="178308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916936"/>
            <a:ext cx="4206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02152"/>
            <a:ext cx="42062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C45B3A"/>
                </a:solidFill>
                <a:latin typeface="Georgia"/>
              </a:defRPr>
            </a:pPr>
            <a:r>
              <a:t>135 units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2697480"/>
            <a:ext cx="4846320" cy="178308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916936"/>
            <a:ext cx="4206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Reorder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3502152"/>
            <a:ext cx="42062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C45B3A"/>
                </a:solidFill>
                <a:latin typeface="Georgia"/>
              </a:defRPr>
            </a:pPr>
            <a:r>
              <a:t>123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828032"/>
            <a:ext cx="10058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Choose your action. Then calculate how many units the position is above or below the trigger.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806440"/>
            <a:ext cx="10058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5B3A"/>
                </a:solidFill>
                <a:latin typeface="Georgia"/>
              </a:defRPr>
            </a:pPr>
            <a:r>
              <a:t>Pause here. The answer is on the next slide.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00800"/>
            <a:ext cx="10908792" cy="0"/>
          </a:xfrm>
          <a:prstGeom prst="line">
            <a:avLst/>
          </a:prstGeom>
          <a:ln w="12700">
            <a:solidFill>
              <a:srgbClr val="D9C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49224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TRAINING GUIDE  •  Synthetic practice exercise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ANSWER &amp; COMMON MIX-UPS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Practice answer: WAIT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10972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19656"/>
            <a:ext cx="10177272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8E7"/>
                </a:solidFill>
                <a:latin typeface="Georgia"/>
              </a:defRPr>
            </a:pPr>
            <a:r>
              <a:t>135 − 123 = 12 units above the trigger.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13432"/>
            <a:ext cx="101772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8E7"/>
                </a:solidFill>
                <a:latin typeface="Georgia"/>
              </a:defRPr>
            </a:pPr>
            <a:r>
              <a:t>135 &gt; 123, so WAIT and check again at the next daily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104515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A3B2A"/>
                </a:solidFill>
                <a:latin typeface="Georgia"/>
              </a:defRPr>
            </a:pPr>
            <a:r>
              <a:t>Three mix-ups to avoid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410712" cy="25146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822191"/>
            <a:ext cx="29718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Use the full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709160"/>
            <a:ext cx="29718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Do not compare on-hand alone. Add on-order and subtract committed stock.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611880"/>
            <a:ext cx="3410712" cy="25146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3822191"/>
            <a:ext cx="29718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Add safety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stock 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4709160"/>
            <a:ext cx="29718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Do not multiply safety stock by lead time. Multiply daily demand by days first.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611880"/>
            <a:ext cx="3410712" cy="25146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3822191"/>
            <a:ext cx="29718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Separate trigger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from quantity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4709160"/>
            <a:ext cx="29718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A larger reorder point is still a trigger. Order quantity uses target minus position.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400800"/>
            <a:ext cx="10908792" cy="0"/>
          </a:xfrm>
          <a:prstGeom prst="line">
            <a:avLst/>
          </a:prstGeom>
          <a:ln w="12700">
            <a:solidFill>
              <a:srgbClr val="D9C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49224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TRAINING GUIDE  •  Synthetic practice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SHIFT CHECKLIST  / 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Before you place the 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1090879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783080"/>
            <a:ext cx="10725912" cy="201168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56816"/>
            <a:ext cx="48920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1  Verify units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Use matching stock units and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56816"/>
            <a:ext cx="48920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2  Include existing orders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Add the on-order quantity.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920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3  Subtract commitments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Remove stock already promised.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852928"/>
            <a:ext cx="48920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4  Check the trigger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At or below: ORDER. Above: WAIT.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50791"/>
            <a:ext cx="104515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Read the position against the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636008"/>
            <a:ext cx="5074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45B3A"/>
                </a:solidFill>
                <a:latin typeface="Georgia"/>
              </a:defRPr>
            </a:pPr>
            <a:r>
              <a:t>ORDER at or below 123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636008"/>
            <a:ext cx="4663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WAIT above 123 units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7280" y="5440680"/>
            <a:ext cx="992124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" y="5312664"/>
            <a:ext cx="0" cy="256032"/>
          </a:xfrm>
          <a:prstGeom prst="line">
            <a:avLst/>
          </a:prstGeom>
          <a:ln w="190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31920" y="5312664"/>
            <a:ext cx="0" cy="256032"/>
          </a:xfrm>
          <a:prstGeom prst="line">
            <a:avLst/>
          </a:prstGeom>
          <a:ln w="190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57900" y="5047488"/>
            <a:ext cx="0" cy="576072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83879" y="5312664"/>
            <a:ext cx="0" cy="256032"/>
          </a:xfrm>
          <a:prstGeom prst="line">
            <a:avLst/>
          </a:prstGeom>
          <a:ln w="190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018520" y="5312664"/>
            <a:ext cx="0" cy="256032"/>
          </a:xfrm>
          <a:prstGeom prst="line">
            <a:avLst/>
          </a:prstGeom>
          <a:ln w="190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5632704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5632704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696712"/>
            <a:ext cx="2057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123 units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Trigger: 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632704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5632704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6025896"/>
            <a:ext cx="2606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3B2A"/>
                </a:solidFill>
                <a:latin typeface="Georgia"/>
              </a:defRPr>
            </a:pPr>
            <a:r>
              <a:t>Inventory position (units)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400800"/>
            <a:ext cx="10908792" cy="0"/>
          </a:xfrm>
          <a:prstGeom prst="line">
            <a:avLst/>
          </a:prstGeom>
          <a:ln w="12700">
            <a:solidFill>
              <a:srgbClr val="D9C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49224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TRAINING GUIDE  •  Synthetic example  •  Order quantity = target position − inventory position.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