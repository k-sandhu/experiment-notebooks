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9C8B74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Passed strength test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Passed strength test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65.5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C8B7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Batch P</c:v>
                </c:pt>
                <c:pt idx="1">
                  <c:v>Batch Q</c:v>
                </c:pt>
                <c:pt idx="2">
                  <c:v>Batch 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01 ·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A3B2A"/>
                </a:solidFill>
                <a:latin typeface="Georgia"/>
              </a:defRPr>
            </a:pPr>
            <a:r>
              <a:t>Does treatment beat control on pass rate and durability?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Fictional material-screening study · all data are synthetic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920240"/>
            <a:ext cx="0" cy="219456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1874519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5852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Compared with control, does the treatment raise the share of samples that pass the strength test, and does it hold up better across exposure cycles?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58521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4C38"/>
                </a:solidFill>
                <a:latin typeface="Georgia"/>
              </a:defRPr>
            </a:pPr>
            <a:r>
              <a:t>Samples were randomly assigned to treatment or control. Pass rate is the share passing a predefined strength test; durability is the % retained at cycles 0, 100, 200 and 300.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74519"/>
            <a:ext cx="4023360" cy="406908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57400"/>
            <a:ext cx="3474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Scope at a glance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560320"/>
            <a:ext cx="347472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0" y="26974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697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20040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70332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7033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0624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0624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Synthetic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0060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45B3A"/>
                </a:solidFill>
                <a:latin typeface="Georgia"/>
              </a:defRPr>
            </a:pPr>
            <a:r>
              <a:t>One lab and one batch limit how far any result can generalize.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Two matched arms, one predefined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220 samples per group · equal exposure · same test equipment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643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958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220 per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12110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990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305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 exposure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5580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3371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6523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Same equipment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39051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476841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9993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Strength-test pass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2521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15468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55279" y="3154680"/>
            <a:ext cx="3410712" cy="292608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337560"/>
            <a:ext cx="2971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Why it matters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83879" y="3794760"/>
            <a:ext cx="1143001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83879" y="3931920"/>
            <a:ext cx="297180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Arms share duration, equipment and endpoint, so assignment is the planned difference. Exclusions were reviewed before final reporting.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Treatment passed 7.7 points more often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Fixed denominators: 220 samples in each arm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by arm, % of 220 samples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57607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8308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Arm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65.5%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+7.7 pp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3703320"/>
            <a:ext cx="214884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+7.7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443983"/>
            <a:ext cx="214884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493776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81160" y="3703320"/>
            <a:ext cx="214884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+17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4443983"/>
            <a:ext cx="214884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more passes of 220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493776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5120640"/>
            <a:ext cx="4572000" cy="105156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5166360"/>
            <a:ext cx="4206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(144 − 127) / 220 = 17 / 220 = 7.7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Unrounded: 65.45% − 57.73% = 7.73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 · counts after duplicate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04 ·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Durability gap widens with every 100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Durability retained (%) at exposure cycles 0, 100, 200 and 300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retained, % by exposure cycle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71323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9788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Exposure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−42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496312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Control, 100% → 58%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297180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310896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−27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822191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Treatment, 100% → 73%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429768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4480560"/>
            <a:ext cx="3108960" cy="169164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57200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Gap: treatment −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83480"/>
            <a:ext cx="274320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0 → 5 → 10 → 15 pts at cycles 0, 100, 200,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05 ·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Treatment passes split evenly across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Counts of passing treatment samples by batch label P, Q, 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61264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783080"/>
            <a:ext cx="4114800" cy="205740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Counts, not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77440"/>
            <a:ext cx="36576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were not supplied, so a pass rate for P, Q or R cannot be computed or compared.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23360"/>
            <a:ext cx="4114800" cy="91440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069080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48 + 48 + 48 = 144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= total treatment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20640"/>
            <a:ext cx="41148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4C38"/>
                </a:solidFill>
                <a:latin typeface="Georgia"/>
              </a:defRPr>
            </a:pPr>
            <a:r>
              <a:t>Consistency check: the study is described as one batch; the meaning of the P/Q/R labels should be clarified.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06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Audit removed 13 duplicate treatment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What changed, what stayed fixed, and what is deliberately not claimed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828800"/>
            <a:ext cx="3840480" cy="42976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E3C7"/>
                </a:solidFill>
                <a:latin typeface="Georgia"/>
              </a:defRPr>
            </a:pPr>
            <a:r>
              <a:t>TREATMENT PASSES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8E7"/>
                </a:solidFill>
                <a:latin typeface="Georgia"/>
              </a:defRPr>
            </a:pPr>
            <a:r>
              <a:t>157 − 13 = 144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383280"/>
            <a:ext cx="1280160" cy="0"/>
          </a:xfrm>
          <a:prstGeom prst="line">
            <a:avLst/>
          </a:prstGeom>
          <a:ln w="19050">
            <a:solidFill>
              <a:srgbClr val="FFF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3566160"/>
            <a:ext cx="32918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8E7"/>
                </a:solidFill>
                <a:latin typeface="Georgia"/>
              </a:defRPr>
            </a:pPr>
            <a:r>
              <a:t>13 duplicate positive treatment records were removed. Denominators remain correct at 220 per arm; control is unchanged at 127.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0" y="1828800"/>
          <a:ext cx="63367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3168396"/>
              </a:tblGrid>
              <a:tr h="6139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Duplicate positive treatment records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13 removed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of 220 (65.5%)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 passes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of 220 (unchanged)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 per arm, correct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measured sample difference, not field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Reading the results within the study's limits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43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The observed treatment pass rate is higher by 7.7 points (65.5% vs 57.7%). This is a measured sample difference, not evidence of broad field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5120640" cy="292608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Supported by this sample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794760"/>
            <a:ext cx="1097280" cy="0"/>
          </a:xfrm>
          <a:prstGeom prst="line">
            <a:avLst/>
          </a:prstGeom>
          <a:ln w="25400">
            <a:solidFill>
              <a:srgbClr val="7A8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Pass rate 65.5% vs 57.7% (144 vs 127 of 220)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Durability 73% vs 58% retained at cycle 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Random assignment within one lab and 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Duplicates removed; denominators fixed at 220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200400"/>
            <a:ext cx="5120640" cy="292608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33756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Not supported yet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19672" y="3794760"/>
            <a:ext cx="10972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19672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Broad field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Results beyond one lab and 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Subgroup pass rates for P, Q,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08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Replicate before any deployment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Four independent labs, blinded scoring, and a second batch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783080"/>
            <a:ext cx="10543032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43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8E7"/>
                </a:solidFill>
                <a:latin typeface="Georgia"/>
              </a:defRPr>
            </a:pPr>
            <a:r>
              <a:t>Decision: make no deployment claim now. Replicate in 4 independent labs with blinded scoring.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4 independent labs with blinded scoring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297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7025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7025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Preserve a control arm in every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Exclusions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Preregister exclusion rules in advance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5974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5701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5701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Record batch conditions for every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32120"/>
            <a:ext cx="10543032" cy="68580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9943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Gate: a second batch is needed before any deployment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