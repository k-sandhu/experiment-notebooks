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Seats</c:v>
                </c:pt>
              </c:strCache>
            </c:strRef>
          </c:tx>
          <c:spPr>
            <a:solidFill>
              <a:srgbClr val="0055A4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</c:v>
                </c:pt>
                <c:pt idx="1">
                  <c:v>43</c:v>
                </c:pt>
                <c:pt idx="2">
                  <c:v>34</c:v>
                </c:pt>
                <c:pt idx="3">
                  <c:v>49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>
                  <a:solidFill>
                    <a:srgbClr val="333333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333333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333333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solidFill>
            <a:srgbClr val="333333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0055A4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Materials</c:v>
                </c:pt>
                <c:pt idx="1">
                  <c:v>Venue</c:v>
                </c:pt>
                <c:pt idx="2">
                  <c:v>Outreach</c:v>
                </c:pt>
                <c:pt idx="3">
                  <c:v>Access support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1340</c:v>
                </c:pt>
                <c:pt idx="1">
                  <c:v>1000</c:v>
                </c:pt>
                <c:pt idx="2">
                  <c:v>680</c:v>
                </c:pt>
                <c:pt idx="3">
                  <c:v>300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>
                  <a:solidFill>
                    <a:srgbClr val="333333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333333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333333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333333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Items</c:v>
                </c:pt>
              </c:strCache>
            </c:strRef>
          </c:tx>
          <c:spPr>
            <a:solidFill>
              <a:srgbClr val="0055A4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Repaired</c:v>
                </c:pt>
                <c:pt idx="1">
                  <c:v>Referred</c:v>
                </c:pt>
                <c:pt idx="2">
                  <c:v>Not repairable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60</c:v>
                </c:pt>
                <c:pt idx="1">
                  <c:v>24</c:v>
                </c:pt>
                <c:pt idx="2">
                  <c:v>16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>
                  <a:solidFill>
                    <a:srgbClr val="333333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333333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333333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solidFill>
            <a:srgbClr val="333333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55A4"/>
                </a:solidFill>
                <a:latin typeface="Arial"/>
              </a:defRPr>
            </a:pPr>
            <a:r>
              <a:t>01 · PURPOSE · FICTIONAL NEIGHBORHOOD REPAIR CAFE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333333"/>
                </a:solidFill>
                <a:latin typeface="Arial"/>
              </a:defRPr>
            </a:pPr>
            <a:r>
              <a:t>CALL FOR VOLUNTEERS: HELP YOUR NEIGHBORS REPAIR, NOT REPLACE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148840"/>
            <a:ext cx="1280160" cy="4572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331720"/>
            <a:ext cx="822960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333333"/>
                </a:solidFill>
                <a:latin typeface="Arial"/>
              </a:defRPr>
            </a:pPr>
            <a:r>
              <a:t>Everyone is welcome to take part in this fictional repair-cafe campaign: bring an item as a participant, or help sessions run smoothly as a volunteer.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429000"/>
            <a:ext cx="3291840" cy="27432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566160"/>
            <a:ext cx="32918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55A4"/>
                </a:solidFill>
                <a:latin typeface="Arial"/>
              </a:defRPr>
            </a:pPr>
            <a:r>
              <a:t>WHO CAN TAKE PART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77639"/>
            <a:ext cx="3291840" cy="1280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t>Any community member. Participants bring one small household item; volunteers need no specialist qualification.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48556" y="3429000"/>
            <a:ext cx="3291840" cy="27432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48556" y="3566160"/>
            <a:ext cx="32918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55A4"/>
                </a:solidFill>
                <a:latin typeface="Arial"/>
              </a:defRPr>
            </a:pPr>
            <a:r>
              <a:t>EVENT SEQUENCE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8556" y="3977639"/>
            <a:ext cx="3291840" cy="1280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t>Registration (week 1) → training (week 2) → venue confirmation (week 3) → four sessions (week 5) → follow-up (week 6).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65592" y="3429000"/>
            <a:ext cx="3291840" cy="27432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65592" y="3566160"/>
            <a:ext cx="32918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55A4"/>
                </a:solidFill>
                <a:latin typeface="Arial"/>
              </a:defRPr>
            </a:pPr>
            <a:r>
              <a:t>HOW TO VOLUNTEER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65592" y="3977639"/>
            <a:ext cx="3291840" cy="1280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t>Choose a role (welcome, repair support or safety check) and sign up by the end of week 2.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440680"/>
            <a:ext cx="10725912" cy="68580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559552"/>
            <a:ext cx="103327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THE ASK: Sign up by the end of week 2 · Events run in week 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355080"/>
            <a:ext cx="82296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77777"/>
                </a:solidFill>
                <a:latin typeface="Arial"/>
              </a:defRPr>
            </a:pPr>
            <a:r>
              <a:t>Fictional repair initiative · All data are synthetic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25912" y="6355080"/>
            <a:ext cx="7315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77777"/>
                </a:solidFill>
                <a:latin typeface="Arial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55A4"/>
                </a:solidFill>
                <a:latin typeface="Arial"/>
              </a:defRPr>
            </a:pPr>
            <a:r>
              <a:t>02 · CAPACITY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333333"/>
                </a:solidFill>
                <a:latin typeface="Arial"/>
              </a:defRPr>
            </a:pPr>
            <a:r>
              <a:t>176 SEATS ACROSS FOUR SESSIONS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280160" cy="4572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100584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333333"/>
                </a:solidFill>
                <a:latin typeface="Arial"/>
              </a:defRPr>
            </a:pPr>
            <a:r>
              <a:t>North is the largest session (50 seats) and South the smallest (34). Every session lasts 2 hours.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14600"/>
            <a:ext cx="69494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33333"/>
                </a:solidFill>
                <a:latin typeface="Arial"/>
              </a:defRPr>
            </a:pPr>
            <a:r>
              <a:t>Seats per session (count of seats)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31520" y="2880360"/>
          <a:ext cx="6949440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8321040" y="2560320"/>
            <a:ext cx="27432" cy="361188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0" y="2514600"/>
            <a:ext cx="283464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0055A4"/>
                </a:solidFill>
                <a:latin typeface="Arial"/>
              </a:defRPr>
            </a:pPr>
            <a:r>
              <a:t>176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3200400"/>
            <a:ext cx="28346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total seats = 50 + 43 + 34 + 49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95360" y="3749039"/>
            <a:ext cx="2834640" cy="18288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0" y="3840480"/>
            <a:ext cx="283464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0055A4"/>
                </a:solidFill>
                <a:latin typeface="Arial"/>
              </a:defRPr>
            </a:pPr>
            <a:r>
              <a:t>4 × 2 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4526280"/>
            <a:ext cx="28346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= 8 session-hours in total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95360" y="5074920"/>
            <a:ext cx="2834640" cy="18288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0" y="5166360"/>
            <a:ext cx="283464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0055A4"/>
                </a:solidFill>
                <a:latin typeface="Arial"/>
              </a:defRPr>
            </a:pPr>
            <a:r>
              <a:t>44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5852160"/>
            <a:ext cx="28346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average seats per session (176 ÷ 4)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355080"/>
            <a:ext cx="82296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77777"/>
                </a:solidFill>
                <a:latin typeface="Arial"/>
              </a:defRPr>
            </a:pPr>
            <a:r>
              <a:t>Fictional repair initiative · All data are synthetic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25912" y="6355080"/>
            <a:ext cx="7315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77777"/>
                </a:solidFill>
                <a:latin typeface="Arial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55A4"/>
                </a:solidFill>
                <a:latin typeface="Arial"/>
              </a:defRPr>
            </a:pPr>
            <a:r>
              <a:t>03 · VOLUNTEERS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333333"/>
                </a:solidFill>
                <a:latin typeface="Arial"/>
              </a:defRPr>
            </a:pPr>
            <a:r>
              <a:t>40 VOLUNTEERS · 120 VOLUNTEER-HOURS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280160" cy="4572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100584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333333"/>
                </a:solidFill>
                <a:latin typeface="Arial"/>
              </a:defRPr>
            </a:pPr>
            <a:r>
              <a:t>Each volunteer gives 3 hours. No specialist qualification is required.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514600"/>
            <a:ext cx="329184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606040"/>
            <a:ext cx="301752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0055A4"/>
                </a:solidFill>
                <a:latin typeface="Arial"/>
              </a:defRPr>
            </a:pPr>
            <a:r>
              <a:t>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08960"/>
            <a:ext cx="30175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t>volunteers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4448556" y="2514600"/>
            <a:ext cx="329184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1436" y="2606040"/>
            <a:ext cx="301752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0055A4"/>
                </a:solidFill>
                <a:latin typeface="Arial"/>
              </a:defRPr>
            </a:pPr>
            <a:r>
              <a:t>× 3 hours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1436" y="3108960"/>
            <a:ext cx="30175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t>per volunteer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65592" y="2514600"/>
            <a:ext cx="3291840" cy="100584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48472" y="2606040"/>
            <a:ext cx="301752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Arial"/>
              </a:defRPr>
            </a:pPr>
            <a:r>
              <a:t>= 120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8472" y="3108960"/>
            <a:ext cx="30175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Arial"/>
              </a:defRPr>
            </a:pPr>
            <a:r>
              <a:t>volunteer-hours in total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886200"/>
            <a:ext cx="3291840" cy="27432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023360"/>
            <a:ext cx="32918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55A4"/>
                </a:solidFill>
                <a:latin typeface="Arial"/>
              </a:defRPr>
            </a:pPr>
            <a:r>
              <a:t>WELCOME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434840"/>
            <a:ext cx="3291840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t>Greet participants, register walk-ins within session capacity and explain how the session works.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48556" y="3886200"/>
            <a:ext cx="3291840" cy="27432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48556" y="4023360"/>
            <a:ext cx="32918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55A4"/>
                </a:solidFill>
                <a:latin typeface="Arial"/>
              </a:defRPr>
            </a:pPr>
            <a:r>
              <a:t>REPAIR SUPPORT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8556" y="4434840"/>
            <a:ext cx="3291840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t>Work alongside participants on their items, share tools and look for available parts.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65592" y="3886200"/>
            <a:ext cx="3291840" cy="27432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65592" y="4023360"/>
            <a:ext cx="32918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55A4"/>
                </a:solidFill>
                <a:latin typeface="Arial"/>
              </a:defRPr>
            </a:pPr>
            <a:r>
              <a:t>SAFETY CHECK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5592" y="4434840"/>
            <a:ext cx="3291840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t>Keep workspaces and tools in order and flag concerns to the organizer. Not a safety certification.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5715000"/>
            <a:ext cx="10725912" cy="18288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806440"/>
            <a:ext cx="106984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33333"/>
                </a:solidFill>
                <a:latin typeface="Arial"/>
              </a:defRPr>
            </a:pPr>
            <a:r>
              <a:t>Coverage: 176 seats ÷ 40 volunteers = 4.4 seats per volunteer.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6355080"/>
            <a:ext cx="82296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77777"/>
                </a:solidFill>
                <a:latin typeface="Arial"/>
              </a:defRPr>
            </a:pPr>
            <a:r>
              <a:t>Fictional repair initiative · All data are synthetic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25912" y="6355080"/>
            <a:ext cx="7315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77777"/>
                </a:solidFill>
                <a:latin typeface="Arial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55A4"/>
                </a:solidFill>
                <a:latin typeface="Arial"/>
              </a:defRPr>
            </a:pPr>
            <a:r>
              <a:t>04 · BUDGET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333333"/>
                </a:solidFill>
                <a:latin typeface="Arial"/>
              </a:defRPr>
            </a:pPr>
            <a:r>
              <a:t>A $3,320 BUDGET, LED BY MATERIALS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280160" cy="4572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1069848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333333"/>
                </a:solidFill>
                <a:latin typeface="Arial"/>
              </a:defRPr>
            </a:pPr>
            <a:r>
              <a:t>Materials and venue make up 70.5% of spend; access support is funded at $300 (9.0%).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560320"/>
          <a:ext cx="630936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</a:tblGrid>
              <a:tr h="50292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Category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Amount (USD)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Share of total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Materials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$1,340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40.4%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Venue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$1,000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30.1%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Outreach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$680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20.5%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Access support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$300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9.0%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Total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$3,320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100.0%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80960" y="2560320"/>
            <a:ext cx="3749039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33333"/>
                </a:solidFill>
                <a:latin typeface="Arial"/>
              </a:defRPr>
            </a:pPr>
            <a:r>
              <a:t>Amount by category (USD)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680960" y="2926080"/>
          <a:ext cx="3776472" cy="2651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731520" y="5760720"/>
            <a:ext cx="10725912" cy="18288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852160"/>
            <a:ext cx="1072591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t>Check: $1,340 + $1,000 + $680 + $300 = $3,320  ·  ≈ $18.86 per seat ($3,320 ÷ 176 seats)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355080"/>
            <a:ext cx="82296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77777"/>
                </a:solidFill>
                <a:latin typeface="Arial"/>
              </a:defRPr>
            </a:pPr>
            <a:r>
              <a:t>Fictional repair initiative · All data are synthetic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25912" y="6355080"/>
            <a:ext cx="7315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77777"/>
                </a:solidFill>
                <a:latin typeface="Arial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55A4"/>
                </a:solidFill>
                <a:latin typeface="Arial"/>
              </a:defRPr>
            </a:pPr>
            <a:r>
              <a:t>05 · SCHEDULE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333333"/>
                </a:solidFill>
                <a:latin typeface="Arial"/>
              </a:defRPr>
            </a:pPr>
            <a:r>
              <a:t>SIX WEEKS FROM REGISTRATION TO FOLLOW-UP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280160" cy="4572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1069848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333333"/>
                </a:solidFill>
                <a:latin typeface="Arial"/>
              </a:defRPr>
            </a:pPr>
            <a:r>
              <a:t>Week 5 events go ahead only when training (week 2) AND venue confirmation (week 3) are complete.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06040"/>
            <a:ext cx="16459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55A4"/>
                </a:solidFill>
                <a:latin typeface="Arial"/>
              </a:defRPr>
            </a:pPr>
            <a:r>
              <a:t>WEEK 1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971800"/>
            <a:ext cx="164592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3081528"/>
            <a:ext cx="146304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33333"/>
                </a:solidFill>
                <a:latin typeface="Arial"/>
              </a:defRPr>
            </a:pPr>
            <a:r>
              <a:t>Registration opens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47518" y="2606040"/>
            <a:ext cx="16459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55A4"/>
                </a:solidFill>
                <a:latin typeface="Arial"/>
              </a:defRPr>
            </a:pPr>
            <a:r>
              <a:t>WEEK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47518" y="2971800"/>
            <a:ext cx="164592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005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57246" y="3081528"/>
            <a:ext cx="146304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33333"/>
                </a:solidFill>
                <a:latin typeface="Arial"/>
              </a:defRPr>
            </a:pPr>
            <a:r>
              <a:t>Volunteer training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63516" y="2606040"/>
            <a:ext cx="16459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55A4"/>
                </a:solidFill>
                <a:latin typeface="Arial"/>
              </a:defRPr>
            </a:pPr>
            <a:r>
              <a:t>WEEK 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63516" y="2971800"/>
            <a:ext cx="164592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005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73244" y="3081528"/>
            <a:ext cx="146304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33333"/>
                </a:solidFill>
                <a:latin typeface="Arial"/>
              </a:defRPr>
            </a:pPr>
            <a:r>
              <a:t>Venue confirmation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9515" y="2606040"/>
            <a:ext cx="16459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999999"/>
                </a:solidFill>
                <a:latin typeface="Arial"/>
              </a:defRPr>
            </a:pPr>
            <a:r>
              <a:t>WEEK 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9515" y="2971800"/>
            <a:ext cx="1645920" cy="1371600"/>
          </a:xfrm>
          <a:prstGeom prst="rect">
            <a:avLst/>
          </a:prstGeom>
          <a:solidFill>
            <a:srgbClr val="F5F5F5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89243" y="3081528"/>
            <a:ext cx="146304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99999"/>
                </a:solidFill>
                <a:latin typeface="Arial"/>
              </a:defRPr>
            </a:pPr>
            <a:r>
              <a:t>No milestone listed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95513" y="2606040"/>
            <a:ext cx="16459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55A4"/>
                </a:solidFill>
                <a:latin typeface="Arial"/>
              </a:defRPr>
            </a:pPr>
            <a:r>
              <a:t>WEEK 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95513" y="2971800"/>
            <a:ext cx="1645920" cy="137160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05241" y="3081528"/>
            <a:ext cx="146304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Repair events: 4 sessions × 2 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11512" y="2606040"/>
            <a:ext cx="16459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55A4"/>
                </a:solidFill>
                <a:latin typeface="Arial"/>
              </a:defRPr>
            </a:pPr>
            <a:r>
              <a:t>WEEK 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811512" y="2971800"/>
            <a:ext cx="164592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21240" y="3081528"/>
            <a:ext cx="146304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33333"/>
                </a:solidFill>
                <a:latin typeface="Arial"/>
              </a:defRPr>
            </a:pPr>
            <a:r>
              <a:t>Follow-up, one week after events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617720"/>
            <a:ext cx="106984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55A4"/>
                </a:solidFill>
                <a:latin typeface="Arial"/>
              </a:defRPr>
            </a:pPr>
            <a:r>
              <a:t>DEPENDENCY: week 2 training AND week 3 venue confirmation → week 5 events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5440680"/>
            <a:ext cx="10725912" cy="18288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577840"/>
            <a:ext cx="10725912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t>Sign-up deadline is the end of week 2, so volunteers can complete training before the week 5 events.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6355080"/>
            <a:ext cx="82296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77777"/>
                </a:solidFill>
                <a:latin typeface="Arial"/>
              </a:defRPr>
            </a:pPr>
            <a:r>
              <a:t>Fictional repair initiative · All data are synthetic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25912" y="6355080"/>
            <a:ext cx="7315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77777"/>
                </a:solidFill>
                <a:latin typeface="Arial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55A4"/>
                </a:solidFill>
                <a:latin typeface="Arial"/>
              </a:defRPr>
            </a:pPr>
            <a:r>
              <a:t>06 · PARTICIPATION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333333"/>
                </a:solidFill>
                <a:latin typeface="Arial"/>
              </a:defRPr>
            </a:pPr>
            <a:r>
              <a:t>WHAT PARTICIPANTS CAN EXPECT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280160" cy="4572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100584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333333"/>
                </a:solidFill>
                <a:latin typeface="Arial"/>
              </a:defRPr>
            </a:pPr>
            <a:r>
              <a:t>Bring one small household item; volunteers will help as far as available skills and parts allow.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06040"/>
            <a:ext cx="51206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55A4"/>
                </a:solidFill>
                <a:latin typeface="Arial"/>
              </a:defRPr>
            </a:pPr>
            <a:r>
              <a:t>HOW IT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63240"/>
            <a:ext cx="7315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55A4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3108960"/>
            <a:ext cx="438912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Bring one small household item to a session.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840480"/>
            <a:ext cx="5166360" cy="18288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977639"/>
            <a:ext cx="7315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55A4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4023360"/>
            <a:ext cx="438912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Register ahead, or walk in: walk-ins are welcome within session capacity.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754880"/>
            <a:ext cx="5166360" cy="18288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892040"/>
            <a:ext cx="7315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55A4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4937760"/>
            <a:ext cx="438912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Work through the item with a repair-support volunteer.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0" y="2606040"/>
            <a:ext cx="4873752" cy="306324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0" y="2606040"/>
            <a:ext cx="54864" cy="306324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2743200"/>
            <a:ext cx="44805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55A4"/>
                </a:solidFill>
                <a:latin typeface="Arial"/>
              </a:defRPr>
            </a:pPr>
            <a:r>
              <a:t>PLEASE NOTE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3200400"/>
            <a:ext cx="4480560" cy="23774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• Repairs depend on available skills and parts.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• No repair is guaranteed.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• Sessions provide no safety certification.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• Capacity is 34–50 seats per session, 176 in total.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355080"/>
            <a:ext cx="82296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77777"/>
                </a:solidFill>
                <a:latin typeface="Arial"/>
              </a:defRPr>
            </a:pPr>
            <a:r>
              <a:t>Fictional repair initiative · All data are synthetic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5912" y="6355080"/>
            <a:ext cx="7315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77777"/>
                </a:solidFill>
                <a:latin typeface="Arial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55A4"/>
                </a:solidFill>
                <a:latin typeface="Arial"/>
              </a:defRPr>
            </a:pPr>
            <a:r>
              <a:t>07 · OUTCOMES · LAST SYNTHETIC TRIAL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333333"/>
                </a:solidFill>
                <a:latin typeface="Arial"/>
              </a:defRPr>
            </a:pPr>
            <a:r>
              <a:t>60.0% REPAIRED IN THE SYNTHETIC TRIAL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280160" cy="4572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1069848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333333"/>
                </a:solidFill>
                <a:latin typeface="Arial"/>
              </a:defRPr>
            </a:pPr>
            <a:r>
              <a:t>100 items assessed: 60 repaired, 24 referred, 16 not repairable (60 + 24 + 16 = 100).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14600"/>
            <a:ext cx="69494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33333"/>
                </a:solidFill>
                <a:latin typeface="Arial"/>
              </a:defRPr>
            </a:pPr>
            <a:r>
              <a:t>Items by outcome, last synthetic trial (count of items)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31520" y="2880360"/>
          <a:ext cx="6949440" cy="3017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8321040" y="2560320"/>
            <a:ext cx="27432" cy="333756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0" y="2514600"/>
            <a:ext cx="283464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0055A4"/>
                </a:solidFill>
                <a:latin typeface="Arial"/>
              </a:defRPr>
            </a:pPr>
            <a:r>
              <a:t>60.0%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3200400"/>
            <a:ext cx="28346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repair share = 60 ÷ 100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95360" y="3657600"/>
            <a:ext cx="2834640" cy="18288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0" y="3749039"/>
            <a:ext cx="283464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333333"/>
                </a:solidFill>
                <a:latin typeface="Arial"/>
              </a:defRPr>
            </a:pPr>
            <a:r>
              <a:t>24.0%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4297680"/>
            <a:ext cx="28346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referred = 24 ÷ 100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95360" y="4754880"/>
            <a:ext cx="2834640" cy="18288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0" y="4846320"/>
            <a:ext cx="283464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333333"/>
                </a:solidFill>
                <a:latin typeface="Arial"/>
              </a:defRPr>
            </a:pPr>
            <a:r>
              <a:t>16.0%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5394960"/>
            <a:ext cx="28346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not repairable = 16 ÷ 100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943600"/>
            <a:ext cx="106984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777777"/>
                </a:solidFill>
                <a:latin typeface="Arial"/>
              </a:defRPr>
            </a:pPr>
            <a:r>
              <a:t>Synthetic-trial results; not a guarantee or forecast for the week 5 events.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355080"/>
            <a:ext cx="82296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77777"/>
                </a:solidFill>
                <a:latin typeface="Arial"/>
              </a:defRPr>
            </a:pPr>
            <a:r>
              <a:t>Fictional repair initiative · All data are synthetic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5912" y="6355080"/>
            <a:ext cx="7315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77777"/>
                </a:solidFill>
                <a:latin typeface="Arial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36576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08 · CALL TO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3657600" cy="2194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Arial"/>
              </a:defRPr>
            </a:pPr>
            <a:r>
              <a:t>SIGN UP BY THE END OF WEEK 2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840480"/>
            <a:ext cx="128016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365760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Events run in week 5 across four 2-hour sessions.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822960"/>
            <a:ext cx="59436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55A4"/>
                </a:solidFill>
                <a:latin typeface="Arial"/>
              </a:defRPr>
            </a:pPr>
            <a:r>
              <a:t>TWO WAYS TO JOIN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1325880"/>
            <a:ext cx="5971032" cy="27432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1463040"/>
            <a:ext cx="59436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333333"/>
                </a:solidFill>
                <a:latin typeface="Arial"/>
              </a:defRPr>
            </a:pPr>
            <a:r>
              <a:t>AS A PARTICIPANT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1920240"/>
            <a:ext cx="594360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Register and bring one small household item to a week 5 session. Walk-ins welcome within capacity.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0" y="2834640"/>
            <a:ext cx="5971032" cy="27432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0" y="2971800"/>
            <a:ext cx="59436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333333"/>
                </a:solidFill>
                <a:latin typeface="Arial"/>
              </a:defRPr>
            </a:pPr>
            <a:r>
              <a:t>AS A VOLUNTEER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3429000"/>
            <a:ext cx="594360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Pick welcome, repair support or safety check, join training in week 2 and give 3 hours.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0" y="4526280"/>
            <a:ext cx="5971032" cy="137160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5000" y="4645152"/>
            <a:ext cx="55778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55A4"/>
                </a:solidFill>
                <a:latin typeface="Arial"/>
              </a:defRPr>
            </a:pPr>
            <a:r>
              <a:t>CONTACT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0" y="4965192"/>
            <a:ext cx="55778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333333"/>
                </a:solidFill>
                <a:latin typeface="Arial"/>
              </a:defRPr>
            </a:pPr>
            <a:r>
              <a:t>Local organizer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0" y="5422392"/>
            <a:ext cx="55778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777777"/>
                </a:solidFill>
                <a:latin typeface="Arial"/>
              </a:defRPr>
            </a:pPr>
            <a:r>
              <a:t>[Contact details to be added]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6355080"/>
            <a:ext cx="52120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77777"/>
                </a:solidFill>
                <a:latin typeface="Arial"/>
              </a:defRPr>
            </a:pPr>
            <a:r>
              <a:t>Fictional repair initiative · All data are synthetic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5912" y="6355080"/>
            <a:ext cx="7315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77777"/>
                </a:solidFill>
                <a:latin typeface="Arial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