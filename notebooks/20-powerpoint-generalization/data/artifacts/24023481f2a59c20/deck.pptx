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11480"/>
            <a:ext cx="260604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1024128"/>
            <a:ext cx="2103120" cy="164592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3840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ROTAFLOW  •  FICTIONAL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02920"/>
            <a:ext cx="2331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FOR SMALL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7498079" cy="2331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TEAM SCHEDULING,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WITHOUT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949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9DCE6"/>
                </a:solidFill>
                <a:latin typeface="Calibri"/>
              </a:defRPr>
            </a:pPr>
            <a:r>
              <a:t>Import availability. Flag conflicts. Approve once. Notify everyone — in one connected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965960"/>
            <a:ext cx="3108960" cy="23317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1965960"/>
            <a:ext cx="3108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240280"/>
            <a:ext cx="2606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SEE IT IN YOUR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06040"/>
            <a:ext cx="26060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14-DAY PRO 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566160"/>
            <a:ext cx="2606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DCE6"/>
                </a:solidFill>
                <a:latin typeface="Calibri"/>
              </a:defRPr>
            </a:pPr>
            <a:r>
              <a:t>No payment required.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DCE6"/>
                </a:solidFill>
                <a:latin typeface="Calibri"/>
              </a:defRPr>
            </a:pPr>
            <a:r>
              <a:t>Then $55 / team / month.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IMPORT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0420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3572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86100" y="509778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17919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1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APPROVE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599" y="509778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75419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8572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NOTIFY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01099" y="509778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All performance numbers in this deck are synthetic illustrations — not customer testimonials.  •  Slide 1 of 8 —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71 of 120 teams duplicate scheduling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Synthetic pilot survey • A count of surveyed teams — not a market-size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4688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59.2%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24688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71 ÷ 120 surveyed teams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20040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3429000"/>
            <a:ext cx="24688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24688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teams without duplication reported (120 − 71)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480060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3280" y="1691640"/>
            <a:ext cx="5303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PILOT SURVEY — TEAMS (n = 120)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383280" y="2011680"/>
          <a:ext cx="53035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9098280" y="1783080"/>
            <a:ext cx="2606040" cy="329184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783080"/>
            <a:ext cx="26060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0312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WHAT IT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14600"/>
            <a:ext cx="2103120" cy="2057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same availability is entered, checked and re-entered.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That is the problem the workflow on the next slide is built to remove.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DCE6"/>
                </a:solidFill>
                <a:latin typeface="Calibri"/>
              </a:defRPr>
            </a:pPr>
            <a:r>
              <a:t>Read this correctly:  59.2% describes these 120 pilot teams only. It does not size the market and does not prove product impact.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Source: synthetic pilot survey, 120 teams.  •  Slide 2 of 8 —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One connected workflow — with a conflict loop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Conflicts return to availability review before anything can be 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1  IMPORT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2  FLAG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2174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3  APPROVE SCHEDULE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2174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4  NOTIFY TEAM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2174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6324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THE DECISION BRANCH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20440"/>
            <a:ext cx="224028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2057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3794760"/>
            <a:ext cx="210312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46120" y="3474720"/>
            <a:ext cx="1188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YES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337560"/>
            <a:ext cx="2743200" cy="91440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502152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 TO AVAILABILITY 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3794760"/>
            <a:ext cx="12801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18120" y="347472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3337560"/>
            <a:ext cx="2788920" cy="91440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502152"/>
            <a:ext cx="2514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RE-CHECK, THEN APPROVE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27632" y="4434840"/>
            <a:ext cx="0" cy="8229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27632" y="5257800"/>
            <a:ext cx="3218688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  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846320"/>
            <a:ext cx="27432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5074920"/>
            <a:ext cx="2468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APPROVE → NOTIFY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892040"/>
            <a:ext cx="374903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DCE6"/>
                </a:solidFill>
                <a:latin typeface="Calibri"/>
              </a:defRPr>
            </a:pPr>
            <a:r>
              <a:t>No approval bypasses the conflict check.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Import availability → Flag conflicts → Approve schedule → Notify team  •  Slide 3 of 8 —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Plans: pay for team size and conflict alerts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Enterprise pricing is by conversation — no price is shown because none is specified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9552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19"/>
                <a:gridCol w="1988819"/>
                <a:gridCol w="1988822"/>
              </a:tblGrid>
              <a:tr h="71323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$55 / team / month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25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778240" y="1691640"/>
            <a:ext cx="2880360" cy="3566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92024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286000"/>
            <a:ext cx="23774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Need conflict alerts? Choose Pro.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429000"/>
            <a:ext cx="2377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Pro − Starter = $32 / team / month more.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25 − 5 = 20 more member places.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246888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9904"/>
            <a:ext cx="246888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Starter / team / month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9224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6120" y="5486400"/>
            <a:ext cx="246888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6089904"/>
            <a:ext cx="246888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/ team / month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649224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89320" y="5486400"/>
            <a:ext cx="246888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6089904"/>
            <a:ext cx="246888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Enterprise: contact sales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649224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0" y="5623560"/>
            <a:ext cx="2880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DCE6"/>
                </a:solidFill>
                <a:latin typeface="Calibri"/>
              </a:defRPr>
            </a:pPr>
            <a:r>
              <a:t>All prices per team, per month.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Synthetic fictional pricing as specified.  •  Slide 4 of 8 —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Funnel: 88 paid teams from 1,400 visits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Synthetic counts only — stage movement does not imply the product caused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583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TEAMS / PEOPLE AT EACH STAGE 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65836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52360" y="1691640"/>
            <a:ext cx="4206240" cy="365760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691640"/>
            <a:ext cx="42062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6596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STAGE-TO-STAGE 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377440"/>
            <a:ext cx="365760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Signups ÷ Visits        480 ÷ 1,400  =  34.3%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Trials ÷ Signups       220 ÷ 480  =  45.8%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Paid ÷ Trials            88 ÷ 220  =  40.0%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Paid ÷ Visits            88 ÷ 1,400  =  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526280"/>
            <a:ext cx="3566160" cy="42748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992624"/>
            <a:ext cx="3566160" cy="2720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trial-to-paid rate  (88 of 220)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5303520"/>
            <a:ext cx="3566161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Exact counts:  1,400 visits  →  480 signups  →  220 trial starts  →  88 paid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Synthetic funnel. Rates are arithmetic on these counts; no causal product impact is claimed.  •  Slide 5 of 8 — Funnel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Three benefits you can see in the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What each capability does — with no quantified time-saving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535680" cy="30175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47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68880"/>
            <a:ext cx="3316224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Bring availability in once instead of re-entering it by hand in multiple places.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Benefit: reduces manual re-entry.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920" y="1737360"/>
            <a:ext cx="3535680" cy="30175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2648" y="1847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2648" y="2468880"/>
            <a:ext cx="3316224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Overlapping shifts are surfaced before approval, so the team resolves them in review.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Benefit: conflicts are visible early.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2920" y="1737360"/>
            <a:ext cx="3535680" cy="30175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2648" y="1847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648" y="2468880"/>
            <a:ext cx="3316224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Every approved schedule records who approved it, so accountability is traceable.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Benefit: a clear approval record.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74920"/>
            <a:ext cx="69494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303520"/>
            <a:ext cx="1097280" cy="109728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6949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Deliberately not claimed: a number of hours saved.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212080"/>
            <a:ext cx="3840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DCE6"/>
                </a:solidFill>
                <a:latin typeface="Calibri"/>
              </a:defRPr>
            </a:pPr>
            <a:r>
              <a:t>No quantified time-saving claim is provided. Judge the workflow in the trial on your own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Capabilities as specified for this fictional platform.  •  Slide 6 of 8 —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Launch in week 6 — gated by two inputs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Beta feedback AND security review must both be complete before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69164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E93A8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69164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E93A8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9164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E93A8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69164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E93A8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9164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E93A8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69164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148840"/>
            <a:ext cx="40690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267712"/>
            <a:ext cx="3886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880360"/>
            <a:ext cx="4069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999232"/>
            <a:ext cx="3886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611880"/>
            <a:ext cx="1325880" cy="502920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730752"/>
            <a:ext cx="12344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348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4343400"/>
            <a:ext cx="13258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4462272"/>
            <a:ext cx="12344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WEEK 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0" y="2651760"/>
            <a:ext cx="3017520" cy="16916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21040" y="3383280"/>
            <a:ext cx="2057400" cy="96012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2920" y="5257800"/>
            <a:ext cx="11155680" cy="77724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GATE:  Beta feedback  AND  Security review  →  Launch (week 6).     Support training stays in week 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Schedule as specified; weeks are relative launch-programme weeks.  •  Slide 7 of 8 —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01168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411480"/>
            <a:ext cx="32461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658368"/>
            <a:ext cx="2423160" cy="109728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YOUR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68096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14 DAYS OF PRO.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$0 DUE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9DCE6"/>
                </a:solidFill>
                <a:latin typeface="Calibri"/>
              </a:defRPr>
            </a:pPr>
            <a:r>
              <a:t>Run one real project through import → conflict check → approval → notify.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234440"/>
            <a:ext cx="3246120" cy="2926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50876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TRIAL TERMS —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920240"/>
            <a:ext cx="26517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Duration: 14 days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Plan: Pro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Payment: none required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After trial: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$55 / team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5120640" cy="960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8463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START 14-DAY PRO TRIAL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617720"/>
            <a:ext cx="5715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payment required to start.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Decide after 14 days at $55 / team / month.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Fictional product and synthetic figures throughout this deck. Pro includes up to 25 members, shared calendar and conflict alerts.  •  Slide 8 of 8 — Invitation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