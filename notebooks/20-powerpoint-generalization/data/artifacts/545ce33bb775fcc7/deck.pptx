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Reported duplication</c:v>
                </c:pt>
                <c:pt idx="1">
                  <c:v>Other teams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Stage 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7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7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7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943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RELAY / FICTIONAL TEAM SCHEDULING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5212080" cy="1600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team.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One clear schedule.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489204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Calibri"/>
              </a:defRPr>
            </a:pPr>
            <a:r>
              <a:t>Repeated scheduling work? Bring availability, conflict checks and approvals into one shared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960120"/>
            <a:ext cx="5669280" cy="4462272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758952"/>
            <a:ext cx="19659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188720"/>
            <a:ext cx="4983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PROJECT ATLAS / WEEK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46504"/>
            <a:ext cx="49377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AEB5C9"/>
                </a:solidFill>
                <a:latin typeface="Calibri"/>
              </a:defRPr>
            </a:pPr>
            <a:r>
              <a:t>ILLUSTRATIVE INTERFACE • BEFORE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MON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TUE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1552" y="2295144"/>
            <a:ext cx="1161288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AEB5C9"/>
                </a:solidFill>
                <a:latin typeface="Calibri"/>
              </a:defRPr>
            </a:pPr>
            <a:r>
              <a:t>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71216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79792" y="2798064"/>
            <a:ext cx="2487168" cy="5486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889504"/>
            <a:ext cx="226771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Maya •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666744"/>
            <a:ext cx="1033271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BUILD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05672" y="3593592"/>
            <a:ext cx="2487168" cy="54864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7112" y="3685032"/>
            <a:ext cx="22768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Alex • overlap flagged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4453128"/>
            <a:ext cx="5029200" cy="0"/>
          </a:xfrm>
          <a:prstGeom prst="line">
            <a:avLst/>
          </a:prstGeom>
          <a:ln w="38100">
            <a:solidFill>
              <a:srgbClr val="3439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63640" y="4681728"/>
            <a:ext cx="498348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Review availability before approving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45152"/>
            <a:ext cx="51663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700"/>
                </a:solidFill>
                <a:latin typeface="Calibri"/>
              </a:defRPr>
            </a:pPr>
            <a:r>
              <a:t>IMPORT → CHECK → APPROVE → NOTIFY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96128"/>
            <a:ext cx="1115568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Try Pro for 14 days • No payment required • Built for small-team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CUSTOMER TESTIMONIALS • ILLUSTRATIVE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01 /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1887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Scheduling work gets repeated.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8813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pilot survey: 71 of 120 teams reported duplicated scheduling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3749039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FFD700"/>
                </a:solidFill>
                <a:latin typeface="Calibri"/>
              </a:defRPr>
            </a:pPr>
            <a:r>
              <a:t>59.2%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03320"/>
            <a:ext cx="361188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of surveyed teams reported duplicated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54880"/>
            <a:ext cx="361188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71 ÷ 120 × 100 ≈ 59.2%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423160"/>
            <a:ext cx="109728" cy="2971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249424"/>
            <a:ext cx="63093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SURVEY RESPONSES / NUMBER OF TEAMS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029200" y="2770632"/>
          <a:ext cx="626364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9280"/>
            <a:ext cx="11155680" cy="521207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760720"/>
            <a:ext cx="107899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A planning problem to explore in a pilot; this survey is not a market-size estimate.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SURVEY n = 120 TEAMS • PERCENTAGE ROUNDED TO ONE DECIMAL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02 /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Resolve conflicts before approval.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Import availability, check for overlaps, approve the schedule and notify the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606040"/>
            <a:ext cx="2103120" cy="12801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770632"/>
            <a:ext cx="177393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Import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3246120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154680" y="2606040"/>
            <a:ext cx="2240280" cy="1280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9272" y="2770632"/>
            <a:ext cx="1911095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02 Flag conflicts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Conflict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found?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3246120"/>
            <a:ext cx="14630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95544" y="2743200"/>
            <a:ext cx="123444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606040"/>
            <a:ext cx="2103120" cy="12801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770632"/>
            <a:ext cx="177393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Approve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61120" y="3246120"/>
            <a:ext cx="54864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509760" y="2606040"/>
            <a:ext cx="2148840" cy="128016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74352" y="2770632"/>
            <a:ext cx="181965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Notify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70248" y="3886200"/>
            <a:ext cx="0" cy="77724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0560" y="4114800"/>
            <a:ext cx="1005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YES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663440"/>
            <a:ext cx="2240280" cy="914400"/>
          </a:xfrm>
          <a:prstGeom prst="rect">
            <a:avLst/>
          </a:prstGeom>
          <a:solidFill>
            <a:srgbClr val="343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800600"/>
            <a:ext cx="1911095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Review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availability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554480" y="5120640"/>
            <a:ext cx="160020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54480" y="3886200"/>
            <a:ext cx="0" cy="123444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376672"/>
            <a:ext cx="2377440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D700"/>
                </a:solidFill>
                <a:latin typeface="Calibri"/>
              </a:defRPr>
            </a:pPr>
            <a:r>
              <a:t>↑ Update &amp; recheck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681728"/>
            <a:ext cx="4617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Conflicts return to availability review before approval.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ILLUSTRATIVE WORKFLOW • ALL DATA SYNTHETIC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03 /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3774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Choose the fit for your team.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Pro combines a shared calendar with conflict alerts for teams of up to 40.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313432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5836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 DETAIL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PRO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Conflict alerts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 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91C2B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815584"/>
            <a:ext cx="109728" cy="3657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797296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Enterprise pricing, member limits and capabilities are confirmed with sales.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PLANS • ALL DATA SYNTHETIC • PRICES ARE PER TEAM, PER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04 / PLANS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29718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220 trials. 100 paid teams.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Synthetic funnel counts show progression through four adoption stages.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67128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FUNNEL / COUNT AT EACH STAGE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2670048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2313432"/>
            <a:ext cx="3611880" cy="3401568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2606040"/>
            <a:ext cx="310896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FFD700"/>
                </a:solidFill>
                <a:latin typeface="Calibri"/>
              </a:defRPr>
            </a:pPr>
            <a:r>
              <a:t>45.5%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3639312"/>
            <a:ext cx="3063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Trial-to-paid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Calibri"/>
              </a:defRPr>
            </a:pPr>
            <a:r>
              <a:t>conversion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02752" y="4572000"/>
            <a:ext cx="3063240" cy="0"/>
          </a:xfrm>
          <a:prstGeom prst="line">
            <a:avLst/>
          </a:prstGeom>
          <a:ln w="381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02752" y="4782312"/>
            <a:ext cx="3063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EB5C9"/>
                </a:solidFill>
                <a:latin typeface="Calibri"/>
              </a:defRPr>
            </a:pPr>
            <a:r>
              <a:t>100 ÷ 220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EB5C9"/>
                </a:solidFill>
                <a:latin typeface="Calibri"/>
              </a:defRPr>
            </a:pPr>
            <a:r>
              <a:t>≈ 45.5%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25312"/>
            <a:ext cx="109728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EB5C9"/>
                </a:solidFill>
                <a:latin typeface="Calibri"/>
              </a:defRPr>
            </a:pPr>
            <a:r>
              <a:t>These illustrative counts do not establish a causal effect of the product.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ALL DATA SYNTHETIC • VISITS 1,400 → SIGNUPS 480 → TRIAL STARTS 220 → PAID TEAMS 100 • RATE ROUNDED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05 / FUNNEL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3566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Less re-entry. Clearer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Three capabilities to evaluate against your current project planning process.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37744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5968" y="2697480"/>
            <a:ext cx="3538728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9016" y="2377440"/>
            <a:ext cx="3529584" cy="329184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77724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2697480"/>
            <a:ext cx="128016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9016" y="2377440"/>
            <a:ext cx="17830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73405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01 /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337560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Less manual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re-entry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507992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Availability import reduces manual re-entry.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054096"/>
            <a:ext cx="3063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02 /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657600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Overlaps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4828032"/>
            <a:ext cx="30632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Conflict alerts surface overlapping shifts.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34056"/>
            <a:ext cx="3054096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03 /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337560"/>
            <a:ext cx="305409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 approval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507992"/>
            <a:ext cx="3054096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EB5C9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QUANTIFIED TIME-SAVING CLAIM IS PROVIDED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06 / BENEFITS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16052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11109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Launch in week 7, with two gates.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99616"/>
            <a:ext cx="1097280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EB5C9"/>
                </a:solidFill>
                <a:latin typeface="Calibri"/>
              </a:defRPr>
            </a:pPr>
            <a:r>
              <a:t>Launch depends on beta feedback AND security review. Support training stays in week 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50791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12664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4536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EB5C9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0152" y="2231136"/>
            <a:ext cx="11887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61488"/>
            <a:ext cx="2148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55848"/>
            <a:ext cx="2148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2148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44568"/>
            <a:ext cx="2148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743200"/>
            <a:ext cx="3712463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50791" y="3337560"/>
            <a:ext cx="3712463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36408" y="3931920"/>
            <a:ext cx="1188720" cy="411480"/>
          </a:xfrm>
          <a:prstGeom prst="rect">
            <a:avLst/>
          </a:prstGeom>
          <a:solidFill>
            <a:srgbClr val="AEB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60152" y="4526280"/>
            <a:ext cx="1188720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5349240"/>
            <a:ext cx="3886200" cy="73152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541264"/>
            <a:ext cx="3575304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Beta feedback AND security review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89120" y="5715000"/>
            <a:ext cx="6400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029200" y="5349240"/>
            <a:ext cx="2560320" cy="7315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5541264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Both gates satisfied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5715000"/>
            <a:ext cx="640080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29600" y="5349240"/>
            <a:ext cx="3429000" cy="731520"/>
          </a:xfrm>
          <a:prstGeom prst="rect">
            <a:avLst/>
          </a:prstGeom>
          <a:solidFill>
            <a:srgbClr val="191C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5513832"/>
            <a:ext cx="309981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D700"/>
                </a:solidFill>
                <a:latin typeface="Calibri"/>
              </a:defRPr>
            </a:pPr>
            <a:r>
              <a:t>→ Launch / week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LAUNCH PLAN • ALL DATA SYNTHETIC • TIMELINE UNITS: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07 /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93192"/>
            <a:ext cx="475488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95528"/>
            <a:ext cx="6858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D700"/>
                </a:solidFill>
                <a:latin typeface="Calibri"/>
              </a:defRPr>
            </a:pPr>
            <a:r>
              <a:t>RELAY / YOUR NEXT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6537960" cy="1691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Put your next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schedule to the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38728"/>
            <a:ext cx="62179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AEB5C9"/>
                </a:solidFill>
                <a:latin typeface="Calibri"/>
              </a:defRPr>
            </a:pPr>
            <a:r>
              <a:t>Start with one project: import availability, resolve conflicts and approve a shared schedule.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527048"/>
            <a:ext cx="4114800" cy="360273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252728"/>
            <a:ext cx="173736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828800"/>
            <a:ext cx="35204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B0C15"/>
                </a:solidFill>
                <a:latin typeface="Calibri"/>
              </a:defRPr>
            </a:pPr>
            <a:r>
              <a:t>PRO TRIAL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2414016"/>
            <a:ext cx="352044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0B0C15"/>
                </a:solidFill>
                <a:latin typeface="Calibri"/>
              </a:defRPr>
            </a:pPr>
            <a:r>
              <a:t>14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8" y="3593592"/>
            <a:ext cx="352044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No payment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4608576"/>
            <a:ext cx="3520440" cy="3383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B0C15"/>
                </a:solidFill>
                <a:latin typeface="Calibri"/>
              </a:defRPr>
            </a:pPr>
            <a:r>
              <a:t>Up to 40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266944"/>
            <a:ext cx="6309360" cy="69494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413248"/>
            <a:ext cx="5907024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0B0C15"/>
                </a:solidFill>
                <a:latin typeface="Calibri"/>
              </a:defRPr>
            </a:pPr>
            <a:r>
              <a:t>Start your 14-day Pro trial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5449824"/>
            <a:ext cx="41148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After the trial: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Calibri"/>
              </a:defRPr>
            </a:pPr>
            <a:r>
              <a:t>Pro is $62/team/month.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19088"/>
            <a:ext cx="978408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B5C9"/>
                </a:solidFill>
                <a:latin typeface="Calibri"/>
              </a:defRPr>
            </a:pPr>
            <a:r>
              <a:t>FICTIONAL PRODUCT • ALL DATA SYNTHETIC • NO CUSTOMER TESTIMONIALS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419088"/>
            <a:ext cx="137160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AEB5C9"/>
                </a:solidFill>
                <a:latin typeface="Calibri"/>
              </a:defRPr>
            </a:pPr>
            <a:r>
              <a:t>08 / INVITATION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