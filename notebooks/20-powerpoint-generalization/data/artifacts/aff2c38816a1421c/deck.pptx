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65.5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A6D4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83112" cy="621792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0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SIMULATED MATERIAL ANALYSIS  • 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9439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Does treatment improve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pass rate and durability?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2606040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2834640"/>
            <a:ext cx="81655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5233"/>
                </a:solidFill>
                <a:latin typeface="Georgia"/>
              </a:defRPr>
            </a:pPr>
            <a:r>
              <a:t>A fictional material-screening study comparing treatment with control 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5233"/>
                </a:solidFill>
                <a:latin typeface="Georgia"/>
              </a:defRPr>
            </a:pPr>
            <a:r>
              <a:t>what was done, what was measured, and what it can (and cannot)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77639"/>
            <a:ext cx="4846320" cy="16916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160520"/>
            <a:ext cx="4206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The comparison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Treatment vs. control on two outcomes: pass rate on a predefined strength test, and durability over repeated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4846320" cy="16916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160520"/>
            <a:ext cx="4206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The limit, up front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Random assignment was used — but coverage is one lab and one batch only. Generalisation needs replication.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60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For technical stakeholders assessing the validity of simulated study outputs  •  1 of 8 —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Design: two groups, held to the same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10058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233"/>
                </a:solidFill>
                <a:latin typeface="Georgia"/>
              </a:defRPr>
            </a:pPr>
            <a:r>
              <a:t>Equal size, equal exposure, same equipment — so the only intended difference is treatment.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440 samples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5857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9009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1537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Equal-duration exposure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27413" y="160020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0565" y="167335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3093" y="212598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6D4B"/>
                </a:solidFill>
                <a:latin typeface="Georgia"/>
              </a:defRPr>
            </a:pPr>
            <a:r>
              <a:t>220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— control group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07408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— treatment group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07408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5592" y="2971800"/>
            <a:ext cx="338328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440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822191"/>
            <a:ext cx="338328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samples in total (220 + 220)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65592" y="4389120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663440"/>
            <a:ext cx="10908792" cy="150876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1026871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Endpoint:  passing the predefined strength test (pass / fail per sample).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Conditions:  same test equipment and equal-duration exposure for both groups.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Exclusions:  reviewed before final reporting.  Scope:  one lab, one batch.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2 of 8 — Design  •  Denominators are fixed at 220 per group throughout this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Results: treatment passed more often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(% of 220 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554480"/>
          <a:ext cx="478231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104"/>
                <a:gridCol w="1594104"/>
                <a:gridCol w="1594104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 / 220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57.7%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/ 220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65.5%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3611880"/>
            <a:ext cx="4782312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+7.7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4517136"/>
            <a:ext cx="4782312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absolute difference (17 passes per 220)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5120640"/>
            <a:ext cx="4782312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5349240"/>
            <a:ext cx="10908792" cy="86868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486400"/>
            <a:ext cx="102687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 counts: 144 − 127 = 17 more passes per 220 samples; 17 ÷ 220 = 7.7 percentage points (from exact counts).  Denominators fixed at 220 — no re-basing.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3 of 8 — Results  •  Units: pass rate in percent; difference in percentage points. Corrected counts (see slide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Timecourse: durability falls, treatment stays higher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Durability retained (%) by exposure cycles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7132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0" y="1554480"/>
          <a:ext cx="34107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904"/>
                <a:gridCol w="1136904"/>
                <a:gridCol w="1136904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Treat.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F5E8C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4160520"/>
            <a:ext cx="3410712" cy="105156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4297680"/>
            <a:ext cx="2953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At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73% − 58% = 15 pts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 favour of treatment.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Reading it: both groups decline from a common 100% start. The gap widens with use — 5 pts at 100 cycles, 10 pts at 200, 15 pts at 300. All eight measured values are shown; nothing is interpolated beyond 300 cycles.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4 of 8 — Timecourse  •  Units: durability in percent retained; exposure in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Subgroups P / Q / R: counts, not rates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143000"/>
            <a:ext cx="5669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554480"/>
            <a:ext cx="4782312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432304"/>
            <a:ext cx="4782312" cy="512063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check: 48 + 48 + 48 = 144 treatment passes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0" y="3017520"/>
            <a:ext cx="4782312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3291840"/>
            <a:ext cx="4782312" cy="182880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3474720"/>
            <a:ext cx="4142232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Why no percentages here?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supplied, so subgroup pass rates cannot be calculated. Any % would be invented.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What the counts do show: passes are evenly spread across P, Q and R (48 each), and they reconcile exactly to the corrected treatment total of 144 / 220. They do not show that the three labels performed equally.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5 of 8 — Subgroups  •  Units: counts of passing samples, not percent.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Audit: duplicates removed, limits remain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00" y="10058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233"/>
                </a:solidFill>
                <a:latin typeface="Georgia"/>
              </a:defRPr>
            </a:pPr>
            <a:r>
              <a:t>A correction was applied before reporting. Consistency is necessary — it is not validity.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Duplicates removed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13 duplicate positive treatment records were removed, giving the corrected treatment count of 144 passes. Denominators remain correct at 220 per group.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7784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7512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No significance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7512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 claim of statistical significance is made in this report. The +7.7-point gap is reported as an observed difference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5488" y="1600200"/>
            <a:ext cx="3453384" cy="274320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5215" y="17099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No interval invented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5215" y="2331720"/>
            <a:ext cx="323392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 confidence interval is presented. None was supplied, and constructing one here would add precision the source does not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10908792" cy="132588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02687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Consistency checks on corrected data:  127/220 = 57.7%  •  144/220 = 65.5%  •  144 − 127 = 17 passes (7.7 pts)  •  48 + 48 + 48 = 144  •  durability complete at 0 / 100 / 200 / 300 cycles.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6 of 8 — Audit  •  All data are synthetic; corrected counts are used throughout this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Interpretation: a sample difference, plainly stated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463040" y="1234440"/>
            <a:ext cx="9262872" cy="141732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13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The decision-relevant finding: in this corrected sample, the treatment pass rate is higher by 7.7 percentage points (144/220 = 65.5% vs. 127/220 = 57.7%), with durability 15 points higher at 300 cycles.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measured difference in these 440 samples, under controlled conditions with random assignment and identical equipment.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7512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it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7512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Not evidence of broad field performance. One lab and one batch cannot represent other sites, batches or real-world conditions.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5488" y="2971800"/>
            <a:ext cx="3453384" cy="246888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5215" y="3081528"/>
            <a:ext cx="323392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What would change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5215" y="3703320"/>
            <a:ext cx="323392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Replication that does not reproduce the 7.7-point gap — or different results on a second batch — would materially weaken the finding.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0879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Stakeholder judgement: the direction is favourable and the corrected arithmetic reconciles — but the scope remains narrow: one lab, one batch.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7 of 8 — Interpretation  •  Difference stated in percentage points, not percent change. No significance claim is made.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Next step: replicate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896112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Lock corrected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5857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9009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Replicate in 4 labs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61537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31636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4788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Second batch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57316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027413" y="1234440"/>
            <a:ext cx="2521458" cy="1051560"/>
          </a:xfrm>
          <a:prstGeom prst="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0565" y="1307592"/>
            <a:ext cx="2375153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Then assess deployment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3093" y="17602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4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independent labs, blinded scoring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2nd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required before any deployment claim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07408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65592" y="2606040"/>
            <a:ext cx="33832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6D4B"/>
                </a:solidFill>
                <a:latin typeface="Georgia"/>
              </a:defRPr>
            </a:pPr>
            <a:r>
              <a:t>220 /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429000"/>
            <a:ext cx="33832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preserve control group and group sizes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65592" y="3977639"/>
            <a:ext cx="338328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251960"/>
            <a:ext cx="10908792" cy="1691640"/>
          </a:xfrm>
          <a:prstGeom prst="roundRect">
            <a:avLst/>
          </a:prstGeom>
          <a:solidFill>
            <a:srgbClr val="F5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1026871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Replication protocol: preserve controls  •  preregister exclusions before testing  •  record batch conditions for every run  •  blinded scoring throughout.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Decision rule: a deployment claim waits for the second batch and results from 4 independent labs — not for this single-lab, single-batch sample.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6D4B"/>
                </a:solidFill>
                <a:latin typeface="Georgia"/>
              </a:defRPr>
            </a:pPr>
            <a:r>
              <a:t>8 of 8 — Next step  •  All data in this report are synthetic and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