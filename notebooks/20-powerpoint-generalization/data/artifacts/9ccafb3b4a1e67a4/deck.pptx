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922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Recovery is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Prevention work remains.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54680"/>
            <a:ext cx="62179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56E"/>
                </a:solidFill>
                <a:latin typeface="Arial"/>
              </a:defRPr>
            </a:pPr>
            <a:r>
              <a:t>A fictional incident for discussing detection, response and process improvement.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7947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2039112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56E"/>
                </a:solidFill>
                <a:latin typeface="Arial"/>
              </a:defRPr>
            </a:pPr>
            <a:r>
              <a:t>INCIDENT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596896"/>
            <a:ext cx="3200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09:00–10:06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3346704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65A30"/>
                </a:solidFill>
                <a:latin typeface="Arial"/>
              </a:defRPr>
            </a:pPr>
            <a:r>
              <a:t>66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709160"/>
            <a:ext cx="10817352" cy="1005840"/>
          </a:xfrm>
          <a:prstGeom prst="roundRect">
            <a:avLst/>
          </a:prstGeom>
          <a:solidFill>
            <a:srgbClr val="D2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919472"/>
            <a:ext cx="10241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Review focus: what happened, what the evidence supports, and which actions remain open.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Fictional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11.0% of requests failed during the incident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23160"/>
            <a:ext cx="47548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79192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56E"/>
                </a:solidFill>
                <a:latin typeface="Arial"/>
              </a:defRPr>
            </a:pPr>
            <a:r>
              <a:t>TOTAL REQUESTS • 09:00–10:06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72968"/>
            <a:ext cx="4069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005072"/>
            <a:ext cx="4023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6E"/>
                </a:solidFill>
                <a:latin typeface="Arial"/>
              </a:defRPr>
            </a:pPr>
            <a:r>
              <a:t>Requests, not distinct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5669280" cy="2057400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852928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3C24"/>
                </a:solidFill>
                <a:latin typeface="Arial"/>
              </a:defRPr>
            </a:pPr>
            <a:r>
              <a:t>FAILED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3756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263238"/>
                </a:solidFill>
                <a:latin typeface="Arial"/>
              </a:defRPr>
            </a:pPr>
            <a:r>
              <a:t>1,100  /  11.0%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4169663"/>
            <a:ext cx="4937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C3C24"/>
                </a:solidFill>
                <a:latin typeface="Arial"/>
              </a:defRPr>
            </a:pPr>
            <a:r>
              <a:t>1,100 ÷ 10,000 × 100 = 11.0%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7091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8,900 requests did not fail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10,000 − 1,100 = 8,900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74920"/>
            <a:ext cx="5074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Distinct affected users: unknown.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Request counts do not establish a people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Fictional incident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56E"/>
                </a:solidFill>
                <a:latin typeface="Arial"/>
              </a:defRPr>
            </a:pPr>
            <a:r>
              <a:t>66 minutes from deployment to baseline • Markers are spaced by elapsed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566160"/>
            <a:ext cx="10149840" cy="0"/>
          </a:xfrm>
          <a:prstGeom prst="line">
            <a:avLst/>
          </a:prstGeom>
          <a:ln w="3810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" y="3063240"/>
            <a:ext cx="0" cy="502920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40280" y="3566160"/>
            <a:ext cx="0" cy="530352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621024" y="3063240"/>
            <a:ext cx="0" cy="502920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391656" y="3566160"/>
            <a:ext cx="0" cy="530352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385048" y="3063240"/>
            <a:ext cx="0" cy="502920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55680" y="3566160"/>
            <a:ext cx="0" cy="530352"/>
          </a:xfrm>
          <a:prstGeom prst="line">
            <a:avLst/>
          </a:prstGeom>
          <a:ln w="1905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47472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48840" y="347472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347472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347472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3608" y="347472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064240" y="3474720"/>
            <a:ext cx="182880" cy="182880"/>
          </a:xfrm>
          <a:prstGeom prst="roundRect">
            <a:avLst/>
          </a:prstGeom>
          <a:solidFill>
            <a:srgbClr val="4D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04288"/>
            <a:ext cx="1737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24528"/>
            <a:ext cx="1737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176272"/>
            <a:ext cx="2148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Investigation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224528"/>
            <a:ext cx="20574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2176272"/>
            <a:ext cx="2148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224528"/>
            <a:ext cx="19202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Error rate returns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to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05272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6E"/>
                </a:solidFill>
                <a:latin typeface="Arial"/>
              </a:defRPr>
            </a:pPr>
            <a:r>
              <a:t>Elapsed intervals: alert in 8 min • investigation 9 min later • rollback took 13 min • baseline 18 min after rollback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Fictional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Observed error rate peaked at 25% at 09:30.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7909560" cy="3639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04872"/>
            <a:ext cx="71323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56E"/>
                </a:solidFill>
                <a:latin typeface="Arial"/>
              </a:defRPr>
            </a:pPr>
            <a:r>
              <a:t>ERROR RATE (%) • SIX OBSERVATIONS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2779776"/>
          <a:ext cx="7388352" cy="28712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796528" y="2468880"/>
            <a:ext cx="2761488" cy="1344168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688336"/>
            <a:ext cx="22860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3227832"/>
            <a:ext cx="22677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C3C24"/>
                </a:solidFill>
                <a:latin typeface="Arial"/>
              </a:defRPr>
            </a:pPr>
            <a:r>
              <a:t>Window-wide failure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087368"/>
            <a:ext cx="25146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The six observations do not establish the window-wide rate.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10:15 is after the incident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Incident window: 09:00–10:06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The observations support investigation; causality is still untested.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95728"/>
            <a:ext cx="5074920" cy="2670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88336"/>
            <a:ext cx="4434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67E74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4348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Recovery after rollback.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33472"/>
            <a:ext cx="5349240" cy="2670048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926080"/>
            <a:ext cx="4709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C3C24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511296"/>
            <a:ext cx="4645152" cy="11155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5550408"/>
            <a:ext cx="10515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12848" y="5358384"/>
            <a:ext cx="891540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Evidence gap: a causal load test has not yet been completed.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Fictional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Rollback comes before baseline verification.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3182112"/>
            <a:ext cx="365760" cy="0"/>
          </a:xfrm>
          <a:prstGeom prst="line">
            <a:avLst/>
          </a:prstGeom>
          <a:ln w="3810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800600" y="3182112"/>
            <a:ext cx="365760" cy="0"/>
          </a:xfrm>
          <a:prstGeom prst="line">
            <a:avLst/>
          </a:prstGeom>
          <a:ln w="3810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86600" y="3182112"/>
            <a:ext cx="365760" cy="0"/>
          </a:xfrm>
          <a:prstGeom prst="line">
            <a:avLst/>
          </a:prstGeom>
          <a:ln w="3810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3182112"/>
            <a:ext cx="365760" cy="0"/>
          </a:xfrm>
          <a:prstGeom prst="line">
            <a:avLst/>
          </a:prstGeom>
          <a:ln w="38100">
            <a:solidFill>
              <a:srgbClr val="8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2560320"/>
            <a:ext cx="19202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2560320"/>
            <a:ext cx="19202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66360" y="2560320"/>
            <a:ext cx="1920240" cy="1298448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2560320"/>
            <a:ext cx="1920240" cy="1298448"/>
          </a:xfrm>
          <a:prstGeom prst="roundRect">
            <a:avLst/>
          </a:prstGeom>
          <a:solidFill>
            <a:srgbClr val="D6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38360" y="2560320"/>
            <a:ext cx="19202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62072"/>
            <a:ext cx="1682496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62072"/>
            <a:ext cx="1682496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862072"/>
            <a:ext cx="1682496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734056"/>
            <a:ext cx="168249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862072"/>
            <a:ext cx="1737360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17136"/>
            <a:ext cx="4800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18304"/>
            <a:ext cx="4251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Handles 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718304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919472"/>
            <a:ext cx="4754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Authorizes restoration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Read the response sequence from left to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One action is complete; two remain planned.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450592"/>
          <a:ext cx="10789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6629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426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426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426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42687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468112"/>
            <a:ext cx="10515600" cy="603504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68696"/>
            <a:ext cx="1005840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Discussion priority: use the planned causal load test to evaluate the retry-amplification hypothesis.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Deadlines are expressed as supplied day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6E"/>
                </a:solidFill>
                <a:latin typeface="Arial"/>
              </a:defRPr>
            </a:pPr>
            <a:r>
              <a:t>SIMULATED SERVICE DISRUPTION •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10512"/>
            <a:ext cx="6858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20824"/>
            <a:ext cx="62179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67E74"/>
                </a:solidFill>
                <a:latin typeface="Arial"/>
              </a:defRPr>
            </a:pPr>
            <a:r>
              <a:t>KEEP EVIDENCE AND HYPOTHESIS SEPARATE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51176"/>
            <a:ext cx="621792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Observed saturation is evidence; retry amplification is a hypothesis.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21024"/>
            <a:ext cx="6858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831336"/>
            <a:ext cx="62179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67E74"/>
                </a:solidFill>
                <a:latin typeface="Arial"/>
              </a:defRPr>
            </a:pPr>
            <a:r>
              <a:t>KEEP REQUESTS AND PEOPLE DISTINCT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343400"/>
            <a:ext cx="621792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1,100 failed requests. Distinct affected users remain unknown.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2167128"/>
            <a:ext cx="3410712" cy="3474720"/>
          </a:xfrm>
          <a:prstGeom prst="roundRect">
            <a:avLst/>
          </a:prstGeom>
          <a:solidFill>
            <a:srgbClr val="FF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246888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C3C24"/>
                </a:solidFill>
                <a:latin typeface="Arial"/>
              </a:defRPr>
            </a:pPr>
            <a:r>
              <a:t>CARRY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008376"/>
            <a:ext cx="28346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Recovery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63238"/>
                </a:solidFill>
                <a:latin typeface="Arial"/>
              </a:defRPr>
            </a:pPr>
            <a:r>
              <a:t>is 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4288536"/>
            <a:ext cx="28346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  <a:r>
              <a:t>Preventing recurrence still depends on planned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22976"/>
            <a:ext cx="6720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6E"/>
                </a:solidFill>
                <a:latin typeface="Arial"/>
              </a:defRPr>
            </a:pPr>
            <a:r>
              <a:t>Next discussion: how will the planned work establish evidence that recurrence risk is reduced?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905256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E"/>
                </a:solidFill>
                <a:latin typeface="Arial"/>
              </a:defRPr>
            </a:pPr>
            <a:r>
              <a:t>All data are synthetic • Fictional incident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382512"/>
            <a:ext cx="1005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56E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