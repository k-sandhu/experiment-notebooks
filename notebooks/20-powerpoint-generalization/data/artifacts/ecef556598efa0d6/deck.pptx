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FF9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 (116/200)</c:v>
                </c:pt>
                <c:pt idx="1">
                  <c:v>Treatment (133/200)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66.5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E0E0E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01 ·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Does treatment beat control on pass rate and durability?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Treatment vs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Two arms compared on the same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42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Pass rate + durability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Predefined strength test; durability over 300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Samples randomly assigned to treatment or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398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86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86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lab · 1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86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Limits generalization of any finding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5440680" cy="19659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PREVIEW OF OBSERVED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5029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Pass rate: treatment 133/200 (66.5%) vs control 116/200 (58.0%), an 8.5-point difference. Durability at cycle 300: 74% vs 59%.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160520"/>
            <a:ext cx="5440680" cy="196596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Random assignment supports a within-study comparison, but one lab and one batch cannot show how the treatment performs elsewhere. All data are synthetic.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Randomized two-arm design with a predefined endpoint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0A0A0"/>
                </a:solidFill>
                <a:latin typeface="Calibri"/>
              </a:defRPr>
            </a:pPr>
            <a:r>
              <a:t>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2011680" cy="914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011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400 samples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1 lab · 1 batch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3474720"/>
            <a:ext cx="36576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26080" y="3017520"/>
            <a:ext cx="1828800" cy="914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108960"/>
            <a:ext cx="1828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Random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assignment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0" y="34747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2560320"/>
            <a:ext cx="0" cy="182880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25603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43891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20640" y="2103120"/>
            <a:ext cx="2103120" cy="914400"/>
          </a:xfrm>
          <a:prstGeom prst="rect">
            <a:avLst/>
          </a:prstGeom>
          <a:solidFill>
            <a:srgbClr val="242424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94560"/>
            <a:ext cx="2103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Control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n = 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3931920"/>
            <a:ext cx="2103120" cy="91440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023360"/>
            <a:ext cx="2103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Treatment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n = 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6675120" cy="8686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6309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Held equal across arms: exposure duration · test equipment · pass/fail strength threshold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589520" y="1828800"/>
          <a:ext cx="405353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767"/>
                <a:gridCol w="2026768"/>
              </a:tblGrid>
              <a:tr h="613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and treatment, 200 samples each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Assignment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Random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 in both 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Passing the predefined strength test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Treatment 66.5% vs control 58.0% pass: +8.5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0A0"/>
                </a:solidFill>
                <a:latin typeface="Calibri"/>
              </a:defRPr>
            </a:pPr>
            <a:r>
              <a:t>Pass rate by group (%), fixed denominator n = 200 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40280"/>
          <a:ext cx="58521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828800"/>
          <a:ext cx="48764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299"/>
                <a:gridCol w="975299"/>
                <a:gridCol w="975299"/>
                <a:gridCol w="975299"/>
                <a:gridCol w="975299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069080"/>
            <a:ext cx="4876495" cy="2057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160520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480560"/>
            <a:ext cx="448056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133 / 200 = 66.5%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116 / 200 = 58.0%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66.5% − 58.0% = 8.5 percentage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Same denominator (200) in both arms: 17 more passing samples with treatment.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 · counts after removal of 11 duplicate treatment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04 ·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Both arms lost durability; gap widened to 15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0A0"/>
                </a:solidFill>
                <a:latin typeface="Calibri"/>
              </a:defRPr>
            </a:pPr>
            <a:r>
              <a:t>Durability (%) by test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828800"/>
          <a:ext cx="37792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03"/>
                <a:gridCol w="944803"/>
                <a:gridCol w="944803"/>
                <a:gridCol w="944806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+10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63840" y="4572000"/>
            <a:ext cx="3779215" cy="15544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66344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CHANGE, CYCLE 0 →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983480"/>
            <a:ext cx="34747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Control: 100% → 59% (−41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Treatment: 100% → 74% (−26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Gap at cycle 300: 74 − 59 = 15 pts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05 ·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Treatment passes: 44 + 44 + 45 = 133 across labels P/Q/R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10944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Treatment arm, all 200 samples: passing counts by batch label (segment width proportional to count)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2440533" cy="6400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89173" y="2148840"/>
            <a:ext cx="2440533" cy="640080"/>
          </a:xfrm>
          <a:prstGeom prst="rect">
            <a:avLst/>
          </a:prstGeom>
          <a:solidFill>
            <a:srgbClr val="00D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9707" y="2148840"/>
            <a:ext cx="2496312" cy="64008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6019" y="2148840"/>
            <a:ext cx="3717036" cy="640080"/>
          </a:xfrm>
          <a:prstGeom prst="rect">
            <a:avLst/>
          </a:prstGeom>
          <a:solidFill>
            <a:srgbClr val="2E2E2E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440533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P · 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9173" y="2286000"/>
            <a:ext cx="2440533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Q · 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707" y="2286000"/>
            <a:ext cx="24963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R · 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6019" y="2286000"/>
            <a:ext cx="371703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Not passed · 67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0896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60350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 (arm)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589520" y="3108960"/>
            <a:ext cx="4053535" cy="301752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246120"/>
            <a:ext cx="3703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READ AS COUNTS, NOT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611880"/>
            <a:ext cx="3703320" cy="2423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Labels P, Q and R contributed 44, 44 and 45 passing samples. Subgroup denominators were not supplied, so no subgroup pass rate can be calculated; similar counts do not imply similar rates.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Only the arm total has a known denominator: 133 / 200 = 66.5%.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 · labels as recorded in 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06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Audit removed 11 duplicate positive treatment records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70408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7086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 duplicate positive treatment records removed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 passes revised to 133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Denominators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Remain correct: 200 per arm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rates use n = 200 in both arms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Final counts follow this review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test result is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None is estimated or implied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63840" y="1874519"/>
            <a:ext cx="3779215" cy="219456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29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EFFECT ON TREATMENT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31720"/>
            <a:ext cx="342900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144 − 11 = 133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133 / 200 = 66.5%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Gap vs control: 66.5% − 58.0% = 8.5 pts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Control unchanged: 116 / 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4297680"/>
            <a:ext cx="3779215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434840"/>
            <a:ext cx="3429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 IN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754880"/>
            <a:ext cx="34290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No p-values, significance claims or confidence intervals. The 8.5-point gap is descriptive only.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07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measured 8.5-point sample gap, not field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+8.5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Pass rate: 66.5% vs 58.0%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0618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Durability at cycle 300: 74% vs 59%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716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 lab · 1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n = 200 per arm; 11 duplicates removed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455310" cy="269748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SUPPORTED BY THIS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5029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Higher observed pass rate with treatment (+8.5 pts; 133 vs 116 of 200)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Higher durability at every cycle after 0 (+5, +10, +15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Randomized comparison within one lab and one batch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6830" y="3429000"/>
            <a:ext cx="5455310" cy="2697480"/>
          </a:xfrm>
          <a:prstGeom prst="rect">
            <a:avLst/>
          </a:prstGeom>
          <a:solidFill>
            <a:srgbClr val="242424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430" y="356616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 SUPPORTED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430" y="3931920"/>
            <a:ext cx="5029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Broad field performance or deployment readiness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Statistical significance or a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Differences between batch labels P/Q/R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Performance in other labs or batches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08 ·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Decision: replicate before any deployment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  Replicate in 4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Four independent labs, same predefined strength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0618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  Blind the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Scorers unaware of group assignment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716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  Preserve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Keep a control arm in every replication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  Preregister exclusions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Fix exclusion rules before data 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7738" y="3611880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0618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  Record batch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Log batch identity and conditions for each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6836" y="3611880"/>
            <a:ext cx="3576218" cy="150876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9716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99"/>
                </a:solidFill>
                <a:latin typeface="Calibri"/>
              </a:defRPr>
            </a:pPr>
            <a:r>
              <a:t>06  Test a second 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716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Required before any deployment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11094415" cy="7772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13832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Gate: no deployment claim until a second batch is tested; current evidence is one lab, one batch.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