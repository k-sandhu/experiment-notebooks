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Passing samples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127</c:v>
                </c:pt>
                <c:pt idx="1">
                  <c:v>157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8A7965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86</c:v>
                </c:pt>
                <c:pt idx="2">
                  <c:v>72</c:v>
                </c:pt>
                <c:pt idx="3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C45B3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91</c:v>
                </c:pt>
                <c:pt idx="2">
                  <c:v>82</c:v>
                </c:pt>
                <c:pt idx="3">
                  <c:v>73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5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4A3B2A"/>
                </a:solidFill>
                <a:latin typeface="Georg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4A3B2A"/>
                </a:solidFill>
                <a:latin typeface="Georgia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5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SIMULATED MATERIAL ANALYSIS  /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Does treatment improve performance?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783080"/>
            <a:ext cx="6537960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4A3B2A"/>
                </a:solidFill>
                <a:latin typeface="Georgia"/>
              </a:defRPr>
            </a:pPr>
            <a:r>
              <a:t>A fictional screening study compares treatment with control on two outcomes: passing a predefined strength test and retaining durability over repeated cycles.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783080"/>
            <a:ext cx="3593592" cy="3429000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2011680"/>
            <a:ext cx="304495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The scope of the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697480"/>
            <a:ext cx="3044952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Random assignment was used.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The study covers one lab and one batch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6537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THE STAKEHOLDER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06240"/>
            <a:ext cx="653796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4A3B2A"/>
                </a:solidFill>
                <a:latin typeface="Georgia"/>
              </a:defRPr>
            </a:pPr>
            <a:r>
              <a:t>Are the reported differences internally consistent, and what must be verified before extending the claim?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All data are synthetic. Findings describe a fictional study.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28232"/>
            <a:ext cx="59436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STUDY DESIGN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A controlled comparison with fixed group sizes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783080"/>
            <a:ext cx="5166360" cy="1234440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783080"/>
            <a:ext cx="5166360" cy="1234440"/>
          </a:xfrm>
          <a:prstGeom prst="roundRect">
            <a:avLst/>
          </a:prstGeom>
          <a:solidFill>
            <a:srgbClr val="EA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4617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4617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4A3B2A"/>
                </a:solidFill>
                <a:latin typeface="Georgia"/>
              </a:defRPr>
            </a:pPr>
            <a:r>
              <a:t>220 samples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617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TREATMENT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95728"/>
            <a:ext cx="4617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4A3B2A"/>
                </a:solidFill>
                <a:latin typeface="Georgia"/>
              </a:defRPr>
            </a:pPr>
            <a:r>
              <a:t>220 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3246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01  Assign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67912"/>
            <a:ext cx="32461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Random assignment to treatment or control; 440 samples in total.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337560"/>
            <a:ext cx="3246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02  Expose and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867912"/>
            <a:ext cx="3246120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Equal-duration exposure and the same test equipment. Endpoint: passing the predefined strength test.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337560"/>
            <a:ext cx="3246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03 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67912"/>
            <a:ext cx="32461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Exclusions were reviewed before final reporting.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513832"/>
            <a:ext cx="10607040" cy="521207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605272"/>
            <a:ext cx="10241280" cy="3108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Reporting rule: retain 220 as the denominator for each group.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Synthetic data • one lab • one batch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6428232"/>
            <a:ext cx="59436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STRENGTH-TEST RESULTS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Treatment recorded 30 more passes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719072"/>
            <a:ext cx="6492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Passing samples (count; 220 tested per group)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240280"/>
          <a:ext cx="649224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35240" y="1783080"/>
            <a:ext cx="3749039" cy="3611880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993392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EXACT COUNTS → PASS 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578608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127 / 220 = 57.7%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3538728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Treatment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157 / 220 = 71.4%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4590288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C45B3A"/>
                </a:solidFill>
                <a:latin typeface="Georgia"/>
              </a:defRPr>
            </a:pPr>
            <a:r>
              <a:t>+13.6 percentage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05272"/>
            <a:ext cx="10515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Difference = (157 − 127) / 220 × 100 = 13.6 points, rounded from the exact counts.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Synthetic data • rates rounded to one decimal place • denominators fixed at 220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28232"/>
            <a:ext cx="59436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DURABILITY TIMECOURSE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Durability declines in both groups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709928"/>
            <a:ext cx="754380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Durability (%) by exposure cycle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2148840"/>
          <a:ext cx="781812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108960" y="5769864"/>
            <a:ext cx="29260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3B2A"/>
                </a:solidFill>
                <a:latin typeface="Georgia"/>
              </a:defRPr>
            </a:pPr>
            <a:r>
              <a:t>Exposure cycles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783080"/>
            <a:ext cx="2560320" cy="4160520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1993392"/>
            <a:ext cx="2103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At 300 cycles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816352"/>
            <a:ext cx="210312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Treatment: 73%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Control: 58%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4023360"/>
            <a:ext cx="210312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Gap: 15 points.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Both groups began at 100%.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Synthetic data • all eight supplied durability values retained • value axis starts at 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28232"/>
            <a:ext cx="59436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SUBGROUP ACCOUNTING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The subgroup counts reconcile to 157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709928"/>
            <a:ext cx="57607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Treatment passes by supplied batch label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304288"/>
          <a:ext cx="5715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</a:tblGrid>
              <a:tr h="59436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Batch label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Treatment passes (count)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P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52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Q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52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R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53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010912"/>
            <a:ext cx="55321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52 + 52 + 53 = 157 treatment passes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783080"/>
            <a:ext cx="4389120" cy="4069080"/>
          </a:xfrm>
          <a:prstGeom prst="roundRect">
            <a:avLst/>
          </a:prstGeom>
          <a:solidFill>
            <a:srgbClr val="EA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96912" y="2011680"/>
            <a:ext cx="3785615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A3B2A"/>
                </a:solidFill>
                <a:latin typeface="Georgia"/>
              </a:defRPr>
            </a:pPr>
            <a:r>
              <a:t>Counts do not establish subgroup pass 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6912" y="3035808"/>
            <a:ext cx="3785615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Subgroup denominators are not supplied. The similar pass counts cannot establish similar performance across P, Q and 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4681728"/>
            <a:ext cx="3785615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45B3A"/>
                </a:solidFill>
                <a:latin typeface="Georgia"/>
              </a:defRPr>
            </a:pPr>
            <a:r>
              <a:t>These labels do not establish independent-batch replication.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Synthetic data • supplied labels P / Q / R • overall study scope remains one lab and one batch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28232"/>
            <a:ext cx="59436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VALIDITY AUDIT  /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Record uniqueness is still unverified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783080"/>
            <a:ext cx="10607040" cy="1060704"/>
          </a:xfrm>
          <a:prstGeom prst="roundRect">
            <a:avLst/>
          </a:prstGeom>
          <a:solidFill>
            <a:srgbClr val="EA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93392"/>
            <a:ext cx="100584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4A3B2A"/>
                </a:solidFill>
                <a:latin typeface="Georgia"/>
              </a:defRPr>
            </a:pPr>
            <a:r>
              <a:t>The initial extract awaits a duplicate-record audit.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4892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What the supplied figures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67912"/>
            <a:ext cx="489204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The reported counts and percentages reconcile arithmetically.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Exclusions were reviewed before final reporting.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3246120"/>
            <a:ext cx="0" cy="246888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46520" y="3246120"/>
            <a:ext cx="4800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What remains unresolved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867912"/>
            <a:ext cx="480060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Arithmetic consistency does not verify unique records.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No statistical significance claim or confidence interval is reported.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Synthetic data • duplicate-record audit 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28232"/>
            <a:ext cx="59436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INTERPRETATION  /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A higher observed rate, within a narrow study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783080"/>
            <a:ext cx="3703320" cy="4096512"/>
          </a:xfrm>
          <a:prstGeom prst="roundRect">
            <a:avLst/>
          </a:prstGeom>
          <a:solidFill>
            <a:srgbClr val="EA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057400"/>
            <a:ext cx="3099816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C45B3A"/>
                </a:solidFill>
                <a:latin typeface="Georgia"/>
              </a:defRPr>
            </a:pPr>
            <a:r>
              <a:t>+13.6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971800"/>
            <a:ext cx="3099816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percentage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767328"/>
            <a:ext cx="3099816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Observed treatment advantage in strength-test pass rate.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30 additional passes out of 220.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874519"/>
            <a:ext cx="61722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The measured sample difference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542032"/>
            <a:ext cx="617220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Treatment passed at 71.4%, compared with 57.7% for control. The durability series also shows higher treatment values after cycle 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160520"/>
            <a:ext cx="61722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The boundary of the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782312"/>
            <a:ext cx="61722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One lab, one batch and a pending duplicate audit limit interpretation. These observations do not establish broad field performance.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Synthetic data • sample difference calculated from exact counts • no significance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28232"/>
            <a:ext cx="59436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NEXT STEP  / 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Replicate before making a deployment claim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783080"/>
            <a:ext cx="3337560" cy="3108960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16552" y="1783080"/>
            <a:ext cx="3337560" cy="3108960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0" y="1783080"/>
            <a:ext cx="3337560" cy="3108960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011680"/>
            <a:ext cx="2825496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01  Replicate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697480"/>
            <a:ext cx="2825496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Run the study in 3 independent labs with blinded scoring.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Preserve controls.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2584" y="2011680"/>
            <a:ext cx="2825496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02 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4" y="2697480"/>
            <a:ext cx="2825496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Preregister exclusions and record batch conditions.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Complete the duplicate-record audit.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011680"/>
            <a:ext cx="2825496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03  Add a 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697480"/>
            <a:ext cx="2825496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A second batch is needed before any deployment claim.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230368"/>
            <a:ext cx="10607040" cy="777240"/>
          </a:xfrm>
          <a:prstGeom prst="roundRect">
            <a:avLst/>
          </a:prstGeom>
          <a:solidFill>
            <a:srgbClr val="EA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5404104"/>
            <a:ext cx="10094976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Decision: proceed to validation and replication; deployment evidence remains incomplete.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All data are synthetic. Proposed next steps address the limits of this fictional study.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28232"/>
            <a:ext cx="59436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