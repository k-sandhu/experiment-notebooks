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Reported duplication</c:v>
                </c:pt>
                <c:pt idx="1">
                  <c:v>Remaining teams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Stage 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19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9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9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9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09728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PLANVOLT / FICTIONAL TEAM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5577840" cy="1783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One schedule.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A connected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81528"/>
            <a:ext cx="50292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D9DCE7"/>
                </a:solidFill>
                <a:latin typeface="Calibri"/>
              </a:defRPr>
            </a:pPr>
            <a:r>
              <a:t>Bring availability, conflict checks and approvals into one workflow for your small team.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4892040" cy="6949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434840"/>
            <a:ext cx="457200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TRY PRO FOR 14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148072"/>
            <a:ext cx="50749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No payment required.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Calibri"/>
              </a:defRPr>
            </a:pPr>
            <a:r>
              <a:t>Then $55/team/month for Pro.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417320"/>
            <a:ext cx="5010912" cy="4315968"/>
          </a:xfrm>
          <a:prstGeom prst="rect">
            <a:avLst/>
          </a:prstGeom>
          <a:solidFill>
            <a:srgbClr val="181B2B"/>
          </a:solidFill>
          <a:ln>
            <a:solidFill>
              <a:srgbClr val="4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417320"/>
            <a:ext cx="501091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545336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PROJECT ATLAS / WEEKLY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12848"/>
            <a:ext cx="452628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01  IMPORT AVAILABILITY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766560" y="2724912"/>
          <a:ext cx="455371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428"/>
                <a:gridCol w="1138428"/>
                <a:gridCol w="1138428"/>
                <a:gridCol w="1138428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</a:t>
                      </a:r>
                    </a:p>
                  </a:txBody>
                  <a:tcPr marL="64008" marR="64008" marT="36576" marB="36576">
                    <a:solidFill>
                      <a:srgbClr val="303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</a:t>
                      </a:r>
                    </a:p>
                  </a:txBody>
                  <a:tcPr marL="64008" marR="64008" marT="36576" marB="36576">
                    <a:solidFill>
                      <a:srgbClr val="303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Tue</a:t>
                      </a:r>
                    </a:p>
                  </a:txBody>
                  <a:tcPr marL="64008" marR="64008" marT="36576" marB="36576">
                    <a:solidFill>
                      <a:srgbClr val="3036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Wed</a:t>
                      </a:r>
                    </a:p>
                  </a:txBody>
                  <a:tcPr marL="64008" marR="64008" marT="36576" marB="36576">
                    <a:solidFill>
                      <a:srgbClr val="3036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Alex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 marL="64008" marR="64008" marT="36576" marB="36576">
                    <a:solidFill>
                      <a:srgbClr val="202437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766560" y="4489704"/>
            <a:ext cx="2167128" cy="868680"/>
          </a:xfrm>
          <a:prstGeom prst="rect">
            <a:avLst/>
          </a:prstGeom>
          <a:solidFill>
            <a:srgbClr val="3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4576" y="4645152"/>
            <a:ext cx="190195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  CHECK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Conflicts flagged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5712" y="4489704"/>
            <a:ext cx="219456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4645152"/>
            <a:ext cx="1920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03  APPROVE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Then notify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0" y="1124712"/>
            <a:ext cx="850392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5852160"/>
            <a:ext cx="4983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EB5C9"/>
                </a:solidFill>
                <a:latin typeface="Calibri"/>
              </a:defRPr>
            </a:pPr>
            <a:r>
              <a:t>ILLUSTRATIVE INTERFACE • FICTIONAL PROJECT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37376"/>
            <a:ext cx="9601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PROBLEM / DUPLICATED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Scheduling work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gets done twice.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33472"/>
            <a:ext cx="3264408" cy="30906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816352"/>
            <a:ext cx="283464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0B0C15"/>
                </a:solidFill>
                <a:latin typeface="Calibri"/>
              </a:defRPr>
            </a:pPr>
            <a:r>
              <a:t>71 /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867912"/>
            <a:ext cx="2697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B0C15"/>
                </a:solidFill>
                <a:latin typeface="Calibri"/>
              </a:defRPr>
            </a:pPr>
            <a:r>
              <a:t>teams report duplicated scheduling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4937760"/>
            <a:ext cx="2697480" cy="52120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B0C15"/>
                </a:solidFill>
                <a:latin typeface="Calibri"/>
              </a:defRPr>
            </a:pPr>
            <a:r>
              <a:t>59.2% of the pilot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544" y="2670048"/>
            <a:ext cx="7150608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SYNTHETIC PILOT SURVEY • NUMBER OF TEAMS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251960" y="3218688"/>
          <a:ext cx="7223760" cy="20756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5513832"/>
            <a:ext cx="6903720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EB5C9"/>
                </a:solidFill>
                <a:latin typeface="Calibri"/>
              </a:defRPr>
            </a:pPr>
            <a:r>
              <a:t>71 ÷ 120 = 59.2% (rounded). A pilot count, not a market-size estimate.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43032" y="438912"/>
            <a:ext cx="1005840" cy="1554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37376"/>
            <a:ext cx="9601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WORKFLOW / REVIEW BEFORE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From availability to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D9DCE7"/>
                </a:solidFill>
                <a:latin typeface="Calibri"/>
              </a:defRPr>
            </a:pPr>
            <a:r>
              <a:t>A conflict sends the schedule back for availability review before approval.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3474720"/>
            <a:ext cx="548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760720" y="3474720"/>
            <a:ext cx="5943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549640" y="3474720"/>
            <a:ext cx="5943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4160520"/>
            <a:ext cx="0" cy="1069848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737360" y="5230368"/>
            <a:ext cx="2834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737360" y="4160520"/>
            <a:ext cx="0" cy="1069848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" y="2788920"/>
            <a:ext cx="2194560" cy="1371600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980944"/>
            <a:ext cx="1901952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Import availability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88920"/>
            <a:ext cx="237744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944368"/>
            <a:ext cx="2048256" cy="10698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02  Flag conflicts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Conflict found?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788920"/>
            <a:ext cx="2194560" cy="1371600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980944"/>
            <a:ext cx="188366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Approve 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788920"/>
            <a:ext cx="2404872" cy="1371600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2980944"/>
            <a:ext cx="2075688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Notify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2935224"/>
            <a:ext cx="566928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370832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21992" y="4937760"/>
            <a:ext cx="1938528" cy="576072"/>
          </a:xfrm>
          <a:prstGeom prst="rect">
            <a:avLst/>
          </a:prstGeom>
          <a:solidFill>
            <a:srgbClr val="0B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7712" y="5010912"/>
            <a:ext cx="184708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REVIEW + RECHECK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96712"/>
            <a:ext cx="10652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EB5C9"/>
                </a:solidFill>
                <a:latin typeface="Calibri"/>
              </a:defRPr>
            </a:pPr>
            <a:r>
              <a:t>Read left to right. YES loops back to availability; NO continues to approval.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437376"/>
            <a:ext cx="9601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PLANS / CLEAR TEAM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Choose your starting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38528"/>
            <a:ext cx="10698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D9DCE7"/>
                </a:solidFill>
                <a:latin typeface="Calibri"/>
              </a:defRPr>
            </a:pPr>
            <a:r>
              <a:t>Starter for a shared calendar. Pro adds conflict alerts and room for 25 members.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70632"/>
          <a:ext cx="1090879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198"/>
                <a:gridCol w="2727198"/>
                <a:gridCol w="2727198"/>
                <a:gridCol w="2727198"/>
              </a:tblGrid>
              <a:tr h="658368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Plan detail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$23/team/month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$55/team/month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 capabilities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Calendar + conflict alerts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C203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632704"/>
            <a:ext cx="109728" cy="3566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632704"/>
            <a:ext cx="10378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Pro costs $32 more per team per month than Starter and supports 20 more members.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3032" y="438912"/>
            <a:ext cx="1005840" cy="1554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37376"/>
            <a:ext cx="9601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ENTERPRISE TERMS REQUIRE SALES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FUNNEL / SYNTHETIC ADOPTION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220 trials. 88 paid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47672"/>
            <a:ext cx="7086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DCE7"/>
                </a:solidFill>
                <a:latin typeface="Calibri"/>
              </a:defRPr>
            </a:pPr>
            <a:r>
              <a:t>EXACT STAGE COUNTS • VISITS THROUGH PAID TEAMS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2587752"/>
          <a:ext cx="726948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247888" y="2487168"/>
            <a:ext cx="3300984" cy="3063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2706624"/>
            <a:ext cx="292608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0B0C15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758184"/>
            <a:ext cx="276148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trial-to-paid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4837176"/>
            <a:ext cx="2761488" cy="420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88 ÷ 220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24144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EB5C9"/>
                </a:solidFill>
                <a:latin typeface="Calibri"/>
              </a:defRPr>
            </a:pPr>
            <a:r>
              <a:t>Illustrative funnel only. These counts do not establish a causal product impact.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43032" y="438912"/>
            <a:ext cx="1005840" cy="1554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37376"/>
            <a:ext cx="9601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BENEFITS / FIT WITH YOUR PROJECT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Less re-entry.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More schedule visibility.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60904"/>
            <a:ext cx="3456432" cy="2907792"/>
          </a:xfrm>
          <a:prstGeom prst="rect">
            <a:avLst/>
          </a:prstGeom>
          <a:solidFill>
            <a:srgbClr val="1C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660904"/>
            <a:ext cx="932688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999232"/>
            <a:ext cx="29718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01 /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648456"/>
            <a:ext cx="297180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Reduce manual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re-entry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782312"/>
            <a:ext cx="2971800" cy="5577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D9DCE7"/>
                </a:solidFill>
                <a:latin typeface="Calibri"/>
              </a:defRPr>
            </a:pPr>
            <a:r>
              <a:t>Bring availability into the scheduling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926080"/>
            <a:ext cx="3456432" cy="29077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3264408"/>
            <a:ext cx="29718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02 / CONFLICT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3913632"/>
            <a:ext cx="297180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Surface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shift overlaps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5047488"/>
            <a:ext cx="2971800" cy="5577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0B0C15"/>
                </a:solidFill>
                <a:latin typeface="Calibri"/>
              </a:defRPr>
            </a:pPr>
            <a:r>
              <a:t>Review overlapping shifts before approval.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2660904"/>
            <a:ext cx="3456432" cy="2907792"/>
          </a:xfrm>
          <a:prstGeom prst="rect">
            <a:avLst/>
          </a:prstGeom>
          <a:solidFill>
            <a:srgbClr val="1C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16184" y="2660904"/>
            <a:ext cx="932688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999232"/>
            <a:ext cx="29718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03 / APPROVAL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648456"/>
            <a:ext cx="297180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Know who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4782312"/>
            <a:ext cx="2971800" cy="5577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D9DCE7"/>
                </a:solidFill>
                <a:latin typeface="Calibri"/>
              </a:defRPr>
            </a:pPr>
            <a:r>
              <a:t>Keep a record of who approved each schedule.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961888"/>
            <a:ext cx="107899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EB5C9"/>
                </a:solidFill>
                <a:latin typeface="Calibri"/>
              </a:defRPr>
            </a:pPr>
            <a:r>
              <a:t>Capability benefits are qualitative; no quantified time-saving claim is provided.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37376"/>
            <a:ext cx="9601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 LAUNCH / SIX-WEEK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FFFFFF"/>
                </a:solidFill>
                <a:latin typeface="Calibri"/>
              </a:defRPr>
            </a:pPr>
            <a:r>
              <a:t>Two inputs. One launch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10698480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D9DCE7"/>
                </a:solidFill>
                <a:latin typeface="Calibri"/>
              </a:defRPr>
            </a:pPr>
            <a:r>
              <a:t>Launch in week 6 depends on both beta feedback and security 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51960" y="3136392"/>
            <a:ext cx="5943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251960" y="4690872"/>
            <a:ext cx="5943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46320" y="3136392"/>
            <a:ext cx="0" cy="155448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46320" y="3913632"/>
            <a:ext cx="667512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9440" y="3913632"/>
            <a:ext cx="68580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2706624"/>
            <a:ext cx="3611880" cy="1106424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843784"/>
            <a:ext cx="3200400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BETA • WEEKS 1–3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Gather beta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61104"/>
            <a:ext cx="3611880" cy="1106424"/>
          </a:xfrm>
          <a:prstGeom prst="rect">
            <a:avLst/>
          </a:prstGeom>
          <a:solidFill>
            <a:srgbClr val="222638"/>
          </a:solidFill>
          <a:ln>
            <a:solidFill>
              <a:srgbClr val="53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398264"/>
            <a:ext cx="3200400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SECURITY • WEEKS 2–4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Complete security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13832" y="3337560"/>
            <a:ext cx="1435608" cy="11521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675887"/>
            <a:ext cx="1216152" cy="4663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B0C15"/>
                </a:solidFill>
                <a:latin typeface="Calibri"/>
              </a:defRPr>
            </a:pPr>
            <a:r>
              <a:t>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337560"/>
            <a:ext cx="3913632" cy="11521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520440"/>
            <a:ext cx="345643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LAUNCH • WEEK 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After both inputs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4919472"/>
            <a:ext cx="3913632" cy="667512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5056632"/>
            <a:ext cx="3547872" cy="374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SUPPORT TRAINING • WEEK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79008"/>
            <a:ext cx="10698480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EB5C9"/>
                </a:solidFill>
                <a:latin typeface="Calibri"/>
              </a:defRPr>
            </a:pPr>
            <a:r>
              <a:t>Beta and security review overlap in weeks 2–3. Support training stays in week 5.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437376"/>
            <a:ext cx="9601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YOUR NEXT STEP / TRY PLANVOLT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6858000" cy="17739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FFFF"/>
                </a:solidFill>
                <a:latin typeface="Calibri"/>
              </a:defRPr>
            </a:pPr>
            <a:r>
              <a:t>Plan your next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FFFF"/>
                </a:solidFill>
                <a:latin typeface="Calibri"/>
              </a:defRPr>
            </a:pPr>
            <a:r>
              <a:t>project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108960"/>
            <a:ext cx="6355080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9DCE7"/>
                </a:solidFill>
                <a:latin typeface="Calibri"/>
              </a:defRPr>
            </a:pPr>
            <a:r>
              <a:t>Start a Pro trial with one active project and experience the full scheduling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188720"/>
            <a:ext cx="3685032" cy="305409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417320"/>
            <a:ext cx="3200400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0B0C15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6" y="2596896"/>
            <a:ext cx="310896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0C15"/>
                </a:solidFill>
                <a:latin typeface="Calibri"/>
              </a:defRPr>
            </a:pPr>
            <a:r>
              <a:t>PRO 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9016" y="3264408"/>
            <a:ext cx="3090672" cy="667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No payment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6336792" cy="7132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590288"/>
            <a:ext cx="589788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START YOUR 14-DAY PRO 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5422392"/>
            <a:ext cx="6309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After the trial, Pro is $55/team/month.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4608576"/>
            <a:ext cx="3383280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Import availability.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Review conflicts.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Approve. Notify.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43032" y="877824"/>
            <a:ext cx="1005840" cy="1554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40080" y="6318504"/>
            <a:ext cx="10908792" cy="0"/>
          </a:xfrm>
          <a:prstGeom prst="line">
            <a:avLst/>
          </a:prstGeom>
          <a:ln w="19050">
            <a:solidFill>
              <a:srgbClr val="3539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37376"/>
            <a:ext cx="9601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ILLUSTRATIVE TRIAL INVITATION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9944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