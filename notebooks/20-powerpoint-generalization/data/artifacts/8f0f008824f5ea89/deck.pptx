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 duplicated work</c:v>
                </c:pt>
                <c:pt idx="1">
                  <c:v>Did not report 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640080"/>
            <a:ext cx="283464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1143000"/>
            <a:ext cx="210312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1645920"/>
            <a:ext cx="1371600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6858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PRODUCT OVERVIEW  |  FOR PROJECT MANAGERS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96012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0" b="1">
                <a:solidFill>
                  <a:srgbClr val="FFFFFF"/>
                </a:solidFill>
                <a:latin typeface="Calibri"/>
              </a:defRPr>
            </a:pPr>
            <a:r>
              <a:t>ShiftLoop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86868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Team scheduling for small teams: import availability, catch conflicts, approve once, notify everyone.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754880"/>
            <a:ext cx="320040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93776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01  The 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02  The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93776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03  Plans and funnel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04  Launch and 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937760"/>
            <a:ext cx="3749039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Decision ask: start a 14-day Pro trial (no payment required)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Fictional product. All figures in this deck are synthetic and are not customer testimonials.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59% of pilot teams duplicate scheduling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0" b="1">
                <a:solidFill>
                  <a:srgbClr val="FFD700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4937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of 120 pilot teams report duplicated scheduling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4937760" cy="8229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754880"/>
            <a:ext cx="109728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4663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71 / 120 = 59.2%   |   120 − 71 = 49 teams did not report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394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Pilot survey responses (number of teams)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2240280"/>
          <a:ext cx="539496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Synthetic pilot survey count (n = 120 teams). Not a market-size estimate.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One loop: conflicts are resolved before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1828800" cy="1005840"/>
          </a:xfrm>
          <a:prstGeom prst="rect">
            <a:avLst/>
          </a:prstGeom>
          <a:solidFill>
            <a:srgbClr val="171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1  Import availability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2880360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880360" y="2377440"/>
            <a:ext cx="1828800" cy="1005840"/>
          </a:xfrm>
          <a:prstGeom prst="rect">
            <a:avLst/>
          </a:prstGeom>
          <a:solidFill>
            <a:srgbClr val="171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  Flag conflicts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2880360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12080" y="2377440"/>
            <a:ext cx="182880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2880360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0" y="2331720"/>
            <a:ext cx="685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2377440"/>
            <a:ext cx="1828800" cy="1005840"/>
          </a:xfrm>
          <a:prstGeom prst="rect">
            <a:avLst/>
          </a:prstGeom>
          <a:solidFill>
            <a:srgbClr val="171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3  Approve schedule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2880360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875520" y="2377440"/>
            <a:ext cx="1828800" cy="1005840"/>
          </a:xfrm>
          <a:prstGeom prst="rect">
            <a:avLst/>
          </a:prstGeom>
          <a:solidFill>
            <a:srgbClr val="171A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4688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4  Notify team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3383280"/>
            <a:ext cx="0" cy="109728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370332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480560"/>
            <a:ext cx="1828800" cy="914400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4526280"/>
            <a:ext cx="1828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Review availability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794760" y="4937760"/>
            <a:ext cx="14173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94760" y="3383280"/>
            <a:ext cx="0" cy="155448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7280" y="4206240"/>
            <a:ext cx="2560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ABBF"/>
                </a:solidFill>
                <a:latin typeface="Calibri"/>
              </a:defRPr>
            </a:pPr>
            <a:r>
              <a:t>Re-check after review, then approve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4480560"/>
            <a:ext cx="4160520" cy="9144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4480560"/>
            <a:ext cx="109728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526280"/>
            <a:ext cx="38404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schedule reaches approval while a conflict is open.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Illustrative workflow of a fictional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 adds conflict alerts and 8× the members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7589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731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Calendar + conflict alerts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per member at full team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÷ 5 = $4.60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÷ 40 = $1.55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595360" y="1920240"/>
            <a:ext cx="3017520" cy="36576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95360" y="1920240"/>
            <a:ext cx="30175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194560"/>
            <a:ext cx="2651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D700"/>
                </a:solidFill>
                <a:latin typeface="Calibri"/>
              </a:defRPr>
            </a:pPr>
            <a:r>
              <a:t>+$39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3063240"/>
            <a:ext cx="2651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per team per month, Starter to Pro ($62 − $23)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0" y="3931920"/>
            <a:ext cx="2651760" cy="0"/>
          </a:xfrm>
          <a:prstGeom prst="line">
            <a:avLst/>
          </a:prstGeom>
          <a:ln w="25400">
            <a:solidFill>
              <a:srgbClr val="3A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0" y="4069080"/>
            <a:ext cx="26517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Buys conflict alerts and 35 more seats (40 vs 5). Enterprise pricing is not published.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Fictional pricing. Per-member figures assume every seat is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100 paid teams from 1,400 visits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766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Funnel stage counts (number of visits / teams)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240280"/>
          <a:ext cx="67665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1783080"/>
            <a:ext cx="3749039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Stage-to-stage conversion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240280"/>
            <a:ext cx="3749039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28600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Visit → signup   480 / 1,400 = 34.3%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154680"/>
            <a:ext cx="3474720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20040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Signup → trial   220 / 480 = 45.8%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069080"/>
            <a:ext cx="320040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411480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Trial → paid   100 / 220 = 45.5%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4983480"/>
            <a:ext cx="2926080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5029200"/>
            <a:ext cx="27432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Overall   100 / 1,400 = 7.1%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Synthetic funnel counts. Describes stage volumes only; does not show causal product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Three capabilities that remove rework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474720" cy="35661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4747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3108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Availability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31089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Reduces manual re-entry of who is available and when.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3474720" cy="35661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331720"/>
            <a:ext cx="34747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3108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Conflict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31089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Surface overlapping shifts before a schedule is approved.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651760"/>
            <a:ext cx="3474720" cy="32918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651760"/>
            <a:ext cx="34747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31089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794760"/>
            <a:ext cx="3108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Approval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434840"/>
            <a:ext cx="31089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ABBF"/>
                </a:solidFill>
                <a:latin typeface="Calibri"/>
              </a:defRPr>
            </a:pPr>
            <a:r>
              <a:t>Records who approved each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Qualitative benefits only. No quantified time-saving claim is made.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Launch in week 7 needs beta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874519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874519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74519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74519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874519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ABBF"/>
                </a:solidFill>
                <a:latin typeface="Calibri"/>
              </a:defRPr>
            </a:pPr>
            <a:r>
              <a:t>Wk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874519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Wk 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331720"/>
            <a:ext cx="8321040" cy="0"/>
          </a:xfrm>
          <a:prstGeom prst="line">
            <a:avLst/>
          </a:prstGeom>
          <a:ln w="25400">
            <a:solidFill>
              <a:srgbClr val="3A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395728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46888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72968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Weeks 2–4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24612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675120" y="2697480"/>
            <a:ext cx="29718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3474720"/>
            <a:ext cx="17830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46920" y="2697480"/>
            <a:ext cx="0" cy="155448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46920" y="4251960"/>
            <a:ext cx="59436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829800" y="2880360"/>
            <a:ext cx="73152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880360"/>
            <a:ext cx="7315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50208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4023360"/>
            <a:ext cx="118872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4023360"/>
            <a:ext cx="1188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27448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800600"/>
            <a:ext cx="1188720" cy="457200"/>
          </a:xfrm>
          <a:prstGeom prst="rect">
            <a:avLst/>
          </a:prstGeom>
          <a:solidFill>
            <a:srgbClr val="A7A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Launch proceeds only when beta feedback and the security review are both complete. Support training remains in week 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Illustrative plan for a fictional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577840"/>
            <a:ext cx="365760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989320"/>
            <a:ext cx="237744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YOUR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498079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FFFFF"/>
                </a:solidFill>
                <a:latin typeface="Calibri"/>
              </a:defRPr>
            </a:pPr>
            <a:r>
              <a:t>Start a 14-day Pro 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7315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D700"/>
                </a:solidFill>
                <a:latin typeface="Calibri"/>
              </a:defRPr>
            </a:pPr>
            <a:r>
              <a:t>No payment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7132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ABBF"/>
                </a:solidFill>
                <a:latin typeface="Calibri"/>
              </a:defRPr>
            </a:pPr>
            <a:r>
              <a:t>Run one current project through the loop: import availability, clear conflicts, approve, notify.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371600"/>
            <a:ext cx="3291840" cy="3977639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5544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TRIAL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05740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83464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 plan · no payment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3429000"/>
            <a:ext cx="2834640" cy="0"/>
          </a:xfrm>
          <a:prstGeom prst="line">
            <a:avLst/>
          </a:prstGeom>
          <a:ln w="25400">
            <a:solidFill>
              <a:srgbClr val="3A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49640" y="356616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AFTER TRIAL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02336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$62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617720"/>
            <a:ext cx="2834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ABBF"/>
                </a:solidFill>
                <a:latin typeface="Calibri"/>
              </a:defRPr>
            </a:pPr>
            <a:r>
              <a:t>per team per month · 40 members · conflict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03504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7ABBF"/>
                </a:solidFill>
                <a:latin typeface="Calibri"/>
              </a:defRPr>
            </a:pPr>
            <a:r>
              <a:t>Fictional product; all figures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