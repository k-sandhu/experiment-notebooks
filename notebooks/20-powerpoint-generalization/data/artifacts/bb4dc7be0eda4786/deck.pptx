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4DB6A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39</c:v>
                </c:pt>
                <c:pt idx="2">
                  <c:v>31</c:v>
                </c:pt>
                <c:pt idx="3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17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4DB6A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22</c:v>
                </c:pt>
                <c:pt idx="2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7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01  / 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813816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63238"/>
                </a:solidFill>
                <a:latin typeface="Arial"/>
              </a:defRPr>
            </a:pPr>
            <a:r>
              <a:t>Bring an item.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63238"/>
                </a:solidFill>
                <a:latin typeface="Arial"/>
              </a:defRPr>
            </a:pPr>
            <a:r>
              <a:t>Join the repair café.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304288"/>
            <a:ext cx="60807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63238"/>
                </a:solidFill>
                <a:latin typeface="Arial"/>
              </a:defRPr>
            </a:pPr>
            <a:r>
              <a:t>A fictional neighborhood invitation to explore repairs, share practical help and take part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188720"/>
            <a:ext cx="41605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6096" y="1444752"/>
            <a:ext cx="36393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There’s a place for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6096" y="1956816"/>
            <a:ext cx="3593592" cy="11155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Local residents can bring an item or volunteer in welcome, repair support or safety check roles.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776472"/>
            <a:ext cx="6858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How the campaign unfolds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32688" y="4681728"/>
            <a:ext cx="10021824" cy="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" y="4416552"/>
            <a:ext cx="3310128" cy="1252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4590288"/>
            <a:ext cx="2871216" cy="8503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1  Sign 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Choose participant or volunteer.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4279392"/>
            <a:ext cx="3310128" cy="1252728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4453128"/>
            <a:ext cx="2871216" cy="8503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2  Get ready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Training and venue confirmation.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4526280"/>
            <a:ext cx="3493008" cy="1252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4700016"/>
            <a:ext cx="3054096" cy="8503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3  Take part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Events, then a follow-up.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96188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To volunteer, tell the Local organizer which role interests you by the end of week 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55664"/>
            <a:ext cx="10881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02  / 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Four sessions. 162 seats in total.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46504"/>
            <a:ext cx="7772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Seats available per session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2359152"/>
          <a:ext cx="7351775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2359152"/>
            <a:ext cx="3136392" cy="1481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22792" y="2578608"/>
            <a:ext cx="2606040" cy="5577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2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1936" y="3191256"/>
            <a:ext cx="257860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46E7A"/>
                </a:solidFill>
                <a:latin typeface="Arial"/>
              </a:defRPr>
            </a:pPr>
            <a:r>
              <a:t>for every session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4169663"/>
            <a:ext cx="2953512" cy="1609344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87384" y="4398264"/>
            <a:ext cx="2450592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Total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7384" y="4910328"/>
            <a:ext cx="2450592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45 + 39 + 31 + 47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= 162 seats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044184"/>
            <a:ext cx="1088136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Walk-ins are welcome within each session’s capacity.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55664"/>
            <a:ext cx="10881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03  /  VOLUNTEERS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Many ways to lend a hand.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01952"/>
            <a:ext cx="3675887" cy="3502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221992"/>
            <a:ext cx="3035808" cy="7406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29 volunteers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3136392"/>
            <a:ext cx="3035808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546E7A"/>
                </a:solidFill>
                <a:latin typeface="Arial"/>
              </a:defRPr>
            </a:pPr>
            <a:r>
              <a:t>× 3 hours each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50976" y="3813048"/>
            <a:ext cx="2907792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4169663"/>
            <a:ext cx="3035808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63238"/>
                </a:solidFill>
                <a:latin typeface="Arial"/>
              </a:defRPr>
            </a:pPr>
            <a:r>
              <a:t>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37176"/>
            <a:ext cx="30175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volunteer-hours in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8032" y="1965960"/>
            <a:ext cx="6446520" cy="9601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2157984"/>
            <a:ext cx="5925312" cy="5394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Welcome  •  Greet people and help them get started.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3191256"/>
            <a:ext cx="6364224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4104" y="3383280"/>
            <a:ext cx="5843016" cy="5394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Repair support  •  Help within available skills.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8032" y="4416552"/>
            <a:ext cx="6446520" cy="960120"/>
          </a:xfrm>
          <a:prstGeom prst="roundRect">
            <a:avLst/>
          </a:prstGeom>
          <a:solidFill>
            <a:srgbClr val="D8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4608576"/>
            <a:ext cx="5925312" cy="5394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Safety check  •  Help flag concerns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79008"/>
            <a:ext cx="10835640" cy="5120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No specialist qualification is implied by these roles. A safety check is not safety certification.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55664"/>
            <a:ext cx="10881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04  / 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A clear plan for $2,860.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28216"/>
            <a:ext cx="7040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46E7A"/>
                </a:solidFill>
                <a:latin typeface="Arial"/>
              </a:defRPr>
            </a:pPr>
            <a:r>
              <a:t>Synthetic campaign budget • amounts in dollars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2377440"/>
          <a:ext cx="7022592" cy="334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296"/>
                <a:gridCol w="3511296"/>
              </a:tblGrid>
              <a:tr h="55778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 item</a:t>
                      </a:r>
                    </a:p>
                  </a:txBody>
                  <a:tcPr marL="64008" marR="64008" marT="36576" marB="36576"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($)</a:t>
                      </a:r>
                    </a:p>
                  </a:txBody>
                  <a:tcPr marL="64008" marR="64008" marT="36576" marB="36576">
                    <a:solidFill>
                      <a:srgbClr val="546E7A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1,270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950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640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2,860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47888" y="2313432"/>
            <a:ext cx="3264408" cy="1956816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13064" y="2587752"/>
            <a:ext cx="2724912" cy="3383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46E7A"/>
                </a:solidFill>
                <a:latin typeface="Arial"/>
              </a:defRPr>
            </a:pPr>
            <a:r>
              <a:t>Largest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13064" y="3099816"/>
            <a:ext cx="2724912" cy="484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3064" y="3666744"/>
            <a:ext cx="2724912" cy="3383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$1,270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4626864"/>
            <a:ext cx="2999232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Access support has a $0 allocation in this budget.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5952744"/>
            <a:ext cx="10789920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$1,270 + $950 + $640 + $0 = $2,860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455664"/>
            <a:ext cx="10881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05  / 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Get ready together. Meet in week 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73936"/>
            <a:ext cx="10835640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63238"/>
                </a:solidFill>
                <a:latin typeface="Arial"/>
              </a:defRPr>
            </a:pPr>
            <a:r>
              <a:t>Events depend on both training in week 2 and venue confirmation in week 3.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54680" y="3337560"/>
            <a:ext cx="502920" cy="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66560" y="3310128"/>
            <a:ext cx="960119" cy="484632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766560" y="4160520"/>
            <a:ext cx="960119" cy="658368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45168" y="4471416"/>
            <a:ext cx="0" cy="576072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2798064"/>
            <a:ext cx="251460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71800"/>
            <a:ext cx="2075688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46E7A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383280"/>
            <a:ext cx="2075688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Registration opens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743200"/>
            <a:ext cx="3108960" cy="1188720"/>
          </a:xfrm>
          <a:prstGeom prst="roundRect">
            <a:avLst/>
          </a:prstGeom>
          <a:solidFill>
            <a:srgbClr val="D8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926080"/>
            <a:ext cx="2651760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46E7A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337560"/>
            <a:ext cx="2651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251960"/>
            <a:ext cx="31089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4434840"/>
            <a:ext cx="2651760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46E7A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4846320"/>
            <a:ext cx="2651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Venue confirmation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264408"/>
            <a:ext cx="3611880" cy="1207008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3568" y="3447288"/>
            <a:ext cx="3118104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4 • BOTH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3840480"/>
            <a:ext cx="3118104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Repair café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5047488"/>
            <a:ext cx="3611880" cy="103327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5202936"/>
            <a:ext cx="311810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46E7A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5559552"/>
            <a:ext cx="3118104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Follow-up • one week 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5806440"/>
            <a:ext cx="6355080" cy="3383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Participant and volunteer sign-up closes at the end of week 2.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455664"/>
            <a:ext cx="10881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06  /  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Bring one small household item.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039112"/>
            <a:ext cx="4663440" cy="3346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40864"/>
            <a:ext cx="4041648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3238"/>
                </a:solidFill>
                <a:latin typeface="Arial"/>
              </a:defRPr>
            </a:pPr>
            <a:r>
              <a:t>Come ready to explore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4041648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238"/>
                </a:solidFill>
                <a:latin typeface="Arial"/>
              </a:defRPr>
            </a:pPr>
            <a:r>
              <a:t>Bring a single small household item for assessment.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78408" y="4242816"/>
            <a:ext cx="3712464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4553712"/>
            <a:ext cx="4041648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Walk-ins are welcome within session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79592" y="2267712"/>
            <a:ext cx="5596128" cy="1417320"/>
          </a:xfrm>
          <a:prstGeom prst="roundRect">
            <a:avLst/>
          </a:prstGeom>
          <a:solidFill>
            <a:srgbClr val="D8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505456"/>
            <a:ext cx="5001768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Repairs depend on the skills and parts available at the session.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4023360"/>
            <a:ext cx="5321808" cy="1362456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70248"/>
            <a:ext cx="4727448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A repair is not guaranteed.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No safety certification is provided.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15584"/>
            <a:ext cx="10799064" cy="4297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63238"/>
                </a:solidFill>
                <a:latin typeface="Arial"/>
              </a:defRPr>
            </a:pPr>
            <a:r>
              <a:t>The invitation is to assess what may be possible,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455664"/>
            <a:ext cx="10881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07  / 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Last synthetic trial: 60.0% repaired.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46504"/>
            <a:ext cx="7680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Outcomes for 90 assessed items • item counts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" y="2395728"/>
          <a:ext cx="7434072" cy="3374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94192" y="2377440"/>
            <a:ext cx="3090672" cy="19293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0224" y="2660904"/>
            <a:ext cx="2578608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263238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59368" y="3438144"/>
            <a:ext cx="256032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54 ÷ 90 ×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repair 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7031" y="4636008"/>
            <a:ext cx="3227832" cy="1133856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13064" y="4846320"/>
            <a:ext cx="2715768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Synthetic trial results do not guarantee future repairs.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5961888"/>
            <a:ext cx="10799064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54 repaired + 22 referred + 14 not repairable = 90 assessed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455664"/>
            <a:ext cx="10881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46E7A"/>
                </a:solidFill>
                <a:latin typeface="Arial"/>
              </a:defRPr>
            </a:pPr>
            <a:r>
              <a:t>08  /  JOIN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Make room for repair in your week.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" y="1993392"/>
            <a:ext cx="7104888" cy="10058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212848"/>
            <a:ext cx="6547104" cy="5120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63238"/>
                </a:solidFill>
                <a:latin typeface="Arial"/>
              </a:defRPr>
            </a:pPr>
            <a:r>
              <a:t>Sign up by the end of week 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3438144"/>
            <a:ext cx="5102352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3703320"/>
            <a:ext cx="4517136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Join as a participant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4315968"/>
            <a:ext cx="4517136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Bring one small household item to a week 4 event.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611880"/>
            <a:ext cx="5321808" cy="1783080"/>
          </a:xfrm>
          <a:prstGeom prst="roundRect">
            <a:avLst/>
          </a:prstGeom>
          <a:solidFill>
            <a:srgbClr val="D8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3877056"/>
            <a:ext cx="4736592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Join as a volunteer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4489704"/>
            <a:ext cx="4736592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Choose welcome, repair support or safety check.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172968" cy="4297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3238"/>
                </a:solidFill>
                <a:latin typeface="Arial"/>
              </a:defRPr>
            </a:pPr>
            <a:r>
              <a:t>Events: week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697480"/>
            <a:ext cx="3127248" cy="5120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46E7A"/>
                </a:solidFill>
                <a:latin typeface="Arial"/>
              </a:defRPr>
            </a:pPr>
            <a:r>
              <a:t>Training for volunteers: week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5760720"/>
            <a:ext cx="2185416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72968" y="5559552"/>
            <a:ext cx="8211312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Contact placeholder: Local organizer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Share your interest in participating or volunteering.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455664"/>
            <a:ext cx="10881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46E7A"/>
                </a:solidFill>
                <a:latin typeface="Arial"/>
              </a:defRPr>
            </a:pPr>
            <a:r>
              <a:t>Fictional repair café campaign • All data are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