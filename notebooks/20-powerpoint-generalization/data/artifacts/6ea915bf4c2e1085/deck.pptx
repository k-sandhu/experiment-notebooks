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>
              <a:solidFill>
                <a:srgbClr val="00B36B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1030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66666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B36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97.6</c:v>
                </c:pt>
                <c:pt idx="1">
                  <c:v>122</c:v>
                </c:pt>
                <c:pt idx="2">
                  <c:v>146.4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E0E0E0"/>
                </a:solidFill>
                <a:latin typeface="Calibri"/>
              </a:defRPr>
            </a:pPr>
            <a:r>
              <a:t>DECISION  —  SELECT OPTION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Strategic equipment procurement  •  Executive leadership review  •  All data synthetic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" y="1554480"/>
            <a:ext cx="11183112" cy="114300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106984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0E0E0"/>
                </a:solidFill>
                <a:latin typeface="Calibri"/>
              </a:defRPr>
            </a:pPr>
            <a:r>
              <a:t>RECOMMENDATION:  Proceed with Option B as the long-term asset strategy — subject to the Week 9 gate on Slide 7.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017520"/>
            <a:ext cx="2651760" cy="17373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15468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$366k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9476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INVESTMENT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Option B, upfront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3017520"/>
            <a:ext cx="2651760" cy="17373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15468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$122k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79476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ANNUAL SAVING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per year at base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017520"/>
            <a:ext cx="2651760" cy="17373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15468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3.0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79476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SIMPLE PAYBACK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366 ÷ 122 = 3.0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34272" y="3017520"/>
            <a:ext cx="2651760" cy="173736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2" y="3154680"/>
            <a:ext cx="24688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99"/>
                </a:solidFill>
                <a:latin typeface="Calibri"/>
              </a:defRPr>
            </a:pPr>
            <a:r>
              <a:t>$0k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3794760"/>
            <a:ext cx="246888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3-YEAR NET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3 × 122 − 366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1118311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0E0E0"/>
                </a:solidFill>
                <a:latin typeface="Calibri"/>
              </a:defRPr>
            </a:pPr>
            <a:r>
              <a:t>Why B: mid-scale investment, $122k/yr saving and 99.1% reference uptime.  Why gated: reference uptime is not proof of operational performance — see Slides 5 and 7 before rollout.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OPTIONS  —  A / B / C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Reference options stay unchanged  •  Investment and saving in $k  •  Uptime is a reference figure, not operational proof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778"/>
                <a:gridCol w="2795778"/>
                <a:gridCol w="2795778"/>
                <a:gridCol w="2795778"/>
              </a:tblGrid>
              <a:tr h="441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B  ★ SELECTED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 payback (yrs) = Inv ÷ Saving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3.05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3-year net ($k) = 3×Saving − Inv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572000"/>
            <a:ext cx="3611880" cy="1417320"/>
          </a:xfrm>
          <a:prstGeom prst="rect">
            <a:avLst/>
          </a:prstGeom>
          <a:solidFill>
            <a:srgbClr val="262626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81728"/>
            <a:ext cx="3246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A — LOWEST COST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Fastest payback (2.71 yrs), but lowest saving and 97.8% uptime.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572000"/>
            <a:ext cx="3611880" cy="141732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4681728"/>
            <a:ext cx="3246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B — BALANCED  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$122k/yr saving at $366k; breaks even at exactly 3.0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4572000"/>
            <a:ext cx="3611880" cy="1417320"/>
          </a:xfrm>
          <a:prstGeom prst="rect">
            <a:avLst/>
          </a:prstGeom>
          <a:solidFill>
            <a:srgbClr val="262626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4681728"/>
            <a:ext cx="324612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C — MAXIMUM SCALE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Highest saving and uptime, but $528k outlay; still −$9k at year 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PERFORMANCE  —  OUTPUT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Six monthly outputs (units), M1–M6  •  Target 1,100 units/month  •  Both series shown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508760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Monthly output (units) — Actual vs Target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7680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503920" y="1874519"/>
            <a:ext cx="3182112" cy="123444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965960"/>
            <a:ext cx="2907792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ACTUAL TOTAL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5,690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3291840"/>
            <a:ext cx="3182112" cy="1234440"/>
          </a:xfrm>
          <a:prstGeom prst="rect">
            <a:avLst/>
          </a:prstGeom>
          <a:solidFill>
            <a:srgbClr val="262626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3383280"/>
            <a:ext cx="2907792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TARGET TOTAL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E0E0E0"/>
                </a:solidFill>
                <a:latin typeface="Calibri"/>
              </a:defRPr>
            </a:pPr>
            <a:r>
              <a:t>6,600 units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4709160"/>
            <a:ext cx="3182112" cy="1325880"/>
          </a:xfrm>
          <a:prstGeom prst="rect">
            <a:avLst/>
          </a:prstGeom>
          <a:solidFill>
            <a:srgbClr val="3A1A1A"/>
          </a:solidFill>
          <a:ln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4800600"/>
            <a:ext cx="2907792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9999"/>
                </a:solidFill>
                <a:latin typeface="Calibri"/>
              </a:defRPr>
            </a:pPr>
            <a:r>
              <a:t>SHORTFALL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9999"/>
                </a:solidFill>
                <a:latin typeface="Calibri"/>
              </a:defRPr>
            </a:pPr>
            <a:r>
              <a:t>910 units  (13.8% below target)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7220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Only M3 (1,120) and M5 (1,110) met target. The gap is the operational case for new equipment.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SCENARIO  —  OPTION B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Saving = 80% / 100% / 120% of $122k  •  Payback = Investment ÷ Saving  •  3-yr net = 3×Saving − Investment ($366k)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508760"/>
            <a:ext cx="5669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0E0E0"/>
                </a:solidFill>
                <a:latin typeface="Calibri"/>
              </a:defRPr>
            </a:pPr>
            <a:r>
              <a:t>Annual saving by scenario ($k/year)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874519"/>
          <a:ext cx="56692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46520" y="1874519"/>
          <a:ext cx="52395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878"/>
                <a:gridCol w="1309878"/>
                <a:gridCol w="1309878"/>
                <a:gridCol w="1309878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3.75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−73.2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146.4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+73.2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46520" y="4572000"/>
            <a:ext cx="5239512" cy="14173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681728"/>
            <a:ext cx="487375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READ-OUT:  Base case breaks even at year 3. A 20% saving shortfall pushes payback to 3.75 yrs and leaves −$73.2k at year 3; +20% reverses both.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CAPACITY  —  DEMAND vs CAPACITY BY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Daily demand and capacity (units/day)  •  All six given cells preserved  •  Demand above capacity flagged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45920"/>
          <a:ext cx="1118311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6622"/>
                <a:gridCol w="2236622"/>
                <a:gridCol w="2236622"/>
                <a:gridCol w="2236622"/>
                <a:gridCol w="2236624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Headroom (Cap − Demand)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OK — tight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▲ DEMAND ABOVE CAPACITY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389120"/>
            <a:ext cx="6949440" cy="1600200"/>
          </a:xfrm>
          <a:prstGeom prst="rect">
            <a:avLst/>
          </a:prstGeom>
          <a:solidFill>
            <a:srgbClr val="3A1A1A"/>
          </a:solidFill>
          <a:ln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6492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9999"/>
                </a:solidFill>
                <a:latin typeface="Calibri"/>
              </a:defRPr>
            </a:pPr>
            <a:r>
              <a:t>WEST IS OVER CAPACITY:  demand 338 &gt; capacity 330 units/day — an 8 units/day deficit that equipment alone must close or demand must be rebalanced.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4389120"/>
            <a:ext cx="4005072" cy="160020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4526280"/>
            <a:ext cx="354787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Totals: demand 868 vs capacity 880 units/day (+12 overall) — but capacity is site-bound, so the West gap still blocks the 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ROADMAP  —  13-WEEK DELIVERY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Technical and People lanes  •  Validate and Train run in parallel after Build  •  Both feed the Week 9 gate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60020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3246120"/>
            <a:ext cx="1118311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3429000"/>
            <a:ext cx="1417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57400"/>
            <a:ext cx="1828800" cy="9601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64592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1–2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542032"/>
            <a:ext cx="4572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88920" y="2057400"/>
            <a:ext cx="2011680" cy="9601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18288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3–5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2542032"/>
            <a:ext cx="4572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257800" y="2057400"/>
            <a:ext cx="2194560" cy="96012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148840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94760" y="3017520"/>
            <a:ext cx="0" cy="1353312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94760" y="4370832"/>
            <a:ext cx="14630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257800" y="3886200"/>
            <a:ext cx="2194560" cy="96012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3977639"/>
            <a:ext cx="20116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6–8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2542032"/>
            <a:ext cx="6858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138160" y="2542032"/>
            <a:ext cx="0" cy="91440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52360" y="4370832"/>
            <a:ext cx="6858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138160" y="3456432"/>
            <a:ext cx="0" cy="91440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138160" y="2971800"/>
            <a:ext cx="1417320" cy="9601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063240"/>
            <a:ext cx="12344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Week 9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80" y="3456432"/>
            <a:ext cx="41148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966960" y="2971800"/>
            <a:ext cx="1719072" cy="96012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3063240"/>
            <a:ext cx="15361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0E0E0"/>
                </a:solidFill>
                <a:latin typeface="Calibri"/>
              </a:defRPr>
            </a:pPr>
            <a:r>
              <a:t>Weeks 10–13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GATE  —  WEEK 9 GO / HOLD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All conditions must hold simultaneously  •  Reference uptime is not proof of operational performance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00200"/>
          <a:ext cx="111831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7704"/>
                <a:gridCol w="3727704"/>
                <a:gridCol w="3727704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GO condition (all required)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Evidence required at Week 9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Uptime at least 99.6%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Measured operational uptime — not the 99.1% reference figure for Option B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 sites pass capacity validation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North, East and West validated — West deficit (−8/day) closed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AND validation both finish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 (Wk 6–8) and Validate (Wk 6–8) complete before the gate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206240"/>
            <a:ext cx="5440680" cy="1554480"/>
          </a:xfrm>
          <a:prstGeom prst="rect">
            <a:avLst/>
          </a:prstGeom>
          <a:solidFill>
            <a:srgbClr val="003322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49834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GO  →  ROLLOUT (Weeks 10–13)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Only if conditions 1 + 2 + 3 are all met.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4206240"/>
            <a:ext cx="5440680" cy="1554480"/>
          </a:xfrm>
          <a:prstGeom prst="rect">
            <a:avLst/>
          </a:prstGeom>
          <a:solidFill>
            <a:srgbClr val="3A1A1A"/>
          </a:solidFill>
          <a:ln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4343400"/>
            <a:ext cx="498348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9999"/>
                </a:solidFill>
                <a:latin typeface="Calibri"/>
              </a:defRPr>
            </a:pPr>
            <a:r>
              <a:t>HOLD  →  NO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9999"/>
                </a:solidFill>
                <a:latin typeface="Calibri"/>
              </a:defRPr>
            </a:pPr>
            <a:r>
              <a:t>If any condition fails. Fix, re-validate, re-gate.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943600"/>
            <a:ext cx="111831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0E0E0"/>
                </a:solidFill>
                <a:latin typeface="Calibri"/>
              </a:defRPr>
            </a:pPr>
            <a:r>
              <a:t>Caution: Option B reference uptime (99.1%) sits below the 99.6% gate threshold — operational measurement during Validate must prove the higher bar.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28016" cy="566928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74320"/>
            <a:ext cx="108813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E0E0E0"/>
                </a:solidFill>
                <a:latin typeface="Calibri"/>
              </a:defRPr>
            </a:pPr>
            <a:r>
              <a:t>RISK  —  LIKELIHOOD ×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881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FF99"/>
                </a:solidFill>
                <a:latin typeface="Calibri"/>
              </a:defRPr>
            </a:pPr>
            <a:r>
              <a:t>Scales 1–5  •  Likelihood on x-axis, Impact on y-axis  •  Score = Likelihood × Impact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280160"/>
            <a:ext cx="11183112" cy="0"/>
          </a:xfrm>
          <a:prstGeom prst="line">
            <a:avLst/>
          </a:prstGeom>
          <a:ln w="3175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188720" y="1691640"/>
            <a:ext cx="4572000" cy="3840480"/>
          </a:xfrm>
          <a:prstGeom prst="rect">
            <a:avLst/>
          </a:prstGeom>
          <a:solidFill>
            <a:srgbClr val="222222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103120" y="1691640"/>
            <a:ext cx="0" cy="384048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1691640"/>
            <a:ext cx="0" cy="384048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931920" y="1691640"/>
            <a:ext cx="0" cy="384048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46320" y="1691640"/>
            <a:ext cx="0" cy="384048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2459736"/>
            <a:ext cx="45720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3227832"/>
            <a:ext cx="45720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88720" y="3995928"/>
            <a:ext cx="45720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20" y="4764024"/>
            <a:ext cx="45720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160520" y="3364992"/>
            <a:ext cx="457200" cy="45720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456432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596896"/>
            <a:ext cx="457200" cy="457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688336"/>
            <a:ext cx="3657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45720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1          2          3          4          5   →  LIKELIHOOD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691640"/>
            <a:ext cx="594360" cy="3840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</a:p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0E0E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5943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99"/>
                </a:solidFill>
                <a:latin typeface="Calibri"/>
              </a:defRPr>
            </a:pPr>
            <a:r>
              <a:t>IMPACT ↑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1691640"/>
          <a:ext cx="52852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308"/>
                <a:gridCol w="1321308"/>
                <a:gridCol w="1321308"/>
                <a:gridCol w="1321308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L × I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99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332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 — Supplier delay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 × 3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 — Training gap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 × 4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6400800" y="4160520"/>
            <a:ext cx="5285232" cy="1463040"/>
          </a:xfrm>
          <a:prstGeom prst="rect">
            <a:avLst/>
          </a:prstGeom>
          <a:solidFill>
            <a:srgbClr val="262626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297680"/>
            <a:ext cx="4828032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PRIORITY:  Supplier delay (score 12) outranks training gap (8). Pre-ordering critical parts protects the Build window (Wk 3–5); supervised practice protects the gate's training condition.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309360"/>
            <a:ext cx="868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99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