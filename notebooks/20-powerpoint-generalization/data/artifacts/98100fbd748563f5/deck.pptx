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Duplicated work</c:v>
                </c:pt>
                <c:pt idx="1">
                  <c:v>No duplication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411480"/>
            <a:ext cx="7315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858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PLANOVA  —  A FICTIONAL TEAM SCHEDULING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858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FOR PROJECT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SCHEDULING WITHOUT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DUPLICATED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7CAD6"/>
                </a:solidFill>
                <a:latin typeface="Calibri"/>
              </a:defRPr>
            </a:pPr>
            <a:r>
              <a:t>Import availability once. See conflicts before you approve. Notify the whole team from one shared schedule.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3566160" cy="16002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86200"/>
            <a:ext cx="356616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01 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Bring team availability into one calendar — no re-typing.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069080"/>
            <a:ext cx="3566160" cy="16002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069080"/>
            <a:ext cx="356616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976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  FLAG CONFLICTS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70916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Overlapping shifts are surfaced before approval.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886200"/>
            <a:ext cx="3566160" cy="1600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1148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03  APPROVE &amp; NOTIFY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52628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Approve once. Everyone gets the same final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A0B5"/>
                </a:solidFill>
                <a:latin typeface="Calibri"/>
              </a:defRPr>
            </a:pPr>
            <a:r>
              <a:t>Built for prospective small-team customers  •  See the workflow, plans and launch path inside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80644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All numbers in this deck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02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TEAMS ARE DOING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SCHEDULING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4206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D700"/>
                </a:solidFill>
                <a:latin typeface="Calibri"/>
              </a:defRPr>
            </a:pPr>
            <a:r>
              <a:t>71 of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4206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teams in a pilot survey report duplicated scheduling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4023360" cy="10515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5661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71 ÷ 120 = 59.2% report duplication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49 of 120 (40.8%) do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Pilot survey — teams reporting duplicated scheduling work (n = 120 teams)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12080" y="2788920"/>
          <a:ext cx="64008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12080" y="539496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Unit: teams.  Value axis starts at zero.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607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CAVEAT:  Synthetic pilot-survey count only — not a market-size estimate and not a customer testimonial.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03  / 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FLOW. ONE CHECKPOINT.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Nothing is approved while a conflict is unresolved — it loops back to availability review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251460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IMPORT AVAILABILITY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3090672"/>
            <a:ext cx="5486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11880" y="2423160"/>
            <a:ext cx="2514600" cy="132588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3090672"/>
            <a:ext cx="5486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675120" y="2423160"/>
            <a:ext cx="2514600" cy="1325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89720" y="3090672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92640" y="2423160"/>
            <a:ext cx="194767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606040"/>
            <a:ext cx="167335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NOTIFY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4884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NO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4160520"/>
            <a:ext cx="2514600" cy="68580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315968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4608" y="3749039"/>
            <a:ext cx="0" cy="411481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810512" y="4498848"/>
            <a:ext cx="1801368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10512" y="3794760"/>
            <a:ext cx="0" cy="70408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20240" y="4206240"/>
            <a:ext cx="1554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YES — REVIEW 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5212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conflict → proceed to approval (step 3), then notify (step 4).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YOU SEE:  A shared calendar, highlighted overlaps, an approve action, and a record of who approved — all in 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04  / 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PICK BY TEAM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Prices are per team per month. Enterprise has no list price — contact sales.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3172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858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Team size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Includes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 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  ★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40 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 + conflict alerts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349240"/>
            <a:ext cx="71323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6675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PRO = STARTER + CONFLICT ALERTS, FOR TEAMS UP TO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5394960"/>
            <a:ext cx="3657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A0B5"/>
                </a:solidFill>
                <a:latin typeface="Calibri"/>
              </a:defRPr>
            </a:pPr>
            <a:r>
              <a:t>Difference: $62 − $23 = $39 / team / month between Pro and Starter.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05  /  FUNNEL (SYNTHETIC)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FROM VISIT TO PAID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Funnel stages — exact counts (people / teams per stage label)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Counts: 1,400 → 480 → 220 → 100.  Value axis starts at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286000"/>
            <a:ext cx="3776472" cy="960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395728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TRIAL → PAID:  45.5%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100 ÷ 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429000"/>
            <a:ext cx="3776472" cy="141732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566160"/>
            <a:ext cx="33375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Visits → signups: 480 ÷ 1,400 = 34.3%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Signups → trials: 220 ÷ 480 = 45.8%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Visits → paid: 100 ÷ 1,400 = 7.1%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5029200"/>
            <a:ext cx="3776472" cy="9144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5138928"/>
            <a:ext cx="33375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7CAD6"/>
                </a:solidFill>
                <a:latin typeface="Calibri"/>
              </a:defRPr>
            </a:pPr>
            <a:r>
              <a:t>Descriptive funnel only. These counts do not imply the product caused the conversions.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All funnel data are synthetic — not customer results or testimonials.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06  / 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CHANGES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 YOUR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566160" cy="2468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56616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LESS MANUAL RE-ENTRY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7CAD6"/>
                </a:solidFill>
                <a:latin typeface="Calibri"/>
              </a:defRPr>
            </a:pPr>
            <a:r>
              <a:t>Availability import reduces manual re-entry of the same availability.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880360"/>
            <a:ext cx="3566160" cy="2468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61188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CONFLICTS, SURFACED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25196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Conflict alerts surface overlapping shifts before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593592" cy="2468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51760"/>
            <a:ext cx="359359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 CLEAR APPROVAL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6908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7CAD6"/>
                </a:solidFill>
                <a:latin typeface="Calibri"/>
              </a:defRPr>
            </a:pPr>
            <a:r>
              <a:t>Approval history records who approved a schedule.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8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HONEST SCOPE:  No quantified time-saving claim is provided — judge the benefit in your own trial.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07  /  LAUNCH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SEVEN WEEKS TO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Launch in week 7 depends on BOTH beta feedback AND the security review. Training stays in week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3172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9663" y="233172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248" y="233172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33172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6" y="233172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33172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7584" y="233172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WEEK 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670048"/>
            <a:ext cx="8705088" cy="0"/>
          </a:xfrm>
          <a:prstGeom prst="line">
            <a:avLst/>
          </a:prstGeom>
          <a:ln w="25400">
            <a:solidFill>
              <a:srgbClr val="3A3F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816352"/>
            <a:ext cx="3730752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926080"/>
            <a:ext cx="34747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3" y="3502152"/>
            <a:ext cx="37307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3611880"/>
            <a:ext cx="34747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WEEKS 2–4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0416" y="4187952"/>
            <a:ext cx="1243584" cy="457200"/>
          </a:xfrm>
          <a:prstGeom prst="rect">
            <a:avLst/>
          </a:prstGeom>
          <a:solidFill>
            <a:srgbClr val="3A3F55"/>
          </a:solidFill>
          <a:ln>
            <a:solidFill>
              <a:srgbClr val="9A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429768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87584" y="4873752"/>
            <a:ext cx="1243584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0736" y="498348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★ WEEK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DEPENDENCY:  Beta feedback (weeks 1–3)  +  Security review (weeks 2–4)  →  Launch (week 7).  Both are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3272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08  /  YOUR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16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TRY PRO FREE FOR 14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8138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7CAD6"/>
                </a:solidFill>
                <a:latin typeface="Calibri"/>
              </a:defRPr>
            </a:pPr>
            <a:r>
              <a:t>Run your next real schedule through import → conflict check → approve → notify.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54680"/>
            <a:ext cx="39319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3337560"/>
            <a:ext cx="34747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14-DAY PRO TRIAL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No payment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337560"/>
            <a:ext cx="3931920" cy="141732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520440"/>
            <a:ext cx="34747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AFTER THE TRIAL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Pro: $62 / team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93776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5120640"/>
            <a:ext cx="374903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START YOUR 14-DAY TRIAL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852160"/>
            <a:ext cx="8138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14 days  •  Pro plan  •  No payment required  •  Then $62/team/month if you continue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263640"/>
            <a:ext cx="8138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Planova is a fictional product. All performance and survey numbers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