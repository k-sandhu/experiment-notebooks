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Passing samples</c:v>
                </c:pt>
              </c:strCache>
            </c:strRef>
          </c:tx>
          <c:spPr>
            <a:solidFill>
              <a:srgbClr val="C45B3A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Control</c:v>
                </c:pt>
                <c:pt idx="1">
                  <c:v>Treatment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127</c:v>
                </c:pt>
                <c:pt idx="1">
                  <c:v>144</c:v>
                </c:pt>
              </c:numCache>
            </c:numRef>
          </c:val>
        </c:ser>
        <c:dLbls>
          <c:txPr>
            <a:bodyPr/>
            <a:lstStyle/>
            <a:p>
              <a:pPr>
                <a:defRPr sz="1600">
                  <a:solidFill>
                    <a:srgbClr val="4A3B2A"/>
                  </a:solidFill>
                  <a:latin typeface="Georgi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4A3B2A"/>
                </a:solidFill>
                <a:latin typeface="Georgia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4A3B2A"/>
                </a:solidFill>
                <a:latin typeface="Georgia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600">
          <a:solidFill>
            <a:srgbClr val="4A3B2A"/>
          </a:solidFill>
          <a:latin typeface="Georgia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Control</c:v>
                </c:pt>
              </c:strCache>
            </c:strRef>
          </c:tx>
          <c:spPr>
            <a:ln w="38100">
              <a:solidFill>
                <a:srgbClr val="8A7965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0</c:v>
                </c:pt>
                <c:pt idx="1">
                  <c:v>100</c:v>
                </c:pt>
                <c:pt idx="2">
                  <c:v>200</c:v>
                </c:pt>
                <c:pt idx="3">
                  <c:v>300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86</c:v>
                </c:pt>
                <c:pt idx="2">
                  <c:v>72</c:v>
                </c:pt>
                <c:pt idx="3">
                  <c:v>58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Treatment</c:v>
                </c:pt>
              </c:strCache>
            </c:strRef>
          </c:tx>
          <c:spPr>
            <a:ln w="38100">
              <a:solidFill>
                <a:srgbClr val="C45B3A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0</c:v>
                </c:pt>
                <c:pt idx="1">
                  <c:v>100</c:v>
                </c:pt>
                <c:pt idx="2">
                  <c:v>200</c:v>
                </c:pt>
                <c:pt idx="3">
                  <c:v>300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</c:v>
                </c:pt>
                <c:pt idx="1">
                  <c:v>91</c:v>
                </c:pt>
                <c:pt idx="2">
                  <c:v>82</c:v>
                </c:pt>
                <c:pt idx="3">
                  <c:v>73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4A3B2A"/>
                </a:solidFill>
                <a:latin typeface="Georgia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4A3B2A"/>
                </a:solidFill>
                <a:latin typeface="Georgia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400">
          <a:solidFill>
            <a:srgbClr val="4A3B2A"/>
          </a:solidFill>
          <a:latin typeface="Georgia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100023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45B3A"/>
                </a:solidFill>
                <a:latin typeface="Georgia"/>
              </a:defRPr>
            </a:pPr>
            <a:r>
              <a:t>SIMULATED MATERIAL ANALYSIS  / 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100023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4A3B2A"/>
                </a:solidFill>
                <a:latin typeface="Georgia"/>
              </a:defRPr>
            </a:pPr>
            <a:r>
              <a:t>Does treatment improve performance?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463040"/>
            <a:ext cx="11000232" cy="0"/>
          </a:xfrm>
          <a:prstGeom prst="line">
            <a:avLst/>
          </a:prstGeom>
          <a:ln w="190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783080"/>
            <a:ext cx="6537960" cy="1691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4A3B2A"/>
                </a:solidFill>
                <a:latin typeface="Georgia"/>
              </a:defRPr>
            </a:pPr>
            <a:r>
              <a:t>A fictional screening study compares treatment with control on two outcomes: passing a predefined strength test and retaining durability over repeated cycles.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1783080"/>
            <a:ext cx="3593592" cy="3611880"/>
          </a:xfrm>
          <a:prstGeom prst="roundRect">
            <a:avLst/>
          </a:prstGeom>
          <a:solidFill>
            <a:srgbClr val="F1E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92440" y="2011680"/>
            <a:ext cx="3044952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4A3B2A"/>
                </a:solidFill>
                <a:latin typeface="Georgia"/>
              </a:defRPr>
            </a:pPr>
            <a:r>
              <a:t>The scope of the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2880360"/>
            <a:ext cx="3044952" cy="2057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A3B2A"/>
                </a:solidFill>
                <a:latin typeface="Georgia"/>
              </a:defRPr>
            </a:pPr>
            <a:r>
              <a:t>Random assignment was used.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A3B2A"/>
                </a:solidFill>
                <a:latin typeface="Georgia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A3B2A"/>
                </a:solidFill>
                <a:latin typeface="Georgia"/>
              </a:defRPr>
            </a:pPr>
            <a:r>
              <a:t>The study covers one lab and one batch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794760"/>
            <a:ext cx="65379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45B3A"/>
                </a:solidFill>
                <a:latin typeface="Georgia"/>
              </a:defRPr>
            </a:pPr>
            <a:r>
              <a:t>THE STAKEHOLDER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297680"/>
            <a:ext cx="6537960" cy="1371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4A3B2A"/>
                </a:solidFill>
                <a:latin typeface="Georgia"/>
              </a:defRPr>
            </a:pPr>
            <a:r>
              <a:t>Are the reported differences internally consistent, and what must be verified before extending the claim?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4360" y="6309360"/>
            <a:ext cx="11000232" cy="0"/>
          </a:xfrm>
          <a:prstGeom prst="line">
            <a:avLst/>
          </a:prstGeom>
          <a:ln w="12700">
            <a:solidFill>
              <a:srgbClr val="D9C8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0080" y="6446520"/>
            <a:ext cx="99669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A3B2A"/>
                </a:solidFill>
                <a:latin typeface="Georgia"/>
              </a:defRPr>
            </a:pPr>
            <a:r>
              <a:t>All data are synthetic. Findings describe a fictional study.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428232"/>
            <a:ext cx="73152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A3B2A"/>
                </a:solidFill>
                <a:latin typeface="Georgia"/>
              </a:defRPr>
            </a:pPr>
            <a:r>
              <a:t>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100023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45B3A"/>
                </a:solidFill>
                <a:latin typeface="Georgia"/>
              </a:defRPr>
            </a:pPr>
            <a:r>
              <a:t>STUDY DESIGN  / 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100023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4A3B2A"/>
                </a:solidFill>
                <a:latin typeface="Georgia"/>
              </a:defRPr>
            </a:pPr>
            <a:r>
              <a:t>A controlled comparison with fixed group sizes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463040"/>
            <a:ext cx="11000232" cy="0"/>
          </a:xfrm>
          <a:prstGeom prst="line">
            <a:avLst/>
          </a:prstGeom>
          <a:ln w="190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77240" y="1783080"/>
            <a:ext cx="5166360" cy="1234440"/>
          </a:xfrm>
          <a:prstGeom prst="roundRect">
            <a:avLst/>
          </a:prstGeom>
          <a:solidFill>
            <a:srgbClr val="F1E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783080"/>
            <a:ext cx="5166360" cy="1234440"/>
          </a:xfrm>
          <a:prstGeom prst="roundRect">
            <a:avLst/>
          </a:prstGeom>
          <a:solidFill>
            <a:srgbClr val="EAD6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965960"/>
            <a:ext cx="46177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395728"/>
            <a:ext cx="4617720" cy="438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4A3B2A"/>
                </a:solidFill>
                <a:latin typeface="Georgia"/>
              </a:defRPr>
            </a:pPr>
            <a:r>
              <a:t>220 samples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46177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TREATMENT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395728"/>
            <a:ext cx="4617720" cy="438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4A3B2A"/>
                </a:solidFill>
                <a:latin typeface="Georgia"/>
              </a:defRPr>
            </a:pPr>
            <a:r>
              <a:t>220 samples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37560"/>
            <a:ext cx="32461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4A3B2A"/>
                </a:solidFill>
                <a:latin typeface="Georgia"/>
              </a:defRPr>
            </a:pPr>
            <a:r>
              <a:t>01  Assign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867912"/>
            <a:ext cx="3246120" cy="1371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A3B2A"/>
                </a:solidFill>
                <a:latin typeface="Georgia"/>
              </a:defRPr>
            </a:pPr>
            <a:r>
              <a:t>Random assignment to treatment or control; 440 samples in total.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3337560"/>
            <a:ext cx="32461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4A3B2A"/>
                </a:solidFill>
                <a:latin typeface="Georgia"/>
              </a:defRPr>
            </a:pPr>
            <a:r>
              <a:t>02  Expose and 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3867912"/>
            <a:ext cx="3246120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A3B2A"/>
                </a:solidFill>
                <a:latin typeface="Georgia"/>
              </a:defRPr>
            </a:pPr>
            <a:r>
              <a:t>Equal-duration exposure and the same test equipment. Endpoint: passing the predefined strength test.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337560"/>
            <a:ext cx="32461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4A3B2A"/>
                </a:solidFill>
                <a:latin typeface="Georgia"/>
              </a:defRPr>
            </a:pPr>
            <a:r>
              <a:t>03 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867912"/>
            <a:ext cx="3246120" cy="1371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A3B2A"/>
                </a:solidFill>
                <a:latin typeface="Georgia"/>
              </a:defRPr>
            </a:pPr>
            <a:r>
              <a:t>Exclusions were reviewed before final reporting.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5513832"/>
            <a:ext cx="10607040" cy="521207"/>
          </a:xfrm>
          <a:prstGeom prst="roundRect">
            <a:avLst/>
          </a:prstGeom>
          <a:solidFill>
            <a:srgbClr val="F1E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605272"/>
            <a:ext cx="102412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4A3B2A"/>
                </a:solidFill>
                <a:latin typeface="Georgia"/>
              </a:defRPr>
            </a:pPr>
            <a:r>
              <a:t>Reporting rule: retain 220 as the denominator for each group.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4360" y="6309360"/>
            <a:ext cx="11000232" cy="0"/>
          </a:xfrm>
          <a:prstGeom prst="line">
            <a:avLst/>
          </a:prstGeom>
          <a:ln w="12700">
            <a:solidFill>
              <a:srgbClr val="D9C8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0080" y="6446520"/>
            <a:ext cx="99669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A3B2A"/>
                </a:solidFill>
                <a:latin typeface="Georgia"/>
              </a:defRPr>
            </a:pPr>
            <a:r>
              <a:t>Synthetic data • one lab • one batch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35640" y="6428232"/>
            <a:ext cx="73152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A3B2A"/>
                </a:solidFill>
                <a:latin typeface="Georgia"/>
              </a:defRPr>
            </a:pPr>
            <a:r>
              <a:t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100023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45B3A"/>
                </a:solidFill>
                <a:latin typeface="Georgia"/>
              </a:defRPr>
            </a:pPr>
            <a:r>
              <a:t>STRENGTH-TEST RESULTS  / 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100023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4A3B2A"/>
                </a:solidFill>
                <a:latin typeface="Georgia"/>
              </a:defRPr>
            </a:pPr>
            <a:r>
              <a:t>Treatment recorded 17 more passes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463040"/>
            <a:ext cx="11000232" cy="0"/>
          </a:xfrm>
          <a:prstGeom prst="line">
            <a:avLst/>
          </a:prstGeom>
          <a:ln w="190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719072"/>
            <a:ext cx="64922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4A3B2A"/>
                </a:solidFill>
                <a:latin typeface="Georgia"/>
              </a:defRPr>
            </a:pPr>
            <a:r>
              <a:t>Passing samples (count; 220 tested per group)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2240280"/>
          <a:ext cx="6492240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635240" y="1783080"/>
            <a:ext cx="3749039" cy="3566160"/>
          </a:xfrm>
          <a:prstGeom prst="roundRect">
            <a:avLst/>
          </a:prstGeom>
          <a:solidFill>
            <a:srgbClr val="F1E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09560" y="1993392"/>
            <a:ext cx="32004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45B3A"/>
                </a:solidFill>
                <a:latin typeface="Georgia"/>
              </a:defRPr>
            </a:pPr>
            <a:r>
              <a:t>EXACT COUNTS → PASS RATES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2560320"/>
            <a:ext cx="320040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4A3B2A"/>
                </a:solidFill>
                <a:latin typeface="Georgia"/>
              </a:defRPr>
            </a:pPr>
            <a:r>
              <a:t>Control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4A3B2A"/>
                </a:solidFill>
                <a:latin typeface="Georgia"/>
              </a:defRPr>
            </a:pPr>
            <a:r>
              <a:t>127 / 220 = 57.7%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3520440"/>
            <a:ext cx="320040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4A3B2A"/>
                </a:solidFill>
                <a:latin typeface="Georgia"/>
              </a:defRPr>
            </a:pPr>
            <a:r>
              <a:t>Treatment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4A3B2A"/>
                </a:solidFill>
                <a:latin typeface="Georgia"/>
              </a:defRPr>
            </a:pPr>
            <a:r>
              <a:t>144 / 220 = 65.5%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4617720"/>
            <a:ext cx="32004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C45B3A"/>
                </a:solidFill>
                <a:latin typeface="Georgia"/>
              </a:defRPr>
            </a:pPr>
            <a:r>
              <a:t>+7.7 percentage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486400"/>
            <a:ext cx="10515600" cy="3474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4A3B2A"/>
                </a:solidFill>
                <a:latin typeface="Georgia"/>
              </a:defRPr>
            </a:pPr>
            <a:r>
              <a:t>Difference = (144 − 127) / 220 × 100 = 7.727… ≈ 7.7 percentage points.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879592"/>
            <a:ext cx="105156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4A3B2A"/>
                </a:solidFill>
                <a:latin typeface="Georgia"/>
              </a:defRPr>
            </a:pPr>
            <a:r>
              <a:t>Calculate the difference from exact counts; subtracting the rounded rates gives 7.8 points.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4360" y="6309360"/>
            <a:ext cx="11000232" cy="0"/>
          </a:xfrm>
          <a:prstGeom prst="line">
            <a:avLst/>
          </a:prstGeom>
          <a:ln w="12700">
            <a:solidFill>
              <a:srgbClr val="D9C8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0080" y="6446520"/>
            <a:ext cx="99669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A3B2A"/>
                </a:solidFill>
                <a:latin typeface="Georgia"/>
              </a:defRPr>
            </a:pPr>
            <a:r>
              <a:t>Synthetic data • corrected treatment count • rates rounded to one decimal place • fixed denominators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35640" y="6428232"/>
            <a:ext cx="73152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A3B2A"/>
                </a:solidFill>
                <a:latin typeface="Georgia"/>
              </a:defRPr>
            </a:pPr>
            <a:r>
              <a:t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100023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45B3A"/>
                </a:solidFill>
                <a:latin typeface="Georgia"/>
              </a:defRPr>
            </a:pPr>
            <a:r>
              <a:t>DURABILITY TIMECOURSE  / 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100023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4A3B2A"/>
                </a:solidFill>
                <a:latin typeface="Georgia"/>
              </a:defRPr>
            </a:pPr>
            <a:r>
              <a:t>Durability declines in both groups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463040"/>
            <a:ext cx="11000232" cy="0"/>
          </a:xfrm>
          <a:prstGeom prst="line">
            <a:avLst/>
          </a:prstGeom>
          <a:ln w="190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709928"/>
            <a:ext cx="75438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4A3B2A"/>
                </a:solidFill>
                <a:latin typeface="Georgia"/>
              </a:defRPr>
            </a:pPr>
            <a:r>
              <a:t>Durability (%) by exposure cycle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85800" y="2103120"/>
          <a:ext cx="7818120" cy="2834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5029200"/>
          <a:ext cx="7635240" cy="987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7048"/>
                <a:gridCol w="1527048"/>
                <a:gridCol w="1527048"/>
                <a:gridCol w="1527048"/>
                <a:gridCol w="1527048"/>
              </a:tblGrid>
              <a:tr h="32918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Exposure cycles</a:t>
                      </a:r>
                    </a:p>
                  </a:txBody>
                  <a:tcPr marL="64008" marR="64008" marT="36576" marB="36576">
                    <a:solidFill>
                      <a:srgbClr val="EAD6B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0</a:t>
                      </a:r>
                    </a:p>
                  </a:txBody>
                  <a:tcPr marL="64008" marR="64008" marT="36576" marB="36576">
                    <a:solidFill>
                      <a:srgbClr val="EAD6B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100</a:t>
                      </a:r>
                    </a:p>
                  </a:txBody>
                  <a:tcPr marL="64008" marR="64008" marT="36576" marB="36576">
                    <a:solidFill>
                      <a:srgbClr val="EAD6B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200</a:t>
                      </a:r>
                    </a:p>
                  </a:txBody>
                  <a:tcPr marL="64008" marR="64008" marT="36576" marB="36576">
                    <a:solidFill>
                      <a:srgbClr val="EAD6B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300</a:t>
                      </a:r>
                    </a:p>
                  </a:txBody>
                  <a:tcPr marL="64008" marR="64008" marT="36576" marB="36576">
                    <a:solidFill>
                      <a:srgbClr val="EAD6B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Control (%)</a:t>
                      </a:r>
                    </a:p>
                  </a:txBody>
                  <a:tcPr marL="64008" marR="64008" marT="36576" marB="36576"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100</a:t>
                      </a:r>
                    </a:p>
                  </a:txBody>
                  <a:tcPr marL="64008" marR="64008" marT="36576" marB="36576"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86</a:t>
                      </a:r>
                    </a:p>
                  </a:txBody>
                  <a:tcPr marL="64008" marR="64008" marT="36576" marB="36576"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72</a:t>
                      </a:r>
                    </a:p>
                  </a:txBody>
                  <a:tcPr marL="64008" marR="64008" marT="36576" marB="36576"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58</a:t>
                      </a:r>
                    </a:p>
                  </a:txBody>
                  <a:tcPr marL="64008" marR="64008" marT="36576" marB="36576">
                    <a:solidFill>
                      <a:srgbClr val="FFF8E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Treatment (%)</a:t>
                      </a:r>
                    </a:p>
                  </a:txBody>
                  <a:tcPr marL="64008" marR="64008" marT="36576" marB="36576"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100</a:t>
                      </a:r>
                    </a:p>
                  </a:txBody>
                  <a:tcPr marL="64008" marR="64008" marT="36576" marB="36576"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91</a:t>
                      </a:r>
                    </a:p>
                  </a:txBody>
                  <a:tcPr marL="64008" marR="64008" marT="36576" marB="36576"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82</a:t>
                      </a:r>
                    </a:p>
                  </a:txBody>
                  <a:tcPr marL="64008" marR="64008" marT="36576" marB="36576"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73</a:t>
                      </a:r>
                    </a:p>
                  </a:txBody>
                  <a:tcPr marL="64008" marR="64008" marT="36576" marB="36576">
                    <a:solidFill>
                      <a:srgbClr val="FFF8E7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823960" y="1783080"/>
            <a:ext cx="2560320" cy="4233672"/>
          </a:xfrm>
          <a:prstGeom prst="roundRect">
            <a:avLst/>
          </a:prstGeom>
          <a:solidFill>
            <a:srgbClr val="F1E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0" y="2011680"/>
            <a:ext cx="210312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4A3B2A"/>
                </a:solidFill>
                <a:latin typeface="Georgia"/>
              </a:defRPr>
            </a:pPr>
            <a:r>
              <a:t>At 300 cycles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2880360"/>
            <a:ext cx="2103120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4A3B2A"/>
                </a:solidFill>
                <a:latin typeface="Georgia"/>
              </a:defRPr>
            </a:pPr>
            <a:r>
              <a:t>Treatment: 73%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4A3B2A"/>
                </a:solidFill>
                <a:latin typeface="Georgia"/>
              </a:defRPr>
            </a:pPr>
            <a:r>
              <a:t>Control: 58%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4069080"/>
            <a:ext cx="2103120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A3B2A"/>
                </a:solidFill>
                <a:latin typeface="Georgia"/>
              </a:defRPr>
            </a:pPr>
            <a:r>
              <a:t>Gap: 15 percentage points.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A3B2A"/>
                </a:solidFill>
                <a:latin typeface="Georgia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A3B2A"/>
                </a:solidFill>
                <a:latin typeface="Georgia"/>
              </a:defRPr>
            </a:pPr>
            <a:r>
              <a:t>Both groups began at 100%.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6309360"/>
            <a:ext cx="11000232" cy="0"/>
          </a:xfrm>
          <a:prstGeom prst="line">
            <a:avLst/>
          </a:prstGeom>
          <a:ln w="12700">
            <a:solidFill>
              <a:srgbClr val="D9C8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0080" y="6446520"/>
            <a:ext cx="99669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A3B2A"/>
                </a:solidFill>
                <a:latin typeface="Georgia"/>
              </a:defRPr>
            </a:pPr>
            <a:r>
              <a:t>Synthetic data • all eight supplied durability values retained • value axis starts at zero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35640" y="6428232"/>
            <a:ext cx="73152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A3B2A"/>
                </a:solidFill>
                <a:latin typeface="Georgia"/>
              </a:defRPr>
            </a:pPr>
            <a:r>
              <a:t>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100023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45B3A"/>
                </a:solidFill>
                <a:latin typeface="Georgia"/>
              </a:defRPr>
            </a:pPr>
            <a:r>
              <a:t>SUBGROUP ACCOUNTING  / 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100023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4A3B2A"/>
                </a:solidFill>
                <a:latin typeface="Georgia"/>
              </a:defRPr>
            </a:pPr>
            <a:r>
              <a:t>The subgroup counts reconcile to 144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463040"/>
            <a:ext cx="11000232" cy="0"/>
          </a:xfrm>
          <a:prstGeom prst="line">
            <a:avLst/>
          </a:prstGeom>
          <a:ln w="190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709928"/>
            <a:ext cx="57607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4A3B2A"/>
                </a:solidFill>
                <a:latin typeface="Georgia"/>
              </a:defRPr>
            </a:pPr>
            <a:r>
              <a:t>Treatment passes by supplied batch label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2304288"/>
          <a:ext cx="57150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</a:tblGrid>
              <a:tr h="61722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8E7"/>
                          </a:solidFill>
                          <a:latin typeface="Georgia"/>
                        </a:defRPr>
                      </a:pPr>
                      <a:r>
                        <a:t>Batch label</a:t>
                      </a:r>
                    </a:p>
                  </a:txBody>
                  <a:tcPr marL="64008" marR="64008" marT="36576" marB="36576">
                    <a:solidFill>
                      <a:srgbClr val="C45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8E7"/>
                          </a:solidFill>
                          <a:latin typeface="Georgia"/>
                        </a:defRPr>
                      </a:pPr>
                      <a:r>
                        <a:t>Treatment passes (count)</a:t>
                      </a:r>
                    </a:p>
                  </a:txBody>
                  <a:tcPr marL="64008" marR="64008" marT="36576" marB="36576">
                    <a:solidFill>
                      <a:srgbClr val="C45B3A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P</a:t>
                      </a:r>
                    </a:p>
                  </a:txBody>
                  <a:tcPr marL="64008" marR="64008" marT="36576" marB="36576">
                    <a:solidFill>
                      <a:srgbClr val="F1E4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48</a:t>
                      </a:r>
                    </a:p>
                  </a:txBody>
                  <a:tcPr marL="64008" marR="64008" marT="36576" marB="36576">
                    <a:solidFill>
                      <a:srgbClr val="F1E4CD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Q</a:t>
                      </a:r>
                    </a:p>
                  </a:txBody>
                  <a:tcPr marL="64008" marR="64008" marT="36576" marB="36576">
                    <a:solidFill>
                      <a:srgbClr val="F1E4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48</a:t>
                      </a:r>
                    </a:p>
                  </a:txBody>
                  <a:tcPr marL="64008" marR="64008" marT="36576" marB="36576">
                    <a:solidFill>
                      <a:srgbClr val="F1E4CD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R</a:t>
                      </a:r>
                    </a:p>
                  </a:txBody>
                  <a:tcPr marL="64008" marR="64008" marT="36576" marB="36576">
                    <a:solidFill>
                      <a:srgbClr val="F1E4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48</a:t>
                      </a:r>
                    </a:p>
                  </a:txBody>
                  <a:tcPr marL="64008" marR="64008" marT="36576" marB="36576">
                    <a:solidFill>
                      <a:srgbClr val="F1E4CD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68680" y="5074920"/>
            <a:ext cx="553212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4A3B2A"/>
                </a:solidFill>
                <a:latin typeface="Georgia"/>
              </a:defRPr>
            </a:pPr>
            <a:r>
              <a:t>48 + 48 + 48 = 144 treatment passes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95160" y="1783080"/>
            <a:ext cx="4389120" cy="4160520"/>
          </a:xfrm>
          <a:prstGeom prst="roundRect">
            <a:avLst/>
          </a:prstGeom>
          <a:solidFill>
            <a:srgbClr val="EAD6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96912" y="2011680"/>
            <a:ext cx="3785615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4A3B2A"/>
                </a:solidFill>
                <a:latin typeface="Georgia"/>
              </a:defRPr>
            </a:pPr>
            <a:r>
              <a:t>Counts do not establish subgroup pass rates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96912" y="3182112"/>
            <a:ext cx="3785615" cy="1417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4A3B2A"/>
                </a:solidFill>
                <a:latin typeface="Georgia"/>
              </a:defRPr>
            </a:pPr>
            <a:r>
              <a:t>Subgroup denominators are not supplied. Equal pass counts cannot establish equal pass rates across P, Q and 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96912" y="4846320"/>
            <a:ext cx="3785615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C45B3A"/>
                </a:solidFill>
                <a:latin typeface="Georgia"/>
              </a:defRPr>
            </a:pPr>
            <a:r>
              <a:t>These labels do not establish independent-batch replication.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6309360"/>
            <a:ext cx="11000232" cy="0"/>
          </a:xfrm>
          <a:prstGeom prst="line">
            <a:avLst/>
          </a:prstGeom>
          <a:ln w="12700">
            <a:solidFill>
              <a:srgbClr val="D9C8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0080" y="6446520"/>
            <a:ext cx="99669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A3B2A"/>
                </a:solidFill>
                <a:latin typeface="Georgia"/>
              </a:defRPr>
            </a:pPr>
            <a:r>
              <a:t>Synthetic data • supplied labels P / Q / R • overall study scope remains one lab and one batch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35640" y="6428232"/>
            <a:ext cx="73152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A3B2A"/>
                </a:solidFill>
                <a:latin typeface="Georgia"/>
              </a:defRPr>
            </a:pPr>
            <a:r>
              <a:t>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100023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45B3A"/>
                </a:solidFill>
                <a:latin typeface="Georgia"/>
              </a:defRPr>
            </a:pPr>
            <a:r>
              <a:t>VALIDITY AUDIT  / 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100023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4A3B2A"/>
                </a:solidFill>
                <a:latin typeface="Georgia"/>
              </a:defRPr>
            </a:pPr>
            <a:r>
              <a:t>Remove 13 duplicate positive treatment records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463040"/>
            <a:ext cx="11000232" cy="0"/>
          </a:xfrm>
          <a:prstGeom prst="line">
            <a:avLst/>
          </a:prstGeom>
          <a:ln w="190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77240" y="1783080"/>
            <a:ext cx="10607040" cy="1325880"/>
          </a:xfrm>
          <a:prstGeom prst="roundRect">
            <a:avLst/>
          </a:prstGeom>
          <a:solidFill>
            <a:srgbClr val="EAD6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47672"/>
            <a:ext cx="1005840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4A3B2A"/>
                </a:solidFill>
                <a:latin typeface="Georgia"/>
              </a:defRPr>
            </a:pPr>
            <a:r>
              <a:t>157 − 13 = 144 treatment passes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587752"/>
            <a:ext cx="10058400" cy="32918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A3B2A"/>
                </a:solidFill>
                <a:latin typeface="Georgia"/>
              </a:defRPr>
            </a:pPr>
            <a:r>
              <a:t>The denominators remain correct: 220 samples in each group.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74720"/>
            <a:ext cx="48920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4A3B2A"/>
                </a:solidFill>
                <a:latin typeface="Georgia"/>
              </a:defRPr>
            </a:pPr>
            <a:r>
              <a:t>Reconciled reporting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096512"/>
            <a:ext cx="4892040" cy="1783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4A3B2A"/>
                </a:solidFill>
                <a:latin typeface="Georgia"/>
              </a:defRPr>
            </a:pPr>
            <a:r>
              <a:t>Treatment: 144 / 220 = 65.5%.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4A3B2A"/>
                </a:solidFill>
                <a:latin typeface="Georgia"/>
              </a:defRPr>
            </a:pPr>
            <a:r>
              <a:t>Control: 127 / 220 = 57.7%.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4A3B2A"/>
                </a:solidFill>
                <a:latin typeface="Georgia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4A3B2A"/>
                </a:solidFill>
                <a:latin typeface="Georgia"/>
              </a:defRPr>
            </a:pPr>
            <a:r>
              <a:t>Exclusions were reviewed before final reporting.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80760" y="3474720"/>
            <a:ext cx="0" cy="2377440"/>
          </a:xfrm>
          <a:prstGeom prst="line">
            <a:avLst/>
          </a:prstGeom>
          <a:ln w="12700">
            <a:solidFill>
              <a:srgbClr val="D9C8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46520" y="3474720"/>
            <a:ext cx="48006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4A3B2A"/>
                </a:solidFill>
                <a:latin typeface="Georgia"/>
              </a:defRPr>
            </a:pPr>
            <a:r>
              <a:t>Limits of the audit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4096512"/>
            <a:ext cx="4800600" cy="1783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4A3B2A"/>
                </a:solidFill>
                <a:latin typeface="Georgia"/>
              </a:defRPr>
            </a:pPr>
            <a:r>
              <a:t>The correction resolves the supplied duplicate count.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4A3B2A"/>
                </a:solidFill>
                <a:latin typeface="Georgia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4A3B2A"/>
                </a:solidFill>
                <a:latin typeface="Georgia"/>
              </a:defRPr>
            </a:pPr>
            <a:r>
              <a:t>No statistical significance claim or confidence interval is reported.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4360" y="6309360"/>
            <a:ext cx="11000232" cy="0"/>
          </a:xfrm>
          <a:prstGeom prst="line">
            <a:avLst/>
          </a:prstGeom>
          <a:ln w="12700">
            <a:solidFill>
              <a:srgbClr val="D9C8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6446520"/>
            <a:ext cx="99669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A3B2A"/>
                </a:solidFill>
                <a:latin typeface="Georgia"/>
              </a:defRPr>
            </a:pPr>
            <a:r>
              <a:t>Synthetic data • reported results reflect removal of 13 duplicate positive treatment records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35640" y="6428232"/>
            <a:ext cx="73152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A3B2A"/>
                </a:solidFill>
                <a:latin typeface="Georgia"/>
              </a:defRPr>
            </a:pPr>
            <a:r>
              <a:t>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100023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45B3A"/>
                </a:solidFill>
                <a:latin typeface="Georgia"/>
              </a:defRPr>
            </a:pPr>
            <a:r>
              <a:t>INTERPRETATION  / 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100023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4A3B2A"/>
                </a:solidFill>
                <a:latin typeface="Georgia"/>
              </a:defRPr>
            </a:pPr>
            <a:r>
              <a:t>A higher observed rate, within a narrow study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463040"/>
            <a:ext cx="11000232" cy="0"/>
          </a:xfrm>
          <a:prstGeom prst="line">
            <a:avLst/>
          </a:prstGeom>
          <a:ln w="190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77240" y="1783080"/>
            <a:ext cx="3703320" cy="4160520"/>
          </a:xfrm>
          <a:prstGeom prst="roundRect">
            <a:avLst/>
          </a:prstGeom>
          <a:solidFill>
            <a:srgbClr val="EAD6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2057400"/>
            <a:ext cx="3099816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C45B3A"/>
                </a:solidFill>
                <a:latin typeface="Georgia"/>
              </a:defRPr>
            </a:pPr>
            <a:r>
              <a:t>+7.7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3017520"/>
            <a:ext cx="3099816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4A3B2A"/>
                </a:solidFill>
                <a:latin typeface="Georgia"/>
              </a:defRPr>
            </a:pPr>
            <a:r>
              <a:t>percentage 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3794760"/>
            <a:ext cx="3099816" cy="1783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4A3B2A"/>
                </a:solidFill>
                <a:latin typeface="Georgia"/>
              </a:defRPr>
            </a:pPr>
            <a:r>
              <a:t>Observed treatment advantage in strength-test pass rate.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4A3B2A"/>
                </a:solidFill>
                <a:latin typeface="Georgia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4A3B2A"/>
                </a:solidFill>
                <a:latin typeface="Georgia"/>
              </a:defRPr>
            </a:pPr>
            <a:r>
              <a:t>17 additional passes out of 220.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874519"/>
            <a:ext cx="61722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4A3B2A"/>
                </a:solidFill>
                <a:latin typeface="Georgia"/>
              </a:defRPr>
            </a:pPr>
            <a:r>
              <a:t>The measured sample difference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542032"/>
            <a:ext cx="6172200" cy="1417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4A3B2A"/>
                </a:solidFill>
                <a:latin typeface="Georgia"/>
              </a:defRPr>
            </a:pPr>
            <a:r>
              <a:t>Treatment passed at 65.5%, compared with 57.7% for control. The durability series also shows higher treatment values after cycle 0.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4206240"/>
            <a:ext cx="61722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4A3B2A"/>
                </a:solidFill>
                <a:latin typeface="Georgia"/>
              </a:defRPr>
            </a:pPr>
            <a:r>
              <a:t>The boundary of the claim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4828032"/>
            <a:ext cx="617220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A3B2A"/>
                </a:solidFill>
                <a:latin typeface="Georgia"/>
              </a:defRPr>
            </a:pPr>
            <a:r>
              <a:t>This is a measured sample difference from one lab and one batch. It does not establish broad field performance.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4360" y="6309360"/>
            <a:ext cx="11000232" cy="0"/>
          </a:xfrm>
          <a:prstGeom prst="line">
            <a:avLst/>
          </a:prstGeom>
          <a:ln w="12700">
            <a:solidFill>
              <a:srgbClr val="D9C8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6446520"/>
            <a:ext cx="99669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A3B2A"/>
                </a:solidFill>
                <a:latin typeface="Georgia"/>
              </a:defRPr>
            </a:pPr>
            <a:r>
              <a:t>Synthetic data • difference calculated from corrected exact counts • no significance claim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35640" y="6428232"/>
            <a:ext cx="73152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A3B2A"/>
                </a:solidFill>
                <a:latin typeface="Georgia"/>
              </a:defRPr>
            </a:pPr>
            <a:r>
              <a:t>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100023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45B3A"/>
                </a:solidFill>
                <a:latin typeface="Georgia"/>
              </a:defRPr>
            </a:pPr>
            <a:r>
              <a:t>NEXT STEP  / 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100023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4A3B2A"/>
                </a:solidFill>
                <a:latin typeface="Georgia"/>
              </a:defRPr>
            </a:pPr>
            <a:r>
              <a:t>Replicate before making a deployment claim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463040"/>
            <a:ext cx="11000232" cy="0"/>
          </a:xfrm>
          <a:prstGeom prst="line">
            <a:avLst/>
          </a:prstGeom>
          <a:ln w="190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77240" y="1783080"/>
            <a:ext cx="3337560" cy="3246120"/>
          </a:xfrm>
          <a:prstGeom prst="roundRect">
            <a:avLst/>
          </a:prstGeom>
          <a:solidFill>
            <a:srgbClr val="F1E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16552" y="1783080"/>
            <a:ext cx="3337560" cy="3246120"/>
          </a:xfrm>
          <a:prstGeom prst="roundRect">
            <a:avLst/>
          </a:prstGeom>
          <a:solidFill>
            <a:srgbClr val="F1E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20" y="1783080"/>
            <a:ext cx="3337560" cy="3246120"/>
          </a:xfrm>
          <a:prstGeom prst="roundRect">
            <a:avLst/>
          </a:prstGeom>
          <a:solidFill>
            <a:srgbClr val="F1E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1" y="2011680"/>
            <a:ext cx="2825496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4A3B2A"/>
                </a:solidFill>
                <a:latin typeface="Georgia"/>
              </a:defRPr>
            </a:pPr>
            <a:r>
              <a:t>01  Replicate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2724912"/>
            <a:ext cx="2825496" cy="2011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A3B2A"/>
                </a:solidFill>
                <a:latin typeface="Georgia"/>
              </a:defRPr>
            </a:pPr>
            <a:r>
              <a:t>Run the study in 4 independent labs with blinded scoring.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A3B2A"/>
                </a:solidFill>
                <a:latin typeface="Georgia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A3B2A"/>
                </a:solidFill>
                <a:latin typeface="Georgia"/>
              </a:defRPr>
            </a:pPr>
            <a:r>
              <a:t>Preserve controls.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72584" y="2011680"/>
            <a:ext cx="2825496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4A3B2A"/>
                </a:solidFill>
                <a:latin typeface="Georgia"/>
              </a:defRPr>
            </a:pPr>
            <a:r>
              <a:t>02  Document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2584" y="2724912"/>
            <a:ext cx="2825496" cy="2011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A3B2A"/>
                </a:solidFill>
                <a:latin typeface="Georgia"/>
              </a:defRPr>
            </a:pPr>
            <a:r>
              <a:t>Preregister exclusions.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A3B2A"/>
                </a:solidFill>
                <a:latin typeface="Georgia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A3B2A"/>
                </a:solidFill>
                <a:latin typeface="Georgia"/>
              </a:defRPr>
            </a:pPr>
            <a:r>
              <a:t>Record batch conditions.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2011680"/>
            <a:ext cx="2825496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4A3B2A"/>
                </a:solidFill>
                <a:latin typeface="Georgia"/>
              </a:defRPr>
            </a:pPr>
            <a:r>
              <a:t>03  Add a batch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2724912"/>
            <a:ext cx="2825496" cy="2011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4A3B2A"/>
                </a:solidFill>
                <a:latin typeface="Georgia"/>
              </a:defRPr>
            </a:pPr>
            <a:r>
              <a:t>A second batch is needed before any deployment claim.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349240"/>
            <a:ext cx="10607040" cy="731520"/>
          </a:xfrm>
          <a:prstGeom prst="roundRect">
            <a:avLst/>
          </a:prstGeom>
          <a:solidFill>
            <a:srgbClr val="EAD6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1" y="5513832"/>
            <a:ext cx="10094976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4A3B2A"/>
                </a:solidFill>
                <a:latin typeface="Georgia"/>
              </a:defRPr>
            </a:pPr>
            <a:r>
              <a:t>Decision: proceed to replication; evidence for deployment remains incomplete.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4360" y="6309360"/>
            <a:ext cx="11000232" cy="0"/>
          </a:xfrm>
          <a:prstGeom prst="line">
            <a:avLst/>
          </a:prstGeom>
          <a:ln w="12700">
            <a:solidFill>
              <a:srgbClr val="D9C8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" y="6446520"/>
            <a:ext cx="99669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A3B2A"/>
                </a:solidFill>
                <a:latin typeface="Georgia"/>
              </a:defRPr>
            </a:pPr>
            <a:r>
              <a:t>All data are synthetic. Proposed next steps address the limits of this fictional study.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35640" y="6428232"/>
            <a:ext cx="73152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A3B2A"/>
                </a:solidFill>
                <a:latin typeface="Georgia"/>
              </a:defRPr>
            </a:pPr>
            <a:r>
              <a:t>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