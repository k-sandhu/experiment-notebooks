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 ($k)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Option A</c:v>
                </c:pt>
                <c:pt idx="1">
                  <c:v>Option B</c:v>
                </c:pt>
                <c:pt idx="2">
                  <c:v>Option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197</c:v>
                </c:pt>
                <c:pt idx="1">
                  <c:v>343</c:v>
                </c:pt>
                <c:pt idx="2">
                  <c:v>499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Annual saving ($k/yr)</c:v>
                </c:pt>
              </c:strCache>
            </c:strRef>
          </c:tx>
          <c:spPr>
            <a:solidFill>
              <a:srgbClr val="9DB4CF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Option A</c:v>
                </c:pt>
                <c:pt idx="1">
                  <c:v>Option B</c:v>
                </c:pt>
                <c:pt idx="2">
                  <c:v>Option 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72</c:v>
                </c:pt>
                <c:pt idx="1">
                  <c:v>113</c:v>
                </c:pt>
                <c:pt idx="2">
                  <c:v>162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 output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860</c:v>
                </c:pt>
                <c:pt idx="1">
                  <c:v>790</c:v>
                </c:pt>
                <c:pt idx="2">
                  <c:v>1190</c:v>
                </c:pt>
                <c:pt idx="3">
                  <c:v>1350</c:v>
                </c:pt>
                <c:pt idx="4">
                  <c:v>1130</c:v>
                </c:pt>
                <c:pt idx="5">
                  <c:v>1170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8C2CC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1100</c:v>
                </c:pt>
                <c:pt idx="1">
                  <c:v>1100</c:v>
                </c:pt>
                <c:pt idx="2">
                  <c:v>1100</c:v>
                </c:pt>
                <c:pt idx="3">
                  <c:v>1100</c:v>
                </c:pt>
                <c:pt idx="4">
                  <c:v>1100</c:v>
                </c:pt>
                <c:pt idx="5">
                  <c:v>1100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($k/yr)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(80%)</c:v>
                </c:pt>
                <c:pt idx="1">
                  <c:v>Base (100%)</c:v>
                </c:pt>
                <c:pt idx="2">
                  <c:v>Upside (120%)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129.6</c:v>
                </c:pt>
                <c:pt idx="1">
                  <c:v>162</c:v>
                </c:pt>
                <c:pt idx="2">
                  <c:v>194.4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Daily demand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223</c:v>
                </c:pt>
                <c:pt idx="1">
                  <c:v>277</c:v>
                </c:pt>
                <c:pt idx="2">
                  <c:v>319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Daily capacity</c:v>
                </c:pt>
              </c:strCache>
            </c:strRef>
          </c:tx>
          <c:spPr>
            <a:solidFill>
              <a:srgbClr val="B8C2CC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West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240</c:v>
                </c:pt>
                <c:pt idx="1">
                  <c:v>310</c:v>
                </c:pt>
                <c:pt idx="2">
                  <c:v>330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DECISION: SELECT OPTION 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Requested approval: $499k equipment investment, subject to the week-10 GO/HOLD gate (synthetic data)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26060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$499k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06039"/>
            <a:ext cx="26060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Investment (one-time)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3154680"/>
            <a:ext cx="260604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55848" y="1783080"/>
            <a:ext cx="26060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$162k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5848" y="2606039"/>
            <a:ext cx="26060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Annual saving per year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55848" y="3154680"/>
            <a:ext cx="260604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08776" y="1783080"/>
            <a:ext cx="26060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3.1 yrs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2606039"/>
            <a:ext cx="26060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Simple payback (499 ÷ 162)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08776" y="3154680"/>
            <a:ext cx="260604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061704" y="1783080"/>
            <a:ext cx="260604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−$13k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61704" y="2606039"/>
            <a:ext cx="260604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3-yr net (3 × 162 − 499)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61704" y="3154680"/>
            <a:ext cx="260604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02920" y="3520440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749039"/>
            <a:ext cx="35661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WHAT OPTION C DELIVERS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160520"/>
            <a:ext cx="3566160" cy="1828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Highest saving ($162k/yr) and highest investment of the three. Reference uptime 99.9%, the only option above the 99.6% threshold. Option A has the shortest payback (2.7 yrs).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3749039"/>
            <a:ext cx="35661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THREE-YEAR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4160520"/>
            <a:ext cx="3566160" cy="1828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Base case is −$13k after three years; downside −$110.2k, upside +$84.2k. Breakeven within three years needs $166.3k/yr (see Scenario).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7575" y="3749039"/>
            <a:ext cx="3621024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CONDITION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5" y="4160520"/>
            <a:ext cx="3621024" cy="1828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Rollout proceeds only on GO at week 10: measured uptime ≥ 99.6%, all sites pass capacity validation, training and validation complete.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6B6B"/>
                </a:solidFill>
                <a:latin typeface="Arial"/>
              </a:defRPr>
            </a:pPr>
            <a:r>
              <a:t>All figures are synthetic. $k = thousands of dollars.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OPTIONS: THREE REFERENCE CONFIGURATIONS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Investment, annual saving and reference uptime as provided; reference options unchanged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5577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Investment and annual saving by option ($k)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965960"/>
          <a:ext cx="55778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572768"/>
            <a:ext cx="5257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Side-by-side metrics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965960"/>
          <a:ext cx="5257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/>
                <a:gridCol w="1314450"/>
                <a:gridCol w="1314450"/>
                <a:gridCol w="1314450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Investment ($k)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197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343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499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Annual saving ($k/yr)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Reference uptime (%)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97.8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99.1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99.9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Simple payback (yrs)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Three-year net ($k)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−13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0" y="5166360"/>
            <a:ext cx="525780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5257800"/>
            <a:ext cx="525780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Payback = investment ÷ annual saving; three-year net = 3 × saving − investment. Only C's reference uptime meets the 99.6% gate threshold; reference uptime is not proof of operational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PERFORMANCE: 110 UNITS BELOW SIX-MONTH TARGET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Monthly output M1–M6 versus a flat target of 1,100 units per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7589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Monthly output vs target (units)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965960"/>
          <a:ext cx="758952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503920" y="1965960"/>
            <a:ext cx="315468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6,490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624328"/>
            <a:ext cx="315468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Actual total (units)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03920" y="3063239"/>
            <a:ext cx="315468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03920" y="3291840"/>
            <a:ext cx="315468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8A97A6"/>
                </a:solidFill>
                <a:latin typeface="Arial"/>
              </a:defRPr>
            </a:pPr>
            <a:r>
              <a:t>6,600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950208"/>
            <a:ext cx="315468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Target total (units)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03920" y="4389120"/>
            <a:ext cx="315468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503920" y="4617720"/>
            <a:ext cx="315468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33333"/>
                </a:solidFill>
                <a:latin typeface="Arial"/>
              </a:defRPr>
            </a:pPr>
            <a:r>
              <a:t>−110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5276088"/>
            <a:ext cx="315468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Shortfall (units, −1.7%)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03920" y="5715000"/>
            <a:ext cx="315468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6053328"/>
            <a:ext cx="11155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Variance vs target: M1 −240, M2 −310, M3 +90, M4 +250, M5 +30, M6 +70. Early deficit of 550 is offset by 440 surplus → net −110.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SCENARIO: PAYBACK RANGES FROM 2.6 TO 3.9 YEARS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Option C, investment fixed at $499k; saving at 80% / 100% / 120% of $162k per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5120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Annual saving by scenario ($k/year)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965960"/>
          <a:ext cx="512064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35040" y="1572768"/>
            <a:ext cx="5623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Computed payback and three-year net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35040" y="1965960"/>
          <a:ext cx="56235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</a:tblGrid>
              <a:tr h="5943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($k/yr)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(yrs)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($k)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Downside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129.6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499 ÷ 129.6 = 3.9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 × 129.6 − 499 = −110.2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Base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162.0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499 ÷ 162 = 3.1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 × 162 − 499 = −13.0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Upside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194.4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499 ÷ 194.4 = 2.6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 × 194.4 − 499 = +84.2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035040" y="4572000"/>
            <a:ext cx="562356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4709160"/>
            <a:ext cx="5623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BREAKEVEN WITHIN THREE 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5074920"/>
            <a:ext cx="56235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Requires saving ≥ 499 ÷ 3 = $166.3k/yr, about 2.7% above the base case. Only the upside scenario clears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CAPACITY: NO SITE HAS DEMAND ABOVE CAPACITY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Daily demand vs daily capacity at North, East and West; West has the tightest margin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5486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Daily demand vs capacity by site (per day)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965960"/>
          <a:ext cx="54864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55080" y="1572768"/>
            <a:ext cx="5303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Site check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55080" y="1965960"/>
          <a:ext cx="53035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920"/>
                <a:gridCol w="883920"/>
                <a:gridCol w="883920"/>
                <a:gridCol w="883920"/>
                <a:gridCol w="883920"/>
                <a:gridCol w="883920"/>
              </a:tblGrid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 / day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 / day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Headroom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Utilization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 &gt; capacity?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223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92.9%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277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89.4%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319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96.7%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355080" y="4389120"/>
            <a:ext cx="530352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4526280"/>
            <a:ext cx="5303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892040"/>
            <a:ext cx="530352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Demand is within capacity at all three sites. West runs closest to its limit (96.7%, 11/day headroom). Site capacity validation remains a gate criterion.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6035040"/>
            <a:ext cx="53035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6B6B"/>
                </a:solidFill>
                <a:latin typeface="Arial"/>
              </a:defRPr>
            </a:pPr>
            <a:r>
              <a:t>Headroom = capacity − demand; utilization = demand ÷ capacity.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ROADMAP: 14 WEEKS FROM DESIGN TO ROLLOUT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Technical and People lanes converge at the week-10 gate (drawn to scale; week 9 has no scheduled activity)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48840"/>
            <a:ext cx="111556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3429000"/>
            <a:ext cx="111556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1554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749039"/>
            <a:ext cx="1554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PEOPLE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2368296" y="2286000"/>
            <a:ext cx="1243584" cy="7315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68296" y="2331720"/>
            <a:ext cx="1243584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Weeks 1–2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85032" y="2286000"/>
            <a:ext cx="1901952" cy="7315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2331720"/>
            <a:ext cx="190195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Weeks 3–5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0136" y="2286000"/>
            <a:ext cx="1901952" cy="7315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0136" y="2331720"/>
            <a:ext cx="190195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Weeks 6–8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0136" y="3566160"/>
            <a:ext cx="1901952" cy="7315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0136" y="3611880"/>
            <a:ext cx="190195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Weeks 6–8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93608" y="2286000"/>
            <a:ext cx="585216" cy="20116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971800"/>
            <a:ext cx="71323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Wk 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51976" y="2286000"/>
            <a:ext cx="2560320" cy="7315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51976" y="2331720"/>
            <a:ext cx="25603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Weeks 11–14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11880" y="2651760"/>
            <a:ext cx="73152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586984" y="2651760"/>
            <a:ext cx="73152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440680" y="3017520"/>
            <a:ext cx="365760" cy="54864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562088" y="2651760"/>
            <a:ext cx="7315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562088" y="3931920"/>
            <a:ext cx="7315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878824" y="2651760"/>
            <a:ext cx="73152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02920" y="4754880"/>
            <a:ext cx="111556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937760"/>
            <a:ext cx="1115568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Validate and Train run in parallel in weeks 6–8, both starting after Build. Both must finish before the week-10 gate; rollout (weeks 11–14) starts only on GO.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GATE: GO ONLY IF ALL THREE CRITERIA ARE MET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Week-10 decision rule; any unmet criterion results in HOLD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83080"/>
          <a:ext cx="69494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6858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Criterion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Threshold for GO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Evidence at week 10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Uptime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At least 99.6%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Measured operational uptime, not the reference figure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Capacity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All sites pass (North, East, West)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Capacity validation result for each site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Readiness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Training and validation both finished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Completion of the weeks 6–8 workstreams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7543800" y="2423160"/>
            <a:ext cx="594360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543800" y="3886200"/>
            <a:ext cx="594360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38160" y="1783080"/>
            <a:ext cx="3520440" cy="12801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32918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331720"/>
            <a:ext cx="32918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All three criteria met → proceed to rollout, weeks 11–14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3246120"/>
            <a:ext cx="352044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3291840"/>
            <a:ext cx="32918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55A4"/>
                </a:solidFill>
                <a:latin typeface="Arial"/>
              </a:defRPr>
            </a:pPr>
            <a:r>
              <a:t>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794760"/>
            <a:ext cx="32918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Any criterion unmet → no rollout until resolved and re-tested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892040"/>
            <a:ext cx="11155680" cy="1280160"/>
          </a:xfrm>
          <a:prstGeom prst="rect">
            <a:avLst/>
          </a:prstGeom>
          <a:solidFill>
            <a:srgbClr val="E6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892040"/>
            <a:ext cx="73152" cy="12801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CAVEAT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49240"/>
            <a:ext cx="106984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Reference uptime is not proof of operational performance. Option C's reference uptime (99.9%) is 0.3 points above the 99.6% threshold, but GO still depends on measured operational uptime.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RISK: SUPPLIER DELAY IS THE MORE LIKELY RISK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Likelihood (x) and impact (y), each scored 1–5, with planned mitigations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2286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t>Impact (1–5) ↑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920240"/>
            <a:ext cx="5029200" cy="384048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30368"/>
            <a:ext cx="32004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B6B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62272"/>
            <a:ext cx="32004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B6B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94176"/>
            <a:ext cx="32004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B6B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32004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B6B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57984"/>
            <a:ext cx="32004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B6B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5806440"/>
            <a:ext cx="365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B6B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5806440"/>
            <a:ext cx="365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B6B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5806440"/>
            <a:ext cx="365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B6B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5806440"/>
            <a:ext cx="365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B6B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5806440"/>
            <a:ext cx="365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B6B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6144768"/>
            <a:ext cx="5029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t>Likelihood (1–5)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54296" y="3694176"/>
            <a:ext cx="292608" cy="292608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3291840"/>
            <a:ext cx="237744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t>Supplier delay (L4, I3)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42616" y="2926080"/>
            <a:ext cx="292608" cy="292608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2523744"/>
            <a:ext cx="237744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t>Training gap (L2, I4)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766560" y="1920240"/>
          <a:ext cx="489204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8408"/>
                <a:gridCol w="978408"/>
                <a:gridCol w="978408"/>
                <a:gridCol w="978408"/>
                <a:gridCol w="978408"/>
              </a:tblGrid>
              <a:tr h="5943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 × I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Supplier delay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Pre-order critical parts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Training gap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Supervised practice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6766560" y="3931920"/>
            <a:ext cx="489204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4069080"/>
            <a:ext cx="4892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READING THE MATRIX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434840"/>
            <a:ext cx="489204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Supplier delay is more likely (4 vs 2) and scores higher overall (12 vs 8). Training gap carries the higher impact (4 vs 3). Score = likelihood × impact, used as a ranking aid.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6035040"/>
            <a:ext cx="4892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6B6B"/>
                </a:solidFill>
                <a:latin typeface="Arial"/>
              </a:defRPr>
            </a:pPr>
            <a:r>
              <a:t>All data are synthetic.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