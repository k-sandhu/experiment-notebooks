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($k/yr)</c:v>
                </c:pt>
              </c:strCache>
            </c:strRef>
          </c:tx>
          <c:spPr>
            <a:solidFill>
              <a:srgbClr val="7FB3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1190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9C4C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90.4</c:v>
                </c:pt>
                <c:pt idx="1">
                  <c:v>113</c:v>
                </c:pt>
                <c:pt idx="2">
                  <c:v>135.6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B9C4C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RECOMMENDATION: SELECT OPTION 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Equipment investment decision | Board capital allocation | All data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6766560" cy="15544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217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SELECT OPTION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217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A balanced investment: materially higher saving than A, without the $499k commitment of 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691640"/>
            <a:ext cx="4069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74519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DECISION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286000"/>
            <a:ext cx="3474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Approve $343k for Option B, subject to the Week 9 gate (Slide 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$343k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328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$113k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364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3.0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Simple payback  343 / 113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0" y="3566160"/>
            <a:ext cx="2542032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$-4k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89120"/>
            <a:ext cx="2542032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3-year net  3x113 - 343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0" y="4937760"/>
            <a:ext cx="2542032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" y="525780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t>Interpretation: Option B is near break-even by year 3 (-$4k) and positive thereafter if savings persist. This deck tests that case against performance, capacity, downside and delivery risk before rollout.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1 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OPTIONS: B SITS BETWEEN LOW COST AND MAXIMUM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UPTIME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Reference options stay unchanged | Payback = investment / saving | 3-yr net = 3 x saving - investment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675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1112520"/>
                <a:gridCol w="1112520"/>
                <a:gridCol w="1112520"/>
                <a:gridCol w="1112520"/>
                <a:gridCol w="1112520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(%)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  SELECTED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60520"/>
            <a:ext cx="6675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READING THE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66751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A is cheapest and pays back fastest, but saving and uptime are lowest.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B adds $41k/yr saving over A for $146k more capital; uptime +1.3 pts.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C adds a further $49k/yr over B for $156k more; uptime +0.8 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91640"/>
            <a:ext cx="4160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INVESTMENT vs ANNUAL SAVING ($k)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79" y="2057400"/>
          <a:ext cx="41605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98079" y="5532120"/>
            <a:ext cx="4160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5650992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B: step-up in saving without C-level capital.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2 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PERFORMANCE: OUTPUT RECOVERED, BUT 6-MONTH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FELL SHORT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Monthly output vs fixed target of 1,100 units | Units per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73736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73736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6,330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450591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Actual total (units)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292608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21040" y="306324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776472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Target total (units)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425196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21040" y="438912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392B"/>
                </a:solidFill>
                <a:latin typeface="Arial"/>
              </a:defRPr>
            </a:pPr>
            <a:r>
              <a:t>-270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102352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Shortfall (units)  96% of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557784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589788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M1-M2 missed target by 240 and 310 units. M3-M6 exceeded target in every month, recovering most — but not all — of the early gap.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3 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SCENARIO: B NEEDS ~BASE SAVING TO CLEAR 3-YEAR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BREAK-EVEN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Option B investment $343k | Saving at 80% / 100% / 120% of $113k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ANNUAL SAVING BY SCENARIO ($k/yr)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783080"/>
          <a:ext cx="5166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90.4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-71.8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-4.0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135.6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+63.8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389120"/>
            <a:ext cx="5166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754880"/>
            <a:ext cx="5166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Payback = 343 /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3-year net = 3 x saving - 343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Break-even saving = 343 / 3 = $114.3k/yr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Downside leaves a $71.8k three-year gap. Protecting base-case saving is the financial priority.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4  SCENARIO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CAPACITY: NO SITE EXCEEDS CAPACITY — WEST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TIGHTEST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Daily demand vs daily capacity (units/day) | Headroom = capacity - demand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6309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Utilisation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 — tight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4340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09160"/>
            <a:ext cx="63093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 site has demand above capacity.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West has only 11 units/day spare (3.3% of capacity), so small demand growth or downtime would breach it first. Prioritise West in capacity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DEMAND vs CAPACITY (units/day)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132320" y="2103120"/>
          <a:ext cx="45262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5 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ROADMAP: VALIDATE AND TRAIN RUN IN PARALLEL TO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WEEK 9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13-week plan | Both Validate and Train feed the gate before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9509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636E"/>
                </a:solidFill>
                <a:latin typeface="Arial"/>
              </a:defRPr>
            </a:pPr>
            <a:r>
              <a:t>Wk 1        2        3        4        5        6        7        8        9        10       11       12       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011680"/>
            <a:ext cx="9509760" cy="0"/>
          </a:xfrm>
          <a:prstGeom prst="line">
            <a:avLst/>
          </a:prstGeom>
          <a:ln w="12700">
            <a:solidFill>
              <a:srgbClr val="B9C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33172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11183112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240280"/>
            <a:ext cx="1389888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359152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Design 1-2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40280"/>
            <a:ext cx="2121408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359152"/>
            <a:ext cx="2057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Build 3-5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240280"/>
            <a:ext cx="2121408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2359152"/>
            <a:ext cx="2057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Validate 6-8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520440"/>
            <a:ext cx="2121408" cy="502920"/>
          </a:xfrm>
          <a:prstGeom prst="rect">
            <a:avLst/>
          </a:prstGeom>
          <a:solidFill>
            <a:srgbClr val="7FB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3639312"/>
            <a:ext cx="2057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Train 6-8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18688" y="2487168"/>
            <a:ext cx="73152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13248" y="2487168"/>
            <a:ext cx="73152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13248" y="2743200"/>
            <a:ext cx="438912" cy="77724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7808" y="2487168"/>
            <a:ext cx="73152" cy="347472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07808" y="3383280"/>
            <a:ext cx="73152" cy="384048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80960" y="2606040"/>
            <a:ext cx="658368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2880360"/>
            <a:ext cx="640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Wk 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39327" y="3108960"/>
            <a:ext cx="73153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412480" y="2834640"/>
            <a:ext cx="2852928" cy="54864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990088"/>
            <a:ext cx="2788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Rollout 10-13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57200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00600"/>
            <a:ext cx="11155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Sequence: Design (1-2) -&gt; Build (3-5) -&gt; Validate and Train in parallel (6-8) -&gt; Gate (9) -&gt; Rollout (10-13). No rollout before both parallel streams finish and pass the gate.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6 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GATE: GO ONLY IF ALL FOUR CONDITIONS ARE MET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 9 decision | Any unmet condition means HOLD — no partial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694944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GO CRITERIA  (ALL 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309360" cy="2743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1.  Uptime at least 99.6% — demonstrated in operation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2.  All sites pass capacity validation (North, East, West)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3.  Validation finished (Technical lane)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4.  Training finished (People lane)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3913632" cy="1645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All four met -&gt; proceed to rollout, weeks 10-13.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657600"/>
            <a:ext cx="391363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84048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0392B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389120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Otherwise hold, remediate, and re-test. Do not roll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32120"/>
            <a:ext cx="1118311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Caveat: Option B reference uptime (99.1%) is not proof of operational performance and is below this 99.6% threshold — it must be demonstrated at the gate.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7 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RISK: SUPPLIER DELAY IS LIKELIER; TRAINING GAP HITS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HARDER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Likelihood (x) and impact (y), each scored 1-5 | Higher and further right = greater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5486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783080"/>
            <a:ext cx="45720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B9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116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260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251460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324612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3977639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470916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0" y="3474720"/>
            <a:ext cx="36576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886200"/>
            <a:ext cx="1463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392B"/>
                </a:solidFill>
                <a:latin typeface="Arial"/>
              </a:defRPr>
            </a:pPr>
            <a:r>
              <a:t>Supplier delay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743200"/>
            <a:ext cx="365760" cy="365760"/>
          </a:xfrm>
          <a:prstGeom prst="round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15468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Training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1          2          3          4          5     LIKELIHOOD -&gt;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26480" y="1783080"/>
          <a:ext cx="5532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</a:tblGrid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(LxI)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26480" y="4023360"/>
            <a:ext cx="5532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MITIGATIONS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55321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Supplier delay (4 x 3): pre-order critical parts.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Training gap (2 x 4): supervised practice.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Both mitigations should be in place before the Week 9 gate.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8932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Board action: approve Option B ($343k) with mitigations funded and rollout conditional on the Week 9 GO gate.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8 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