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Pass rate (%)</c:v>
                </c:pt>
              </c:strCache>
            </c:strRef>
          </c:tx>
          <c:spPr>
            <a:solidFill>
              <a:srgbClr val="C45B3A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Control</c:v>
                </c:pt>
                <c:pt idx="1">
                  <c:v>Treatment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57.7272727273</c:v>
                </c:pt>
                <c:pt idx="1">
                  <c:v>71.3636363636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500">
                <a:solidFill>
                  <a:srgbClr val="4A3B2A"/>
                </a:solidFill>
                <a:latin typeface="Georgi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500">
                <a:solidFill>
                  <a:srgbClr val="4A3B2A"/>
                </a:solidFill>
                <a:latin typeface="Georgia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500">
          <a:solidFill>
            <a:srgbClr val="4A3B2A"/>
          </a:solidFill>
          <a:latin typeface="Georgia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Control</c:v>
                </c:pt>
              </c:strCache>
            </c:strRef>
          </c:tx>
          <c:spPr>
            <a:ln w="38100">
              <a:solidFill>
                <a:srgbClr val="8B735B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0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86</c:v>
                </c:pt>
                <c:pt idx="2">
                  <c:v>72</c:v>
                </c:pt>
                <c:pt idx="3">
                  <c:v>58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Treatment</c:v>
                </c:pt>
              </c:strCache>
            </c:strRef>
          </c:tx>
          <c:spPr>
            <a:ln w="38100">
              <a:solidFill>
                <a:srgbClr val="C45B3A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0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91</c:v>
                </c:pt>
                <c:pt idx="2">
                  <c:v>82</c:v>
                </c:pt>
                <c:pt idx="3">
                  <c:v>73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400">
                  <a:solidFill>
                    <a:srgbClr val="4A3B2A"/>
                  </a:solidFill>
                  <a:latin typeface="Georgia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4A3B2A"/>
                </a:solidFill>
                <a:latin typeface="Georgia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4A3B2A"/>
                </a:solidFill>
                <a:latin typeface="Georgia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400">
          <a:solidFill>
            <a:srgbClr val="4A3B2A"/>
          </a:solidFill>
          <a:latin typeface="Georgia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Treatment pass count</c:v>
                </c:pt>
              </c:strCache>
            </c:strRef>
          </c:tx>
          <c:spPr>
            <a:solidFill>
              <a:srgbClr val="C45B3A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P</c:v>
                </c:pt>
                <c:pt idx="1">
                  <c:v>Q</c:v>
                </c:pt>
                <c:pt idx="2">
                  <c:v>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52</c:v>
                </c:pt>
                <c:pt idx="1">
                  <c:v>52</c:v>
                </c:pt>
                <c:pt idx="2">
                  <c:v>53</c:v>
                </c:pt>
              </c:numCache>
            </c:numRef>
          </c:val>
        </c:ser>
        <c:dLbls>
          <c:txPr>
            <a:bodyPr/>
            <a:lstStyle/>
            <a:p>
              <a:pPr>
                <a:defRPr sz="1600">
                  <a:solidFill>
                    <a:srgbClr val="4A3B2A"/>
                  </a:solidFill>
                  <a:latin typeface="Georgi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4A3B2A"/>
                </a:solidFill>
                <a:latin typeface="Georgi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4A3B2A"/>
                </a:solidFill>
                <a:latin typeface="Georgia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600">
          <a:solidFill>
            <a:srgbClr val="4A3B2A"/>
          </a:solidFill>
          <a:latin typeface="Georgia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0879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B735B"/>
                </a:solidFill>
                <a:latin typeface="Georgia"/>
              </a:defRPr>
            </a:pPr>
            <a:r>
              <a:t>SIMULATED MATERIAL ANALYSIS  /  STUDY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04672"/>
            <a:ext cx="107259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4A3B2A"/>
                </a:solidFill>
                <a:latin typeface="Georgia"/>
              </a:defRPr>
            </a:pPr>
            <a:r>
              <a:t>Does treatment improve performance?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21808" y="1673352"/>
            <a:ext cx="1545336" cy="0"/>
          </a:xfrm>
          <a:prstGeom prst="line">
            <a:avLst/>
          </a:prstGeom>
          <a:ln w="381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77240" y="2057400"/>
            <a:ext cx="6675120" cy="3337560"/>
          </a:xfrm>
          <a:prstGeom prst="roundRect">
            <a:avLst/>
          </a:prstGeom>
          <a:solidFill>
            <a:srgbClr val="F3E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331720"/>
            <a:ext cx="61264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5B3A"/>
                </a:solidFill>
                <a:latin typeface="Georgia"/>
              </a:defRPr>
            </a:pPr>
            <a:r>
              <a:t>THE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880360"/>
            <a:ext cx="6080760" cy="1143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4A3B2A"/>
                </a:solidFill>
                <a:latin typeface="Georgia"/>
              </a:defRPr>
            </a:pPr>
            <a:r>
              <a:t>Compare treatment with control on strength-test pass rate and durability across repeated cycles.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370832"/>
            <a:ext cx="60807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  <a:r>
              <a:t>Fictional material screening with random assignment.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2423160"/>
            <a:ext cx="34290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5B3A"/>
                </a:solidFill>
                <a:latin typeface="Georgia"/>
              </a:defRPr>
            </a:pPr>
            <a:r>
              <a:t>BOUNDARY OF THE STUDY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971800"/>
            <a:ext cx="342900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4A3B2A"/>
                </a:solidFill>
                <a:latin typeface="Georgia"/>
              </a:defRPr>
            </a:pPr>
            <a:r>
              <a:t>One lab.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4A3B2A"/>
                </a:solidFill>
                <a:latin typeface="Georgia"/>
              </a:defRPr>
            </a:pPr>
            <a:r>
              <a:t>One batch.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4160520"/>
            <a:ext cx="342900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  <a:r>
              <a:t>Random assignment supports the comparison; the setting limits its reach.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7240" y="6172200"/>
            <a:ext cx="10634472" cy="0"/>
          </a:xfrm>
          <a:prstGeom prst="line">
            <a:avLst/>
          </a:prstGeom>
          <a:ln w="12700">
            <a:solidFill>
              <a:srgbClr val="DCC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" y="6327648"/>
            <a:ext cx="96926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35B"/>
                </a:solidFill>
                <a:latin typeface="Georgia"/>
              </a:defRPr>
            </a:pPr>
            <a:r>
              <a:t>All data are synthetic • Technical review of simulated outputs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52760" y="6300216"/>
            <a:ext cx="75895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35B"/>
                </a:solidFill>
                <a:latin typeface="Georgia"/>
              </a:defRPr>
            </a:pPr>
            <a: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0879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B735B"/>
                </a:solidFill>
                <a:latin typeface="Georgia"/>
              </a:defRPr>
            </a:pPr>
            <a:r>
              <a:t>SIMULATED MATERIAL ANALYSIS  / 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04672"/>
            <a:ext cx="107259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4A3B2A"/>
                </a:solidFill>
                <a:latin typeface="Georgia"/>
              </a:defRPr>
            </a:pPr>
            <a:r>
              <a:t>A balanced, controlled comparison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856231"/>
            <a:ext cx="5166360" cy="1371600"/>
          </a:xfrm>
          <a:prstGeom prst="roundRect">
            <a:avLst/>
          </a:prstGeom>
          <a:solidFill>
            <a:srgbClr val="F3E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45352" y="1856231"/>
            <a:ext cx="5166360" cy="1371600"/>
          </a:xfrm>
          <a:prstGeom prst="roundRect">
            <a:avLst/>
          </a:prstGeom>
          <a:solidFill>
            <a:srgbClr val="F1D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29968"/>
            <a:ext cx="45262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8B735B"/>
                </a:solidFill>
                <a:latin typeface="Georgia"/>
              </a:defRPr>
            </a:pPr>
            <a:r>
              <a:t>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41448"/>
            <a:ext cx="45262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4A3B2A"/>
                </a:solidFill>
                <a:latin typeface="Georgia"/>
              </a:defRPr>
            </a:pPr>
            <a:r>
              <a:t>220 samples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9672" y="2029968"/>
            <a:ext cx="45262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5B3A"/>
                </a:solidFill>
                <a:latin typeface="Georgia"/>
              </a:defRPr>
            </a:pPr>
            <a:r>
              <a:t>TREATMENT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9672" y="2441448"/>
            <a:ext cx="45262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4A3B2A"/>
                </a:solidFill>
                <a:latin typeface="Georgia"/>
              </a:defRPr>
            </a:pPr>
            <a:r>
              <a:t>220 samples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84448"/>
            <a:ext cx="48920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5B3A"/>
                </a:solidFill>
                <a:latin typeface="Georgia"/>
              </a:defRPr>
            </a:pPr>
            <a:r>
              <a:t>PROCEDURE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96512"/>
            <a:ext cx="4892040" cy="1417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A3B2A"/>
                </a:solidFill>
                <a:latin typeface="Georgia"/>
              </a:defRPr>
            </a:pPr>
            <a:r>
              <a:t>Randomly assign samples to two groups.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A3B2A"/>
                </a:solidFill>
                <a:latin typeface="Georgia"/>
              </a:defRPr>
            </a:pPr>
            <a:r>
              <a:t>Use equal-duration exposure and the same test equipment.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3584448"/>
            <a:ext cx="48920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5B3A"/>
                </a:solidFill>
                <a:latin typeface="Georgia"/>
              </a:defRPr>
            </a:pPr>
            <a:r>
              <a:t>ENDPOINT &amp;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4096512"/>
            <a:ext cx="4892040" cy="1417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A3B2A"/>
                </a:solidFill>
                <a:latin typeface="Georgia"/>
              </a:defRPr>
            </a:pPr>
            <a:r>
              <a:t>Endpoint: passing the predefined strength test.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A3B2A"/>
                </a:solidFill>
                <a:latin typeface="Georgia"/>
              </a:defRPr>
            </a:pPr>
            <a:r>
              <a:t>Exclusions were reviewed before final reporting.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596128"/>
            <a:ext cx="103784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4A3B2A"/>
                </a:solidFill>
                <a:latin typeface="Georgia"/>
              </a:defRPr>
            </a:pPr>
            <a:r>
              <a:t>Total sample size: 220 + 220 = 440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6172200"/>
            <a:ext cx="10634472" cy="0"/>
          </a:xfrm>
          <a:prstGeom prst="line">
            <a:avLst/>
          </a:prstGeom>
          <a:ln w="12700">
            <a:solidFill>
              <a:srgbClr val="DCC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7240" y="6327648"/>
            <a:ext cx="96926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35B"/>
                </a:solidFill>
                <a:latin typeface="Georgia"/>
              </a:defRPr>
            </a:pPr>
            <a:r>
              <a:t>All data are synthetic • One lab and one batch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52760" y="6300216"/>
            <a:ext cx="75895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35B"/>
                </a:solidFill>
                <a:latin typeface="Georgia"/>
              </a:defRPr>
            </a:pPr>
            <a: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0879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B735B"/>
                </a:solidFill>
                <a:latin typeface="Georgia"/>
              </a:defRPr>
            </a:pPr>
            <a:r>
              <a:t>SIMULATED MATERIAL ANALYSIS  / 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04672"/>
            <a:ext cx="107259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4A3B2A"/>
                </a:solidFill>
                <a:latin typeface="Georgia"/>
              </a:defRPr>
            </a:pPr>
            <a:r>
              <a:t>Treatment has the higher observed pass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55648"/>
            <a:ext cx="65379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A3B2A"/>
                </a:solidFill>
                <a:latin typeface="Georgia"/>
              </a:defRPr>
            </a:pPr>
            <a:r>
              <a:t>Strength-test pass rate (%)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77240" y="2240280"/>
          <a:ext cx="662940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818120" y="1856231"/>
            <a:ext cx="3593592" cy="3611880"/>
          </a:xfrm>
          <a:prstGeom prst="roundRect">
            <a:avLst/>
          </a:prstGeom>
          <a:solidFill>
            <a:srgbClr val="F3E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92440" y="2103120"/>
            <a:ext cx="304495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5B3A"/>
                </a:solidFill>
                <a:latin typeface="Georgia"/>
              </a:defRPr>
            </a:pPr>
            <a:r>
              <a:t>EXACT COUNTS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2651760"/>
            <a:ext cx="3044952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A3B2A"/>
                </a:solidFill>
                <a:latin typeface="Georgia"/>
              </a:defRPr>
            </a:pPr>
            <a:r>
              <a:t>Control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A3B2A"/>
                </a:solidFill>
                <a:latin typeface="Georgia"/>
              </a:defRPr>
            </a:pPr>
            <a:r>
              <a:t>127 / 220 = 57.7%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3703320"/>
            <a:ext cx="3044952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A3B2A"/>
                </a:solidFill>
                <a:latin typeface="Georgia"/>
              </a:defRPr>
            </a:pPr>
            <a:r>
              <a:t>Treatment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A3B2A"/>
                </a:solidFill>
                <a:latin typeface="Georgia"/>
              </a:defRPr>
            </a:pPr>
            <a:r>
              <a:t>157 / 220 = 71.4%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4800600"/>
            <a:ext cx="3044952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4A3B2A"/>
                </a:solidFill>
                <a:latin typeface="Georgia"/>
              </a:defRPr>
            </a:pPr>
            <a:r>
              <a:t>30 more passes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650992"/>
            <a:ext cx="104698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A3B2A"/>
                </a:solidFill>
                <a:latin typeface="Georgia"/>
              </a:defRPr>
            </a:pPr>
            <a:r>
              <a:t>Difference = (157 − 127) / 220 × 100 = 13.6 percentage points.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7240" y="6172200"/>
            <a:ext cx="10634472" cy="0"/>
          </a:xfrm>
          <a:prstGeom prst="line">
            <a:avLst/>
          </a:prstGeom>
          <a:ln w="12700">
            <a:solidFill>
              <a:srgbClr val="DCC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" y="6327648"/>
            <a:ext cx="9738360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735B"/>
                </a:solidFill>
                <a:latin typeface="Georgia"/>
              </a:defRPr>
            </a:pPr>
            <a:r>
              <a:t>Synthetic data • Denominators fixed at 220; percentages and difference rounded separately.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52760" y="6300216"/>
            <a:ext cx="75895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35B"/>
                </a:solidFill>
                <a:latin typeface="Georgia"/>
              </a:defRPr>
            </a:pPr>
            <a: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0879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B735B"/>
                </a:solidFill>
                <a:latin typeface="Georgia"/>
              </a:defRPr>
            </a:pPr>
            <a:r>
              <a:t>SIMULATED MATERIAL ANALYSIS  /  TIMECOURSE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04672"/>
            <a:ext cx="107259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4A3B2A"/>
                </a:solidFill>
                <a:latin typeface="Georgia"/>
              </a:defRPr>
            </a:pPr>
            <a:r>
              <a:t>Durability declines in both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74066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A3B2A"/>
                </a:solidFill>
                <a:latin typeface="Georgia"/>
              </a:defRPr>
            </a:pPr>
            <a:r>
              <a:t>Durability (%) by exposure cycles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77240" y="2039112"/>
          <a:ext cx="7452360" cy="3611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474720" y="5650992"/>
            <a:ext cx="2011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B735B"/>
                </a:solidFill>
                <a:latin typeface="Georgia"/>
              </a:defRPr>
            </a:pPr>
            <a:r>
              <a:t>Exposure cycles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9640" y="2057400"/>
            <a:ext cx="2862072" cy="3611880"/>
          </a:xfrm>
          <a:prstGeom prst="roundRect">
            <a:avLst/>
          </a:prstGeom>
          <a:solidFill>
            <a:srgbClr val="F3E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96528" y="2331720"/>
            <a:ext cx="2368296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5B3A"/>
                </a:solidFill>
                <a:latin typeface="Georgia"/>
              </a:defRPr>
            </a:pPr>
            <a:r>
              <a:t>AT 300 CYCLES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96528" y="2880360"/>
            <a:ext cx="2368296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3B2A"/>
                </a:solidFill>
                <a:latin typeface="Georgia"/>
              </a:defRPr>
            </a:pPr>
            <a:r>
              <a:t>73% treatment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3B2A"/>
                </a:solidFill>
                <a:latin typeface="Georgia"/>
              </a:defRPr>
            </a:pPr>
            <a:r>
              <a:t>58%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96528" y="4096512"/>
            <a:ext cx="2368296" cy="1143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  <a:r>
              <a:t>Gap: 15 percentage points.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  <a:r>
              <a:t>Both begin at 100%.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172200"/>
            <a:ext cx="10634472" cy="0"/>
          </a:xfrm>
          <a:prstGeom prst="line">
            <a:avLst/>
          </a:prstGeom>
          <a:ln w="12700">
            <a:solidFill>
              <a:srgbClr val="DCC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327648"/>
            <a:ext cx="96926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35B"/>
                </a:solidFill>
                <a:latin typeface="Georgia"/>
              </a:defRPr>
            </a:pPr>
            <a:r>
              <a:t>All data are synthetic • All eight supplied durability values are plotted and labeled.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2760" y="6300216"/>
            <a:ext cx="75895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35B"/>
                </a:solidFill>
                <a:latin typeface="Georgia"/>
              </a:defRPr>
            </a:pPr>
            <a: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0879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B735B"/>
                </a:solidFill>
                <a:latin typeface="Georgia"/>
              </a:defRPr>
            </a:pPr>
            <a:r>
              <a:t>SIMULATED MATERIAL ANALYSIS  /  SUBGROUPS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04672"/>
            <a:ext cx="107259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4A3B2A"/>
                </a:solidFill>
                <a:latin typeface="Georgia"/>
              </a:defRPr>
            </a:pPr>
            <a:r>
              <a:t>Similar counts do not establish similar 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73936"/>
            <a:ext cx="64465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4A3B2A"/>
                </a:solidFill>
                <a:latin typeface="Georgia"/>
              </a:defRPr>
            </a:pPr>
            <a:r>
              <a:t>Treatment passes by supplied batch label (samples)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77240" y="2267712"/>
          <a:ext cx="649224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680960" y="1847088"/>
            <a:ext cx="3730752" cy="3803904"/>
          </a:xfrm>
          <a:prstGeom prst="roundRect">
            <a:avLst/>
          </a:prstGeom>
          <a:solidFill>
            <a:srgbClr val="F3E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2121408"/>
            <a:ext cx="31821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5B3A"/>
                </a:solidFill>
                <a:latin typeface="Georgia"/>
              </a:defRPr>
            </a:pPr>
            <a:r>
              <a:t>COUNTS, NOT PASS RATES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706624"/>
            <a:ext cx="3182112" cy="1234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A3B2A"/>
                </a:solidFill>
                <a:latin typeface="Georgia"/>
              </a:defRPr>
            </a:pPr>
            <a:r>
              <a:t>Subgroup denominators are not supplied. A pass rate for P, Q or R cannot be calculated.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4261104"/>
            <a:ext cx="3182112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52 + 52 + 53 = 157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Matches treatment passes.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172200"/>
            <a:ext cx="10634472" cy="0"/>
          </a:xfrm>
          <a:prstGeom prst="line">
            <a:avLst/>
          </a:prstGeom>
          <a:ln w="12700">
            <a:solidFill>
              <a:srgbClr val="DCC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7240" y="6327648"/>
            <a:ext cx="96926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735B"/>
                </a:solidFill>
                <a:latin typeface="Georgia"/>
              </a:defRPr>
            </a:pPr>
            <a:r>
              <a:t>All data are synthetic • P/Q/R are the supplied labels; independent-batch replication is not established.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52760" y="6300216"/>
            <a:ext cx="75895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35B"/>
                </a:solidFill>
                <a:latin typeface="Georgia"/>
              </a:defRPr>
            </a:pPr>
            <a: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0879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B735B"/>
                </a:solidFill>
                <a:latin typeface="Georgia"/>
              </a:defRPr>
            </a:pPr>
            <a:r>
              <a:t>SIMULATED MATERIAL ANALYSIS  / 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04672"/>
            <a:ext cx="107259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4A3B2A"/>
                </a:solidFill>
                <a:latin typeface="Georgia"/>
              </a:defRPr>
            </a:pPr>
            <a:r>
              <a:t>Arithmetic reconciles; record audit is pending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847088"/>
            <a:ext cx="10634472" cy="960120"/>
          </a:xfrm>
          <a:prstGeom prst="roundRect">
            <a:avLst/>
          </a:prstGeom>
          <a:solidFill>
            <a:srgbClr val="F1D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075688"/>
            <a:ext cx="10085832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4A3B2A"/>
                </a:solidFill>
                <a:latin typeface="Georgia"/>
              </a:defRPr>
            </a:pPr>
            <a:r>
              <a:t>The initial extract awaits a duplicate-record audit.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3154680"/>
          <a:ext cx="644652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3260"/>
                <a:gridCol w="3223260"/>
              </a:tblGrid>
              <a:tr h="60579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Consistency check</a:t>
                      </a:r>
                    </a:p>
                  </a:txBody>
                  <a:tcPr marL="64008" marR="64008" marT="36576" marB="36576">
                    <a:solidFill>
                      <a:srgbClr val="8B73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Result</a:t>
                      </a:r>
                    </a:p>
                  </a:txBody>
                  <a:tcPr marL="64008" marR="64008" marT="36576" marB="36576">
                    <a:solidFill>
                      <a:srgbClr val="8B735B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Group denominators</a:t>
                      </a:r>
                    </a:p>
                  </a:txBody>
                  <a:tcPr marL="64008" marR="64008" marT="36576" marB="36576">
                    <a:solidFill>
                      <a:srgbClr val="F7EE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220 control; 220 treatment</a:t>
                      </a:r>
                    </a:p>
                  </a:txBody>
                  <a:tcPr marL="64008" marR="64008" marT="36576" marB="36576">
                    <a:solidFill>
                      <a:srgbClr val="F7EEDC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Pass-count difference</a:t>
                      </a:r>
                    </a:p>
                  </a:txBody>
                  <a:tcPr marL="64008" marR="64008" marT="36576" marB="36576">
                    <a:solidFill>
                      <a:srgbClr val="F7EE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157 − 127 = 30</a:t>
                      </a:r>
                    </a:p>
                  </a:txBody>
                  <a:tcPr marL="64008" marR="64008" marT="36576" marB="36576">
                    <a:solidFill>
                      <a:srgbClr val="F7EEDC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Treatment label totals</a:t>
                      </a:r>
                    </a:p>
                  </a:txBody>
                  <a:tcPr marL="64008" marR="64008" marT="36576" marB="36576">
                    <a:solidFill>
                      <a:srgbClr val="F7EE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52 + 52 + 53 = 157</a:t>
                      </a:r>
                    </a:p>
                  </a:txBody>
                  <a:tcPr marL="64008" marR="64008" marT="36576" marB="36576">
                    <a:solidFill>
                      <a:srgbClr val="F7EED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99248" y="3182112"/>
            <a:ext cx="3529584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5B3A"/>
                </a:solidFill>
                <a:latin typeface="Georgia"/>
              </a:defRPr>
            </a:pPr>
            <a:r>
              <a:t>LIMIT OF THE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9248" y="3749039"/>
            <a:ext cx="3529584" cy="1600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A3B2A"/>
                </a:solidFill>
                <a:latin typeface="Georgia"/>
              </a:defRPr>
            </a:pPr>
            <a:r>
              <a:t>Statistical significance is not established here.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A3B2A"/>
                </a:solidFill>
                <a:latin typeface="Georgia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A3B2A"/>
                </a:solidFill>
                <a:latin typeface="Georgia"/>
              </a:defRPr>
            </a:pPr>
            <a:r>
              <a:t>No confidence interval is supplied.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6172200"/>
            <a:ext cx="10634472" cy="0"/>
          </a:xfrm>
          <a:prstGeom prst="line">
            <a:avLst/>
          </a:prstGeom>
          <a:ln w="12700">
            <a:solidFill>
              <a:srgbClr val="DCC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" y="6327648"/>
            <a:ext cx="96926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35B"/>
                </a:solidFill>
                <a:latin typeface="Georgia"/>
              </a:defRPr>
            </a:pPr>
            <a:r>
              <a:t>All data are synthetic • Arithmetic consistency does not resolve possible duplicate records.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300216"/>
            <a:ext cx="75895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35B"/>
                </a:solidFill>
                <a:latin typeface="Georgia"/>
              </a:defRPr>
            </a:pPr>
            <a: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0879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B735B"/>
                </a:solidFill>
                <a:latin typeface="Georgia"/>
              </a:defRPr>
            </a:pPr>
            <a:r>
              <a:t>SIMULATED MATERIAL ANALYSIS  / 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04672"/>
            <a:ext cx="107259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4A3B2A"/>
                </a:solidFill>
                <a:latin typeface="Georgia"/>
              </a:defRPr>
            </a:pPr>
            <a:r>
              <a:t>A sample advantage with a limited reach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3840480" cy="3474720"/>
          </a:xfrm>
          <a:prstGeom prst="roundRect">
            <a:avLst/>
          </a:prstGeom>
          <a:solidFill>
            <a:srgbClr val="F1D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267712"/>
            <a:ext cx="3236976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5B3A"/>
                </a:solidFill>
                <a:latin typeface="Georgia"/>
              </a:defRPr>
            </a:pPr>
            <a:r>
              <a:t>OBSERVED DIFFERENCE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816352"/>
            <a:ext cx="3236976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400" b="1">
                <a:solidFill>
                  <a:srgbClr val="C45B3A"/>
                </a:solidFill>
                <a:latin typeface="Georgia"/>
              </a:defRPr>
            </a:pPr>
            <a:r>
              <a:t>+13.6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3840480"/>
            <a:ext cx="3236976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3B2A"/>
                </a:solidFill>
                <a:latin typeface="Georgia"/>
              </a:defRPr>
            </a:pPr>
            <a:r>
              <a:t>percentage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4526280"/>
            <a:ext cx="3236976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4A3B2A"/>
                </a:solidFill>
                <a:latin typeface="Georgia"/>
              </a:defRPr>
            </a:pPr>
            <a:r>
              <a:t>Treatment minus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6360" y="2103120"/>
            <a:ext cx="59436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5B3A"/>
                </a:solidFill>
                <a:latin typeface="Georgia"/>
              </a:defRPr>
            </a:pPr>
            <a:r>
              <a:t>WHAT THE OUTPUTS 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0" y="2660904"/>
            <a:ext cx="594360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4A3B2A"/>
                </a:solidFill>
                <a:latin typeface="Georgia"/>
              </a:defRPr>
            </a:pPr>
            <a:r>
              <a:t>The treatment pass rate is higher in this simulated sample. Durability is also higher at 100, 200 and 300 cycles.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166360" y="3968496"/>
            <a:ext cx="5943600" cy="0"/>
          </a:xfrm>
          <a:prstGeom prst="line">
            <a:avLst/>
          </a:prstGeom>
          <a:ln w="12700">
            <a:solidFill>
              <a:srgbClr val="DCC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166360" y="4242816"/>
            <a:ext cx="594360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A3B2A"/>
                </a:solidFill>
                <a:latin typeface="Georgia"/>
              </a:defRPr>
            </a:pPr>
            <a:r>
              <a:t>This is a measured sample difference, not evidence of broad field performance. One lab, one batch and the pending duplicate audit constrain interpretation.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7240" y="6172200"/>
            <a:ext cx="10634472" cy="0"/>
          </a:xfrm>
          <a:prstGeom prst="line">
            <a:avLst/>
          </a:prstGeom>
          <a:ln w="12700">
            <a:solidFill>
              <a:srgbClr val="DCC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7240" y="6327648"/>
            <a:ext cx="96926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35B"/>
                </a:solidFill>
                <a:latin typeface="Georgia"/>
              </a:defRPr>
            </a:pPr>
            <a:r>
              <a:t>All data are synthetic • Findings describe the supplied simulated study.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52760" y="6300216"/>
            <a:ext cx="75895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35B"/>
                </a:solidFill>
                <a:latin typeface="Georgia"/>
              </a:defRPr>
            </a:pPr>
            <a: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0879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B735B"/>
                </a:solidFill>
                <a:latin typeface="Georgia"/>
              </a:defRPr>
            </a:pPr>
            <a:r>
              <a:t>SIMULATED MATERIAL ANALYSIS  / 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04672"/>
            <a:ext cx="107259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4A3B2A"/>
                </a:solidFill>
                <a:latin typeface="Georgia"/>
              </a:defRPr>
            </a:pPr>
            <a:r>
              <a:t>Replicate before making a deployment claim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874519"/>
            <a:ext cx="3337560" cy="3154680"/>
          </a:xfrm>
          <a:prstGeom prst="roundRect">
            <a:avLst/>
          </a:prstGeom>
          <a:solidFill>
            <a:srgbClr val="F3E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425696" y="1874519"/>
            <a:ext cx="3337560" cy="3154680"/>
          </a:xfrm>
          <a:prstGeom prst="roundRect">
            <a:avLst/>
          </a:prstGeom>
          <a:solidFill>
            <a:srgbClr val="F3E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74152" y="1874519"/>
            <a:ext cx="3337560" cy="3154680"/>
          </a:xfrm>
          <a:prstGeom prst="roundRect">
            <a:avLst/>
          </a:prstGeom>
          <a:solidFill>
            <a:srgbClr val="F3E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48840"/>
            <a:ext cx="27889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5B3A"/>
                </a:solidFill>
                <a:latin typeface="Georgia"/>
              </a:defRPr>
            </a:pPr>
            <a:r>
              <a:t>01  /  REPLICATE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43200"/>
            <a:ext cx="2788920" cy="1737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4A3B2A"/>
                </a:solidFill>
                <a:latin typeface="Georgia"/>
              </a:defRPr>
            </a:pPr>
            <a:r>
              <a:t>Run the comparison in 3 independent labs with blinded scoring.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0016" y="2148840"/>
            <a:ext cx="27889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5B3A"/>
                </a:solidFill>
                <a:latin typeface="Georgia"/>
              </a:defRPr>
            </a:pPr>
            <a:r>
              <a:t>02  /  STANDARDIZE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0016" y="2743200"/>
            <a:ext cx="2788920" cy="1737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4A3B2A"/>
                </a:solidFill>
                <a:latin typeface="Georgia"/>
              </a:defRPr>
            </a:pPr>
            <a:r>
              <a:t>Preserve controls and preregister exclusions.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8472" y="2148840"/>
            <a:ext cx="27889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5B3A"/>
                </a:solidFill>
                <a:latin typeface="Georgia"/>
              </a:defRPr>
            </a:pPr>
            <a:r>
              <a:t>03  /  DOCUMENT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8472" y="2743200"/>
            <a:ext cx="2788920" cy="1737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4A3B2A"/>
                </a:solidFill>
                <a:latin typeface="Georgia"/>
              </a:defRPr>
            </a:pPr>
            <a:r>
              <a:t>Record batch conditions and include a second batch.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5349240"/>
            <a:ext cx="10634472" cy="594360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5449824"/>
            <a:ext cx="10140696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8E7"/>
                </a:solidFill>
                <a:latin typeface="Georgia"/>
              </a:defRPr>
            </a:pPr>
            <a:r>
              <a:t>A second batch is needed before any deployment claim.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6172200"/>
            <a:ext cx="10634472" cy="0"/>
          </a:xfrm>
          <a:prstGeom prst="line">
            <a:avLst/>
          </a:prstGeom>
          <a:ln w="12700">
            <a:solidFill>
              <a:srgbClr val="DCC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7240" y="6327648"/>
            <a:ext cx="96926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35B"/>
                </a:solidFill>
                <a:latin typeface="Georgia"/>
              </a:defRPr>
            </a:pPr>
            <a:r>
              <a:t>All data are synthetic • Recommended decision: proceed to replication.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52760" y="6300216"/>
            <a:ext cx="75895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35B"/>
                </a:solidFill>
                <a:latin typeface="Georgia"/>
              </a:defRPr>
            </a:pPr>
            <a: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