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 (127/220)</c:v>
                </c:pt>
                <c:pt idx="1">
                  <c:v>Treatment (144/220)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</c:v>
                </c:pt>
                <c:pt idx="1">
                  <c:v>65.5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9C8B7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passes (count)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Batch P</c:v>
                </c:pt>
                <c:pt idx="1">
                  <c:v>Batch Q</c:v>
                </c:pt>
                <c:pt idx="2">
                  <c:v>Batch 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48</c:v>
                </c:pt>
                <c:pt idx="2">
                  <c:v>48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Does the treatment beat control on pass rate 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durability?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01 · Question · fictional material-screening study · all data are synthetic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828800"/>
            <a:ext cx="0" cy="219456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" y="1783080"/>
            <a:ext cx="5852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585216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Compared with control, does the treatment raise the share of samples that pass the strength test, and does it hold up better across exposure cycles?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58521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4C38"/>
                </a:solidFill>
                <a:latin typeface="Georgia"/>
              </a:defRPr>
            </a:pPr>
            <a:r>
              <a:t>Samples were randomly assigned to treatment or control. Pass rate is the share passing a predefined strength test; durability is the % retained at cycles 0, 100, 200 and 300.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783080"/>
            <a:ext cx="4023360" cy="420624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965960"/>
            <a:ext cx="3474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Scope at a glance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0" y="2468880"/>
            <a:ext cx="347472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0" y="265176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65176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Random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1546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1546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65760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Batches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65760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16052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16052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Synthetic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800600"/>
            <a:ext cx="34747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45B3A"/>
                </a:solidFill>
                <a:latin typeface="Georgia"/>
              </a:defRPr>
            </a:pPr>
            <a:r>
              <a:t>One lab and one batch limit how far any result can generalize.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Two matched arms, one predefined endpoint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02 · Design · 220 samples per group · equal exposure · same test equipment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1051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Random assignment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86430" y="173736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9582" y="181051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220 per group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12110" y="22174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49900" y="173736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3052" y="181051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Equal exposure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75580" y="22174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13371" y="173736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6523" y="181051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Same equipment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39051" y="22174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476841" y="173736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9993" y="181051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Strength-test pass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02521" y="221742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22960" y="3063240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Samples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Exposure duration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Test equipment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Shared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Shared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Strength-test pass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Strength-test pass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Reviewed pre-report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Reviewed pre-report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955279" y="3063240"/>
            <a:ext cx="3410712" cy="301752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246120"/>
            <a:ext cx="2971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Why it matters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83879" y="3703320"/>
            <a:ext cx="1143001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83879" y="3840480"/>
            <a:ext cx="29718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Arms share duration, equipment and endpoint, so assignment is the planned difference. Exclusions were reviewed before final reporting.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Treatment passed 7.7 points more often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03 · Results · fixed denominators: 220 samples in each 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760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Pass rate by arm, % of 220 samples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011680"/>
          <a:ext cx="57607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691640"/>
          <a:ext cx="4572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4343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Arm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Samples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57.7%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65.5%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+7.7 pp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3657600"/>
            <a:ext cx="21488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+7.7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425696"/>
            <a:ext cx="214884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absolute difference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4937760"/>
            <a:ext cx="2148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281160" y="3657600"/>
            <a:ext cx="21488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9C8B74"/>
                </a:solidFill>
                <a:latin typeface="Georgia"/>
              </a:defRPr>
            </a:pPr>
            <a:r>
              <a:t>+17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4425696"/>
            <a:ext cx="214884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more passes of 220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81160" y="4937760"/>
            <a:ext cx="2148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0" y="5166360"/>
            <a:ext cx="4572000" cy="100584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5230368"/>
            <a:ext cx="420624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(144 − 127) / 220 = 17 / 220 = 7.7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Rates shown rounded: 65.5% and 57.7%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Durability gap widens with every 100 cycles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04 · Timecourse · durability retained (%) at exposure cycles 0, 100, 200 and 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Durability retained (%) by exposure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011680"/>
          <a:ext cx="713232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257800"/>
          <a:ext cx="71323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1426464"/>
                <a:gridCol w="1426464"/>
                <a:gridCol w="1426464"/>
                <a:gridCol w="1426464"/>
              </a:tblGrid>
              <a:tr h="335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Retained %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Cycle 0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Cycle 100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Cycle 200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Cycle 300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21040" y="1691640"/>
            <a:ext cx="31089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9C8B74"/>
                </a:solidFill>
                <a:latin typeface="Georgia"/>
              </a:defRPr>
            </a:pPr>
            <a:r>
              <a:t>−42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404872"/>
            <a:ext cx="31089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Control, 100% → 58%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0" y="2880360"/>
            <a:ext cx="310896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21040" y="3017520"/>
            <a:ext cx="31089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−27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730752"/>
            <a:ext cx="31089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Treatment, 100% → 73%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0" y="4206240"/>
            <a:ext cx="310896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21040" y="4434840"/>
            <a:ext cx="3108960" cy="182880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52628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Gap: treatment −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937760"/>
            <a:ext cx="274320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0 → 5 → 10 → 15 pts at cycles 0, 100, 200, 300 (+5 pts per 100 cycles)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Treatment passes split evenly: 48 per label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05 · Subgroups · counts of passing treatment samples by batch label P, Q,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Treatment pass counts by batch label (samples)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011680"/>
          <a:ext cx="61264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691640"/>
            <a:ext cx="4114800" cy="210312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82880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B3A"/>
                </a:solidFill>
                <a:latin typeface="Georgia"/>
              </a:defRPr>
            </a:pPr>
            <a:r>
              <a:t>Counts, not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286000"/>
            <a:ext cx="365760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Subgroup denominators were not supplied, so a pass rate for P, Q or R cannot be computed or compared.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977639"/>
            <a:ext cx="4114800" cy="960120"/>
          </a:xfrm>
          <a:prstGeom prst="roundRect">
            <a:avLst/>
          </a:prstGeom>
          <a:solidFill>
            <a:srgbClr val="F7EBD3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4041648"/>
            <a:ext cx="3657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48 + 48 + 48 = 144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= total treatment passes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120640"/>
            <a:ext cx="41148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4C38"/>
                </a:solidFill>
                <a:latin typeface="Georgia"/>
              </a:defRPr>
            </a:pPr>
            <a:r>
              <a:t>Consistency check: the study is described as one batch; the P/Q/R labels still need reconciling.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Audit removed 13 duplicate treatment passes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06 · Audit · what changed, what held, and what is deliberately not claimed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840480" cy="44348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3E3C7"/>
                </a:solidFill>
                <a:latin typeface="Georgia"/>
              </a:defRPr>
            </a:pPr>
            <a:r>
              <a:t>DUPLICATE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8E7"/>
                </a:solidFill>
                <a:latin typeface="Georgia"/>
              </a:defRPr>
            </a:pPr>
            <a:r>
              <a:t>157 − 13 = 144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3200400"/>
            <a:ext cx="1280160" cy="0"/>
          </a:xfrm>
          <a:prstGeom prst="line">
            <a:avLst/>
          </a:prstGeom>
          <a:ln w="19050">
            <a:solidFill>
              <a:srgbClr val="FFF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" y="3383280"/>
            <a:ext cx="3291840" cy="2651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8E7"/>
                </a:solidFill>
                <a:latin typeface="Georgia"/>
              </a:defRPr>
            </a:pPr>
            <a:r>
              <a:t>13 duplicate positive treatment records were removed. Denominators remain correct at 220 per arm; control is unchanged at 127.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0" y="1737360"/>
          <a:ext cx="633679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96"/>
                <a:gridCol w="3168396"/>
              </a:tblGrid>
              <a:tr h="6335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 passes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144 of 220 after removing 13 duplicates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 passes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 of 220, unchanged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Denominators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 per arm, correct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Statistical significance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Confidence interval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Not reported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A measured sample difference, not field proof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07 · Interpretation · reading the results within the study's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43032" cy="118872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999439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The observed treatment pass rate is higher by 7.7 points (65.5% vs 57.7%). This is a measured sample difference, not evidence of broad field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5120640" cy="3017520"/>
          </a:xfrm>
          <a:prstGeom prst="roundRect">
            <a:avLst/>
          </a:prstGeom>
          <a:solidFill>
            <a:srgbClr val="F7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Supported by this sample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749039"/>
            <a:ext cx="1097280" cy="0"/>
          </a:xfrm>
          <a:prstGeom prst="line">
            <a:avLst/>
          </a:prstGeom>
          <a:ln w="25400">
            <a:solidFill>
              <a:srgbClr val="7A8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3886200"/>
            <a:ext cx="457200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Pass rate 65.5% vs 57.7% (144 vs 127 of 220)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Figures reflect removal of 13 duplicate records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Durability 73% vs 58% retained at cycle 300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Random assignment within one lab and one batch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154680"/>
            <a:ext cx="5120640" cy="3017520"/>
          </a:xfrm>
          <a:prstGeom prst="roundRect">
            <a:avLst/>
          </a:prstGeom>
          <a:solidFill>
            <a:srgbClr val="F7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3291840"/>
            <a:ext cx="4572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Not supported yet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19672" y="3749039"/>
            <a:ext cx="109728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19672" y="3886200"/>
            <a:ext cx="457200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Broad field performance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Statistical significance or a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Results beyond one lab and one batch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Subgroup pass rates (no P/Q/R denominators)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4A3B2A"/>
                </a:solidFill>
                <a:latin typeface="Georgia"/>
              </a:defRPr>
            </a:pPr>
            <a:r>
              <a:t>Replicate before any deployment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08 · Next step · four independent labs, blinded scoring, and a second batch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43032" cy="10515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99943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8E7"/>
                </a:solidFill>
                <a:latin typeface="Georgia"/>
              </a:defRPr>
            </a:pPr>
            <a:r>
              <a:t>Decision: make no deployment claim now. Replicate in 4 independent labs with blinded scoring.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71800"/>
            <a:ext cx="2430018" cy="237744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08152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Replicate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03320"/>
            <a:ext cx="2210561" cy="1536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4 independent labs with blinded scoring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7297" y="2971800"/>
            <a:ext cx="2430018" cy="237744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7025" y="308152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7025" y="3703320"/>
            <a:ext cx="2210561" cy="1536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Preserve a control arm in every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2971800"/>
            <a:ext cx="2430018" cy="237744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4" y="308152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Exclusions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1364" y="3703320"/>
            <a:ext cx="2210561" cy="1536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Preregister exclusion rules in advance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5974" y="2971800"/>
            <a:ext cx="2430018" cy="237744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5701" y="308152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Batches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5701" y="3703320"/>
            <a:ext cx="2210561" cy="1536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Record batch conditions for every sample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532120"/>
            <a:ext cx="10543032" cy="685800"/>
          </a:xfrm>
          <a:prstGeom prst="roundRect">
            <a:avLst/>
          </a:prstGeom>
          <a:solidFill>
            <a:srgbClr val="F7EBD3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596128"/>
            <a:ext cx="99943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Gate: a second batch is needed before any deployment claim.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