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Failed</c:v>
                </c:pt>
                <c:pt idx="1">
                  <c:v>Did not 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8000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SERVICE INTERRUPTION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9875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8BDCF"/>
                </a:solidFill>
                <a:latin typeface="Calibri"/>
              </a:defRPr>
            </a:pPr>
            <a:r>
              <a:t>SUMMARY  /  FICTIONAL INCIDENT  /  INTERNAL TECHNICAL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1206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200" b="1">
                <a:solidFill>
                  <a:srgbClr val="FFD700"/>
                </a:solidFill>
                <a:latin typeface="Calibri"/>
              </a:defRPr>
            </a:pPr>
            <a:r>
              <a:t>66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4754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Incident window: 09:00–10:06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38528"/>
            <a:ext cx="5074920" cy="224028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938528"/>
            <a:ext cx="118872" cy="2240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262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RECOVERY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80360"/>
            <a:ext cx="44805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Error rate returned to baseline at 10:06, after rollback completed at 09:48.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709160"/>
            <a:ext cx="32461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4937760"/>
            <a:ext cx="32461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5166360"/>
            <a:ext cx="32461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32461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1,000 failed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of 9,000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212080"/>
            <a:ext cx="32461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Connection pool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saturation observed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5440680"/>
            <a:ext cx="32461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Root cause remains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 working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Scope, sequence and evidence reviewed separately.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IMPACT: REQUESTS, NOT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BDCF"/>
                </a:solidFill>
                <a:latin typeface="Calibri"/>
              </a:defRPr>
            </a:pPr>
            <a:r>
              <a:t>Incident-window totals  |  09:00–10:06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8404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D700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5661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Window-wide failure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34747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1,000 ÷ 9,000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</a:defRPr>
            </a:pPr>
            <a:r>
              <a:t>= 11.1%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737360"/>
            <a:ext cx="6309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9,000 TOTAL REQUESTS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754880" y="2331720"/>
          <a:ext cx="64922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37760" y="4828032"/>
            <a:ext cx="6035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BDCF"/>
                </a:solidFill>
                <a:latin typeface="Calibri"/>
              </a:defRPr>
            </a:pPr>
            <a:r>
              <a:t>Unit: requests  •  9,000 − 1,000 = 8,000 did not fail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40680"/>
            <a:ext cx="10652760" cy="7589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577840"/>
            <a:ext cx="10241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Distinct affected users are unknown. Request counts do not measure people.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Failure rate uses all requests in the incident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66 MINUTES, SIX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8BDCF"/>
                </a:solidFill>
                <a:latin typeface="Calibri"/>
              </a:defRPr>
            </a:pPr>
            <a:r>
              <a:t>TIMELINE  /  Positions reflect elapsed time from deployment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474720"/>
            <a:ext cx="104698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" y="2697480"/>
            <a:ext cx="0" cy="7772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92147" y="3474720"/>
            <a:ext cx="0" cy="5943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19525" y="2697480"/>
            <a:ext cx="0" cy="7772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75196" y="3474720"/>
            <a:ext cx="0" cy="5943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37168" y="2697480"/>
            <a:ext cx="0" cy="7772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292840" y="3474720"/>
            <a:ext cx="0" cy="59436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1520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00707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085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3756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45728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01400" y="3383280"/>
            <a:ext cx="1828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828800"/>
            <a:ext cx="21031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2194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1828800"/>
            <a:ext cx="26060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206240"/>
            <a:ext cx="25603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82880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206240"/>
            <a:ext cx="251460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10:06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Error rate returns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to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623560"/>
            <a:ext cx="10652760" cy="566928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8 min to first alert     •     13 min rollback     •     18 min from rollback completion to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Total duration: 10:06 − 09:00 = 66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ERROR RATE: SIX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BDCF"/>
                </a:solidFill>
                <a:latin typeface="Calibri"/>
              </a:defRPr>
            </a:pPr>
            <a:r>
              <a:t>Unit: percent (%)  /  Observation times span 09:00–10:15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783080"/>
          <a:ext cx="81381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0" y="1901952"/>
            <a:ext cx="228600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21945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108960"/>
            <a:ext cx="22860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Highest supplied observation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at 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434840"/>
            <a:ext cx="22860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Baseline return was recorded at 10:06, between chart observations.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89320"/>
            <a:ext cx="104241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Window-wide rate = 11.1% from request totals. These six observations are a separate measure.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The 10:15 observation falls outside the 09:00–10:06 incident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FFFFF"/>
                </a:solidFill>
                <a:latin typeface="Calibri"/>
              </a:defRPr>
            </a:pPr>
            <a:r>
              <a:t>EVIDENCE BEFORE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8BDCF"/>
                </a:solidFill>
                <a:latin typeface="Calibri"/>
              </a:defRPr>
            </a:pPr>
            <a:r>
              <a:t>The observed sequence supports investigation; causation remains untested.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074920" cy="315468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749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526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D700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448056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Connection pool saturation after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Recovery after rollback.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5166360" cy="315468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240280"/>
            <a:ext cx="109728" cy="3154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5262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WORKING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11880"/>
            <a:ext cx="44805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669280"/>
            <a:ext cx="960120" cy="1188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504688"/>
            <a:ext cx="9372600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Temporal association does not establish root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FFFFF"/>
                </a:solidFill>
                <a:latin typeface="Calibri"/>
              </a:defRPr>
            </a:pPr>
            <a:r>
              <a:t>RESPONSE: ROLLBACK, THEN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8BDCF"/>
                </a:solidFill>
                <a:latin typeface="Calibri"/>
              </a:defRPr>
            </a:pPr>
            <a:r>
              <a:t>Operational sequence and restoration authority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788920"/>
            <a:ext cx="3657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709160" y="2788920"/>
            <a:ext cx="3657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03720" y="2788920"/>
            <a:ext cx="3657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98280" y="2788920"/>
            <a:ext cx="3657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85800" y="2194560"/>
            <a:ext cx="1828800" cy="1188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2194560"/>
            <a:ext cx="1828800" cy="1188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2194560"/>
            <a:ext cx="1828800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194560"/>
            <a:ext cx="1828800" cy="1188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2194560"/>
            <a:ext cx="2057400" cy="1188720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87168"/>
            <a:ext cx="1645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 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87168"/>
            <a:ext cx="1645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 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487168"/>
            <a:ext cx="1645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3 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37744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  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404872"/>
            <a:ext cx="1874519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Retrospective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3840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BDCF"/>
                </a:solidFill>
                <a:latin typeface="Calibri"/>
              </a:defRPr>
            </a:pPr>
            <a:r>
              <a:t>09:08 first alert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BDCF"/>
                </a:solidFill>
                <a:latin typeface="Calibri"/>
              </a:defRPr>
            </a:pPr>
            <a:r>
              <a:t>09:17 investigation 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703320"/>
            <a:ext cx="1920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09:35–09:48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On-call executes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703320"/>
            <a:ext cx="1920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10:06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Baseline returns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074920"/>
            <a:ext cx="10652760" cy="1033271"/>
          </a:xfrm>
          <a:prstGeom prst="rect">
            <a:avLst/>
          </a:prstGeom>
          <a:solidFill>
            <a:srgbClr val="19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66944"/>
            <a:ext cx="101955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On-call handles rollback. The service owner authorizes restoration.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Baseline verification follows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ACTIONS: TWO STILL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BDCF"/>
                </a:solidFill>
                <a:latin typeface="Calibri"/>
              </a:defRPr>
            </a:pPr>
            <a:r>
              <a:t>Owners, deadlines and current status  /  Deadlines shown as supplied day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74519"/>
          <a:ext cx="106527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2009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91C2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212080"/>
            <a:ext cx="118872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30368"/>
            <a:ext cx="10012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 of 3 actions complete. Retry controls and causal validation remain planned.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Planned work is not represented as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88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9784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RECOVERED. WORK REMAINS.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59436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BDCF"/>
                </a:solidFill>
                <a:latin typeface="Calibri"/>
              </a:defRPr>
            </a:pPr>
            <a:r>
              <a:t>LESSONS  /  Preserve the boundaries of 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777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874519"/>
            <a:ext cx="73152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856231"/>
            <a:ext cx="9098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SEPARATE OBSERVATION FROM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77440"/>
            <a:ext cx="90525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BDCF"/>
                </a:solidFill>
                <a:latin typeface="Calibri"/>
              </a:defRPr>
            </a:pPr>
            <a:r>
              <a:t>Saturation and recovery were observed; retry amplification remains unproven.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777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3246120"/>
            <a:ext cx="73152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227832"/>
            <a:ext cx="8732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KEEP REQUESTS DISTINCT FROM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49039"/>
            <a:ext cx="8641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8BDCF"/>
                </a:solidFill>
                <a:latin typeface="Calibri"/>
              </a:defRPr>
            </a:pPr>
            <a:r>
              <a:t>1,000 failed requests; the number of distinct affected users is unknown.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800600"/>
            <a:ext cx="1065276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01768"/>
            <a:ext cx="10058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B0C15"/>
                </a:solidFill>
                <a:latin typeface="Calibri"/>
              </a:defRPr>
            </a:pPr>
            <a:r>
              <a:t>RECOVERY IS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22976"/>
            <a:ext cx="10058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Preventing recurrence still depends on the planned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DCF"/>
                </a:solidFill>
                <a:latin typeface="Calibri"/>
              </a:defRPr>
            </a:pPr>
            <a:r>
              <a:t>All data are synthetic.  •  Carry the open actions into the retrospective.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