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($k/yr)</c:v>
                </c:pt>
              </c:strCache>
            </c:strRef>
          </c:tx>
          <c:spPr>
            <a:solidFill>
              <a:srgbClr val="7FB3D9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1350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129.6</c:v>
                </c:pt>
                <c:pt idx="1">
                  <c:v>162</c:v>
                </c:pt>
                <c:pt idx="2">
                  <c:v>194.4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rgbClr val="B9C4C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RECOMMENDATION: SELECT OPTION 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Equipment investment decision | Board capital allocation | All data synthetic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6766560" cy="15544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SELECT OPTION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2179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Highest annual saving ($162k) and uptime (99.9%), for the highest one-time commitment.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691640"/>
            <a:ext cx="406908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74519"/>
            <a:ext cx="3474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DECISION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286000"/>
            <a:ext cx="3474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Approve $499k for Option C, subject to the Week 10 gate (Slide 7).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$499k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Investment (one-time)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8328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$162k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8328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63640" y="3566160"/>
            <a:ext cx="2697480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3.1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389120"/>
            <a:ext cx="2697480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Simple payback  499 / 162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937760"/>
            <a:ext cx="269748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0" y="3566160"/>
            <a:ext cx="2542032" cy="7543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$-13k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389120"/>
            <a:ext cx="2542032" cy="480059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3-year net  3x162 - 499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4937760"/>
            <a:ext cx="2542032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" y="52578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9636E"/>
                </a:solidFill>
                <a:latin typeface="Arial"/>
              </a:defRPr>
            </a:pPr>
            <a:r>
              <a:t>Interpretation: Option C is near break-even by year 3 (-$13k) and positive thereafter if savings persist. This deck tests that case against performance, capacity, downside and delivery risk before rollout.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1 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OPTIONS: C GIVES HIGHEST SAVING AND UPTIME, AT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HIGHEST COST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Reference options stay unchanged | Payback = investment / saving | 3-yr net = 3 x saving - investment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675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1112520"/>
                <a:gridCol w="1112520"/>
                <a:gridCol w="1112520"/>
                <a:gridCol w="1112520"/>
                <a:gridCol w="1112520"/>
              </a:tblGrid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(%)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  SELECTED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160520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READING THE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26280"/>
            <a:ext cx="66751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A is cheapest and pays back fastest, but saving and uptime are lowest.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B adds $41k/yr saving over A for $146k more capital; uptime +1.3 pts.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• C adds a further $49k/yr over B for $156k more; uptime +0.8 pts to 99.9%.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91640"/>
            <a:ext cx="4160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INVESTMENT vs ANNUAL SAVING ($k)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98079" y="2057400"/>
          <a:ext cx="41605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98079" y="5532120"/>
            <a:ext cx="41605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5650992"/>
            <a:ext cx="3840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 selected: maximum saving and uptime.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2 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PERFORMANCE: OUTPUT RECOVERED, BUT 6-MONTH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FELL SHORT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Monthly output vs fixed target of 1,100 units | Units per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2920" y="173736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21040" y="173736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6,490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450591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Actual total (units)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292608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321040" y="306324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77647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Target total (units)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425196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4389120"/>
            <a:ext cx="33375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0392B"/>
                </a:solidFill>
                <a:latin typeface="Arial"/>
              </a:defRPr>
            </a:pPr>
            <a:r>
              <a:t>-110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102352"/>
            <a:ext cx="33375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Shortfall (units)  98% of target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5577840"/>
            <a:ext cx="333756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" y="589788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M1-M2 missed target by 240 and 310 units. M3-M6 exceeded target every month — peaking at 1,350 in M4 (+250) — recovering most, but not all, of the early gap: 6,490 vs 6,600.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3 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SCENARIO: C NEEDS ABOVE-BASE SAVING FOR 3-YEAR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BREAK-EVEN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Option C investment $499k | Saving at 80% / 100% / 120% of $162k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011680"/>
          <a:ext cx="566928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66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1590"/>
                <a:gridCol w="1291590"/>
                <a:gridCol w="1291590"/>
                <a:gridCol w="129159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129.6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-110.2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+84.2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38912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ARITHMETIC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754880"/>
            <a:ext cx="51663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Payback = 499 /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3-year net = 3 x saving - 499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Break-even saving = 499 / 3 = $166.3k/yr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899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Base case is $13.0k short at year 3; downside leaves a $110.2k gap. Protecting saving above $166.3k/yr is the priority.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4  SCENARIO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CAPACITY: NO SITE EXCEEDS CAPACITY — WEST 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TIGHTEST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Daily demand vs daily capacity (units/day) | Headroom = capacity - demand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6309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Utilisation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Within — tight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34340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09160"/>
            <a:ext cx="630936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 site has demand above capacity.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West has only 11 units/day spare (3.3% of capacity), so small demand growth or downtime would breach it first. Prioritise West in capacity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737360"/>
            <a:ext cx="4526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DEMAND vs CAPACITY (units/day)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132320" y="2103120"/>
          <a:ext cx="4526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5  CAPACITY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ROADMAP: VALIDATE AND TRAIN RUN IN PARALLEL TO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WEEK 10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14-week plan | Both Validate and Train feed the gate before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1645920"/>
            <a:ext cx="9601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9636E"/>
                </a:solidFill>
                <a:latin typeface="Arial"/>
              </a:defRPr>
            </a:pPr>
            <a:r>
              <a:t>Wk 1       2       3       4       5       6       7       8       9      10      11      12      13      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2011680"/>
            <a:ext cx="9555480" cy="0"/>
          </a:xfrm>
          <a:prstGeom prst="line">
            <a:avLst/>
          </a:prstGeom>
          <a:ln w="12700">
            <a:solidFill>
              <a:srgbClr val="B9C4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33172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88920"/>
            <a:ext cx="11183112" cy="182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83080" y="2240280"/>
            <a:ext cx="1325880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359152"/>
            <a:ext cx="12344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Design 1-2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2240280"/>
            <a:ext cx="199339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359152"/>
            <a:ext cx="19019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 3-5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0368" y="2240280"/>
            <a:ext cx="1993392" cy="502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2359152"/>
            <a:ext cx="19019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Validate 6-8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1188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0368" y="3520440"/>
            <a:ext cx="1993392" cy="502920"/>
          </a:xfrm>
          <a:prstGeom prst="rect">
            <a:avLst/>
          </a:prstGeom>
          <a:solidFill>
            <a:srgbClr val="7F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76088" y="3639312"/>
            <a:ext cx="19019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Train 6-8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108960" y="2487168"/>
            <a:ext cx="64008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66360" y="2487168"/>
            <a:ext cx="64008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66360" y="2743200"/>
            <a:ext cx="411480" cy="77724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2487168"/>
            <a:ext cx="685800" cy="347472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223760" y="3383280"/>
            <a:ext cx="685800" cy="384048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909560" y="2606040"/>
            <a:ext cx="777240" cy="100584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2852928"/>
            <a:ext cx="722376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Wk 10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8595360" y="3108960"/>
            <a:ext cx="91440" cy="0"/>
          </a:xfrm>
          <a:prstGeom prst="line">
            <a:avLst/>
          </a:prstGeom>
          <a:ln w="254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686800" y="2834640"/>
            <a:ext cx="26060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2990088"/>
            <a:ext cx="2514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Rollout 11-14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7200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00600"/>
            <a:ext cx="111556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Sequence: Design (1-2) -&gt; Build (3-5) -&gt; Validate and Train in parallel (6-8) -&gt; Gate (10) -&gt; Rollout (11-14). No rollout before both parallel streams finish and pass the gate.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6 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GATE: GO ONLY IF ALL FOUR CONDITIONS ARE MET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Week 10 decision | Any unmet condition means HOLD — no partial rollout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694944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6309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GO CRITERIA  (ALL REQUIRED)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309360" cy="2743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1.  Uptime at least 99.6% — demonstrated in operation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2.  All sites pass capacity validation (North, East, West)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3.  Validation finished (Technical lane)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4.  Training finished (People lane)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3913632" cy="16459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2024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46888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Arial"/>
              </a:defRPr>
            </a:pPr>
            <a:r>
              <a:t>All four met -&gt; proceed to rollout, weeks 11-14.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657600"/>
            <a:ext cx="391363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3832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0392B"/>
                </a:solidFill>
                <a:latin typeface="Arial"/>
              </a:defRPr>
            </a:pPr>
            <a:r>
              <a:t>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389120"/>
            <a:ext cx="33832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Otherwise hold, remediate, and re-test. Do not roll 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532120"/>
            <a:ext cx="11183112" cy="59436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t>Caveat: Option C reference uptime (99.9%) is not proof of operational performance — at least 99.6% must be demonstrated at the gate.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7  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RISK: SUPPLIER DELAY IS LIKELIER; TRAINING GAP HITS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HARDER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Likelihood (x) and impact (y), each scored 1-5 | Higher and further right = greater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331720"/>
            <a:ext cx="86868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IMPACT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1783080"/>
            <a:ext cx="4434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B9C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21408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08376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95344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82312" y="1783080"/>
            <a:ext cx="0" cy="36576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4440" y="2514600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34440" y="3246120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34440" y="3977639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34440" y="4709160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60520" y="3474720"/>
            <a:ext cx="36576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886200"/>
            <a:ext cx="1463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0392B"/>
                </a:solidFill>
                <a:latin typeface="Arial"/>
              </a:defRPr>
            </a:pPr>
            <a:r>
              <a:t>Supplier delay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743200"/>
            <a:ext cx="365760" cy="365760"/>
          </a:xfrm>
          <a:prstGeom prst="round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15468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55A4"/>
                </a:solidFill>
                <a:latin typeface="Arial"/>
              </a:defRPr>
            </a:pPr>
            <a:r>
              <a:t>Training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532120"/>
            <a:ext cx="44348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55A4"/>
                </a:solidFill>
                <a:latin typeface="Arial"/>
              </a:defRPr>
            </a:pPr>
            <a:r>
              <a:t>1          2          3          4          5     LIKELIHOOD -&gt;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26480" y="1783080"/>
          <a:ext cx="5532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</a:tblGrid>
              <a:tr h="670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(LxI)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126480" y="4023360"/>
            <a:ext cx="5532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34840"/>
            <a:ext cx="553212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Supplier delay (4 x 3): pre-order critical parts.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Training gap (2 x 4): supervised practice.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mitigations should be in place before the Week 10 gate.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989320"/>
            <a:ext cx="11183112" cy="18288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126480"/>
            <a:ext cx="11155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t>Board action: approve Option C ($499k) with mitigations funded and rollout conditional on the Week 10 GO gate.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8A94A0"/>
                </a:solidFill>
                <a:latin typeface="Arial"/>
              </a:defRPr>
            </a:pPr>
            <a:r>
              <a:t>8  RISK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