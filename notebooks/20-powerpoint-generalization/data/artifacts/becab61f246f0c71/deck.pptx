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Seats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North</c:v>
                </c:pt>
                <c:pt idx="1">
                  <c:v>East</c:v>
                </c:pt>
                <c:pt idx="2">
                  <c:v>South</c:v>
                </c:pt>
                <c:pt idx="3">
                  <c:v>West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50</c:v>
                </c:pt>
                <c:pt idx="1">
                  <c:v>43</c:v>
                </c:pt>
                <c:pt idx="2">
                  <c:v>34</c:v>
                </c:pt>
                <c:pt idx="3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USD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Materials</c:v>
                </c:pt>
                <c:pt idx="1">
                  <c:v>Venue</c:v>
                </c:pt>
                <c:pt idx="2">
                  <c:v>Outreach</c:v>
                </c:pt>
                <c:pt idx="3">
                  <c:v>Access support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1340</c:v>
                </c:pt>
                <c:pt idx="1">
                  <c:v>1000</c:v>
                </c:pt>
                <c:pt idx="2">
                  <c:v>680</c:v>
                </c:pt>
                <c:pt idx="3">
                  <c:v>300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2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Items</c:v>
                </c:pt>
              </c:strCache>
            </c:strRef>
          </c:tx>
          <c:spPr>
            <a:solidFill>
              <a:srgbClr val="0055A4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Repaired</c:v>
                </c:pt>
                <c:pt idx="1">
                  <c:v>Referred</c:v>
                </c:pt>
                <c:pt idx="2">
                  <c:v>Not repairable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60</c:v>
                </c:pt>
                <c:pt idx="1">
                  <c:v>24</c:v>
                </c:pt>
                <c:pt idx="2">
                  <c:v>16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333333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333333"/>
                </a:solidFill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333333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01 · PURPOSE · FICTIONAL NEIGHBORHOOD REPAIR CAFE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CALL FOR VOLUNTEERS: HELP YOUR NEIGHBORS REPAIR, NOT REPLACE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214884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2331720"/>
            <a:ext cx="8229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Everyone is welcome to take part in this fictional repair-cafe campaign: bring an item as a participant, or help sessions run smoothly as a volunteer.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WHO CAN TAKE PART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Any community member. Participants bring one small household item; volunteers need no specialist qualification.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48556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EVENT SEQUENCE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8556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Registration (week 1) → training (week 2) → venue confirmation (week 3) → four sessions (week 5) → follow-up (week 6).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3429000"/>
            <a:ext cx="3291840" cy="27432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65592" y="35661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HOW TO VOLUNTEER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65592" y="3977639"/>
            <a:ext cx="3291840" cy="12801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Choose a role (welcome, repair support or safety check) and sign up by the end of week 2.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5440680"/>
            <a:ext cx="10725912" cy="6858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559552"/>
            <a:ext cx="103327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Arial"/>
              </a:defRPr>
            </a:pPr>
            <a:r>
              <a:t>THE ASK: Sign up by the end of week 2 · Events run in week 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02 · CAPACITY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176 SEATS ACROSS FOUR SESSIONS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North is the largest session (50 seats) and South the smallest (34). Every session lasts 2 hours.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Seats per session (count of seats)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88036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2560320"/>
            <a:ext cx="27432" cy="361188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51460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176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20040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total seats = 50 + 43 + 34 + 49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749039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84048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4 × 2 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526280"/>
            <a:ext cx="28346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= 8 session-hours in total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507492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516636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44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85216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average seats per session (176 ÷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03 · VOLUNTEERS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40 VOLUNTEERS · 120 VOLUNTEER-HOURS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Each volunteer gives one 3-hour shift. No specialist qualification is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514600"/>
            <a:ext cx="3291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volunteers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8556" y="2514600"/>
            <a:ext cx="3291840" cy="10058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1436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0055A4"/>
                </a:solidFill>
                <a:latin typeface="Arial"/>
              </a:defRPr>
            </a:pPr>
            <a:r>
              <a:t>× 3 hours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1436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per volunteer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65592" y="2514600"/>
            <a:ext cx="3291840" cy="10058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48472" y="2606040"/>
            <a:ext cx="301752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= 120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48472" y="3108960"/>
            <a:ext cx="301752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volunteer-hours in total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WELCOME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Greet participants, register walk-ins within session capacity and explain how the session works.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448556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48556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REPAIR SUPPORT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8556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Work alongside participants on their items, share tools and look for available parts.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165592" y="3886200"/>
            <a:ext cx="3291840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65592" y="4023360"/>
            <a:ext cx="3291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055A4"/>
                </a:solidFill>
                <a:latin typeface="Arial"/>
              </a:defRPr>
            </a:pPr>
            <a:r>
              <a:t>SAFETY CHECK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65592" y="4434840"/>
            <a:ext cx="3291840" cy="11887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Keep workspaces and tools in order and flag concerns to the organizer. Not a safety certification.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31520" y="571500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580644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Coverage: 176 seats ÷ 40 volunteers = 4.4 seats per volunteer.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04 · BUDGET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A $3,320 BUDGET, LED BY MATERIALS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Materials and venue make up 70.5% of spend; access support is funded at $300 (9.0%).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2560320"/>
          <a:ext cx="63093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/>
                <a:gridCol w="2103120"/>
                <a:gridCol w="2103120"/>
              </a:tblGrid>
              <a:tr h="502920"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Category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Amount (USD)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Share of total</a:t>
                      </a:r>
                    </a:p>
                  </a:txBody>
                  <a:tcPr marL="64008" marR="64008" marT="36576" marB="36576">
                    <a:solidFill>
                      <a:srgbClr val="0055A4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Materials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$1,340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40.4%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Venue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$1,000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30.1%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Outreach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$680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20.5%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Access support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$300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9.0%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Total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$3,320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600" b="0">
                          <a:solidFill>
                            <a:srgbClr val="333333"/>
                          </a:solidFill>
                          <a:latin typeface="Arial"/>
                        </a:defRPr>
                      </a:pPr>
                      <a:r>
                        <a:t>100.0%</a:t>
                      </a:r>
                    </a:p>
                  </a:txBody>
                  <a:tcPr marL="64008" marR="64008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0" y="256032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Amount by category (USD)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7680960" y="2926080"/>
          <a:ext cx="3776472" cy="2651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9" name="Rectangle 8"/>
          <p:cNvSpPr/>
          <p:nvPr/>
        </p:nvSpPr>
        <p:spPr>
          <a:xfrm>
            <a:off x="731520" y="576072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852160"/>
            <a:ext cx="1072591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Check: $1,340 + $1,000 + $680 + $300 = $3,320  ·  ≈ $18.86 per seat ($3,320 ÷ 176 seats)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05 · SCHEDULE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SIX WEEKS, SIGN-UP TO FOLLOW-UP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Events in week 5 go ahead only when training (week 2) AND venue confirmation (week 3) are complete.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9748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1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3063240"/>
            <a:ext cx="2011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320040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Registration opens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07792" y="269748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07792" y="3063240"/>
            <a:ext cx="2011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044952" y="320040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Volunteer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4064" y="269748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84064" y="3063240"/>
            <a:ext cx="2011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0055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21224" y="320040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Venue confirmation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0336" y="269748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260336" y="3063240"/>
            <a:ext cx="2011680" cy="1188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97496" y="320040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Repair events: 4 sessions × 2 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436608" y="2697480"/>
            <a:ext cx="20116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WEEK 6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436608" y="3063240"/>
            <a:ext cx="2011680" cy="118872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73768" y="3200400"/>
            <a:ext cx="178308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333333"/>
                </a:solidFill>
                <a:latin typeface="Arial"/>
              </a:defRPr>
            </a:pPr>
            <a:r>
              <a:t>Follow-up, one week after events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913632" y="4251960"/>
            <a:ext cx="0" cy="45720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089904" y="4251960"/>
            <a:ext cx="0" cy="45720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913632" y="4709160"/>
            <a:ext cx="4352543" cy="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66175" y="4251960"/>
            <a:ext cx="0" cy="457200"/>
          </a:xfrm>
          <a:prstGeom prst="line">
            <a:avLst/>
          </a:prstGeom>
          <a:ln w="19050">
            <a:solidFill>
              <a:srgbClr val="0055A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2907792" y="484632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055A4"/>
                </a:solidFill>
                <a:latin typeface="Arial"/>
              </a:defRPr>
            </a:pPr>
            <a:r>
              <a:t>DEPENDENCY: training AND venue confirmation →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1520" y="5623560"/>
            <a:ext cx="10725912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5715000"/>
            <a:ext cx="10725912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333333"/>
                </a:solidFill>
                <a:latin typeface="Arial"/>
              </a:defRPr>
            </a:pPr>
            <a:r>
              <a:t>Sign up by the end of week 2 to be ready for training and the week 5 events.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06 · PARTICIPATION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333333"/>
                </a:solidFill>
                <a:latin typeface="Arial"/>
              </a:defRPr>
            </a:pPr>
            <a:r>
              <a:t>WHAT PARTICIPANTS CAN EXPECT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05840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Bring one small household item; volunteers will help as far as available skills and parts allow.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06040"/>
            <a:ext cx="5120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HOW IT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08760" y="31089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Bring one small household item to a session.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51663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977639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40233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Register ahead, or walk in: walk-ins are welcome within session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754880"/>
            <a:ext cx="516636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892040"/>
            <a:ext cx="73152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055A4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08760" y="4937760"/>
            <a:ext cx="4389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Work through the item with a repair-support volunteer.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2606040"/>
            <a:ext cx="4873752" cy="306324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583680" y="2606040"/>
            <a:ext cx="54864" cy="306324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4480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PLEASE NOTE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0" y="3200400"/>
            <a:ext cx="4480560" cy="23774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Repairs depend on available skills and parts.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No repair is guaranteed.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Sessions provide no safety certification.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• Capacity is 34–50 seats per session, 176 in total.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07 · OUTCOMES · LAST SYNTHETIC TRIAL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69848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400" b="1">
                <a:solidFill>
                  <a:srgbClr val="333333"/>
                </a:solidFill>
                <a:latin typeface="Arial"/>
              </a:defRPr>
            </a:pPr>
            <a:r>
              <a:t>60.0% REPAIRED IN THE SYNTHETIC TRIAL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645920"/>
            <a:ext cx="1280160" cy="4572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333333"/>
                </a:solidFill>
                <a:latin typeface="Arial"/>
              </a:defRPr>
            </a:pPr>
            <a:r>
              <a:t>100 items assessed: 60 repaired, 24 referred, 16 not repairable (60 + 24 + 16 = 100).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514600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333333"/>
                </a:solidFill>
                <a:latin typeface="Arial"/>
              </a:defRPr>
            </a:pPr>
            <a:r>
              <a:t>Items by outcome, last synthetic trial (count of items)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31520" y="2880360"/>
          <a:ext cx="6949440" cy="30175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8321040" y="2560320"/>
            <a:ext cx="27432" cy="3337560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0" y="2514600"/>
            <a:ext cx="283464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0055A4"/>
                </a:solidFill>
                <a:latin typeface="Arial"/>
              </a:defRPr>
            </a:pPr>
            <a:r>
              <a:t>60.0%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0" y="320040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repair share = 60 ÷ 100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95360" y="365760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95360" y="3749039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24.0%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5360" y="429768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referred = 24 ÷ 100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4754880"/>
            <a:ext cx="2834640" cy="18288"/>
          </a:xfrm>
          <a:prstGeom prst="rect">
            <a:avLst/>
          </a:prstGeom>
          <a:solidFill>
            <a:srgbClr val="C8C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0" y="4846320"/>
            <a:ext cx="28346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333333"/>
                </a:solidFill>
                <a:latin typeface="Arial"/>
              </a:defRPr>
            </a:pPr>
            <a:r>
              <a:t>16.0%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0" y="5394960"/>
            <a:ext cx="28346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333333"/>
                </a:solidFill>
                <a:latin typeface="Arial"/>
              </a:defRPr>
            </a:pPr>
            <a:r>
              <a:t>not repairable = 16 ÷ 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777777"/>
                </a:solidFill>
                <a:latin typeface="Arial"/>
              </a:defRPr>
            </a:pPr>
            <a:r>
              <a:t>Synthetic-trial results; not a guarantee or forecast for the week 5 events.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6355080"/>
            <a:ext cx="822960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754880" cy="6858000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11480"/>
            <a:ext cx="3657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08 · CALL TO 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3657600" cy="2194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Arial"/>
              </a:defRPr>
            </a:pPr>
            <a:r>
              <a:t>SIGN UP BY THE END OF WEEK 2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3840480"/>
            <a:ext cx="1280160" cy="45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365760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FFFFFF"/>
                </a:solidFill>
                <a:latin typeface="Arial"/>
              </a:defRPr>
            </a:pPr>
            <a:r>
              <a:t>Events run in week 5 across four 2-hour sessions.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3657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Arial"/>
              </a:defRPr>
            </a:pPr>
            <a:r>
              <a:t>40 volunteers · 120 volunteer-hours · 176 seats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822960"/>
            <a:ext cx="59436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55A4"/>
                </a:solidFill>
                <a:latin typeface="Arial"/>
              </a:defRPr>
            </a:pPr>
            <a:r>
              <a:t>TWO WAYS TO JOIN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1325880"/>
            <a:ext cx="597103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146304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AS A PARTICIPANT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1920240"/>
            <a:ext cx="5943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Register and bring one small household item to a week 5 session. Walk-ins welcome within capacity.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0" y="2834640"/>
            <a:ext cx="5971032" cy="27432"/>
          </a:xfrm>
          <a:prstGeom prst="rect">
            <a:avLst/>
          </a:prstGeom>
          <a:solidFill>
            <a:srgbClr val="0055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0" y="2971800"/>
            <a:ext cx="594360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333333"/>
                </a:solidFill>
                <a:latin typeface="Arial"/>
              </a:defRPr>
            </a:pPr>
            <a:r>
              <a:t>AS A VOLUNTEER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3429000"/>
            <a:ext cx="594360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333333"/>
                </a:solidFill>
                <a:latin typeface="Arial"/>
              </a:defRPr>
            </a:pPr>
            <a:r>
              <a:t>Pick welcome, repair support or safety check, join training in week 2 and give one 3-hour shift.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0" y="4526280"/>
            <a:ext cx="5971032" cy="1371600"/>
          </a:xfrm>
          <a:prstGeom prst="rect">
            <a:avLst/>
          </a:prstGeom>
          <a:solidFill>
            <a:srgbClr val="FFFFFF"/>
          </a:solidFill>
          <a:ln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5000" y="4645152"/>
            <a:ext cx="55778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55A4"/>
                </a:solidFill>
                <a:latin typeface="Arial"/>
              </a:defRPr>
            </a:pPr>
            <a:r>
              <a:t>CONTACT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4965192"/>
            <a:ext cx="557784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333333"/>
                </a:solidFill>
                <a:latin typeface="Arial"/>
              </a:defRPr>
            </a:pPr>
            <a:r>
              <a:t>Local organizer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15000" y="5422392"/>
            <a:ext cx="55778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777777"/>
                </a:solidFill>
                <a:latin typeface="Arial"/>
              </a:defRPr>
            </a:pPr>
            <a:r>
              <a:t>[Contact details to be added]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6355080"/>
            <a:ext cx="52120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Fictional repair initiative · All data are synthetic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5912" y="6355080"/>
            <a:ext cx="73152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777777"/>
                </a:solidFill>
                <a:latin typeface="Arial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