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(116/200)</c:v>
                </c:pt>
                <c:pt idx="1">
                  <c:v>Treatment (144/200)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72.0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E0E0E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01 ·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Does treatment beat control on pass rate and durability?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vs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Two arms compared on the same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42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Pass rate + durability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30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Predefined strength test; durability over 300 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Samples randomly assigned to treatment or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3980" y="1965960"/>
            <a:ext cx="2628900" cy="19202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860" y="21031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860" y="24688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 lab · 1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6860" y="3154680"/>
            <a:ext cx="2286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Limits generalization of any finding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5440680" cy="19659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PREVIEW OF OBSERVED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5029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Pass rate: treatment 144/200 (72.0%) vs control 116/200 (58.0%), a 14.0-point difference. Durability at cycle 300: 74% vs 59%.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4160520"/>
            <a:ext cx="5440680" cy="19659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0292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Random assignment supports a within-study comparison, but one lab and one batch cannot show how the treatment performs elsewhere. All data are synthetic.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Randomized two-arm design with a predefined endpoint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3017520"/>
            <a:ext cx="2011680" cy="914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20116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400 samples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1 lab · 1 batch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474720"/>
            <a:ext cx="36576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3017520"/>
            <a:ext cx="1828800" cy="914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108960"/>
            <a:ext cx="1828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Random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assignment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34747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37760" y="2560320"/>
            <a:ext cx="0" cy="182880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25603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4389120"/>
            <a:ext cx="182880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20640" y="2103120"/>
            <a:ext cx="2103120" cy="914400"/>
          </a:xfrm>
          <a:prstGeom prst="rect">
            <a:avLst/>
          </a:prstGeom>
          <a:solidFill>
            <a:srgbClr val="242424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19456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Control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n = 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931920"/>
            <a:ext cx="2103120" cy="91440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023360"/>
            <a:ext cx="2103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Treatment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99"/>
                </a:solidFill>
                <a:latin typeface="Calibri"/>
              </a:defRPr>
            </a:pPr>
            <a:r>
              <a:t>n = 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2880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0A0A0"/>
                </a:solidFill>
                <a:latin typeface="Calibri"/>
              </a:defRPr>
            </a:pPr>
            <a:r>
              <a:t>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6675120" cy="8686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6309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Held equal across arms: exposure duration · test equipment · pass/fail strength threshold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89520" y="1828800"/>
          <a:ext cx="405353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767"/>
                <a:gridCol w="2026768"/>
              </a:tblGrid>
              <a:tr h="613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Specification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 and treatment, 200 samples each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Assignment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Random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 duration in both groups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 test equipment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Passing the predefined strength test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Treatment 72.0% vs control 58.0% pass: +14.0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5852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Pass rate by group (%), fixed denominator n = 200 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40280"/>
          <a:ext cx="58521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828800"/>
          <a:ext cx="48764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299"/>
                <a:gridCol w="975299"/>
                <a:gridCol w="975299"/>
                <a:gridCol w="975299"/>
                <a:gridCol w="975299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+14.0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069080"/>
            <a:ext cx="4876495" cy="20574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160520"/>
            <a:ext cx="44805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4480560"/>
            <a:ext cx="448056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144 / 200 = 72.0%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116 / 200 = 58.0%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72.0% − 58.0% = 14.0 percentage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Same denominator (200) in both arms: 28 more passing samples with treatment.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 · initial extract, audit 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04 ·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Both arms lost durability; gap widened to 15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0A0A0"/>
                </a:solidFill>
                <a:latin typeface="Calibri"/>
              </a:defRPr>
            </a:pPr>
            <a:r>
              <a:t>Durability (%) by test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828800"/>
          <a:ext cx="377921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03"/>
                <a:gridCol w="944803"/>
                <a:gridCol w="944803"/>
                <a:gridCol w="944806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+10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+15 pts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63840" y="4572000"/>
            <a:ext cx="3779215" cy="15544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663440"/>
            <a:ext cx="3474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CHANGE, CYCLE 0 → 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983480"/>
            <a:ext cx="34747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Control: 100% → 59% (−41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Treatment: 100% → 74% (−26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Gap at cycle 300: 74 − 59 = 15 pts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05 ·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Treatment passes: 48 + 48 + 48 = 144 across labels P/Q/R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109441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0A0A0"/>
                </a:solidFill>
                <a:latin typeface="Calibri"/>
              </a:defRPr>
            </a:pPr>
            <a:r>
              <a:t>Treatment arm, all 200 samples: passing counts by batch label (segment width proportional to count)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2662732" cy="6400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11372" y="2148840"/>
            <a:ext cx="2662732" cy="640080"/>
          </a:xfrm>
          <a:prstGeom prst="rect">
            <a:avLst/>
          </a:prstGeom>
          <a:solidFill>
            <a:srgbClr val="00D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74105" y="2148840"/>
            <a:ext cx="2662732" cy="640080"/>
          </a:xfrm>
          <a:prstGeom prst="rect">
            <a:avLst/>
          </a:prstGeom>
          <a:solidFill>
            <a:srgbClr val="00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36838" y="2148840"/>
            <a:ext cx="3106216" cy="640080"/>
          </a:xfrm>
          <a:prstGeom prst="rect">
            <a:avLst/>
          </a:prstGeom>
          <a:solidFill>
            <a:srgbClr val="2E2E2E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6627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P ·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1372" y="2286000"/>
            <a:ext cx="26627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Q ·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4105" y="2286000"/>
            <a:ext cx="26627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R ·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6838" y="2286000"/>
            <a:ext cx="310621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Not passed · 56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089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60350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 (arm)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589520" y="3108960"/>
            <a:ext cx="4053535" cy="301752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246120"/>
            <a:ext cx="3703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READ AS COUNTS, NOT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611880"/>
            <a:ext cx="3703320" cy="2423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Each label contributed 48 passing samples. Subgroup denominators were not supplied, so no subgroup pass rate can be calculated; equal counts do not imply equal rates.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Only the arm total has a known denominator: 144 / 200 = 72.0%.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 · labels as recorded in 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06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Initial extract: duplicate-record audit still pending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70408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8503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Implication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Counts come from the initial extract and may change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Final counts follow this review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test result is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None is estimated or implied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863840" y="1874519"/>
            <a:ext cx="3779215" cy="201168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29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31720"/>
            <a:ext cx="3429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All counts and rates shown (116/200, 144/200, 14.0 pts) are provisional until the duplicate-record audit is complete.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3779215" cy="20116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4251960"/>
            <a:ext cx="3429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NOT IN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572000"/>
            <a:ext cx="342900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No p-values, significance claims or confidence intervals. The 14.0-point gap is descriptive only.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07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measured 14.0-point sample gap, not field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+14.0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Pass rate: 72.0% vs 58.0%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18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Durability at cycle 300: 74% vs 59%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874519"/>
            <a:ext cx="3576218" cy="132588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1965960"/>
            <a:ext cx="32004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1 lab · 1 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60604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n = 200 per arm; audit pending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5455310" cy="269748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SUPPORTED BY THIS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5029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Higher observed pass rate with treatment (+14.0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Higher durability at every cycle after 0 (+5, +10, +15 pts)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Randomized comparison within one lab and one batch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6830" y="3429000"/>
            <a:ext cx="5455310" cy="2697480"/>
          </a:xfrm>
          <a:prstGeom prst="rect">
            <a:avLst/>
          </a:prstGeom>
          <a:solidFill>
            <a:srgbClr val="242424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430" y="3566160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 SUPPORTED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430" y="3931920"/>
            <a:ext cx="50292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Broad field performance or deployment readiness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Statistical significance or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Differences between batch labels P/Q/R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Robustness to the pending duplicate-record audit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08 ·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Decision: replicate before any deployment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1094415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  Replicate in 3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Three independent labs, same predefined strength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7738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18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  Blind the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Scorers unaware of group assignment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1874519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2011680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  Preserve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56032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Keep a control arm in every replication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  Preregister exclusions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Fix exclusion rules before data collection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7738" y="3611880"/>
            <a:ext cx="3576218" cy="150876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0618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  Record batch 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Log batch identity and conditions for each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6836" y="3611880"/>
            <a:ext cx="3576218" cy="1508760"/>
          </a:xfrm>
          <a:prstGeom prst="rect">
            <a:avLst/>
          </a:prstGeom>
          <a:solidFill>
            <a:srgbClr val="1F1F1F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9716" y="3749039"/>
            <a:ext cx="3200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99"/>
                </a:solidFill>
                <a:latin typeface="Calibri"/>
              </a:defRPr>
            </a:pPr>
            <a:r>
              <a:t>06  Test a second batch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716" y="4297680"/>
            <a:ext cx="32004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Required before any deployment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13832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1A"/>
                </a:solidFill>
                <a:latin typeface="Calibri"/>
              </a:defRPr>
            </a:pPr>
            <a:r>
              <a:t>Gate: no deployment claim until a second batch is tested; current evidence is one lab, one batch.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Fictional material-screening study · all data synthetic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0A0A0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