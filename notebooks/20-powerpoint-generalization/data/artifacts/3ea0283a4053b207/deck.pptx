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Report duplicated work</c:v>
                </c:pt>
                <c:pt idx="1">
                  <c:v>Do not report it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44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 / team / month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Starter</c:v>
                </c:pt>
                <c:pt idx="1">
                  <c:v>Pro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</c:v>
                </c:pt>
                <c:pt idx="1">
                  <c:v>59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</c:v>
                </c:pt>
                <c:pt idx="1">
                  <c:v>450</c:v>
                </c:pt>
                <c:pt idx="2">
                  <c:v>200</c:v>
                </c:pt>
                <c:pt idx="3">
                  <c:v>92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FICTIONAL PRODUCT  •  FOR SMALL-TEAM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69494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Team Scheduling,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Without Duplicated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67665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A fictional scheduling tool for prospective small-team customers. Import availability, flag conflicts, approve the schedule, and notify the team — in one connected workflow.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051560"/>
            <a:ext cx="3776472" cy="196596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234440"/>
            <a:ext cx="322783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DECISION IN THIS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600200"/>
            <a:ext cx="32278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Assess fit, then start a 14-day Pro trial.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77440"/>
            <a:ext cx="322783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No payment required. After trial: Pro $59 / team / month.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83280"/>
            <a:ext cx="11091672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3474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77639"/>
            <a:ext cx="34747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66 of 110 teams in a synthetic pilot survey report duplicated scheduling work (60.0%).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611880"/>
            <a:ext cx="3474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THE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977639"/>
            <a:ext cx="34747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Import availability → flag conflicts → approve → notify. Conflicts return for review before approval.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611880"/>
            <a:ext cx="35021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THE INVITATION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977639"/>
            <a:ext cx="3502152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Try Pro for 14 days with your own team and judge the fit on your operations.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94960"/>
            <a:ext cx="11091672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532120"/>
            <a:ext cx="1054303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All performance numbers in this deck are synthetic — not customer testimonials.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08080"/>
                </a:solidFill>
                <a:latin typeface="Arial"/>
              </a:defRPr>
            </a:pPr>
            <a:r>
              <a:t>Audience: small-team leaders evaluating new scheduling software  •  All data are synthetic.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02  •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Duplicated scheduling work is the reported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Conclusion: in this synthetic pilot, a majority of surveyed teams do the same scheduling work more than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6217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Pilot survey responses (teams, n = 110)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560320"/>
          <a:ext cx="62179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6217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Unit: teams.  66 + 44 = 110.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223760" y="2560320"/>
          <a:ext cx="441655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84"/>
                <a:gridCol w="1472184"/>
                <a:gridCol w="1472184"/>
              </a:tblGrid>
              <a:tr h="3771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Response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Teams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Share of 110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Duplicated work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 duplicated work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surveyed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223760" y="4297680"/>
            <a:ext cx="4416552" cy="128016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4434840"/>
            <a:ext cx="39593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ARITHMETIC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754880"/>
            <a:ext cx="395935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66 ÷ 110 = 0.600  →  60.0%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110 − 66 = 44 teams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144768"/>
            <a:ext cx="106344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Caveat: synthetic survey count (n = 110). Not a market-size estimate and not evidence about all small teams.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03  • 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One connected sequence — with a conflict decision branch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Conclusion: a schedule is approved only after conflicts are cleared; a conflict returns to availability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331720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965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1  IMPORT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availability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2944368"/>
            <a:ext cx="45720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337560" y="2377440"/>
            <a:ext cx="2331720" cy="1143000"/>
          </a:xfrm>
          <a:prstGeom prst="rect">
            <a:avLst/>
          </a:prstGeom>
          <a:solidFill>
            <a:srgbClr val="EDED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560320"/>
            <a:ext cx="1965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2  FLAG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conflicts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0" y="2944368"/>
            <a:ext cx="45720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126480" y="2377440"/>
            <a:ext cx="23317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514600"/>
            <a:ext cx="19659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DECISION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Conflict found?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58200" y="2944368"/>
            <a:ext cx="45720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58200" y="2606040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2377440"/>
            <a:ext cx="1280160" cy="1143000"/>
          </a:xfrm>
          <a:prstGeom prst="rect">
            <a:avLst/>
          </a:prstGeom>
          <a:solidFill>
            <a:srgbClr val="EDED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2560320"/>
            <a:ext cx="10058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3  APPROVE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schedule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195560" y="2944368"/>
            <a:ext cx="32004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515600" y="2377440"/>
            <a:ext cx="1124712" cy="1143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2560320"/>
            <a:ext cx="94183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4  NOTIFY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team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96912" y="3520440"/>
            <a:ext cx="0" cy="91440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719072" y="4434840"/>
            <a:ext cx="5577840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719072" y="3520440"/>
            <a:ext cx="0" cy="91440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08960" y="4526280"/>
            <a:ext cx="5029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YES → return to availability review (Step 1) before approval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5120640"/>
          <a:ext cx="1109167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Gate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1–2  Import &amp; flag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Team availability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Draft + flagged overlaps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Conflict?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3–4  Approve &amp; notify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Conflict-free draft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Approved, notified schedule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recorded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04  • 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Plans: pay for team size and conflict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Conclusion: Pro adds conflict alerts and raises the member limit from 5 to 40. Enterprise pricing is by sales contact only.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72237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940"/>
                <a:gridCol w="1805940"/>
                <a:gridCol w="1805940"/>
                <a:gridCol w="1805940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$21 / team / mo.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$59 / team / mo.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Members included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 members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 members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How to buy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Self-serve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Self-serve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0" y="2194560"/>
            <a:ext cx="3410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Price ($ / team / month)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0" y="2560320"/>
          <a:ext cx="3410712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0" y="4937760"/>
            <a:ext cx="341071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Enterprise excluded: no price given.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Difference: $59 − $21 = $38 / mo.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715000"/>
            <a:ext cx="11091672" cy="59436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852160"/>
            <a:ext cx="106344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Fit check: ≤5 members and calendar only → Starter.  Up to 40 members or conflict alerts needed → Pro.  Larger / other needs → contact sales.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05  •  FUNNEL (SYNTHETIC)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Funnel: 1,300 visits become 92 paid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Conclusion: trial-to-paid is 46.0% (92 ÷ 200). These counts describe the funnel only; they do not imply causal product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6309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Funnel stages (exact counts)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560320"/>
          <a:ext cx="630936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760720"/>
            <a:ext cx="6309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Unit: count per stage. Stages are sequential; counts must not be summed.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0" y="2560320"/>
          <a:ext cx="432511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704"/>
                <a:gridCol w="1441704"/>
                <a:gridCol w="1441704"/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Conversion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Visits → Signups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450 ÷ 1,300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34.6%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Signups → Trials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200 ÷ 450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44.4%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Trials → Paid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92 ÷ 200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46.0%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Visits → Paid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92 ÷ 1,300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7.1%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0" y="5166360"/>
            <a:ext cx="4325112" cy="868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5303520"/>
            <a:ext cx="38679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Trial-to-paid:  46.0%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All funnel data are synthetic. No causal claim about the product is made from these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06  • 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Three stated benefits — described, not quantified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Conclusion: judge each benefit against your current process during the trial. No quantified time-saving claim is provided.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4028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it does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Problem it addresses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to verify in trial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Availability import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Imports availability; reduces manual re-entry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Re-typing the same availability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 your team's real availability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 (Pro)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Surface overlapping shifts before approval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Overlaps found late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Create a known overlap; check the alert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Records who approved a schedule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Unclear approval accountability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Approve a schedule; inspect the record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257800"/>
            <a:ext cx="3575304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394960"/>
            <a:ext cx="3118104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LESS RE-ENTRY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Availability entered once, then imported.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6824" y="5257800"/>
            <a:ext cx="3575304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5394960"/>
            <a:ext cx="3118104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EARLIER VISIBILITY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Overlaps surfaced before approval.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8" y="5257800"/>
            <a:ext cx="3575304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5394960"/>
            <a:ext cx="3118104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CLEAR RECORD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Approver is recorded for each schedule.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08080"/>
                </a:solidFill>
                <a:latin typeface="Arial"/>
              </a:defRPr>
            </a:pPr>
            <a:r>
              <a:t>No hours-saved or percentage time-saving figure is claimed anywhere in this deck.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07  •  LAUNCH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Launch in week 7 — gated by beta AND security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Conclusion: both gates must pass before launch. Support training stays in week 5, two weeks before the week 7 launch.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194560"/>
            <a:ext cx="12435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9663" y="2194560"/>
            <a:ext cx="12435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3248" y="2194560"/>
            <a:ext cx="12435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2" y="2194560"/>
            <a:ext cx="12435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0416" y="2194560"/>
            <a:ext cx="12435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194560"/>
            <a:ext cx="12435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7584" y="2194560"/>
            <a:ext cx="1252728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21945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Beta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606040"/>
            <a:ext cx="3730752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697480"/>
            <a:ext cx="336499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Weeks 1–3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21945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Security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9663" y="3246120"/>
            <a:ext cx="3730752" cy="4572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4" y="3337560"/>
            <a:ext cx="336499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Weeks 2–4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31920"/>
            <a:ext cx="21945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Support training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0416" y="3886200"/>
            <a:ext cx="1243584" cy="457200"/>
          </a:xfrm>
          <a:prstGeom prst="rect">
            <a:avLst/>
          </a:prstGeom>
          <a:solidFill>
            <a:srgbClr val="D9D9D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1856" y="3977639"/>
            <a:ext cx="106070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Week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21945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Launch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87584" y="4526280"/>
            <a:ext cx="1252728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79024" y="4617720"/>
            <a:ext cx="1069848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Week 7 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56832" y="3063240"/>
            <a:ext cx="4352544" cy="146304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00416" y="3703320"/>
            <a:ext cx="3108960" cy="82296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48640" y="5349240"/>
            <a:ext cx="11091672" cy="77724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86400"/>
            <a:ext cx="1063447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Dependency: Launch (Wk 7) depends on beta feedback (Wks 1–3) AND security review (Wks 2–4). Either gate failing blocks launch. No milestone is stated for week 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08  •  INVITATION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Start the 14-day Pro trial — no payment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Decision: run one real scheduling cycle in the trial and check import, conflict alerts, and approval history against your current process.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394960" cy="2377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4754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PRO 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47548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14 days  •  No payment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47548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After the trial, Pro is $59 / team / month for up to 40 members, including conflict alerts and shared calendar.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2286000"/>
          <a:ext cx="533095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5476"/>
                <a:gridCol w="2665476"/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Trial 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to do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 1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 your team's availability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2–7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Draft a schedule; test a conflict alert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8–14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Approve, notify, check approval history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 14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Decide: continue on Pro at $59 / mo. or stop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983480"/>
            <a:ext cx="11091672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166360"/>
            <a:ext cx="357530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STARTER ALTERNATIVE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3575304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$21 / team / month, 5 members, shared calendar.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4" y="5166360"/>
            <a:ext cx="357530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4" y="5532120"/>
            <a:ext cx="3575304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Contact sales. No price is stated in this deck.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5166360"/>
            <a:ext cx="357530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REMINDER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5532120"/>
            <a:ext cx="3575304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Fictional product. All data in this deck are synthetic.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0936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08080"/>
                </a:solidFill>
                <a:latin typeface="Arial"/>
              </a:defRPr>
            </a:pPr>
            <a:r>
              <a:t>Trial terms shown: 14-day Pro trial  •  No payment required  •  Then $59 / team / month.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