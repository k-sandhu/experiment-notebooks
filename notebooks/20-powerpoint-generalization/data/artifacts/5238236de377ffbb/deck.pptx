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Inventory position</c:v>
                </c:pt>
                <c:pt idx="1">
                  <c:v>Reorder point</c:v>
                </c:pt>
                <c:pt idx="2">
                  <c:v>Target position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</c:v>
                </c:pt>
                <c:pt idx="1">
                  <c:v>123</c:v>
                </c:pt>
                <c:pt idx="2">
                  <c:v>223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STOCKROOM TRAINING · REPLENISHMENT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303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4A3B2A"/>
                </a:solidFill>
                <a:latin typeface="Georgia"/>
              </a:defRPr>
            </a:pPr>
            <a:r>
              <a:t>Knowing When to Reorder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82880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37360" y="2011680"/>
            <a:ext cx="871423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Learning goal: apply a simple reorder-point rule on your own shift, and know exactly when to ORDER and when to WAIT.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6974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5B3A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3192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Learn the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34840"/>
            <a:ext cx="2834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How the reorder point and inventory position are calculated, and why each part matters.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8556" y="3200400"/>
            <a:ext cx="3291840" cy="26974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7156" y="3383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5B3A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7156" y="393192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Follow an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7156" y="4434840"/>
            <a:ext cx="2834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Step-by-step arithmetic with units, ending in a clear ORDER or WAIT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3200400"/>
            <a:ext cx="3291840" cy="26974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3383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5B3A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93192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Practice, then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4434840"/>
            <a:ext cx="2834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 short exercise to try on your own; the answer is revealed on the slide that follows.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All numbers in this guide are synthetic training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Three Lines You Need to Know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828800"/>
            <a:ext cx="10543032" cy="12801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9728" cy="128016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6517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STEP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Reorder point (the trigger)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920240"/>
            <a:ext cx="7132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Reorder point = daily demand × lead time (days) + safety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Covers expected use while you wait for delivery, plus a buffer.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91840"/>
            <a:ext cx="10543032" cy="12801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91840"/>
            <a:ext cx="109728" cy="128016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474720"/>
            <a:ext cx="26517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STEP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383280"/>
            <a:ext cx="7132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Inventory position = on-hand + on-order − committed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11480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Count what is on the shelf, add what is coming, subtract what is already promised.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54880"/>
            <a:ext cx="10543032" cy="12801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754880"/>
            <a:ext cx="109728" cy="128016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937760"/>
            <a:ext cx="26517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STEP 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The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846320"/>
            <a:ext cx="7132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Place an order when inventory position ≤ reorder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57784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At or below the trigger → ORDER.  Above the trigger → WAIT.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Calculating the Reorder Point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828800"/>
            <a:ext cx="3474720" cy="420624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29260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B3A"/>
                </a:solidFill>
                <a:latin typeface="Georgia"/>
              </a:defRPr>
            </a:pPr>
            <a:r>
              <a:t>The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Daily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19 units per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Lead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5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4340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Safety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28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29260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45B3A"/>
                </a:solidFill>
                <a:latin typeface="Georgia"/>
              </a:defRPr>
            </a:pPr>
            <a:r>
              <a:t>Unit check: units/day × days = units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663440" y="1828800"/>
          <a:ext cx="6702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4184"/>
                <a:gridCol w="2234184"/>
                <a:gridCol w="2234184"/>
              </a:tblGrid>
              <a:tr h="7086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Arithmetic (with units)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1. Demand during lead time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19 units/day × 5 days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95 units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2. Add safety stock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95 units + 28 units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123 units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3. Name the result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Reorder point (the trigger)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123 units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663440" y="4937760"/>
            <a:ext cx="6702552" cy="10972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5029200"/>
            <a:ext cx="6309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Reorder point = 123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5532120"/>
            <a:ext cx="6309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8E7"/>
                </a:solidFill>
                <a:latin typeface="Georgia"/>
              </a:defRPr>
            </a:pPr>
            <a:r>
              <a:t>Order when the inventory position falls to 123 units or fewer.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CHECKING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Position 118 Is Below 123, So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783080"/>
            <a:ext cx="5760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Units: position vs. trigger vs. target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194560"/>
          <a:ext cx="57607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309360"/>
            <a:ext cx="5760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On-order (20) and committed (17) stay as recorded; do not reset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783080"/>
            <a:ext cx="4800600" cy="17830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874519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STEP 1 · INVENTORY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240280"/>
            <a:ext cx="43891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115 on-hand + 20 on-order − 17 committed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926080"/>
            <a:ext cx="4389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= 118 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703320"/>
            <a:ext cx="4800600" cy="10515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767328"/>
            <a:ext cx="438912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8E7"/>
                </a:solidFill>
                <a:latin typeface="Georgia"/>
              </a:defRPr>
            </a:pPr>
            <a:r>
              <a:t>STEP 2 · COMPARE WITH 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114800"/>
            <a:ext cx="4389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118 ≤ 123  → 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892040"/>
            <a:ext cx="4800600" cy="141732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983480"/>
            <a:ext cx="438912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STEP 3 · ORDER QUANTITY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321808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Target 223 − position 118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5733288"/>
            <a:ext cx="4389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= 105 units to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DAILY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One Decision, Every 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83080"/>
            <a:ext cx="68580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Follow the boxes left to right. Only step 3 has a choice.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286000" cy="10972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16352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1.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on-hand, on-order, committed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743200"/>
            <a:ext cx="2286000" cy="10972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816352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2. Calculate inventory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on-hand + on-order − committed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743200"/>
            <a:ext cx="2286000" cy="1097280"/>
          </a:xfrm>
          <a:prstGeom prst="roundRect">
            <a:avLst/>
          </a:prstGeom>
          <a:solidFill>
            <a:srgbClr val="F5E6CC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816352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3. Compare with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Is position ≤ trigger?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828800"/>
            <a:ext cx="2377440" cy="10058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901952"/>
            <a:ext cx="21031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position at/below trigger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3931920"/>
            <a:ext cx="2377440" cy="1005840"/>
          </a:xfrm>
          <a:prstGeom prst="roundRect">
            <a:avLst/>
          </a:prstGeom>
          <a:solidFill>
            <a:srgbClr val="E8DDBF"/>
          </a:solidFill>
          <a:ln>
            <a:solidFill>
              <a:srgbClr val="7A8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005072"/>
            <a:ext cx="21031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position above trigger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834640" y="3291840"/>
            <a:ext cx="45720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77840" y="3291840"/>
            <a:ext cx="45720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21040" y="3291840"/>
            <a:ext cx="45720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78240" y="2331720"/>
            <a:ext cx="0" cy="210312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8240" y="2331720"/>
            <a:ext cx="4572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78240" y="4434840"/>
            <a:ext cx="457200" cy="0"/>
          </a:xfrm>
          <a:prstGeom prst="line">
            <a:avLst/>
          </a:prstGeom>
          <a:ln w="2540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18120" y="1920240"/>
            <a:ext cx="914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480560"/>
            <a:ext cx="914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A8450"/>
                </a:solidFill>
                <a:latin typeface="Georgia"/>
              </a:defRPr>
            </a:pPr>
            <a:r>
              <a:t>no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424160" y="4937760"/>
            <a:ext cx="0" cy="731520"/>
          </a:xfrm>
          <a:prstGeom prst="line">
            <a:avLst/>
          </a:prstGeom>
          <a:ln w="2540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691640" y="5669280"/>
            <a:ext cx="8732520" cy="0"/>
          </a:xfrm>
          <a:prstGeom prst="line">
            <a:avLst/>
          </a:prstGeom>
          <a:ln w="2540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691640" y="3840480"/>
            <a:ext cx="0" cy="1828800"/>
          </a:xfrm>
          <a:prstGeom prst="line">
            <a:avLst/>
          </a:prstGeom>
          <a:ln w="2540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20240" y="5760720"/>
            <a:ext cx="8229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WAIT returns to the next daily review: start again at step 1 tomorrow.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Your Turn: ORDER or WAIT?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828800"/>
            <a:ext cx="4937760" cy="192024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A6650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389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4A3B2A"/>
                </a:solidFill>
                <a:latin typeface="Georgia"/>
              </a:defRPr>
            </a:pPr>
            <a:r>
              <a:t>135 units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4937760" cy="192024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A6650"/>
                </a:solidFill>
                <a:latin typeface="Georgia"/>
              </a:defRPr>
            </a:pPr>
            <a:r>
              <a:t>Reorder point (trigger)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17720"/>
            <a:ext cx="4389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C45B3A"/>
                </a:solidFill>
                <a:latin typeface="Georgia"/>
              </a:defRPr>
            </a:pPr>
            <a:r>
              <a:t>123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148072" cy="4023360"/>
          </a:xfrm>
          <a:prstGeom prst="roundRect">
            <a:avLst/>
          </a:prstGeom>
          <a:solidFill>
            <a:srgbClr val="FBEFD9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How to 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57200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1. Compare the two numbers.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2. Is the inventory position at or below the reorder point?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3. Yes → ORDER.  No → WAIT.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4. Work out the gap in units.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92240" y="4937760"/>
            <a:ext cx="4572000" cy="0"/>
          </a:xfrm>
          <a:prstGeom prst="line">
            <a:avLst/>
          </a:prstGeom>
          <a:ln w="19050">
            <a:solidFill>
              <a:srgbClr val="E3C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92240" y="5074920"/>
            <a:ext cx="4572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My answer: ________   Gap: ____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1054303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The answer is revealed on the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ANSWER &amp; 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Practice Answer, Then Three Traps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783080"/>
            <a:ext cx="10543032" cy="1143000"/>
          </a:xfrm>
          <a:prstGeom prst="roundRect">
            <a:avLst/>
          </a:prstGeom>
          <a:solidFill>
            <a:srgbClr val="7A8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Answer: 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01952"/>
            <a:ext cx="68580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Georgia"/>
              </a:defRPr>
            </a:pPr>
            <a:r>
              <a:t>135 units &gt; 123 units. The position is 135 − 123 = 12 units above the trigger, so no order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3291840" cy="31089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MISTAKE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Comparing on-hand alone with the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26280"/>
            <a:ext cx="2834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Instead, use inventory position: on-hand + on-order − committed. In the example that is 118 units, not 115.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8556" y="3200400"/>
            <a:ext cx="3291840" cy="31089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7156" y="333756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MISTAKE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7156" y="365760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Multiplying safety stock by lead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7156" y="4526280"/>
            <a:ext cx="2834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Only daily demand is multiplied by lead time. Add safety stock once: 19 × 5 + 28 = 123 units.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3200400"/>
            <a:ext cx="3291840" cy="31089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33756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MISTAKE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65760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Ordering the reorder point amount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526280"/>
            <a:ext cx="2834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123 units is a trigger, not the order quantity. Order target − position: 223 − 118 = 105 units.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Before You Place an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783080"/>
            <a:ext cx="2505456" cy="17830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240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1. Verify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2402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Counts and demand in units; lead time in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783080"/>
            <a:ext cx="2505456" cy="17830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74519"/>
            <a:ext cx="2240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2. Include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331720"/>
            <a:ext cx="22402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Add on-order stock that is already on its 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83080"/>
            <a:ext cx="2505456" cy="17830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74519"/>
            <a:ext cx="2240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3. Subtract commitments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331720"/>
            <a:ext cx="22402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Remove units already promised to customers or jobs.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1783080"/>
            <a:ext cx="2505456" cy="17830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1874519"/>
            <a:ext cx="2240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4. Check the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2331720"/>
            <a:ext cx="22402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Georgia"/>
              </a:defRPr>
            </a:pPr>
            <a:r>
              <a:t>Position ≤ reorder point → ORDER; otherwise WAIT.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3840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3B2A"/>
                </a:solidFill>
                <a:latin typeface="Georgia"/>
              </a:defRPr>
            </a:pPr>
            <a:r>
              <a:t>Where does the position fall? (units)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526280"/>
            <a:ext cx="5943600" cy="594360"/>
          </a:xfrm>
          <a:prstGeom prst="rect">
            <a:avLst/>
          </a:prstGeom>
          <a:solidFill>
            <a:srgbClr val="F2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90288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ORDER zone (≤ 123)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590288"/>
            <a:ext cx="4023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A8450"/>
                </a:solidFill>
                <a:latin typeface="Georgia"/>
              </a:defRPr>
            </a:pPr>
            <a:r>
              <a:t>WAIT zone (&gt; 123)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5120640"/>
            <a:ext cx="10332720" cy="0"/>
          </a:xfrm>
          <a:prstGeom prst="line">
            <a:avLst/>
          </a:prstGeom>
          <a:ln w="317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0040" y="4937760"/>
            <a:ext cx="548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4937760"/>
            <a:ext cx="548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140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0" y="4343400"/>
            <a:ext cx="0" cy="1097280"/>
          </a:xfrm>
          <a:prstGeom prst="line">
            <a:avLst/>
          </a:prstGeom>
          <a:ln w="381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52160" y="393192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3B2A"/>
                </a:solidFill>
                <a:latin typeface="Georgia"/>
              </a:defRPr>
            </a:pPr>
            <a:r>
              <a:t>Reorder point 123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568696" y="5120640"/>
            <a:ext cx="0" cy="45720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79976" y="5596128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118 · example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5 below → ORDER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957816" y="5120640"/>
            <a:ext cx="0" cy="457200"/>
          </a:xfrm>
          <a:prstGeom prst="line">
            <a:avLst/>
          </a:prstGeom>
          <a:ln w="3175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69096" y="5596128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A8450"/>
                </a:solidFill>
                <a:latin typeface="Georgia"/>
              </a:defRPr>
            </a:pPr>
            <a:r>
              <a:t>135 · practice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A8450"/>
                </a:solidFill>
                <a:latin typeface="Georgia"/>
              </a:defRPr>
            </a:pPr>
            <a:r>
              <a:t>12 above → WAIT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