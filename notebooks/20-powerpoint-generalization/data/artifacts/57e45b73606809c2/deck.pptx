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 duplicated work</c:v>
                </c:pt>
                <c:pt idx="1">
                  <c:v>No duplication reported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220</c:v>
                </c:pt>
                <c:pt idx="3">
                  <c:v>88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201168" cy="2377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1371600"/>
            <a:ext cx="9144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5943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CREWLINE · TEAM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34440"/>
            <a:ext cx="667512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Team schedules, built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474720"/>
            <a:ext cx="64008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D9DBE6"/>
                </a:solidFill>
                <a:latin typeface="Calibri"/>
              </a:defRPr>
            </a:pPr>
            <a:r>
              <a:t>A fictional planning platform for small teams: import availability, flag conflicts, approve, notify.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846320"/>
            <a:ext cx="6400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Problem  →  Workflow  →  Plans  →  14-day Pro 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852160"/>
            <a:ext cx="6400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9ADC1"/>
                </a:solidFill>
                <a:latin typeface="Calibri"/>
              </a:defRPr>
            </a:pPr>
            <a:r>
              <a:t>All performance numbers are synthetic, not customer testimonials.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822960"/>
            <a:ext cx="3566160" cy="521208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960120"/>
            <a:ext cx="3017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9ADC1"/>
                </a:solidFill>
                <a:latin typeface="Calibri"/>
              </a:defRPr>
            </a:pPr>
            <a:r>
              <a:t>WEEK VIEW (illustrative)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508760"/>
            <a:ext cx="2926080" cy="6858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600200"/>
            <a:ext cx="27432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 09–17 · Shift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377440"/>
            <a:ext cx="2834640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468880"/>
            <a:ext cx="26517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Tue 12–20 · Overlap flagged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246120"/>
            <a:ext cx="2926080" cy="6858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337560"/>
            <a:ext cx="27432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Wed 08–16 · Shift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4114800"/>
            <a:ext cx="2834640" cy="6858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4206240"/>
            <a:ext cx="26517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Thu 10–18 · Shift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5074920"/>
            <a:ext cx="3108960" cy="64008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5138928"/>
            <a:ext cx="29260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Approve &amp; notify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59% of pilot teams duplicate scheduling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4173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1206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0" b="1">
                <a:solidFill>
                  <a:srgbClr val="FFD700"/>
                </a:solidFill>
                <a:latin typeface="Calibri"/>
              </a:defRPr>
            </a:pPr>
            <a:r>
              <a:t>71 / 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49377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teams report duplicated scheduling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49377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9DBE6"/>
                </a:solidFill>
                <a:latin typeface="Calibri"/>
              </a:defRPr>
            </a:pPr>
            <a:r>
              <a:t>71 ÷ 120 = 59.2% of surveyed pilot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394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9ADC1"/>
                </a:solidFill>
                <a:latin typeface="Calibri"/>
              </a:defRPr>
            </a:pPr>
            <a:r>
              <a:t>Pilot survey responses (teams, n = 120)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309360" y="2240280"/>
          <a:ext cx="53949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548640" y="5806440"/>
            <a:ext cx="11091672" cy="0"/>
          </a:xfrm>
          <a:prstGeom prst="line">
            <a:avLst/>
          </a:prstGeom>
          <a:ln w="19050">
            <a:solidFill>
              <a:srgbClr val="2C2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9ADC1"/>
                </a:solidFill>
                <a:latin typeface="Calibri"/>
              </a:defRPr>
            </a:pPr>
            <a:r>
              <a:t>Synthetic pilot survey count — not a market-size estimate.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One loop: conflicts go back before approval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1887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9DBE6"/>
                </a:solidFill>
                <a:latin typeface="Calibri"/>
              </a:defRPr>
            </a:pPr>
            <a:r>
              <a:t>No schedule is approved until flagged overlaps are resolved in availability 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920240" cy="9144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Import availability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743200"/>
            <a:ext cx="1920240" cy="9144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88036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Flag conflicts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2743200"/>
            <a:ext cx="155448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2926080"/>
            <a:ext cx="14630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B0C15"/>
                </a:solidFill>
                <a:latin typeface="Calibri"/>
              </a:defRPr>
            </a:pPr>
            <a:r>
              <a:t>Conflict?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743200"/>
            <a:ext cx="1920240" cy="9144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88036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Approve schedule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38360" y="2743200"/>
            <a:ext cx="1920240" cy="9144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88036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Notify team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3200400"/>
            <a:ext cx="41148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00600" y="3200400"/>
            <a:ext cx="41148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66560" y="3200400"/>
            <a:ext cx="64008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3200400"/>
            <a:ext cx="41148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66560" y="2697480"/>
            <a:ext cx="6400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No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89320" y="3657600"/>
            <a:ext cx="0" cy="146304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80760" y="4114800"/>
            <a:ext cx="731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Yes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800600" y="5120640"/>
            <a:ext cx="1188720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880360" y="4663440"/>
            <a:ext cx="1920240" cy="914400"/>
          </a:xfrm>
          <a:prstGeom prst="rect">
            <a:avLst/>
          </a:prstGeom>
          <a:solidFill>
            <a:srgbClr val="0B0C1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480060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Availability review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508760" y="5120640"/>
            <a:ext cx="1371600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08760" y="3657600"/>
            <a:ext cx="0" cy="146304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40880" y="4846320"/>
            <a:ext cx="4572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9ADC1"/>
                </a:solidFill>
                <a:latin typeface="Calibri"/>
              </a:defRPr>
            </a:pPr>
            <a:r>
              <a:t>Fits existing projects: start from the availability your team already tracks.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Pro adds conflict alerts and 20 more seats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1887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7680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$23/team/month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$55/team/month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Team members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per member at full seats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$4.60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$2.20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 priced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78240" y="1691640"/>
            <a:ext cx="283464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+$32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624328"/>
            <a:ext cx="283464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 vs Starter, per team/month ($55 − $23)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0" y="3246120"/>
            <a:ext cx="28346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78240" y="3611880"/>
            <a:ext cx="283464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$2.20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544568"/>
            <a:ext cx="283464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 per member at 25 seats ($55 ÷ 25)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240" y="5166360"/>
            <a:ext cx="28346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9ADC1"/>
                </a:solidFill>
                <a:latin typeface="Calibri"/>
              </a:defRPr>
            </a:pPr>
            <a:r>
              <a:t>Enterprise pricing and limits are set with sales; no price is published here. Per-member cost assumes every seat is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40.0% of trial starts became paid teams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1887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949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9ADC1"/>
                </a:solidFill>
                <a:latin typeface="Calibri"/>
              </a:defRPr>
            </a:pPr>
            <a:r>
              <a:t>Synthetic funnel by stage (count of visits / teams)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65960"/>
          <a:ext cx="69494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160020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STAGE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57400"/>
            <a:ext cx="3657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Visit → signup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480 ÷ 1,400 = 34.3%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880360"/>
            <a:ext cx="3657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Signup → trial start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220 ÷ 480 = 45.8%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3703320"/>
            <a:ext cx="9144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703320"/>
            <a:ext cx="3657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Trial → paid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88 ÷ 220 = 40.0%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526280"/>
            <a:ext cx="3657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Visit → paid overall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88 ÷ 1,400 = 6.3%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9ADC1"/>
                </a:solidFill>
                <a:latin typeface="Calibri"/>
              </a:defRPr>
            </a:pPr>
            <a:r>
              <a:t>Synthetic data. Stage rates describe funnel flow only; they do not show causal product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Three capabilities that remove rework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1887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8229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1920240"/>
            <a:ext cx="8229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0" y="2103120"/>
            <a:ext cx="8229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505200" cy="292608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87168"/>
            <a:ext cx="328574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Availability 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08960"/>
            <a:ext cx="3285744" cy="2084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Reduces manual re-entry: bring in the availability your team already records.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8160" y="2377440"/>
            <a:ext cx="3505200" cy="292608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7888" y="2487168"/>
            <a:ext cx="328574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Conflict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7888" y="3108960"/>
            <a:ext cx="3285744" cy="2084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Surface overlapping shifts before a schedule goes out for approval.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2377440"/>
            <a:ext cx="3505200" cy="292608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487168"/>
            <a:ext cx="328574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Approval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3108960"/>
            <a:ext cx="3285744" cy="2084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Records who approved each schedule, so decisions are traceable.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No quantified time saving is claimed — measure the effect on your own projects during the trial.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Launch in week 6 needs two green 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1887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1691640"/>
            <a:ext cx="1463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691640"/>
            <a:ext cx="1463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691640"/>
            <a:ext cx="1463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91640"/>
            <a:ext cx="1463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691640"/>
            <a:ext cx="1463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691640"/>
            <a:ext cx="1463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148840"/>
            <a:ext cx="8778240" cy="0"/>
          </a:xfrm>
          <a:prstGeom prst="line">
            <a:avLst/>
          </a:prstGeom>
          <a:ln w="19050">
            <a:solidFill>
              <a:srgbClr val="2C2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37744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377440"/>
            <a:ext cx="4389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Security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200400"/>
            <a:ext cx="4389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Support training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4023360"/>
            <a:ext cx="1463040" cy="548640"/>
          </a:xfrm>
          <a:prstGeom prst="rect">
            <a:avLst/>
          </a:prstGeom>
          <a:solidFill>
            <a:srgbClr val="6B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4846320"/>
            <a:ext cx="1463040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2651760"/>
            <a:ext cx="365760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95360" y="3474720"/>
            <a:ext cx="219456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789920" y="2651760"/>
            <a:ext cx="0" cy="219456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9ADC1"/>
                </a:solidFill>
                <a:latin typeface="Calibri"/>
              </a:defRPr>
            </a:pPr>
            <a:r>
              <a:t>Launch depends on beta feedback AND security review. Support training remains in week 5 and does not gate launch.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201168" cy="2011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1280160"/>
            <a:ext cx="91440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85800"/>
            <a:ext cx="96012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Try Pro free for 14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971800"/>
            <a:ext cx="310896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14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904487"/>
            <a:ext cx="310896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 trial length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43000" y="4526280"/>
            <a:ext cx="310896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17720" y="2971800"/>
            <a:ext cx="310896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904487"/>
            <a:ext cx="310896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No payment required to start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7720" y="4526280"/>
            <a:ext cx="3108959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92440" y="2971800"/>
            <a:ext cx="329184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904487"/>
            <a:ext cx="329184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 per team/month after the trial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92440" y="4526280"/>
            <a:ext cx="32918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143000" y="4983480"/>
            <a:ext cx="694944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5120640"/>
            <a:ext cx="6675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Start your 14-day Pro trial — no payment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98348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530352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0" y="562356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6172200"/>
            <a:ext cx="10058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9ADC1"/>
                </a:solidFill>
                <a:latin typeface="Calibri"/>
              </a:defRPr>
            </a:pPr>
            <a:r>
              <a:t>Run it on a current project: import availability, flag conflicts, approve, notify. All figures in this deck are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