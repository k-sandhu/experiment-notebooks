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33333"/>
                </a:solidFill>
                <a:latin typeface="Arial"/>
              </a:defRPr>
            </a:pPr>
            <a:r>
              <a:t>HELP GIVE HOUSEHOLD ITEMS ANOTHER CHANCE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0055A4"/>
                </a:solidFill>
                <a:latin typeface="Arial"/>
              </a:defRPr>
            </a:pPr>
            <a:r>
              <a:t>A fictional neighborhood repair-café campaign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01952"/>
            <a:ext cx="685800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Bring your curiosity.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Lend a hand. Take part.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63824"/>
            <a:ext cx="6537960" cy="1417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Neighbors can join as participants or volunteers. Help welcome visitors, support repair activities or assist with safety checks. No specialist qualification is implied.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947672"/>
            <a:ext cx="3840480" cy="333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2221992"/>
            <a:ext cx="3291840" cy="38404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55A4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61488"/>
            <a:ext cx="3291840" cy="2240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1  Sign up by end of week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2  Volunteers train in week 2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3  Attend events in week 5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4  Follow up in week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02352"/>
            <a:ext cx="6720840" cy="8961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55A4"/>
                </a:solidFill>
                <a:latin typeface="Arial"/>
              </a:defRPr>
            </a:pPr>
            <a:r>
              <a:t>Choose how you would like to help and contact the “Local organizer” placeholder to express interest.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28232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176 SEATS ACROSS FOUR SESSIONS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Capacity is set for each session; every session lasts 2 hours.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37943"/>
            <a:ext cx="72237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SESSION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722376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Seats per session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670048"/>
          <a:ext cx="7040880" cy="321868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92440" y="1901952"/>
            <a:ext cx="22860" cy="385876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9912" y="2011680"/>
            <a:ext cx="2834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912" y="2880360"/>
            <a:ext cx="28346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total seats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9912" y="3575304"/>
            <a:ext cx="28346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4 × 2 hours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= 8 session-hours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9912" y="4800600"/>
            <a:ext cx="28346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50 + 43 + 34 + 49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= 176 seats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28232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40 VOLUNTEERS. 120 HOURS OF SUPPORT.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A 3-hour commitment per volunteer supports the repair initiative.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56231"/>
            <a:ext cx="109728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55A4"/>
                </a:solidFill>
                <a:latin typeface="Arial"/>
              </a:defRPr>
            </a:pPr>
            <a:r>
              <a:t>40 volunteers × 3 hours each = 120 volunteer-hours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843784"/>
            <a:ext cx="3502152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25112" y="2843784"/>
            <a:ext cx="3502152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01583" y="2843784"/>
            <a:ext cx="3511296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108960"/>
            <a:ext cx="3044952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55A4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694176"/>
            <a:ext cx="301752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Greet participants, help with check-in and explain the session flow.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3108960"/>
            <a:ext cx="3044952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55A4"/>
                </a:solidFill>
                <a:latin typeface="Arial"/>
              </a:defRPr>
            </a:pPr>
            <a:r>
              <a:t>REPAIR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694176"/>
            <a:ext cx="301752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Help organize items and parts, and support activities within your skills.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3" y="3108960"/>
            <a:ext cx="3044952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0055A4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3694176"/>
            <a:ext cx="3017520" cy="13258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333333"/>
                </a:solidFill>
                <a:latin typeface="Arial"/>
              </a:defRPr>
            </a:pPr>
            <a:r>
              <a:t>Help follow event safety guidance and flag concerns to the organizer.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95544"/>
            <a:ext cx="1106424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Training is in week 2. No specialist qualification is implied; safety checks do not provide safety certification.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428232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A $3,320 EVENT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Materials are the largest cost, followed by venue and outreach.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92807"/>
            <a:ext cx="676656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333333"/>
                </a:solidFill>
                <a:latin typeface="Arial"/>
              </a:defRPr>
            </a:pPr>
            <a:r>
              <a:t>BUDGET BREAKDOWN • DOLLARS ($)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468880"/>
          <a:ext cx="68122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6140"/>
                <a:gridCol w="3406140"/>
              </a:tblGrid>
              <a:tr h="548640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($)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3,320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09560" y="1892807"/>
            <a:ext cx="22860" cy="3867912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2029968"/>
            <a:ext cx="32918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0055A4"/>
                </a:solidFill>
                <a:latin typeface="Arial"/>
              </a:defRPr>
            </a:pPr>
            <a:r>
              <a:t>$3,320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2898648"/>
            <a:ext cx="32918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333333"/>
                </a:solidFill>
                <a:latin typeface="Arial"/>
              </a:defRPr>
            </a:pPr>
            <a:r>
              <a:t>total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685032"/>
            <a:ext cx="32004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$1,340 + $1,000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+ $680 + $300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333333"/>
                </a:solidFill>
                <a:latin typeface="Arial"/>
              </a:defRPr>
            </a:pPr>
            <a:r>
              <a:t>= $3,320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5138928"/>
            <a:ext cx="32004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Includes $300 for access support.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28232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TRAIN FIRST. HOLD EVENTS IN WEEK 5.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Events depend on both completed training and venue confirmation.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920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965960"/>
            <a:ext cx="1920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965960"/>
            <a:ext cx="1920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965960"/>
            <a:ext cx="1920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965960"/>
            <a:ext cx="192024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WEEK 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615184"/>
            <a:ext cx="11064240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48640" y="2852928"/>
            <a:ext cx="19202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2852928"/>
            <a:ext cx="19202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0" y="2852928"/>
            <a:ext cx="19202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06640" y="2852928"/>
            <a:ext cx="1920240" cy="1874519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0" y="2852928"/>
            <a:ext cx="1920240" cy="18745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108960"/>
            <a:ext cx="160934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Registration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opens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3108960"/>
            <a:ext cx="160934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Volunteer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training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Sign-up closes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3108960"/>
            <a:ext cx="160934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Venue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confirmation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62088" y="3108960"/>
            <a:ext cx="160934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Repair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3108960"/>
            <a:ext cx="1609344" cy="13533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Follow-up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One week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after events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056632"/>
            <a:ext cx="11064240" cy="932688"/>
          </a:xfrm>
          <a:prstGeom prst="rect">
            <a:avLst/>
          </a:prstGeom>
          <a:solidFill>
            <a:srgbClr val="E7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39512"/>
            <a:ext cx="10607040" cy="56692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0055A4"/>
                </a:solidFill>
                <a:latin typeface="Arial"/>
              </a:defRPr>
            </a:pPr>
            <a:r>
              <a:t>EVENT GATE: Week 2 training completed AND week 3 venue confirmation → week 5 events.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28232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BRING ONE SMALL HOUSEHOLD ITEM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Join a session with clear expectations about what repair support can offer.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4983480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55A4"/>
                </a:solidFill>
                <a:latin typeface="Arial"/>
              </a:defRPr>
            </a:pPr>
            <a:r>
              <a:t>TAKING 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97480"/>
            <a:ext cx="4983480" cy="9326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33333"/>
                </a:solidFill>
                <a:latin typeface="Arial"/>
              </a:defRPr>
            </a:pPr>
            <a:r>
              <a:t>Bring one small household item for assessment.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758184"/>
            <a:ext cx="4937760" cy="1828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087368"/>
            <a:ext cx="4983480" cy="1234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t>Walk-ins are welcome within session capacity. Each session lasts 2 hours.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938528"/>
            <a:ext cx="22860" cy="3767328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1965960"/>
            <a:ext cx="5102352" cy="47548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0055A4"/>
                </a:solidFill>
                <a:latin typeface="Arial"/>
              </a:defRPr>
            </a:pPr>
            <a:r>
              <a:t>WHAT TO EXPECT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697480"/>
            <a:ext cx="493776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333333"/>
                </a:solidFill>
                <a:latin typeface="Arial"/>
              </a:defRPr>
            </a:pPr>
            <a:r>
              <a:t>Repairs depend on the skills and parts available at the session.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10528" y="3986784"/>
            <a:ext cx="5102352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4251960"/>
            <a:ext cx="4617720" cy="98755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A repair is not guaranteed.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No safety certification is provided.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428232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SYNTHETIC TRIAL: 60.0% REPAIR SHARE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Last synthetic trial • 100 items assessed • Illustrative results, not a forecast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83664"/>
            <a:ext cx="713232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33333"/>
                </a:solidFill>
                <a:latin typeface="Arial"/>
              </a:defRPr>
            </a:pPr>
            <a:r>
              <a:t>OUTCOMES FOR ASSESSED ITEMS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31720"/>
            <a:ext cx="7132320" cy="2926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t>Number of items • last synthetic trial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2724912"/>
          <a:ext cx="713232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119872" y="1901952"/>
            <a:ext cx="22860" cy="387705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6488" y="1993392"/>
            <a:ext cx="3108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0055A4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6488" y="2916936"/>
            <a:ext cx="3108960" cy="4389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repair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6488" y="3648456"/>
            <a:ext cx="3108960" cy="89611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60 ÷ 100 ×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= 60.0%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6488" y="4828032"/>
            <a:ext cx="310896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60 + 24 + 16 = 100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All assessed items are accounted for.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428232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SIGN UP BY THE END OF WEEK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0972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333333"/>
                </a:solidFill>
                <a:latin typeface="Arial"/>
              </a:defRPr>
            </a:pPr>
            <a:r>
              <a:t>Choose your role now. Repair events take place in week 5.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27048"/>
            <a:ext cx="11064240" cy="228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47672"/>
            <a:ext cx="5376672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36208" y="1947672"/>
            <a:ext cx="5376672" cy="2267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21992"/>
            <a:ext cx="4846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JOIN AS A PARTICIPANT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852928"/>
            <a:ext cx="48463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Bring one small household item.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Repairs depend on available skills and parts.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21992"/>
            <a:ext cx="48463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JOIN AS A VOLUNTEER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52928"/>
            <a:ext cx="484632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333333"/>
                </a:solidFill>
                <a:latin typeface="Arial"/>
              </a:defRPr>
            </a:pPr>
            <a:r>
              <a:t>Commit 3 hours to welcome, repair support or safety checks. Training is in week 2.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90288"/>
            <a:ext cx="11064240" cy="112471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773168"/>
            <a:ext cx="6492240" cy="7498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CONTACT: Local organizer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Placeholder for participant and volunteer sign-up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4773168"/>
            <a:ext cx="3538728" cy="749808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DEADLINE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rial"/>
              </a:defRPr>
            </a:pPr>
            <a:r>
              <a:t>End of week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07024"/>
            <a:ext cx="11064240" cy="310896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Walk-ins welcome within capacity. No guaranteed repair or safety certification.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345936"/>
            <a:ext cx="11064240" cy="13716"/>
          </a:xfrm>
          <a:prstGeom prst="rect">
            <a:avLst/>
          </a:prstGeom>
          <a:solidFill>
            <a:srgbClr val="D0D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428232"/>
            <a:ext cx="987552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t>FICTIONAL INITIATIVE • ALL DATA ARE SYNTHETIC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28232"/>
            <a:ext cx="914400" cy="256032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