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0FF9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58.0</c:v>
                </c:pt>
                <c:pt idx="1">
                  <c:v>66.5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9A9A9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01  / 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044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A9A9A"/>
                </a:solidFill>
                <a:latin typeface="Calibri"/>
              </a:defRPr>
            </a:pPr>
            <a:r>
              <a:t>SYNTHETIC DATA  •  PRELIMINARY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E0E0E0"/>
                </a:solidFill>
                <a:latin typeface="Calibri"/>
              </a:defRPr>
            </a:pPr>
            <a:r>
              <a:t>Fictional Material Screening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FF99"/>
                </a:solidFill>
                <a:latin typeface="Calibri"/>
              </a:defRPr>
            </a:pPr>
            <a:r>
              <a:t>Does treatment improve pass rate and durability versus control?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468880"/>
            <a:ext cx="11091672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743200"/>
            <a:ext cx="3566160" cy="21488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vs.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Random assignment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743200"/>
            <a:ext cx="3566160" cy="21488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9260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337560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1  Pass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2  Durability over cycles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743200"/>
            <a:ext cx="3566160" cy="21488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9260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SCOPE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337560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One lab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One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No broad generalisation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6344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Peer-review goal:  evaluate whether the observed patterns warrant replication — not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All data are synthetic.  Facts and caveats preserved as supplied.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02  /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Two equal groups, same exposure and equipment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 and 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Sample size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samples per group  (400 total)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Assignment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Random assignment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duration, both 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1691640"/>
            <a:ext cx="3867912" cy="155448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PRIMARY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341071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0E0E0"/>
                </a:solidFill>
                <a:latin typeface="Calibri"/>
              </a:defRPr>
            </a:pPr>
            <a:r>
              <a:t>Passing the predefined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0E0E0"/>
                </a:solidFill>
                <a:latin typeface="Calibri"/>
              </a:defRPr>
            </a:pPr>
            <a:r>
              <a:t>strength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429000"/>
            <a:ext cx="3867912" cy="155448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56616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EXCLUSIONS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977639"/>
            <a:ext cx="341071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Reviewed before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final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91672" cy="86868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Interpretation constraint:  one lab, one batch.  Design controls the comparison; it does not establish field generality.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Synthetic data  •  Denominators fixed at n = 200 per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03  /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99"/>
                </a:solidFill>
                <a:latin typeface="Calibri"/>
              </a:defRPr>
            </a:pPr>
            <a:r>
              <a:t>POST-AUDIT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Treatment pass rate is 8.5 points higher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Pass rate (%)  —  predefined strength test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920240"/>
          <a:ext cx="62179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86600" y="1691640"/>
          <a:ext cx="45537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1517904"/>
                <a:gridCol w="1517904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 / 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 / 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 / 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086600" y="3474720"/>
            <a:ext cx="4553712" cy="173736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611880"/>
            <a:ext cx="40965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ARITHMETIC  (denominators fixed)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023360"/>
            <a:ext cx="4096512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66.5% − 58.0%  =  +8.5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133 − 116  =  17 more passes / 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8.5 ÷ 58.0  =  +14.7% relative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96128"/>
            <a:ext cx="106344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Exact post-audit counts shown with the chart.  This is the observed sample difference in this lab and batch.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pp = percentage points  •  n = 200 per group  •  Duplicates removed (Slide 06)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04  /  TIMECOURSE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0E0E0"/>
                </a:solidFill>
                <a:latin typeface="Calibri"/>
              </a:defRPr>
            </a:pPr>
            <a:r>
              <a:t>Durability declines in both groups; treatment stays higher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Durability retained (%)  by cycles  —  all eight values plotted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920240"/>
          <a:ext cx="7315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83879" y="1783080"/>
          <a:ext cx="345643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Treat.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83879" y="4343400"/>
            <a:ext cx="3456432" cy="114300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4480560"/>
            <a:ext cx="3090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Gap at 300 cycles: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74% − 59%  =  +15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Loss from cycle 0 to 300:  control −41 pp  •  treatment −26 pp.  Pattern is consistent at 100, 200 and 300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x-axis: cycles  •  y-axis: durability retained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05  /  SUBGROUPS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99"/>
                </a:solidFill>
                <a:latin typeface="Calibri"/>
              </a:defRPr>
            </a:pPr>
            <a:r>
              <a:t>POST-AUDIT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Batch labels show counts — not pass rates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6583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 (count)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calculable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calculable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calculable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(overall)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 overall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06640" y="1737360"/>
            <a:ext cx="4233672" cy="265176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920240"/>
            <a:ext cx="3776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WHY NO RATES?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331720"/>
            <a:ext cx="377647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 rate needs passes ÷ subgroup 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Subgroup denominators 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not supplied, so P / Q / 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rates cannot be derived.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3566160" cy="123444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Check:  44 + 44 + 45 = 133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✓  Matches treatment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4663440"/>
            <a:ext cx="3566160" cy="1234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8920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Similar counts ≠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similar subgroup rates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4663440"/>
            <a:ext cx="3566160" cy="1234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48920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Do not rank P, Q or 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without denominators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Counts are additive to the overall treatment total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06  / 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Audit: 11 duplicate records removed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737360"/>
            <a:ext cx="5440680" cy="201168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■  WHAT WAS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83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11 duplicate positive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treatment records removed.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Denominators remain correct.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737360"/>
            <a:ext cx="5440680" cy="201168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20240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■  RECONCILIATION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331720"/>
            <a:ext cx="4983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144 − 11  =  133 treatment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133 / 200  =  66.5%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n = 200 per group — unchanged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NOT CLAIMED IN THIS DECK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544068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4983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✕  Statistical significance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 — not assessed / not claimed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4526280"/>
            <a:ext cx="544068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754880"/>
            <a:ext cx="4983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✕ 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 — not invented / not reported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All results in this deck use the corrected count of 133.  Absence of a claim here is deliberate.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07  /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0E0E0"/>
                </a:solidFill>
                <a:latin typeface="Calibri"/>
              </a:defRPr>
            </a:pPr>
            <a:r>
              <a:t>A measured sample difference — within narrow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91640"/>
            <a:ext cx="5440680" cy="310896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WHAT THE DATA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83480" cy="2240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Pass rate +8.5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(66.5% vs. 58.0%; 133 vs. 116 / 200)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Durability higher at every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post-baseline cycle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Gap at 300 cycles: +15 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691640"/>
            <a:ext cx="5440680" cy="310896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874519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WHAT THEY DO NOT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331720"/>
            <a:ext cx="4983480" cy="2240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Broad field performance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Performance in other labs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or other batches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A quantified uncertainty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range (see Audit)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11091672" cy="10058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106344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Conclusion for peers:  after audit correction the pattern persists and is worth replicating.  It is not, on its own, a deployment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One lab  •  One batch  •  11 duplicates removed  •  Synthetic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08  / 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Replicate in 4 labs before any deployment claim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91640"/>
            <a:ext cx="2651760" cy="237744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REPLICATE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4 independent labs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Blinded scoring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691640"/>
            <a:ext cx="2651760" cy="2377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828800"/>
            <a:ext cx="2286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377440"/>
            <a:ext cx="2286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PRESERVE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Controls 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2651760" cy="2377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286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77440"/>
            <a:ext cx="2286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PREREGISTER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Exclusion rules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before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8552" y="1691640"/>
            <a:ext cx="2651760" cy="2377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828800"/>
            <a:ext cx="2286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377440"/>
            <a:ext cx="2286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RECORD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Batch conditions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for every sample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434840"/>
            <a:ext cx="11091672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4709160"/>
            <a:ext cx="11091672" cy="123444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DECISION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A second batch is needed before any deployment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All data are synthetic.  Preliminary findings — replication in 4 labs is the next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