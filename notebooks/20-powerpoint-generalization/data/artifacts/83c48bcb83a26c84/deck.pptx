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65.5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C6A3F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</c:v>
                </c:pt>
                <c:pt idx="1">
                  <c:v>Q</c:v>
                </c:pt>
                <c:pt idx="2">
                  <c:v>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SIMULATED MATERIAL ANALYSIS  • 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62863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4A3B2A"/>
                </a:solidFill>
                <a:latin typeface="Georgia"/>
              </a:defRPr>
            </a:pPr>
            <a:r>
              <a:t>Can Treatment Outperform 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810512"/>
            <a:ext cx="74340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8C6A3F"/>
                </a:solidFill>
                <a:latin typeface="Georgia"/>
              </a:defRPr>
            </a:pPr>
            <a:r>
              <a:t>A fictional material-screening study of pass rate and durability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12080" y="2423160"/>
            <a:ext cx="176479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234440" y="2743200"/>
            <a:ext cx="9720072" cy="169164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944368"/>
            <a:ext cx="8988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64992"/>
            <a:ext cx="898855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Does the treated material pass the predefined strength test more often than the control — and retain durability over repeated cycles?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4663440"/>
            <a:ext cx="4709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92040"/>
            <a:ext cx="4251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✓  Random assignment was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663440"/>
            <a:ext cx="4709160" cy="1051560"/>
          </a:xfrm>
          <a:prstGeom prst="roundRect">
            <a:avLst/>
          </a:prstGeom>
          <a:solidFill>
            <a:srgbClr val="FDECE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892040"/>
            <a:ext cx="4251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!  Scope: one lab and one batch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989320"/>
            <a:ext cx="97200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For technical stakeholders assessing the validity and consistency of the simulated outputs.  •  All data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02  •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62863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A Balanced Two-Group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70683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C6A3F"/>
                </a:solidFill>
                <a:latin typeface="Georgia"/>
              </a:defRPr>
            </a:pPr>
            <a:r>
              <a:t>Equal groups, equal exposure, one predefined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3291840" cy="182880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834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2057400"/>
            <a:ext cx="3291840" cy="1828800"/>
          </a:xfrm>
          <a:prstGeom prst="roundRect">
            <a:avLst/>
          </a:prstGeom>
          <a:solidFill>
            <a:srgbClr val="FD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240280"/>
            <a:ext cx="2834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057400"/>
            <a:ext cx="3291840" cy="182880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240280"/>
            <a:ext cx="28346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440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C6A3F"/>
                </a:solidFill>
                <a:latin typeface="Georgia"/>
              </a:defRPr>
            </a:pPr>
            <a:r>
              <a:t>220 + 220 = 440  •  Denominators are held fixed throughout this report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4526280"/>
          <a:ext cx="1063447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7236"/>
                <a:gridCol w="5317236"/>
              </a:tblGrid>
              <a:tr h="4229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As specified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Exposure &amp; equipment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Equal-duration exposure; same test equipment for both groups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Passing the predefined strength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03  •  RESULTS  •  AUDIT-CORRECTED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Treatment Passed More Often: +7.7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(%) — predefined strength test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920240"/>
          <a:ext cx="60350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1508760"/>
            <a:ext cx="4233672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64208"/>
            <a:ext cx="3776472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ABSOLUTE DIFFERENCE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65.5% − 57.7% = 7.7 pp*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144 − 127 = 17 more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per 220 samples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78040" y="3703320"/>
          <a:ext cx="423367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224"/>
                <a:gridCol w="1411224"/>
                <a:gridCol w="1411224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Exact count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 / 220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/ 220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349240"/>
            <a:ext cx="106344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Exact counts: Control 127/220 = 57.7%  •  Treatment 144/220 = 65.5%  •  Did not pass: 93 control (220−127), 76 treatment (220−144). Denominators fixed at 220.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989320"/>
            <a:ext cx="10634472" cy="45720"/>
          </a:xfrm>
          <a:prstGeom prst="rect">
            <a:avLst/>
          </a:prstGeom>
          <a:solidFill>
            <a:srgbClr val="D9C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126480"/>
            <a:ext cx="9692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* Difference as reported (7.7 pp); rounded rates differ by 0.1 pp. Synthetic data — an observed sample difference. Audit detail: slide 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04  •  TIMECOURSE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Durability Faded More Slowly With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Durability retained (%) by cycles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874519"/>
          <a:ext cx="6949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53212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Cycles →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46720" y="1874519"/>
          <a:ext cx="336499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664"/>
                <a:gridCol w="1121664"/>
                <a:gridCol w="1121664"/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Cycles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Control %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Treat. %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4572000"/>
            <a:ext cx="3364992" cy="123444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4709160"/>
            <a:ext cx="2962656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At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73 − 58 = 15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higher for treatment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C6A3F"/>
                </a:solidFill>
                <a:latin typeface="Georgia"/>
              </a:defRPr>
            </a:pPr>
            <a:r>
              <a:t>All eight values retained: Control 100, 86, 72, 58%  •  Treatment 100, 91, 82, 73%.  Decline 0→300: −42 vs −27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05  •  SUBGROUPS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Batch Labels: Counts, Not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6217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(n passes)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874519"/>
          <a:ext cx="62179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1481328"/>
            <a:ext cx="4050791" cy="1828800"/>
          </a:xfrm>
          <a:prstGeom prst="roundRect">
            <a:avLst/>
          </a:prstGeom>
          <a:solidFill>
            <a:srgbClr val="FDECE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645920"/>
            <a:ext cx="3593592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READ WITH CARE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These are counts, not subgroup pass rates. Subgroup denominators are not supplied, so no % can be calculated.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520440"/>
            <a:ext cx="4050791" cy="160020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675887"/>
            <a:ext cx="3593592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CHECK THE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48 + 48 + 48 = 144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Matches the corrected treatment total (slide 3).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5349240"/>
          <a:ext cx="106344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894"/>
                <a:gridCol w="2126894"/>
                <a:gridCol w="2126894"/>
                <a:gridCol w="2126894"/>
                <a:gridCol w="212689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06  • 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Audit Correction: 13 Duplicates Removed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4472" cy="1325880"/>
          </a:xfrm>
          <a:prstGeom prst="roundRect">
            <a:avLst/>
          </a:prstGeom>
          <a:solidFill>
            <a:srgbClr val="FDECE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7727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CORRECTION:  Remove 13 duplicate positive treatment records. Treatment passes: 157 − 13 = 144. Denominators remain correct at 220 per group.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154680"/>
          <a:ext cx="5166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4000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Before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After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rate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71.4%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65.5%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Difference vs control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13.6 pp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7.7 pp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45352" y="315468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3291840"/>
            <a:ext cx="47091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WHAT IS NOT CLAIMED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✕ 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✕  A confidence interval (none supplied or invented)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83480"/>
            <a:ext cx="10634472" cy="96012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101772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What can be stated: the corrected exact counts — 127/220 control vs 144/220 treatment — and the arithmetic, +7.7 pp (17 more passes per 220). Control is unchanged.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07  •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What the Data Say — and Do Not Say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10634472" cy="141732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0858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8E7"/>
                </a:solidFill>
                <a:latin typeface="Georgia"/>
              </a:defRPr>
            </a:pPr>
            <a:r>
              <a:t>The observed treatment pass rate is higher by 7.7 percentage points (65.5% vs 57.7%).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5166360" cy="214884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47872"/>
            <a:ext cx="4709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SUPPORTED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 measured difference in this sample: 144/220 vs 127/220 (17 more passes), with slower durability loss to 300 cycles (73% vs 58%).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38328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3547872"/>
            <a:ext cx="4709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NOT SUPPORTED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Evidence of broad field performance. This is a measured sample difference from one lab and one batch — not a general finding.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760720"/>
            <a:ext cx="92628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Interpretation: a smaller, corrected +7.7-point difference — promising within this simulated sample, not a deployment finding.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943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08  •  NEXT STEP  • 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58368"/>
            <a:ext cx="99943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Replicate Before Any Deployment 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10634472" cy="11430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858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DECISION:  Replicate in 4 independent labs with blinded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71800"/>
            <a:ext cx="3429000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27248"/>
            <a:ext cx="3008376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1 — PRESERVE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Keep controls and the same predefined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971800"/>
            <a:ext cx="3429000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3127248"/>
            <a:ext cx="3008376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2 — PREREGISTER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Preregister exclusions before testing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2971800"/>
            <a:ext cx="3429000" cy="1965960"/>
          </a:xfrm>
          <a:prstGeom prst="roundRect">
            <a:avLst/>
          </a:prstGeom>
          <a:solidFill>
            <a:srgbClr val="F5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3127248"/>
            <a:ext cx="3008376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3 — RECORD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Record batch conditions in full for every lab.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12080"/>
            <a:ext cx="10634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76672"/>
            <a:ext cx="10177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5B3A"/>
                </a:solidFill>
                <a:latin typeface="Georgia"/>
              </a:defRPr>
            </a:pPr>
            <a:r>
              <a:t>Gate: A second batch is needed before any deployment claim. Carry forward the corrected baseline: 144/220 vs 127/220 (+7.7 pp).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C6A3F"/>
                </a:solidFill>
                <a:latin typeface="Georgia"/>
              </a:defRPr>
            </a:pPr>
            <a:r>
              <a:t>All data in this report are synthetic and drawn from one lab and one batch.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6A3F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