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9E6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1030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FF525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ln w="38100">
              <a:solidFill>
                <a:srgbClr val="009E60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97.6</c:v>
                </c:pt>
                <c:pt idx="1">
                  <c:v>122</c:v>
                </c:pt>
                <c:pt idx="2">
                  <c:v>146.4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01  • 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92608"/>
            <a:ext cx="2130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EXECUTIVE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0E0E0"/>
                </a:solidFill>
                <a:latin typeface="Calibri"/>
              </a:defRPr>
            </a:pPr>
            <a:r>
              <a:t>Select 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11091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Strategic equipment procurement  —  the recommended path and its headline economics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84831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395728"/>
            <a:ext cx="2633472" cy="181051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267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0E0E0"/>
                </a:solidFill>
                <a:latin typeface="Calibri"/>
              </a:defRPr>
            </a:pPr>
            <a:r>
              <a:t>$366k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upfront capital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2395728"/>
            <a:ext cx="2633472" cy="181051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578608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ANNUAL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26080"/>
            <a:ext cx="2267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0E0E0"/>
                </a:solidFill>
                <a:latin typeface="Calibri"/>
              </a:defRPr>
            </a:pPr>
            <a:r>
              <a:t>$122k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63931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per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395728"/>
            <a:ext cx="2633472" cy="181051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578608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SIMPLE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26080"/>
            <a:ext cx="2267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3.0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63931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366 ÷ 122 = 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2395728"/>
            <a:ext cx="2642616" cy="181051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578608"/>
            <a:ext cx="22768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THREE-YEAR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926080"/>
            <a:ext cx="227685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A1A1A"/>
                </a:solidFill>
                <a:latin typeface="Calibri"/>
              </a:defRPr>
            </a:pPr>
            <a:r>
              <a:t>$0k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639312"/>
            <a:ext cx="227685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3 × 122 − 366 =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11091672" cy="86868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73168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Decision:  proceed with option B — subject to the Week-9 gate on slide 7.  Break-even is reached at year 3 on base-case savings.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All data are synthetic.  Amounts in $k unless stated otherwise.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02  • 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Three paths, one balanced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Option B sits between A and C on investment, saving and reference uptime.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  —  SELECTED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 / year)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Uptime (%) — reference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(years) = investment ÷ saving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Three-year net ($k) = 3 × saving − investment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983480"/>
            <a:ext cx="3547872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182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A: lowest cost, fastest payback — lowest reference uptime (97.8%).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4983480"/>
            <a:ext cx="3547872" cy="10515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5120640"/>
            <a:ext cx="3182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B: +1.3 pts uptime vs A, $162k less than C. Break-even at year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983480"/>
            <a:ext cx="3547872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5120640"/>
            <a:ext cx="3182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C: highest saving and uptime — highest investment ($528k).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Reference options stay unchanged.  Payback and three-year net are computed from the figures above.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03  • 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Output trails target by 910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Six months of output against a flat 1,100-unit monthly target.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01952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Monthly output vs target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267712"/>
          <a:ext cx="68580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2267712"/>
            <a:ext cx="3867912" cy="98755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3502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ACTUAL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5,690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401568"/>
            <a:ext cx="3867912" cy="98755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511296"/>
            <a:ext cx="3502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TARGET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6,600 units  (6 × 1,100)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35424"/>
            <a:ext cx="3867912" cy="9875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645152"/>
            <a:ext cx="3502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910 units  •  86.2% of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33872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Only M3 (1,120) and M5 (1,110) met the 1,100-unit target.  Shortfall = 6,600 − 5,690 = 910 units.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Units: equipment output per month.  All data are synthetic.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04  • 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Option B breaks even at base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Sensitivity of the $122k annual saving at 80% / 100% / 120%  —  investment held at $366k.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01952"/>
            <a:ext cx="5394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Annual saving by scenario ($k / year)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267712"/>
          <a:ext cx="53949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67712"/>
          <a:ext cx="53309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738"/>
                <a:gridCol w="1332738"/>
                <a:gridCol w="1332738"/>
                <a:gridCol w="133273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3.75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−73.2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146.4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+73.2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309360" y="4480560"/>
            <a:ext cx="5330952" cy="8229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590288"/>
            <a:ext cx="49651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Payback = 366 ÷ saving      •      Three-year net = 3 × saving − 366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41848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Reading:  at 80% of expected saving the 3-year net is −$73.2k and payback stretches to 3.75 years; at 120% it is +$73.2k with a 2.50-year payback.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Scenarios are 80% / 100% / 120% of $122k.  All data are synthetic.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05  • 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West is above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Daily demand against installed capacity by site.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  <a:gridCol w="1249679"/>
                <a:gridCol w="1249679"/>
                <a:gridCol w="1249684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98.3%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94.8%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102.4%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ABOVE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1965960"/>
            <a:ext cx="3319272" cy="2377440"/>
          </a:xfrm>
          <a:prstGeom prst="rect">
            <a:avLst/>
          </a:prstGeom>
          <a:solidFill>
            <a:srgbClr val="262626"/>
          </a:solidFill>
          <a:ln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148840"/>
            <a:ext cx="2953512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⚠  WEST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Demand exceeds capacity by 8 per 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338 − 330 =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5440680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74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Network total: demand 868 vs capacity 880 / day (+12) — the total masks the West constraint.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617720"/>
            <a:ext cx="5440680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754880"/>
            <a:ext cx="5074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Headroom = capacity − demand.  Utilization = demand ÷ capacity.  North has only 4 / day spare.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Units: units per day.  All data are synthetic.  West must be resolved before capacity validation can pass (slide 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06  •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13-week roadmap, gate at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Technical and People lanes run in parallel after Build.  Both Validate and Train feed the gate.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1901952"/>
            <a:ext cx="936345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Week 1                                                                 Week 9  =  GATE                                                 Week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1280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58768"/>
            <a:ext cx="1280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331720"/>
            <a:ext cx="1426464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487168"/>
            <a:ext cx="1243584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6704" y="2331720"/>
            <a:ext cx="2139696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2487168"/>
            <a:ext cx="19568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3–5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331720"/>
            <a:ext cx="2139696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487168"/>
            <a:ext cx="19568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6–8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703320"/>
            <a:ext cx="2139696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858768"/>
            <a:ext cx="19568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6–8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331720"/>
            <a:ext cx="777240" cy="22402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971800"/>
            <a:ext cx="685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Wk 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331720"/>
            <a:ext cx="2642616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2487168"/>
            <a:ext cx="245973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10–13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26096" y="2761488"/>
            <a:ext cx="237744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26096" y="4133087"/>
            <a:ext cx="237744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0" y="3200400"/>
            <a:ext cx="0" cy="50292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41080" y="2761488"/>
            <a:ext cx="0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93792"/>
            <a:ext cx="106344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Sequence:  Design → Build → (Validate ∥ Train, weeks 6–8) → Gate (week 9) → Rollout (weeks 10–13).  No rollout before the gate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Bars are positioned to week scale (weeks 1–13).  All data are synthetic.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07  • 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GO only if every criterion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Week-9 gate criteria — all three must be met.  Otherwise the decision is HOLD.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057400"/>
            <a:ext cx="6217920" cy="9144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760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1  •  Uptime at least 99.6%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Measured operational uptime — threshold: ≥ 99.6%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6217920" cy="9144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760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2  •  All sites pass capacity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North, East and West — no site above 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6217920" cy="9144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760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3  •  Training AND validation both finish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Both parallel tracks complete (weeks 6–8)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3566160"/>
            <a:ext cx="822960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89520" y="2057400"/>
            <a:ext cx="4050791" cy="14173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36850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GO  →  Rollout (Wk 10–13)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only if 1 AND 2 AND 3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703320"/>
            <a:ext cx="4050791" cy="1463040"/>
          </a:xfrm>
          <a:prstGeom prst="rect">
            <a:avLst/>
          </a:prstGeom>
          <a:solidFill>
            <a:srgbClr val="262626"/>
          </a:solidFill>
          <a:ln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13632"/>
            <a:ext cx="36850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if any criterion fails or is unproven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50408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Caveat:  reference uptime is not proof of operational performance.  Option B's 99.1% reference figure does not by itself establish the ≥ 99.6% gate — measured evidence is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Gate at week 9, before rollout weeks 10–13.  All data are synthetic.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08  • 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Two risks, mitigations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Likelihood (x) and impact (y), each scored 1–5.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54480" y="1874519"/>
            <a:ext cx="4480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Impact ↑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4480560" cy="356616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50592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46704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42816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38928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54480" y="2907792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54480" y="3621024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54480" y="4334256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54480" y="5047488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53712" y="3840480"/>
            <a:ext cx="365760" cy="3657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904487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127248"/>
            <a:ext cx="365760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3191256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833872"/>
            <a:ext cx="4480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            2            3            4            5     Likelihood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240280"/>
            <a:ext cx="457200" cy="3474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92240" y="2194560"/>
          <a:ext cx="51480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14"/>
                <a:gridCol w="1029614"/>
                <a:gridCol w="1029614"/>
                <a:gridCol w="1029614"/>
                <a:gridCol w="1029616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 — Supplier delay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 — Training gap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492240" y="4343400"/>
            <a:ext cx="5148072" cy="14173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480560"/>
            <a:ext cx="478231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Priority:  Supplier delay scores highest (4 × 3 = 12) — act first with pre-orders.  Training gap (2 × 4 = 8) is lower-likelihood but higher impact if it occurs.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L = likelihood (1–5), I = impact (1–5), plotted at (L, I):  S = (4, 3),  T = (2, 4).  All data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