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</c:v>
                </c:pt>
                <c:pt idx="1">
                  <c:v>32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(trigger)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On-hand</c:v>
                </c:pt>
                <c:pt idx="1">
                  <c:v>On-order</c:v>
                </c:pt>
                <c:pt idx="2">
                  <c:v>Committed</c:v>
                </c:pt>
                <c:pt idx="3">
                  <c:v>Position</c:v>
                </c:pt>
                <c:pt idx="4">
                  <c:v>ROP</c:v>
                </c:pt>
                <c:pt idx="5">
                  <c:v>Target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156</c:v>
                </c:pt>
                <c:pt idx="1">
                  <c:v>20</c:v>
                </c:pt>
                <c:pt idx="2">
                  <c:v>17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 / level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On-hand</c:v>
                </c:pt>
                <c:pt idx="1">
                  <c:v>On-order</c:v>
                </c:pt>
                <c:pt idx="2">
                  <c:v>Committed</c:v>
                </c:pt>
                <c:pt idx="3">
                  <c:v>Position</c:v>
                </c:pt>
                <c:pt idx="4">
                  <c:v>ROP</c:v>
                </c:pt>
                <c:pt idx="5">
                  <c:v>Target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159</c:v>
                </c:pt>
                <c:pt idx="4">
                  <c:v>164</c:v>
                </c:pt>
                <c:pt idx="5">
                  <c:v>264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Position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176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INVENTORY REORDER PROTOCOL  •  FOR JUNIOR TEAM MEMBERS  •  1 / 8 — LEARNING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When and how to initiate a reorder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04040"/>
                </a:solidFill>
                <a:latin typeface="Arial"/>
              </a:defRPr>
            </a:pPr>
            <a:r>
              <a:t>A simple reorder-point rule for novice stockroom coordinators — logic, worked example, and practice.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11274552" cy="10515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087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LEARNING GOAL:  Teach novice stockroom coordinators a simple reorder-point rule. Explain the logic, work through an example, then offer a short practice exercise with its answer.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08960"/>
          <a:ext cx="5532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By the end, you will be able to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a reorder point (units)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inventory position (units)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Decide: ORDER or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Avoid three common errors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3108960"/>
          <a:ext cx="5532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Content in sequence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Rule — two formulas, one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example, then live inventory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Process — connected decision flow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6–7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Practice, then answer + misconceptions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Checklist + annotated number line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486400"/>
            <a:ext cx="11274552" cy="5943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9087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DECISION TO MAKE EASY TO FIND:  Compare inventory position with the reorder point — every day, in the same units.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All data are synthetic. All quantities are in units unless labelled otherwise.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2 / 8 —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rule: two formulas, one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32120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663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①  REORDER POINT (units)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= daily demand × lead time in days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   + safety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53212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08760"/>
            <a:ext cx="51663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②  INVENTORY POSITION (units)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= on-hand + on-order − committed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834640"/>
          <a:ext cx="5532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Average use per 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/ 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until replenishment arrives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held for variability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Already promised to orders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99632" y="2834640"/>
          <a:ext cx="5532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Next 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≤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Place an order now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&gt;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Review again tomorrow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=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“At” counts as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same units both sides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③  DECISION:  Place an order when inventory position is less than or equal to (≤) the reorder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Logic: lead-time demand covers use while waiting; safety stock is the buffer added once — not multiplied by lead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3 / 8 —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Worked example: reorder point = 164 units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Given: daily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 / 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Given: 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 days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Given: 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32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A. Lead-time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× 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B. Add 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+ 32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∴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22×6 + 32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463040"/>
            <a:ext cx="5193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Components of the reorder point (units)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37960" y="1783080"/>
          <a:ext cx="5193792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572000"/>
            <a:ext cx="11274552" cy="96012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READ THE UNITS:  (22 units/day × 6 days) = 132 units  →  the “days” cancel.   Then 132 units + 32 units = 164 units.   Safety stock is already in units, so it is added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04040"/>
                </a:solidFill>
                <a:latin typeface="Arial"/>
              </a:defRPr>
            </a:pPr>
            <a:r>
              <a:t>164 units is the trigger level for the next slide — it is not, by itself, the quantity to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Check: 132 + 32 = 164.  •  Value axis starts at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4 / 8 — INVENTORY  •  DECISION: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7724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Position 159 ≤ 164 — so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777240"/>
            <a:ext cx="2542032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0" y="868680"/>
            <a:ext cx="2359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● ORDER NOW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5852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3107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Running total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On-order (already coming)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+ 20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Committed (promised)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− 17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= 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156+20−17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Compare: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✓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position → order qty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264 → 264−159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 to 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1463040"/>
            <a:ext cx="5193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Components vs. result and trigger (units)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37960" y="1783080"/>
          <a:ext cx="5193792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663440"/>
            <a:ext cx="11274552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0879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CONCLUSION:  Position (159 units) is 5 units below the reorder point (164 units) → ORDER.   To reach target position 264 units:  264 − 159 = 105 units to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Preserve both adjustments: on-order (+20) raises the position; committed (−17) lowers it. On-hand alone (156) would misstate the position.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Arithmetic check: 156 + 20 = 176;  176 − 17 = 159;  164 − 159 = 5;  264 − 159 = 105.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5 / 8 —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Process: a connected daily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46888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1. READ COUNTS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on-hand, on-order,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committed (units)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148840"/>
            <a:ext cx="5943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520440" y="1645920"/>
            <a:ext cx="246888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2. CALCULATE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inventory 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= OH + OO − 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148840"/>
            <a:ext cx="5943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83680" y="1645920"/>
            <a:ext cx="2468880" cy="100584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3. COMPARE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Position ≤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reorder point?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0" y="1920240"/>
            <a:ext cx="5943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46920" y="1508760"/>
            <a:ext cx="2084831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1627632"/>
            <a:ext cx="19019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YES → ORDER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423160"/>
            <a:ext cx="594360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46920" y="2514600"/>
            <a:ext cx="2084831" cy="8229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633472"/>
            <a:ext cx="19019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NO → WAIT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89336" y="3337560"/>
            <a:ext cx="0" cy="64007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91640" y="3977639"/>
            <a:ext cx="8997696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91640" y="2651760"/>
            <a:ext cx="0" cy="132587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20440" y="4023360"/>
            <a:ext cx="5166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04040"/>
                </a:solidFill>
                <a:latin typeface="Arial"/>
              </a:defRPr>
            </a:pPr>
            <a:r>
              <a:t>WAIT branch ↩ returns to the next daily review (step 1)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4526280"/>
          <a:ext cx="1127455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Branch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from this deck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≤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to target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→ order 105 (slide 4)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&gt;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order; review tomorrow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See practice — slide 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Repeat daily. The comparison — not the calendar alone — triggers the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6 / 8 — PRACTICE  •  ANSWER ON NEXT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Practice: order or wait?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✎  Work it out before turning the page. Write the gap and circle your decision.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286000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Given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working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Gap = position − ROP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176 − 164 = 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______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Is position ≤ ROP?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≤ 164 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/ No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2286000"/>
            <a:ext cx="5193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Given values only (units) — decide from the rule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37960" y="2606040"/>
          <a:ext cx="5193792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892040"/>
            <a:ext cx="58521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5486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MY DECISION:   ☐ ORDER      ☐ 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Because: __________________________________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4892040"/>
            <a:ext cx="5193792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5029200"/>
            <a:ext cx="482803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HINT: Use the decision rule from slide 2.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“At or below” triggers an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Do not look ahead yet — the answer and reasoning are revealed first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7 / 8 — MISCONCEPTIONS  •  PRACTICE ANSWER REVEALED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PRACTICE ANSWER:  WAIT  —  Position 176 units is 12 units above the reorder point (176 − 164 = 12), so 176 &gt; 164. No order; review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Three misconceptions to unlearn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68880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7086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✗ Misconception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fails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✓ Correct practice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+20 on-order and −17 committed (slide 4)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position: OH + OO − C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 is already in units; 32×6 overstates 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safety stock once: 132 + 32 = 164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 a larger reorder point as the order quantity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ROP is a trigger level, not how much to buy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qty = target − position (264−159 = 105)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486400"/>
            <a:ext cx="11274552" cy="6400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96128"/>
            <a:ext cx="109087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SELF-CHECK:  If your practice answer was ORDER, re-check the direction of “≤” — above the trigger means WAIT.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All values in units. ROP = reorder point; OH = on-hand; OO = on-order; C = committed.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8 / 8 —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Before ordering: run this checklist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455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☐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How to verify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Verify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Demand/day × days = units; all else in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22/day × 6 days = 132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existing orders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on-order to on-hand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= 176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3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commitments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committed from that total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176 − 17 = 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 the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if position ≤ ROP; else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→ ORDER 105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03320"/>
            <a:ext cx="11274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Annotated number line (units) — where the trigger sits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6528816" cy="29260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51775" y="4434840"/>
            <a:ext cx="3986784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6528816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ORDER ZONE: position ≤ 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480560"/>
            <a:ext cx="3986784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WAIT ZONE: position &gt; 164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983480"/>
            <a:ext cx="105156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50608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51775" y="4773168"/>
            <a:ext cx="0" cy="420624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36408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38560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5193792"/>
            <a:ext cx="640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519379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159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Slide 4 →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74243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164 = ROP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(trigger)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519379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04040"/>
                </a:solidFill>
                <a:latin typeface="Arial"/>
              </a:defRPr>
            </a:pPr>
            <a:r>
              <a:t>176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04040"/>
                </a:solidFill>
                <a:latin typeface="Arial"/>
              </a:defRPr>
            </a:pPr>
            <a:r>
              <a:t>Practice → 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519379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04040"/>
                </a:solidFill>
                <a:latin typeface="Arial"/>
              </a:defRPr>
            </a:pPr>
            <a:r>
              <a:t>264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04040"/>
                </a:solidFill>
                <a:latin typeface="Arial"/>
              </a:defRPr>
            </a:pPr>
            <a:r>
              <a:t>Target 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Takeaway: verify units → include orders → subtract commitments → check the trigger. Repeat at the next daily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