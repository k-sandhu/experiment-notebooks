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59B5C2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Failed</c:v>
                </c:pt>
                <c:pt idx="1">
                  <c:v>Did not 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1100</c:v>
                </c:pt>
                <c:pt idx="1">
                  <c:v>8900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solidFill>
                    <a:srgbClr val="263238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rate (%)</c:v>
                </c:pt>
              </c:strCache>
            </c:strRef>
          </c:tx>
          <c:spPr>
            <a:ln w="38100">
              <a:solidFill>
                <a:srgbClr val="E96B44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09:00</c:v>
                </c:pt>
                <c:pt idx="1">
                  <c:v>09:15</c:v>
                </c:pt>
                <c:pt idx="2">
                  <c:v>09:30</c:v>
                </c:pt>
                <c:pt idx="3">
                  <c:v>09:45</c:v>
                </c:pt>
                <c:pt idx="4">
                  <c:v>10:00</c:v>
                </c:pt>
                <c:pt idx="5">
                  <c:v>10:15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18</c:v>
                </c:pt>
                <c:pt idx="2">
                  <c:v>25</c:v>
                </c:pt>
                <c:pt idx="3">
                  <c:v>14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500">
                  <a:solidFill>
                    <a:srgbClr val="263238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500">
                <a:solidFill>
                  <a:srgbClr val="26323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500">
          <a:solidFill>
            <a:srgbClr val="2632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875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Simulated service disruption • Fictional incident • 09:00–10:06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" y="1737360"/>
            <a:ext cx="694944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56816"/>
            <a:ext cx="635508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3238"/>
                </a:solidFill>
                <a:latin typeface="Arial"/>
              </a:defRPr>
            </a:pPr>
            <a:r>
              <a:t>Recovery verified.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3238"/>
                </a:solidFill>
                <a:latin typeface="Arial"/>
              </a:defRPr>
            </a:pPr>
            <a:r>
              <a:t>Recurrence prevention remains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898648"/>
            <a:ext cx="6309360" cy="521207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Error rate returned to baseline at 10:06, after rollback completed at 09:48.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3568" y="2011680"/>
            <a:ext cx="3611880" cy="1783080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221992"/>
            <a:ext cx="3063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66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898648"/>
            <a:ext cx="29718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Incident window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09:00–10:06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114800"/>
            <a:ext cx="3931920" cy="1508760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25112"/>
            <a:ext cx="34747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1,100 failed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937760"/>
            <a:ext cx="34290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11.0% of 10,000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224528"/>
            <a:ext cx="6035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Focus for the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754880"/>
            <a:ext cx="594360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Separate evidence from hypothesis, examine response handoffs, and follow through on planned 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Request counts do not identify distinct affected users.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11.0% of requests failed during the 09:00–10:06 incident window.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783080"/>
            <a:ext cx="60350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Requests in the incident window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2331720"/>
          <a:ext cx="6172200" cy="3154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77840"/>
            <a:ext cx="5486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56D"/>
                </a:solidFill>
                <a:latin typeface="Arial"/>
              </a:defRPr>
            </a:pPr>
            <a:r>
              <a:t>Unit: requests • Total = 1,100 + 8,900 = 10,000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783080"/>
            <a:ext cx="4224528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71231" y="1993392"/>
            <a:ext cx="370332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63238"/>
                </a:solidFill>
                <a:latin typeface="Arial"/>
              </a:defRPr>
            </a:pPr>
            <a:r>
              <a:t>11.0%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724912"/>
            <a:ext cx="3639312" cy="5303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1,100 ÷ 10,000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Window-wide request failure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59168" y="4096512"/>
            <a:ext cx="4480560" cy="1737360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4297680"/>
            <a:ext cx="3950208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People affected: 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818888"/>
            <a:ext cx="3931920" cy="74066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These counts refer to requests.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Distinct affected users are unknown.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Incident window: 09:00–10:06.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66 minutes from deployment to the error rate returning to baseline.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68680" y="3611880"/>
            <a:ext cx="10195560" cy="0"/>
          </a:xfrm>
          <a:prstGeom prst="line">
            <a:avLst/>
          </a:prstGeom>
          <a:ln w="508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68680" y="2907792"/>
            <a:ext cx="0" cy="704088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15087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Deployment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3611880"/>
            <a:ext cx="0" cy="484632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11680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224528"/>
            <a:ext cx="1874519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09:08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First alert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493008" y="2907792"/>
            <a:ext cx="0" cy="704088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01568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938528"/>
            <a:ext cx="2057400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09:17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Investigation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starts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72784" y="3611880"/>
            <a:ext cx="0" cy="484632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81344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224528"/>
            <a:ext cx="228600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09:35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Rollback begins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284464" y="2907792"/>
            <a:ext cx="0" cy="704088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193024" y="3520440"/>
            <a:ext cx="182880" cy="182880"/>
          </a:xfrm>
          <a:prstGeom prst="round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938528"/>
            <a:ext cx="2240280" cy="95097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09:48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complete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064240" y="3611880"/>
            <a:ext cx="0" cy="484632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972800" y="3520440"/>
            <a:ext cx="182880" cy="182880"/>
          </a:xfrm>
          <a:prstGeom prst="roundRect">
            <a:avLst/>
          </a:prstGeom>
          <a:solidFill>
            <a:srgbClr val="4CA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4224528"/>
            <a:ext cx="21031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10:06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Error rate returns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3238"/>
                </a:solidFill>
                <a:latin typeface="Arial"/>
              </a:defRPr>
            </a:pPr>
            <a:r>
              <a:t>to 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13832"/>
            <a:ext cx="1065276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641848"/>
            <a:ext cx="10241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63238"/>
                </a:solidFill>
                <a:latin typeface="Arial"/>
              </a:defRPr>
            </a:pPr>
            <a:r>
              <a:t>Alert → investigation: 9 min     •     Rollback execution: 13 min     •     Rollback complete → baseline: 18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Timeline positions are proportional to elapsed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Six observations show the error-rate rise and decline around the incident.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636776"/>
            <a:ext cx="6675120" cy="32918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Observed error rate (%)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2084831"/>
          <a:ext cx="7680960" cy="3611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797296"/>
            <a:ext cx="7223760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56D"/>
                </a:solidFill>
                <a:latin typeface="Arial"/>
              </a:defRPr>
            </a:pPr>
            <a:r>
              <a:t>Observation times • 10:15 is after the incident window ended at 10:06.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965960"/>
            <a:ext cx="2880360" cy="16276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2176272"/>
            <a:ext cx="242316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263238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816352"/>
            <a:ext cx="242316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Highest observed 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63238"/>
                </a:solidFill>
                <a:latin typeface="Arial"/>
              </a:defRPr>
            </a:pPr>
            <a:r>
              <a:t>at 09:30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023360"/>
            <a:ext cx="3108960" cy="1856231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4224528"/>
            <a:ext cx="2670048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Different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4754880"/>
            <a:ext cx="265176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These observations are separate from the 11.0% window-wide failure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All six supplied observations are shown; rates are in percent.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The observed sequence supports investigation; the causal explanation remains unconfirmed.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58368" y="1810512"/>
            <a:ext cx="5029200" cy="2761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039112"/>
            <a:ext cx="4480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Observed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50976" y="2651760"/>
            <a:ext cx="914400" cy="0"/>
          </a:xfrm>
          <a:prstGeom prst="line">
            <a:avLst/>
          </a:prstGeom>
          <a:ln w="50800">
            <a:solidFill>
              <a:srgbClr val="4CA9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898648"/>
            <a:ext cx="4434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63238"/>
                </a:solidFill>
                <a:latin typeface="Arial"/>
              </a:defRPr>
            </a:pPr>
            <a:r>
              <a:t>Connection pool saturation after deployment.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63238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263238"/>
                </a:solidFill>
                <a:latin typeface="Arial"/>
              </a:defRPr>
            </a:pPr>
            <a:r>
              <a:t>Recovery after rollback.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48840"/>
            <a:ext cx="5257800" cy="2423160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7091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Working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3063240"/>
            <a:ext cx="46634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263238"/>
                </a:solidFill>
                <a:latin typeface="Arial"/>
              </a:defRPr>
            </a:pPr>
            <a:r>
              <a:t>Retry amplification under the new configuration.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4617720"/>
            <a:ext cx="0" cy="411480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86800" y="4617720"/>
            <a:ext cx="0" cy="411480"/>
          </a:xfrm>
          <a:prstGeom prst="line">
            <a:avLst/>
          </a:prstGeom>
          <a:ln w="254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5029200"/>
            <a:ext cx="9189720" cy="941832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5221224"/>
            <a:ext cx="864108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Evidence gap: a causal load test has not yet been completed.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Use it to test the hypothesis before treating it as the root cause.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46520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Temporal sequence alone does not establish causality.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Rollback comes before baseline verification; operational roles remain explicit.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468880" y="2761488"/>
            <a:ext cx="457200" cy="0"/>
          </a:xfrm>
          <a:prstGeom prst="line">
            <a:avLst/>
          </a:prstGeom>
          <a:ln w="381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709160" y="2761488"/>
            <a:ext cx="457200" cy="0"/>
          </a:xfrm>
          <a:prstGeom prst="line">
            <a:avLst/>
          </a:prstGeom>
          <a:ln w="381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49440" y="2761488"/>
            <a:ext cx="457200" cy="0"/>
          </a:xfrm>
          <a:prstGeom prst="line">
            <a:avLst/>
          </a:prstGeom>
          <a:ln w="381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189720" y="2761488"/>
            <a:ext cx="457200" cy="0"/>
          </a:xfrm>
          <a:prstGeom prst="line">
            <a:avLst/>
          </a:prstGeom>
          <a:ln w="38100">
            <a:solidFill>
              <a:srgbClr val="83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5800" y="2194560"/>
            <a:ext cx="17830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542032"/>
            <a:ext cx="163677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94560"/>
            <a:ext cx="17830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542032"/>
            <a:ext cx="163677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Triage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194560"/>
            <a:ext cx="1783080" cy="1143000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2542032"/>
            <a:ext cx="1636776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Rollback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194560"/>
            <a:ext cx="1783080" cy="1143000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9792" y="2414016"/>
            <a:ext cx="1636776" cy="6583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Verify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263238"/>
                </a:solidFill>
                <a:latin typeface="Arial"/>
              </a:defRPr>
            </a:pPr>
            <a:r>
              <a:t>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2194560"/>
            <a:ext cx="1874519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560320"/>
            <a:ext cx="17830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3238"/>
                </a:solidFill>
                <a:latin typeface="Arial"/>
              </a:defRPr>
            </a:pPr>
            <a:r>
              <a:t>Retrospective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593592"/>
            <a:ext cx="3931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2656D"/>
                </a:solidFill>
                <a:latin typeface="Arial"/>
              </a:defRPr>
            </a:pPr>
            <a:r>
              <a:t>Read the sequence from left to right.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343400"/>
            <a:ext cx="448056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6152" y="4553712"/>
            <a:ext cx="393192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On-call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5074920"/>
            <a:ext cx="38862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Handles rollback.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553712"/>
            <a:ext cx="4892040" cy="12984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4764024"/>
            <a:ext cx="434340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3238"/>
                </a:solidFill>
                <a:latin typeface="Arial"/>
              </a:defRPr>
            </a:pPr>
            <a:r>
              <a:t>Service owner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5285232"/>
            <a:ext cx="4297680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Authorizes restoration.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46520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Rollback completed at 09:48; error rate returned to baseline at 10:06.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One action is complete; the causal test and retry cap remain planned.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47088"/>
          <a:ext cx="107442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050"/>
                <a:gridCol w="2686050"/>
                <a:gridCol w="2686050"/>
                <a:gridCol w="2686050"/>
              </a:tblGrid>
              <a:tr h="70866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527B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Action</a:t>
                      </a:r>
                    </a:p>
                  </a:txBody>
                  <a:tcPr marL="64008" marR="64008" marT="36576" marB="36576">
                    <a:solidFill>
                      <a:srgbClr val="527B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Deadline</a:t>
                      </a:r>
                    </a:p>
                  </a:txBody>
                  <a:tcPr marL="64008" marR="64008" marT="36576" marB="36576">
                    <a:solidFill>
                      <a:srgbClr val="527B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527B8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A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Cap retries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By day 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B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Run causal load test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By day 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Planned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Owner C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Add saturation alert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By day 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63238"/>
                          </a:solidFill>
                          <a:latin typeface="Arial"/>
                        </a:defRPr>
                      </a:pPr>
                      <a:r>
                        <a:t>Complete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14400" y="5120640"/>
            <a:ext cx="3200400" cy="749808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5312664"/>
            <a:ext cx="2761488" cy="347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1 of 3 actions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9432" y="5102352"/>
            <a:ext cx="6547104" cy="7955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263238"/>
                </a:solidFill>
                <a:latin typeface="Arial"/>
              </a:defRPr>
            </a:pPr>
            <a:r>
              <a:t>Review focus: confirm delivery of the two planned actions and use the load test to assess the causal hypothesis.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Deadlines and statuses are shown as supplied.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7899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63238"/>
                </a:solidFill>
                <a:latin typeface="Arial"/>
              </a:defRPr>
            </a:pPr>
            <a:r>
              <a:t>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078992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63238"/>
                </a:solidFill>
                <a:latin typeface="Arial"/>
              </a:defRPr>
            </a:pPr>
            <a:r>
              <a:t>Recovery is verified; preventing recurrence still depends on planned work.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371600"/>
            <a:ext cx="11045952" cy="0"/>
          </a:xfrm>
          <a:prstGeom prst="line">
            <a:avLst/>
          </a:prstGeom>
          <a:ln w="25400">
            <a:solidFill>
              <a:srgbClr val="FF7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773936"/>
            <a:ext cx="512064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84248"/>
            <a:ext cx="4590288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Keep evidence and hypothesis separate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615184"/>
            <a:ext cx="455371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Saturation and recovery were observed.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Retry amplification needs a causal test.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29968"/>
            <a:ext cx="5193792" cy="1874519"/>
          </a:xfrm>
          <a:prstGeom prst="roundRect">
            <a:avLst/>
          </a:prstGeom>
          <a:solidFill>
            <a:srgbClr val="D3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240280"/>
            <a:ext cx="464515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3238"/>
                </a:solidFill>
                <a:latin typeface="Arial"/>
              </a:defRPr>
            </a:pPr>
            <a:r>
              <a:t>Keep requests and people distinct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2871216"/>
            <a:ext cx="4553712" cy="7680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1,100 failed requests is an impact count.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Distinct affected users remain unknown.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4251960"/>
            <a:ext cx="9802368" cy="1627632"/>
          </a:xfrm>
          <a:prstGeom prst="roundRect">
            <a:avLst/>
          </a:prstGeom>
          <a:solidFill>
            <a:srgbClr val="FFE0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81328" y="4471416"/>
            <a:ext cx="9217152" cy="39319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3238"/>
                </a:solidFill>
                <a:latin typeface="Arial"/>
              </a:defRPr>
            </a:pPr>
            <a:r>
              <a:t>Carry recovery into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5102352"/>
            <a:ext cx="9107424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Discussion priority: follow through on the planned causal load test and retry cap.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63238"/>
                </a:solidFill>
                <a:latin typeface="Arial"/>
              </a:defRPr>
            </a:pPr>
            <a:r>
              <a:t>The completed saturation alert is one step; the remaining work is still open.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9966960" cy="20116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All data are synthetic. Fictional service incident • 09:00–10:06 • 66 minutes.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594360" cy="228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56D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