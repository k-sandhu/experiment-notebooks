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7C2CD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0789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Select option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789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Recommended investment choice; operational rollout remains subject to the GO / HOLD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46704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0488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34272" y="2926080"/>
            <a:ext cx="262432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3090672"/>
            <a:ext cx="225856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THREE-YEAR 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584448"/>
            <a:ext cx="22585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81728"/>
            <a:ext cx="108813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Three-year savings of $486k leave $13k of the initial investment unrecovered.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3095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Simple payback = 499 ÷ 162 = 3.080 years, rounded to 3.1. Three-year net = 3 × 162 − 499 = −13 ($k).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Simple, undiscounted calculations throughout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Higher investment accompanies higher savings and reference uptime.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75104"/>
          <a:ext cx="11155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6007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($k/year)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35424"/>
            <a:ext cx="34290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A →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83480"/>
            <a:ext cx="3429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+$146k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+$41k annual saving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535424"/>
            <a:ext cx="34290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B →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983480"/>
            <a:ext cx="3429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+$156k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+$49k 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535424"/>
            <a:ext cx="34747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GATE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98348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C reference uptime is 0.3 percentage points above the 99.6% GO threshold.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Reference options unchanged • Reference uptime is not proof of operational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33333"/>
                </a:solidFill>
                <a:latin typeface="Arial"/>
              </a:defRPr>
            </a:pPr>
            <a:r>
              <a:t>Six-month output is 110 units below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66666"/>
                </a:solidFill>
                <a:latin typeface="Arial"/>
              </a:defRPr>
            </a:pPr>
            <a:r>
              <a:t>Monthly output and target • units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286000"/>
          <a:ext cx="76352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458200" y="1965960"/>
            <a:ext cx="0" cy="3840480"/>
          </a:xfrm>
          <a:prstGeom prst="line">
            <a:avLst/>
          </a:prstGeom>
          <a:ln w="1016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23960" y="2048256"/>
            <a:ext cx="2697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ACTUAL /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514600"/>
            <a:ext cx="2697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55A4"/>
                </a:solidFill>
                <a:latin typeface="Arial"/>
              </a:defRPr>
            </a:pPr>
            <a:r>
              <a:t>6,490 / 6,600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46120"/>
            <a:ext cx="2697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TARGET ACHIEVEMENT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703320"/>
            <a:ext cx="2697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98.3%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498848"/>
            <a:ext cx="2697480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M1–M2: −550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M3–M6: +440 units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Net: −110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25312"/>
            <a:ext cx="7680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Actual M1–M6: 860, 790, 1,190, 1,350, 1,130, 1,170 units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Target = 1,100 units in each month • Shortfall = 6,600 − 6,490 = 110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Option C reaches a positive three-year net in the upside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01952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66666"/>
                </a:solidFill>
                <a:latin typeface="Arial"/>
              </a:defRPr>
            </a:pPr>
            <a:r>
              <a:t>Annual saving • $k/year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331720"/>
          <a:ext cx="47548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23560" y="2057400"/>
          <a:ext cx="60350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69723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factor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23560" y="5138928"/>
            <a:ext cx="603504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Three-year break-even saving: $166.33k/year,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2.67% above the $162k base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79592"/>
            <a:ext cx="1115568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Investment fixed at $499k • Payback = 499 ÷ annual saving • Three-year net = 3 × annual saving − 499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Savings = 80% / 100% / 120% × $162k • Paybacks shown to two decimals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33333"/>
                </a:solidFill>
                <a:latin typeface="Arial"/>
              </a:defRPr>
            </a:pPr>
            <a:r>
              <a:t>No site has demand above the stated capacity.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Arial"/>
              </a:defRPr>
            </a:pPr>
            <a:r>
              <a:t>Daily demand, capacity and available headroom • units/day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432304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057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66360"/>
            <a:ext cx="521208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West has the smallest buffer: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11 units/day, or 3.3% of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5166360"/>
            <a:ext cx="557784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These figures support the comparison. All three sites must still pass capacity validation at the gate.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Headroom = capacity − demand • Total demand 819; total capacity 880 units/day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Validation and training run in parallel; both feed the week 10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44368"/>
            <a:ext cx="1508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1508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3154680"/>
            <a:ext cx="32004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12080" y="3154680"/>
            <a:ext cx="32004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69480" y="3154680"/>
            <a:ext cx="457199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98280" y="3154680"/>
            <a:ext cx="45720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03420" y="3611880"/>
            <a:ext cx="0" cy="123444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03420" y="4846320"/>
            <a:ext cx="102870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9480" y="4846320"/>
            <a:ext cx="114300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412480" y="3611880"/>
            <a:ext cx="0" cy="123444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57400" y="2697480"/>
            <a:ext cx="1417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94760" y="2697480"/>
            <a:ext cx="1417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2697480"/>
            <a:ext cx="1737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4389120"/>
            <a:ext cx="1737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2697480"/>
            <a:ext cx="1371600" cy="914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55480" y="2697480"/>
            <a:ext cx="1965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2807208"/>
            <a:ext cx="1234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807208"/>
            <a:ext cx="1234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807208"/>
            <a:ext cx="1463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498848"/>
            <a:ext cx="1463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Train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807208"/>
            <a:ext cx="1188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07208"/>
            <a:ext cx="1691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Arial"/>
              </a:defRPr>
            </a:pPr>
            <a:r>
              <a:t>Synthetic plan • Read left to right • Rollout follows a GO decision; otherwise 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33333"/>
                </a:solidFill>
                <a:latin typeface="Arial"/>
              </a:defRPr>
            </a:pPr>
            <a:r>
              <a:t>GO only when every condition is met. Otherwise HOLD.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93392"/>
          <a:ext cx="7772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66751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condition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rule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Operational 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 validation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North, East and West all pass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Validation completion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completion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686800" y="1993392"/>
            <a:ext cx="2971800" cy="14630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2194560"/>
            <a:ext cx="25603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779776"/>
            <a:ext cx="25603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Every condition met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730752"/>
            <a:ext cx="29718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7968" y="3931920"/>
            <a:ext cx="25603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4544568"/>
            <a:ext cx="256032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Any condition unmet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or unconfirmed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559552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C's reference uptime is 99.9%. Reference uptime is not proof of operational performance; gate evidence is required.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309360"/>
            <a:ext cx="11155680" cy="0"/>
          </a:xfrm>
          <a:prstGeom prst="line">
            <a:avLst/>
          </a:prstGeom>
          <a:ln w="889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19088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Synthetic data • Gate at week 10 • Investment selection does not establish operational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19088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5568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881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Supplier delay is more likely; a training gap has greater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47672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Arial"/>
              </a:defRPr>
            </a:pPr>
            <a:r>
              <a:t>Impact (y) • scale 1–5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560320"/>
            <a:ext cx="38404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3291840"/>
            <a:ext cx="3840480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4023360"/>
            <a:ext cx="3840480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4754880"/>
            <a:ext cx="3840480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57400" y="2560320"/>
            <a:ext cx="0" cy="292608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2560320"/>
            <a:ext cx="0" cy="292608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7639" y="2560320"/>
            <a:ext cx="0" cy="292608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42316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4924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5577840"/>
            <a:ext cx="29260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5577840"/>
            <a:ext cx="29260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6" y="5577840"/>
            <a:ext cx="29260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5577840"/>
            <a:ext cx="29260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5577840"/>
            <a:ext cx="29260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25312"/>
            <a:ext cx="4480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Likelihood (x) • scale 1–5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56816" y="3191256"/>
            <a:ext cx="201168" cy="20116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77056" y="3922776"/>
            <a:ext cx="201168" cy="20116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944368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Training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224528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6666"/>
                </a:solidFill>
                <a:latin typeface="Arial"/>
              </a:defRPr>
            </a:pPr>
            <a:r>
              <a:t>Supplier delay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623560" y="2331720"/>
          <a:ext cx="6035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9448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/ 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 / 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 / 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623560" y="5532120"/>
            <a:ext cx="60350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Arial"/>
              </a:defRPr>
            </a:pPr>
            <a:r>
              <a:t>Synthetic data • Coordinates show the supplied scores on 1–5 scales.                                      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