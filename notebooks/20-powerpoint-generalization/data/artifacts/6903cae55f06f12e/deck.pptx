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Treatment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57.7</c:v>
                </c:pt>
                <c:pt idx="1">
                  <c:v>71.4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8A6D4B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86</c:v>
                </c:pt>
                <c:pt idx="2">
                  <c:v>72</c:v>
                </c:pt>
                <c:pt idx="3">
                  <c:v>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C45B3A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91</c:v>
                </c:pt>
                <c:pt idx="2">
                  <c:v>82</c:v>
                </c:pt>
                <c:pt idx="3">
                  <c:v>73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3B2A"/>
                </a:solidFill>
                <a:latin typeface="Georgia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3B2A"/>
                </a:solidFill>
                <a:latin typeface="Georgia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Treatment passes (count)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P</c:v>
                </c:pt>
                <c:pt idx="1">
                  <c:v>Q</c:v>
                </c:pt>
                <c:pt idx="2">
                  <c:v>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</c:v>
                </c:pt>
                <c:pt idx="1">
                  <c:v>52</c:v>
                </c:pt>
                <c:pt idx="2">
                  <c:v>53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83112" cy="6217920"/>
          </a:xfrm>
          <a:prstGeom prst="round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01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SIMULATED MATERIAL ANALYSIS  •  SYNTHETIC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94392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Does treatment improve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pass rate and durability?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94960" y="2606040"/>
            <a:ext cx="139903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011680" y="2834640"/>
            <a:ext cx="816559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5233"/>
                </a:solidFill>
                <a:latin typeface="Georgia"/>
              </a:defRPr>
            </a:pPr>
            <a:r>
              <a:t>A fictional material-screening study comparing treatment with control 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5233"/>
                </a:solidFill>
                <a:latin typeface="Georgia"/>
              </a:defRPr>
            </a:pPr>
            <a:r>
              <a:t>what was done, what was measured, and what it can (and cannot)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977639"/>
            <a:ext cx="4846320" cy="169164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4160520"/>
            <a:ext cx="42062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The comparison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Treatment vs. control on two outcomes: pass rate on a predefined strength test, and durability over repeated cycles.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77639"/>
            <a:ext cx="4846320" cy="169164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4160520"/>
            <a:ext cx="42062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The limit, up front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Random assignment was used — but coverage is one lab and one batch only. Generalisation needs replication.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3601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6D4B"/>
                </a:solidFill>
                <a:latin typeface="Georgia"/>
              </a:defRPr>
            </a:pPr>
            <a:r>
              <a:t>For technical stakeholders assessing the validity of simulated study outputs  •  1 of 8 — Question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Design: two groups, held to the same test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896112"/>
            <a:ext cx="139903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828800" y="1005840"/>
            <a:ext cx="85313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5233"/>
                </a:solidFill>
                <a:latin typeface="Georgia"/>
              </a:defRPr>
            </a:pPr>
            <a:r>
              <a:t>Equal size, equal exposure, same equipment — so the only intended difference is treatment.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2521458" cy="105156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673352"/>
            <a:ext cx="2375153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440 samples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35857" y="1600200"/>
            <a:ext cx="2521458" cy="105156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09009" y="1673352"/>
            <a:ext cx="2375153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Random assignment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61537" y="212598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31636" y="1600200"/>
            <a:ext cx="2521458" cy="105156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4788" y="1673352"/>
            <a:ext cx="2375153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Equal-duration exposure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57316" y="212598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27413" y="1600200"/>
            <a:ext cx="2521458" cy="105156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00565" y="1673352"/>
            <a:ext cx="2375153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Strength test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53093" y="212598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2971800"/>
            <a:ext cx="3383280" cy="77952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A6D4B"/>
                </a:solidFill>
                <a:latin typeface="Georgia"/>
              </a:defRPr>
            </a:pPr>
            <a:r>
              <a:t>220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22191"/>
            <a:ext cx="3383280" cy="49606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samples — control group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4389120"/>
            <a:ext cx="338328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07408" y="2971800"/>
            <a:ext cx="3383280" cy="77952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220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822191"/>
            <a:ext cx="3383280" cy="49606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samples — treatment group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07408" y="4389120"/>
            <a:ext cx="338328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65592" y="2971800"/>
            <a:ext cx="3383280" cy="77952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440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3822191"/>
            <a:ext cx="3383280" cy="49606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samples in total (220 + 220)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65592" y="4389120"/>
            <a:ext cx="338328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" y="4663440"/>
            <a:ext cx="10908792" cy="1508760"/>
          </a:xfrm>
          <a:prstGeom prst="round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846320"/>
            <a:ext cx="10268712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Endpoint:  passing the predefined strength test (pass / fail per sample).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Conditions:  same test equipment and equal-duration exposure for both groups.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Exclusions:  reviewed before final reporting.  Scope:  one lab, one batch.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6D4B"/>
                </a:solidFill>
                <a:latin typeface="Georgia"/>
              </a:defRPr>
            </a:pPr>
            <a:r>
              <a:t>2 of 8 — Design  •  Denominators are fixed at 220 per group throughout this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Results: treatment passed more often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896112"/>
            <a:ext cx="139903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143000"/>
            <a:ext cx="5669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Pass rate (% of 220 samples)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54480"/>
          <a:ext cx="566928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66560" y="1554480"/>
          <a:ext cx="4782312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104"/>
                <a:gridCol w="1594104"/>
                <a:gridCol w="1594104"/>
              </a:tblGrid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Passed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Rate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127 / 220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57.7%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157 / 220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71.4%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66560" y="3611880"/>
            <a:ext cx="4782312" cy="82981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+13.6 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4517136"/>
            <a:ext cx="4782312" cy="52806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absolute difference: 71.4% − 57.7%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766560" y="5120640"/>
            <a:ext cx="4782312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5349240"/>
            <a:ext cx="10908792" cy="868680"/>
          </a:xfrm>
          <a:prstGeom prst="round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486400"/>
            <a:ext cx="102687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In counts: 157 − 127 = 30 more passes per 220 samples.  Denominators fixed at 220 — no re-basing.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6D4B"/>
                </a:solidFill>
                <a:latin typeface="Georgia"/>
              </a:defRPr>
            </a:pPr>
            <a:r>
              <a:t>3 of 8 — Results  •  Units: pass rate in percent; difference in percentage points.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Timecourse: durability falls, treatment stays higher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896112"/>
            <a:ext cx="139903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14300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Durability retained (%) by exposure cycles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54480"/>
          <a:ext cx="713232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138160" y="1554480"/>
          <a:ext cx="341071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904"/>
                <a:gridCol w="1136904"/>
                <a:gridCol w="1136904"/>
              </a:tblGrid>
              <a:tr h="4754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Cycles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Treat.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86%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91%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72%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82%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58%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73%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38160" y="4160520"/>
            <a:ext cx="3410712" cy="1051560"/>
          </a:xfrm>
          <a:prstGeom prst="round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4297680"/>
            <a:ext cx="295351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At 300 cycles: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73% − 58% = 15 pts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in favour of treatment.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94960"/>
            <a:ext cx="1090879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Reading it: both groups decline from a common 100% start. The gap widens with use — 5 pts at 100 cycles, 10 pts at 200, 15 pts at 300. All eight measured values are shown; nothing is interpolated beyond 300 cycles.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6D4B"/>
                </a:solidFill>
                <a:latin typeface="Georgia"/>
              </a:defRPr>
            </a:pPr>
            <a:r>
              <a:t>4 of 8 — Timecourse  •  Units: durability in percent retained; exposure in cycles.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Subgroups P / Q / R: counts, not rates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896112"/>
            <a:ext cx="139903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143000"/>
            <a:ext cx="5669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Treatment pass counts by batch label (samples)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54480"/>
          <a:ext cx="566928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6560" y="1554480"/>
            <a:ext cx="4782312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157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432304"/>
            <a:ext cx="4782312" cy="512063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check: 52 + 52 + 53 = 157 treatment passes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766560" y="3017520"/>
            <a:ext cx="4782312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766560" y="3291840"/>
            <a:ext cx="4782312" cy="1828800"/>
          </a:xfrm>
          <a:prstGeom prst="round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3474720"/>
            <a:ext cx="4142232" cy="1508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Why no percentages here?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Subgroup denominators are not supplied, so subgroup pass rates cannot be calculated. Any % would be invented.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94960"/>
            <a:ext cx="1090879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What the counts do show: passes are spread almost evenly across P, Q and R (52, 52, 53), and they reconcile exactly to the treatment total of 157 / 220. They do not show that the three labels performed equally.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6D4B"/>
                </a:solidFill>
                <a:latin typeface="Georgia"/>
              </a:defRPr>
            </a:pPr>
            <a:r>
              <a:t>5 of 8 — Subgroups  •  Units: counts of passing samples, not percent.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Audit: what is not yet established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896112"/>
            <a:ext cx="139903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828800" y="1005840"/>
            <a:ext cx="85313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5233"/>
                </a:solidFill>
                <a:latin typeface="Georgia"/>
              </a:defRPr>
            </a:pPr>
            <a:r>
              <a:t>The numbers are internally consistent. Their evidential status is a separate question.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3453384" cy="274320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09928"/>
            <a:ext cx="323392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Duplicate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3233928" cy="1901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The initial extract awaits a duplicate-record audit. Until it is complete, counts of 127 and 157 should be treated as preliminary.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7784" y="1600200"/>
            <a:ext cx="3453384" cy="274320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7512" y="1709928"/>
            <a:ext cx="323392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No significance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7512" y="2331720"/>
            <a:ext cx="3233928" cy="1901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No claim of statistical significance is made in this report. The +13.6-point gap is reported as an observed difference only.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5488" y="1600200"/>
            <a:ext cx="3453384" cy="274320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5215" y="1709928"/>
            <a:ext cx="323392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No interval invented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5215" y="2331720"/>
            <a:ext cx="3233928" cy="1901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No confidence interval is presented. None was supplied, and constructing one here would add precision the source does not support.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17720"/>
            <a:ext cx="10908792" cy="1325880"/>
          </a:xfrm>
          <a:prstGeom prst="round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00600"/>
            <a:ext cx="1026871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Consistency checks that do pass:  127/220 = 57.7%  •  157/220 = 71.4%  •  52 + 52 + 53 = 157  •  durability series complete at 0 / 100 / 200 / 300 cycles.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Consistency is necessary — it is not, on its own, validity.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6D4B"/>
                </a:solidFill>
                <a:latin typeface="Georgia"/>
              </a:defRPr>
            </a:pPr>
            <a:r>
              <a:t>6 of 8 — Audit  •  All data are synthetic; audit status as stated in the source extract.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Interpretation: a sample difference, plainly stated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896112"/>
            <a:ext cx="139903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463040" y="1234440"/>
            <a:ext cx="9262872" cy="1417320"/>
          </a:xfrm>
          <a:prstGeom prst="round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853135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The decision-relevant finding: in this sample, the treatment pass rate is higher by 13.6 percentage points (71.4% vs. 57.7%), with durability 15 points higher at 300 cycles.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71800"/>
            <a:ext cx="3453384" cy="246888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3081528"/>
            <a:ext cx="323392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703320"/>
            <a:ext cx="3233928" cy="16276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A measured difference in these 440 samples, under controlled conditions with random assignment and identical equipment.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7784" y="2971800"/>
            <a:ext cx="3453384" cy="246888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7512" y="3081528"/>
            <a:ext cx="323392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What it is not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7512" y="3703320"/>
            <a:ext cx="3233928" cy="16276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Not evidence of broad field performance. One lab and one batch cannot represent other sites, batches or real-world conditions.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5488" y="2971800"/>
            <a:ext cx="3453384" cy="246888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5215" y="3081528"/>
            <a:ext cx="323392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What would change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5215" y="3703320"/>
            <a:ext cx="3233928" cy="16276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A failed duplicate audit, or replication that does not reproduce the gap, would materially weaken the finding.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0"/>
            <a:ext cx="1090879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Stakeholder judgement: the direction is favourable and the arithmetic reconciles — the scope is narrow and the audit is open.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6D4B"/>
                </a:solidFill>
                <a:latin typeface="Georgia"/>
              </a:defRPr>
            </a:pPr>
            <a:r>
              <a:t>7 of 8 — Interpretation  •  Difference stated in percentage points, not percent change.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Next step: replicate before any deployment claim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896112"/>
            <a:ext cx="139903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1234440"/>
            <a:ext cx="2521458" cy="105156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1307592"/>
            <a:ext cx="2375153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Complete duplicate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35857" y="1234440"/>
            <a:ext cx="2521458" cy="105156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09009" y="1307592"/>
            <a:ext cx="2375153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Replicate in 3 labs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61537" y="176022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231636" y="1234440"/>
            <a:ext cx="2521458" cy="105156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4788" y="1307592"/>
            <a:ext cx="2375153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Second batch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57316" y="176022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027413" y="1234440"/>
            <a:ext cx="2521458" cy="105156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00565" y="1307592"/>
            <a:ext cx="2375153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Then assess deployment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53093" y="176022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2606040"/>
            <a:ext cx="33832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3 labs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29000"/>
            <a:ext cx="33832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independent labs, blinded scoring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3977639"/>
            <a:ext cx="338328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2606040"/>
            <a:ext cx="33832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2nd batch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429000"/>
            <a:ext cx="33832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required before any deployment claim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07408" y="3977639"/>
            <a:ext cx="338328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165592" y="2606040"/>
            <a:ext cx="33832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A6D4B"/>
                </a:solidFill>
                <a:latin typeface="Georgia"/>
              </a:defRPr>
            </a:pPr>
            <a:r>
              <a:t>220 /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3429000"/>
            <a:ext cx="33832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preserve control group and group sizes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65592" y="3977639"/>
            <a:ext cx="338328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4251960"/>
            <a:ext cx="10908792" cy="1691640"/>
          </a:xfrm>
          <a:prstGeom prst="round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434840"/>
            <a:ext cx="10268712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Replication protocol: preserve controls  •  preregister exclusions before testing  •  record batch conditions for every run  •  blinded scoring throughout.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Decision rule: a deployment claim waits for the second batch and cross-lab results — not for this single-lab, single-batch sample.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6D4B"/>
                </a:solidFill>
                <a:latin typeface="Georgia"/>
              </a:defRPr>
            </a:pPr>
            <a:r>
              <a:t>8 of 8 — Next step  •  All data in this report are synthetic and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