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 rate (%)</c:v>
                </c:pt>
              </c:strCache>
            </c:strRef>
          </c:tx>
          <c:spPr>
            <a:ln w="38100">
              <a:solidFill>
                <a:srgbClr val="00FF99"/>
              </a:solidFill>
            </a:ln>
          </c:spPr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Control</c:v>
                </c:pt>
                <c:pt idx="1">
                  <c:v>Treatment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58</c:v>
                </c:pt>
                <c:pt idx="1">
                  <c:v>66.5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7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700">
                <a:solidFill>
                  <a:srgbClr val="E0E0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700">
                <a:solidFill>
                  <a:srgbClr val="E0E0E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7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ln w="38100">
              <a:solidFill>
                <a:srgbClr val="B0B0B0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87</c:v>
                </c:pt>
                <c:pt idx="2">
                  <c:v>73</c:v>
                </c:pt>
                <c:pt idx="3">
                  <c:v>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</c:v>
                </c:pt>
              </c:strCache>
            </c:strRef>
          </c:tx>
          <c:spPr>
            <a:ln w="38100">
              <a:solidFill>
                <a:srgbClr val="00FF99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92</c:v>
                </c:pt>
                <c:pt idx="2">
                  <c:v>83</c:v>
                </c:pt>
                <c:pt idx="3">
                  <c:v>74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E0E0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E0E0E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5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8755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MATERIAL SCREENING / PRELIMINARY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74320"/>
            <a:ext cx="960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01 / 08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58952"/>
            <a:ext cx="1109167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E0E0E0"/>
                </a:solidFill>
                <a:latin typeface="Calibri"/>
              </a:defRPr>
            </a:pPr>
            <a:r>
              <a:t>Does treatment improve material performance?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10512"/>
            <a:ext cx="107899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E0E0E0"/>
                </a:solidFill>
                <a:latin typeface="Calibri"/>
              </a:defRPr>
            </a:pPr>
            <a:r>
              <a:t>Compare treatment with control on strength-test pass rate and durability across repeated cycles.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62072"/>
            <a:ext cx="5394960" cy="1874519"/>
          </a:xfrm>
          <a:prstGeom prst="rect">
            <a:avLst/>
          </a:prstGeom>
          <a:solidFill>
            <a:srgbClr val="222222"/>
          </a:solidFill>
          <a:ln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072384"/>
            <a:ext cx="4892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F99"/>
                </a:solidFill>
                <a:latin typeface="Calibri"/>
              </a:defRPr>
            </a:pPr>
            <a:r>
              <a:t>PRIMARY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11880"/>
            <a:ext cx="4800600" cy="9326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Pass the predefined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strength test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862072"/>
            <a:ext cx="5422392" cy="1874519"/>
          </a:xfrm>
          <a:prstGeom prst="rect">
            <a:avLst/>
          </a:prstGeom>
          <a:solidFill>
            <a:srgbClr val="222222"/>
          </a:solidFill>
          <a:ln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3072384"/>
            <a:ext cx="4892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F99"/>
                </a:solidFill>
                <a:latin typeface="Calibri"/>
              </a:defRPr>
            </a:pPr>
            <a:r>
              <a:t>DURABILITY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611880"/>
            <a:ext cx="4800600" cy="9326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Durability (%) over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0–300 cycles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084064"/>
            <a:ext cx="11091672" cy="960120"/>
          </a:xfrm>
          <a:prstGeom prst="rect">
            <a:avLst/>
          </a:prstGeom>
          <a:solidFill>
            <a:srgbClr val="1A1A1A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276088"/>
            <a:ext cx="106070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E0E0E0"/>
                </a:solidFill>
                <a:latin typeface="Calibri"/>
              </a:defRPr>
            </a:pPr>
            <a:r>
              <a:t>Random assignment was used. Scope is limited to one lab and one batch.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 w="12700">
            <a:solidFill>
              <a:srgbClr val="45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6455664"/>
            <a:ext cx="1106424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FICTIONAL STUDY  /  ALL DATA ARE SYNTHETIC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8755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DESIGN / CONTROLLED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74320"/>
            <a:ext cx="960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02 / 08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58952"/>
            <a:ext cx="1109167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005840"/>
            <a:ext cx="11064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E0E0E0"/>
                </a:solidFill>
                <a:latin typeface="Calibri"/>
              </a:defRPr>
            </a:pPr>
            <a:r>
              <a:t>Two groups. Matched test conditions.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47088"/>
            <a:ext cx="3246120" cy="3621024"/>
          </a:xfrm>
          <a:prstGeom prst="rect">
            <a:avLst/>
          </a:prstGeom>
          <a:solidFill>
            <a:srgbClr val="222222"/>
          </a:solidFill>
          <a:ln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84831"/>
            <a:ext cx="2788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F99"/>
                </a:solidFill>
                <a:latin typeface="Calibri"/>
              </a:defRPr>
            </a:pPr>
            <a:r>
              <a:t>RANDOM ASSIGNMENT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88336"/>
            <a:ext cx="278892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E0E0E0"/>
                </a:solidFill>
                <a:latin typeface="Calibri"/>
              </a:defRPr>
            </a:pPr>
            <a:r>
              <a:t>400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84448"/>
            <a:ext cx="27889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E0E0E0"/>
                </a:solidFill>
                <a:latin typeface="Calibri"/>
              </a:defRPr>
            </a:pPr>
            <a:r>
              <a:t>samples total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4233672"/>
            <a:ext cx="2788920" cy="0"/>
          </a:xfrm>
          <a:prstGeom prst="line">
            <a:avLst/>
          </a:prstGeom>
          <a:ln w="127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4480560"/>
            <a:ext cx="2788920" cy="8046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E0E0E0"/>
                </a:solidFill>
                <a:latin typeface="Calibri"/>
              </a:defRPr>
            </a:pPr>
            <a:r>
              <a:t>200 control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E0E0E0"/>
                </a:solidFill>
                <a:latin typeface="Calibri"/>
              </a:defRPr>
            </a:pPr>
            <a:r>
              <a:t>200 treatment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114800" y="1847088"/>
          <a:ext cx="7525512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2756"/>
                <a:gridCol w="3762756"/>
              </a:tblGrid>
              <a:tr h="724204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Design feature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Reported condition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724204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Exposure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Equal duration in both groups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724204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Equipment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Same test equipment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724204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Endpoint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Pass predefined strength test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724208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Exclusions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Reviewed before final reporting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705856"/>
            <a:ext cx="11064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E0E0E0"/>
                </a:solidFill>
                <a:latin typeface="Calibri"/>
              </a:defRPr>
            </a:pPr>
            <a:r>
              <a:t>Reporting basis: retain a denominator of 200 samples for each group.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 w="12700">
            <a:solidFill>
              <a:srgbClr val="45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6455664"/>
            <a:ext cx="1106424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FICTIONAL STUDY  /  ALL DATA ARE SYNTHETIC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8755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RESULTS / STRENGTH-TEST ENDPOINT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74320"/>
            <a:ext cx="960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03 / 08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58952"/>
            <a:ext cx="1109167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005840"/>
            <a:ext cx="11064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E0E0E0"/>
                </a:solidFill>
                <a:latin typeface="Calibri"/>
              </a:defRPr>
            </a:pPr>
            <a:r>
              <a:t>Treatment pass rate is higher by 8.5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01368"/>
            <a:ext cx="58521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F99"/>
                </a:solidFill>
                <a:latin typeface="Calibri"/>
              </a:defRPr>
            </a:pPr>
            <a:r>
              <a:t>PASS RATE (%) / GROUP COMPARISON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2249424"/>
          <a:ext cx="608076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995160" y="1801368"/>
            <a:ext cx="464515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F99"/>
                </a:solidFill>
                <a:latin typeface="Calibri"/>
              </a:defRPr>
            </a:pPr>
            <a:r>
              <a:t>EXACT COUNTS / FIXED DENOMINATORS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995160" y="2249424"/>
          <a:ext cx="4645152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384"/>
                <a:gridCol w="1548384"/>
                <a:gridCol w="1548384"/>
              </a:tblGrid>
              <a:tr h="68580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Group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Passed / total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Rate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116 / 200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58.0%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133 / 200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66.5%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995160" y="4553712"/>
            <a:ext cx="4645152" cy="7589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0E0E0"/>
                </a:solidFill>
                <a:latin typeface="Calibri"/>
              </a:defRPr>
            </a:pPr>
            <a:r>
              <a:t>17 more passing samples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0E0E0"/>
                </a:solidFill>
                <a:latin typeface="Calibri"/>
              </a:defRPr>
            </a:pPr>
            <a:r>
              <a:t>133 − 116 = 17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513832"/>
            <a:ext cx="11091672" cy="585216"/>
          </a:xfrm>
          <a:prstGeom prst="rect">
            <a:avLst/>
          </a:prstGeom>
          <a:solidFill>
            <a:srgbClr val="2222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614416"/>
            <a:ext cx="10698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E0E0E0"/>
                </a:solidFill>
                <a:latin typeface="Calibri"/>
              </a:defRPr>
            </a:pPr>
            <a:r>
              <a:t>66.5% − 58.0% = 8.5 percentage points  |  Denominator: 200 per group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 w="12700">
            <a:solidFill>
              <a:srgbClr val="45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6455664"/>
            <a:ext cx="1106424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ALL DATA ARE SYNTHETIC  /  CONNECTING LINE COMPARES GROUPS; IT IS NOT A TIME TREND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8755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TIMECOURSE / DURABILITY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74320"/>
            <a:ext cx="960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04 / 08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58952"/>
            <a:ext cx="1109167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005840"/>
            <a:ext cx="11064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E0E0E0"/>
                </a:solidFill>
                <a:latin typeface="Calibri"/>
              </a:defRPr>
            </a:pPr>
            <a:r>
              <a:t>Durability declines in both groups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55648"/>
            <a:ext cx="74066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F99"/>
                </a:solidFill>
                <a:latin typeface="Calibri"/>
              </a:defRPr>
            </a:pPr>
            <a:r>
              <a:t>DURABILITY (%) BY EXPOSURE CYCLES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2130552"/>
          <a:ext cx="7543800" cy="275234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366760" y="2130552"/>
            <a:ext cx="3273552" cy="2752344"/>
          </a:xfrm>
          <a:prstGeom prst="rect">
            <a:avLst/>
          </a:prstGeom>
          <a:solidFill>
            <a:srgbClr val="222222"/>
          </a:solidFill>
          <a:ln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7072" y="2340864"/>
            <a:ext cx="28346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F99"/>
                </a:solidFill>
                <a:latin typeface="Calibri"/>
              </a:defRPr>
            </a:pPr>
            <a:r>
              <a:t>AT 300 CYCLES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7072" y="2843784"/>
            <a:ext cx="2834640" cy="6583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0FF99"/>
                </a:solidFill>
                <a:latin typeface="Calibri"/>
              </a:defRPr>
            </a:pPr>
            <a:r>
              <a:t>+15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7072" y="3648456"/>
            <a:ext cx="2834640" cy="10607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E0E0E0"/>
                </a:solidFill>
                <a:latin typeface="Calibri"/>
              </a:defRPr>
            </a:pPr>
            <a:r>
              <a:t>74% − 59% = 15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E0E0E0"/>
                </a:solidFill>
                <a:latin typeface="Calibri"/>
              </a:defRPr>
            </a:pPr>
            <a:r>
              <a:t>Treatment retains higher durability.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5138928"/>
          <a:ext cx="11091672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334"/>
                <a:gridCol w="2218334"/>
                <a:gridCol w="2218334"/>
                <a:gridCol w="2218334"/>
                <a:gridCol w="2218336"/>
              </a:tblGrid>
              <a:tr h="310896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Cycles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Control (%)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87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73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59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Treatment (%)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92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83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74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  <p:cxnSp>
        <p:nvCxnSpPr>
          <p:cNvPr id="13" name="Connector 12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 w="12700">
            <a:solidFill>
              <a:srgbClr val="45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6455664"/>
            <a:ext cx="1106424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FICTIONAL STUDY  /  ALL DATA ARE SYNTHETIC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8755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SUBGROUPS / REPORTED LABELS P, Q AND 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74320"/>
            <a:ext cx="960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05 / 08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58952"/>
            <a:ext cx="1109167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005840"/>
            <a:ext cx="11064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0E0E0"/>
                </a:solidFill>
                <a:latin typeface="Calibri"/>
              </a:defRPr>
            </a:pPr>
            <a:r>
              <a:t>Pass counts alone cannot establish subgroup rates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65376"/>
            <a:ext cx="5394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F99"/>
                </a:solidFill>
                <a:latin typeface="Calibri"/>
              </a:defRPr>
            </a:pPr>
            <a:r>
              <a:t>TREATMENT / PASSING SAMPLES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377440"/>
          <a:ext cx="539496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592531"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Batch label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Pass count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592531"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44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592531"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Q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44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592531"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45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592532"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133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263640" y="2377440"/>
            <a:ext cx="5376672" cy="2962656"/>
          </a:xfrm>
          <a:prstGeom prst="rect">
            <a:avLst/>
          </a:prstGeom>
          <a:solidFill>
            <a:srgbClr val="2222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606040"/>
            <a:ext cx="49194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FF99"/>
                </a:solidFill>
                <a:latin typeface="Calibri"/>
              </a:defRPr>
            </a:pPr>
            <a:r>
              <a:t>DENOMINATORS NOT SUPPLIED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182112"/>
            <a:ext cx="489204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These are counts,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not subgroup pass rates.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443984"/>
            <a:ext cx="489204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E0E0E0"/>
                </a:solidFill>
                <a:latin typeface="Calibri"/>
              </a:defRPr>
            </a:pPr>
            <a:r>
              <a:t>A rate requires the total number tested within each label.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596128"/>
            <a:ext cx="1106424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E0E0E0"/>
                </a:solidFill>
                <a:latin typeface="Calibri"/>
              </a:defRPr>
            </a:pPr>
            <a:r>
              <a:t>Count reconciliation: 44 + 44 + 45 = 133 treatment passes.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 w="12700">
            <a:solidFill>
              <a:srgbClr val="45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6455664"/>
            <a:ext cx="1106424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FICTIONAL STUDY  /  ALL DATA ARE SYNTHETIC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8755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AUDIT / DUPLICATE-RECORD CORRECTION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74320"/>
            <a:ext cx="960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06 / 08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58952"/>
            <a:ext cx="1109167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005840"/>
            <a:ext cx="11064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0E0E0"/>
                </a:solidFill>
                <a:latin typeface="Calibri"/>
              </a:defRPr>
            </a:pPr>
            <a:r>
              <a:t>Remove 11 duplicate positive treatment records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01952"/>
            <a:ext cx="11091672" cy="804672"/>
          </a:xfrm>
          <a:prstGeom prst="rect">
            <a:avLst/>
          </a:prstGeom>
          <a:solidFill>
            <a:srgbClr val="2222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93976"/>
            <a:ext cx="106070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E0E0E0"/>
                </a:solidFill>
                <a:latin typeface="Calibri"/>
              </a:defRPr>
            </a:pPr>
            <a:r>
              <a:t>144 − 11 = 133 treatment passes  |  Denominators remain 200 per group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971800"/>
          <a:ext cx="11091672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497433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Review item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Correction / reporting basis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497433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Duplicate positive records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Remove 11 from the treatment pass count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497433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Denominators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Remain correct: 200 samples per group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497433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Exclusion review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Reviewed before final reporting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497436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Statistical inference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 significance claim or confidence interval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669280"/>
            <a:ext cx="1106424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E0E0E0"/>
                </a:solidFill>
                <a:latin typeface="Calibri"/>
              </a:defRPr>
            </a:pPr>
            <a:r>
              <a:t>Corrected treatment rate: 133 / 200 × 100 = 66.5%. Findings remain preliminary.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 w="12700">
            <a:solidFill>
              <a:srgbClr val="45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6455664"/>
            <a:ext cx="1106424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FICTIONAL STUDY  /  ALL DATA ARE SYNTHETIC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8755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INTERPRETATION / EVIDENCE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74320"/>
            <a:ext cx="960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07 / 08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58952"/>
            <a:ext cx="1109167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005840"/>
            <a:ext cx="11064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E0E0E0"/>
                </a:solidFill>
                <a:latin typeface="Calibri"/>
              </a:defRPr>
            </a:pPr>
            <a:r>
              <a:t>A measured sample difference with limited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47672"/>
            <a:ext cx="3218688" cy="3529584"/>
          </a:xfrm>
          <a:prstGeom prst="rect">
            <a:avLst/>
          </a:prstGeom>
          <a:solidFill>
            <a:srgbClr val="2222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12848"/>
            <a:ext cx="2761488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F99"/>
                </a:solidFill>
                <a:latin typeface="Calibri"/>
              </a:defRPr>
            </a:pPr>
            <a:r>
              <a:t>OBSERVED DIFFERENCE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07208"/>
            <a:ext cx="2761488" cy="8961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100" b="1">
                <a:solidFill>
                  <a:srgbClr val="00FF99"/>
                </a:solidFill>
                <a:latin typeface="Calibri"/>
              </a:defRPr>
            </a:pPr>
            <a:r>
              <a:t>+8.5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67328"/>
            <a:ext cx="2761488" cy="7955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E0E0E0"/>
                </a:solidFill>
                <a:latin typeface="Calibri"/>
              </a:defRPr>
            </a:pPr>
            <a:r>
              <a:t>percentage points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E0E0E0"/>
                </a:solidFill>
                <a:latin typeface="Calibri"/>
              </a:defRPr>
            </a:pPr>
            <a:r>
              <a:t>in pass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773168"/>
            <a:ext cx="2761488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0E0E0"/>
                </a:solidFill>
                <a:latin typeface="Calibri"/>
              </a:defRPr>
            </a:pPr>
            <a:r>
              <a:t>66.5% − 58.0%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87368" y="1947672"/>
            <a:ext cx="7552944" cy="1609344"/>
          </a:xfrm>
          <a:prstGeom prst="rect">
            <a:avLst/>
          </a:prstGeom>
          <a:solidFill>
            <a:srgbClr val="222222"/>
          </a:solidFill>
          <a:ln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8" y="2148840"/>
            <a:ext cx="7095744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F99"/>
                </a:solidFill>
                <a:latin typeface="Calibri"/>
              </a:defRPr>
            </a:pPr>
            <a:r>
              <a:t>SUPPORTED BY THE REPORTED SAMPLE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2670048"/>
            <a:ext cx="7095744" cy="7132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E0E0E0"/>
                </a:solidFill>
                <a:latin typeface="Calibri"/>
              </a:defRPr>
            </a:pPr>
            <a:r>
              <a:t>Treatment has a higher observed pass rate and higher durability at cycles 100, 200 and 300.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87368" y="3822191"/>
            <a:ext cx="7552944" cy="1655064"/>
          </a:xfrm>
          <a:prstGeom prst="rect">
            <a:avLst/>
          </a:prstGeom>
          <a:solidFill>
            <a:srgbClr val="222222"/>
          </a:solidFill>
          <a:ln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4023360"/>
            <a:ext cx="7095744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F99"/>
                </a:solidFill>
                <a:latin typeface="Calibri"/>
              </a:defRPr>
            </a:pPr>
            <a:r>
              <a:t>LIMITS ON GENERALIZATION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4544568"/>
            <a:ext cx="7095744" cy="7406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E0E0E0"/>
                </a:solidFill>
                <a:latin typeface="Calibri"/>
              </a:defRPr>
            </a:pPr>
            <a:r>
              <a:t>Results from one lab and one batch do not establish broad field performance.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87568"/>
            <a:ext cx="1106424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E0E0E0"/>
                </a:solidFill>
                <a:latin typeface="Calibri"/>
              </a:defRPr>
            </a:pPr>
            <a:r>
              <a:t>The observed pattern supports replication before any deployment claim.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 w="12700">
            <a:solidFill>
              <a:srgbClr val="45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6455664"/>
            <a:ext cx="1106424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FICTIONAL STUDY  /  ALL DATA ARE SYNTHETIC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8755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NEXT STEP / REPLICATION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74320"/>
            <a:ext cx="960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08 / 08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58952"/>
            <a:ext cx="1109167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005840"/>
            <a:ext cx="11064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E0E0E0"/>
                </a:solidFill>
                <a:latin typeface="Calibri"/>
              </a:defRPr>
            </a:pPr>
            <a:r>
              <a:t>Replicate in 4 independent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73936"/>
            <a:ext cx="110642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E0E0E0"/>
                </a:solidFill>
                <a:latin typeface="Calibri"/>
              </a:defRPr>
            </a:pPr>
            <a:r>
              <a:t>Use blinded scoring to evaluate whether the observed pattern reproduces.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532888"/>
          <a:ext cx="11091672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526694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Replication requirement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526694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Preserve controls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Maintain the treatment–control comparison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526694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Preregister exclusions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Define exclusion rules before evaluation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526694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Record batch conditions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Document conditions for peer review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526696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Use blinded scoring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Limit scoring bias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5458968"/>
            <a:ext cx="11091672" cy="694944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5605272"/>
            <a:ext cx="1065276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A1A1A"/>
                </a:solidFill>
                <a:latin typeface="Calibri"/>
              </a:defRPr>
            </a:pPr>
            <a:r>
              <a:t>A second batch is needed before any deployment claim.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 w="12700">
            <a:solidFill>
              <a:srgbClr val="45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6455664"/>
            <a:ext cx="1106424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FICTIONAL STUDY  /  ALL DATA ARE SYNTHETIC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