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1220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Scenario saving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138.4</c:v>
                </c:pt>
                <c:pt idx="1">
                  <c:v>173</c:v>
                </c:pt>
                <c:pt idx="2">
                  <c:v>207.6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for 3-yr break-even (528 ÷ 3)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176</c:v>
                </c:pt>
                <c:pt idx="1">
                  <c:v>176</c:v>
                </c:pt>
                <c:pt idx="2">
                  <c:v>176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EQUIPMENT PROCUREMENT · DECISION FOR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58521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Select Option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56692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$528k investment returns $173k per year: simple payback 3.1 years; three-year net −$9k.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788920"/>
            <a:ext cx="56692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92608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WHY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5669280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Highest annual saving: $173k, +$51k/yr vs B and +$94k/yr vs 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99.9% reference uptime: the only option above the 99.6% gate threshold (reference, not proof)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Trade-off: largest outlay, $162k more than B; −$9k net at year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West site demand is 8 units/day above capacity; fix before the week-10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914400"/>
            <a:ext cx="2423160" cy="1874519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675120" y="914400"/>
            <a:ext cx="242316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0" y="11887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$528k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65960"/>
            <a:ext cx="2057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(one-time)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914400"/>
            <a:ext cx="2423160" cy="1874519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281160" y="914400"/>
            <a:ext cx="242316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64040" y="11887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$173k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1965960"/>
            <a:ext cx="2057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(per year)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971800"/>
            <a:ext cx="2423160" cy="1874519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675120" y="2971800"/>
            <a:ext cx="242316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0" y="32461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3.1 yrs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23360"/>
            <a:ext cx="2057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Simple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528 ÷ 173 = 3.05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2971800"/>
            <a:ext cx="2423160" cy="1874519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281160" y="2971800"/>
            <a:ext cx="242316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64040" y="32461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−$9k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023360"/>
            <a:ext cx="2057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Three-year net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3 × 173 − 528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035040"/>
            <a:ext cx="11201400" cy="0"/>
          </a:xfrm>
          <a:prstGeom prst="line">
            <a:avLst/>
          </a:prstGeom>
          <a:ln w="127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All data synthetic. Approval starts the 14-week roadmap; rollout (weeks 11–14) proceeds only on a GO at the week-10 gate.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Option C delivers the highest saving and uptime, at the highest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Three procurement paths · reference figures unchanged · $k unless stated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7589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 · selected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Payback (yrs) = inv ÷ saving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3-yr net ($k) = 3 × saving − inv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≥ 99.6% gate?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6195060" y="1645920"/>
            <a:ext cx="189738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195060" y="5486400"/>
            <a:ext cx="189738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195060" y="1645920"/>
            <a:ext cx="0" cy="384048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92440" y="1645920"/>
            <a:ext cx="0" cy="384048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412480" y="1645920"/>
            <a:ext cx="3291840" cy="384048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78308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READING THE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194560"/>
            <a:ext cx="2971800" cy="3200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A: lowest cost and fastest payback (2.7 yrs), but weakest uptime (97.8%).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B: breaks even at year 3, but 99.1% uptime is below the 99.6% gate.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C: $173k/yr and 99.9% uptime; costs $162k more than B and nets −$9k at year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Reference uptime is not proof of operational performance. C's 99.9% reference clears the 99.6% gate threshold on paper; it must still be demonstrated as measured uptime during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Output ran 720 units (10.9%) below target over M1–M6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Monthly output vs 1,100-unit monthly target · current performance baseline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Units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223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38160" y="1600200"/>
          <a:ext cx="3566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/>
                <a:gridCol w="891540"/>
                <a:gridCol w="891540"/>
                <a:gridCol w="89154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Month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Actual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−360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−320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1,220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−190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5,880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6,600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−720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5029200"/>
            <a:ext cx="3566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Shortfall: 720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5486400"/>
            <a:ext cx="35661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6,600 − 5,880 = 720 (10.9% of target). Target met in M3–M5; M1–M2 misses total 680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Three-year net turns positive only if saving beats the base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Option C saving at 80% / 100% / 120% of $173k per year · investment $528k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Annual saving, $k per 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60350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78308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138.4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−112.8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207.6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+94.8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3931920"/>
            <a:ext cx="475488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Payback = 528 ÷ saving;  3-yr net = 3 × saving − 528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Downside: 528 ÷ 138.4 = 3.8 yrs;  415.2 − 528 = −112.8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Base: 528 ÷ 173 = 3.1 yrs;  519 − 528 = −9.0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Upside: 528 ÷ 207.6 = 2.5 yrs;  622.8 − 528 = +94.8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257800"/>
            <a:ext cx="4754880" cy="96012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5303520"/>
            <a:ext cx="45262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3-yr break-even needs ≥$176k/yr (528 ÷ 3), 1.7% above base. Each ±20% swing moves the 3-yr net by ±$103.8k.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West demand exceeds capacity by 8 units/day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Daily demand vs capacity by site · units per day · headroom = capacity − demand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demand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capacity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DEMAND ABOVE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868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880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Net surplus masks West gap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02920" y="3291840"/>
            <a:ext cx="11155680" cy="0"/>
          </a:xfrm>
          <a:prstGeom prst="line">
            <a:avLst/>
          </a:prstGeom>
          <a:ln w="31750">
            <a:solidFill>
              <a:srgbClr val="FF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3840480"/>
            <a:ext cx="11155680" cy="0"/>
          </a:xfrm>
          <a:prstGeom prst="line">
            <a:avLst/>
          </a:prstGeom>
          <a:ln w="31750">
            <a:solidFill>
              <a:srgbClr val="FF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3291840"/>
            <a:ext cx="0" cy="548640"/>
          </a:xfrm>
          <a:prstGeom prst="line">
            <a:avLst/>
          </a:prstGeom>
          <a:ln w="31750">
            <a:solidFill>
              <a:srgbClr val="FF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58600" y="3291840"/>
            <a:ext cx="0" cy="548640"/>
          </a:xfrm>
          <a:prstGeom prst="line">
            <a:avLst/>
          </a:prstGeom>
          <a:ln w="31750">
            <a:solidFill>
              <a:srgbClr val="FF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2920" y="4617720"/>
            <a:ext cx="3566160" cy="13716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North +4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1.7% headroom on 240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617720"/>
            <a:ext cx="3566160" cy="13716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70916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East +16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39496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5.2% headroom on 310 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4617720"/>
            <a:ext cx="3566160" cy="1371600"/>
          </a:xfrm>
          <a:prstGeom prst="rect">
            <a:avLst/>
          </a:prstGeom>
          <a:solidFill>
            <a:srgbClr val="242424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70916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5C5C"/>
                </a:solidFill>
                <a:latin typeface="Calibri"/>
              </a:defRPr>
            </a:pPr>
            <a:r>
              <a:t>West −8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39496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Demand 2.4% above 330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Gate requires all sites to pass capacity validation: close West's 8 units/day gap (uplift, or evaluate shifting load to East's 16 spare) before the week-10 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14-week roadmap with a single go/no-go gate in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Technical and People lanes · Validate and Train run in parallel after Build and both feed the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0" y="1691640"/>
          <a:ext cx="947318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676656"/>
                <a:gridCol w="676656"/>
                <a:gridCol w="676656"/>
                <a:gridCol w="676656"/>
                <a:gridCol w="676656"/>
                <a:gridCol w="676656"/>
                <a:gridCol w="676656"/>
                <a:gridCol w="676656"/>
                <a:gridCol w="676656"/>
                <a:gridCol w="676656"/>
                <a:gridCol w="676656"/>
                <a:gridCol w="676656"/>
                <a:gridCol w="67665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468880"/>
            <a:ext cx="16002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16002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468880"/>
            <a:ext cx="1261872" cy="5486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468880"/>
            <a:ext cx="12618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W1–2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3592" y="2468880"/>
            <a:ext cx="1938528" cy="5486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468880"/>
            <a:ext cx="193852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W3–5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2468880"/>
            <a:ext cx="1938528" cy="5486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468880"/>
            <a:ext cx="193852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W6–8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566160"/>
            <a:ext cx="1938528" cy="5486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566160"/>
            <a:ext cx="193852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W6–8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0183" y="2468880"/>
            <a:ext cx="585216" cy="16459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926080"/>
            <a:ext cx="676656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W10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468880"/>
            <a:ext cx="2615184" cy="164592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926080"/>
            <a:ext cx="2615184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W11–14 · all sites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02152" y="2743200"/>
            <a:ext cx="9144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32120" y="2743200"/>
            <a:ext cx="9144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77840" y="2743200"/>
            <a:ext cx="0" cy="109728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77840" y="3840480"/>
            <a:ext cx="457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62088" y="2743200"/>
            <a:ext cx="768095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62088" y="3840480"/>
            <a:ext cx="768095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15400" y="3291840"/>
            <a:ext cx="9144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457200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Schedule: Design (2 wks) → Build (3) → Validate + Train in parallel (3) → W9 → Gate W10 (1) → Rollout (4) = 14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749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Validate and Train both start when Build ends (W5) and must both finish by W8; week 9 has no scheduled activity before the week-10 gate. A slip in either holds the gate. Supplier delay is the main threat to Build (see risk).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Week-10 gate: GO only if all three conditions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Every condition must pass; any single failure means HOLD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645920"/>
            <a:ext cx="5486400" cy="11430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120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· Measured uptime ≥ 99.6%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Option C reference is 99.9%, but reference uptime is not proof; it must be measured in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71800"/>
            <a:ext cx="5486400" cy="11430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120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 · All sites pass capacity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Today West fails: demand 338 vs capacity 330 units/day (−8)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97680"/>
            <a:ext cx="5486400" cy="11430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120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 · Training and validation both finish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Both run weeks 6–8 after Build; the gate sits in week 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2217420"/>
            <a:ext cx="5029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3543300"/>
            <a:ext cx="5029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4869180"/>
            <a:ext cx="5029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2240" y="2217420"/>
            <a:ext cx="0" cy="265176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3543300"/>
            <a:ext cx="36576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58000" y="2994660"/>
            <a:ext cx="1554480" cy="109728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154680"/>
            <a:ext cx="1554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ALL THREE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MET?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3543300"/>
            <a:ext cx="36576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78240" y="2377440"/>
            <a:ext cx="0" cy="228600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098280" y="1645920"/>
            <a:ext cx="2606040" cy="14630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874519"/>
            <a:ext cx="24231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YES → 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Proceed to rollout, weeks 11–14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78240" y="2377440"/>
            <a:ext cx="32004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098280" y="3931920"/>
            <a:ext cx="2606040" cy="1463040"/>
          </a:xfrm>
          <a:prstGeom prst="rect">
            <a:avLst/>
          </a:prstGeom>
          <a:solidFill>
            <a:srgbClr val="24242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160520"/>
            <a:ext cx="24231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NO → 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Fix any unmet condition, re-test, re-gate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78240" y="4663440"/>
            <a:ext cx="32004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FF99"/>
                </a:solidFill>
                <a:latin typeface="Calibri"/>
              </a:defRPr>
            </a:pPr>
            <a:r>
              <a:t>Reference uptime is not proof of operational performance: the 99.6% test uses measured uptime from validation, not the 99.9% reference figure.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Supplier delay is the top risk: pre-order critical parts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8872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37160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↑ IMPACT (1–5)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737360"/>
            <a:ext cx="4572000" cy="4114800"/>
          </a:xfrm>
          <a:prstGeom prst="rect">
            <a:avLst/>
          </a:prstGeom>
          <a:solidFill>
            <a:srgbClr val="22222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103120" y="1737360"/>
            <a:ext cx="0" cy="411480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1737360"/>
            <a:ext cx="0" cy="411480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931920" y="1737360"/>
            <a:ext cx="0" cy="411480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46320" y="1737360"/>
            <a:ext cx="0" cy="411480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2560320"/>
            <a:ext cx="457200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3383280"/>
            <a:ext cx="457200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4206240"/>
            <a:ext cx="457200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5029200"/>
            <a:ext cx="457200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98424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0720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3016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5312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21792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LIKELIHOOD (1–5)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3429000"/>
            <a:ext cx="822960" cy="7315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3520440"/>
            <a:ext cx="822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Supplier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delay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2606040"/>
            <a:ext cx="822960" cy="73152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2697480"/>
            <a:ext cx="822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Training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gap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09360" y="1737360"/>
          <a:ext cx="5394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10287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 (L, I)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Score = L × I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Supplier delay (L4, I3)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 to protect Build (W3–5)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gap (L2, I4)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 × 4 = 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 during Train (W6–8)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 &gt; 8: act on supplier delay first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gap: lower likelihood, higher impact (4)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