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</c:v>
                </c:pt>
                <c:pt idx="1">
                  <c:v>343</c:v>
                </c:pt>
                <c:pt idx="2">
                  <c:v>499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 ($k/yr)</c:v>
                </c:pt>
              </c:strCache>
            </c:strRef>
          </c:tx>
          <c:spPr>
            <a:solidFill>
              <a:srgbClr val="7FB3D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1350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9C4CF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129.6</c:v>
                </c:pt>
                <c:pt idx="1">
                  <c:v>162</c:v>
                </c:pt>
                <c:pt idx="2">
                  <c:v>194.4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rgbClr val="B9C4C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RECOMMENDATION: SELECT OPTION 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Equipment investment decision | Board capital allocation | All data synthetic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6766560" cy="15544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217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SELECT OPTION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6217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Highest annual saving ($162k/yr) and highest reference uptime (99.9%) of the three options.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691640"/>
            <a:ext cx="4069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874519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DECISION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286000"/>
            <a:ext cx="3474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Approve $499k for Option C, subject to the Week 10 gate (Slide 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$499k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4937760"/>
            <a:ext cx="26974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83280" y="356616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$162k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38912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0" y="4937760"/>
            <a:ext cx="26974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63640" y="356616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3.1 yrs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38912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Simple payback  499 / 162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4937760"/>
            <a:ext cx="26974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0" y="3566160"/>
            <a:ext cx="2542032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$-13k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389120"/>
            <a:ext cx="2542032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3-year net  3x162 - 499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0" y="4937760"/>
            <a:ext cx="2542032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02920" y="525780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636E"/>
                </a:solidFill>
                <a:latin typeface="Arial"/>
              </a:defRPr>
            </a:pPr>
            <a:r>
              <a:t>Interpretation: Option C is near break-even by year 3 (-$13k) and positive thereafter if savings persist. This deck tests that case against performance, capacity, downside and delivery risk before rollout.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1 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OPTIONS: C MAXIMISES SAVING AND REFERENCE UPTIME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Reference options stay unchanged | Payback = investment / saving | 3-yr net = 3 x saving - investment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675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520"/>
                <a:gridCol w="1112520"/>
                <a:gridCol w="1112520"/>
                <a:gridCol w="1112520"/>
                <a:gridCol w="1112520"/>
                <a:gridCol w="1112520"/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(%)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  SELECTED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160520"/>
            <a:ext cx="6675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READING THE 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66751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A is cheapest and pays back fastest, but saving and uptime are lowest.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B adds $41k/yr saving over A for $146k more capital; uptime +1.3 pts.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C adds a further $49k/yr over B for $156k more; uptime +0.8 pts to 99.9%.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91640"/>
            <a:ext cx="4160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INVESTMENT vs ANNUAL SAVING ($k)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98079" y="2057400"/>
          <a:ext cx="41605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98079" y="5532120"/>
            <a:ext cx="4160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5650992"/>
            <a:ext cx="3840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C: highest saving and uptime, highest capital.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2 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PERFORMANCE: STRONG RECOVERY NARROWED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SHORTFALL TO 110 UNITS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Monthly output vs fixed target of 1,100 units | Units per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737360"/>
          <a:ext cx="7498079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737360"/>
            <a:ext cx="33375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6,490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450591"/>
            <a:ext cx="33375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Actual total (units)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0" y="2926080"/>
            <a:ext cx="333756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21040" y="3063240"/>
            <a:ext cx="33375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776472"/>
            <a:ext cx="33375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Target total (units)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21040" y="4251960"/>
            <a:ext cx="333756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21040" y="4389120"/>
            <a:ext cx="33375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392B"/>
                </a:solidFill>
                <a:latin typeface="Arial"/>
              </a:defRPr>
            </a:pPr>
            <a:r>
              <a:t>-110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5102352"/>
            <a:ext cx="33375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Shortfall (units)  98.3% of 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5577840"/>
            <a:ext cx="333756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2920" y="589788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M1-M2 missed target by 240 and 310 units. M3-M6 exceeded target every month (M4: 1,350, +250), recovering most — but not all — of the early gap: 6,490 vs 6,600.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3 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SCENARIO: C NEEDS ABOVE-BASE SAVING TO CLEAR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3-YEAR BREAK-EVEN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Option C investment $499k | Saving at 80% / 100% / 120% of $162k per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5669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ANNUAL SAVING BY SCENARIO ($k/yr)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56692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783080"/>
          <a:ext cx="5166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(80%)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129.6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-110.2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(100%)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 (120%)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194.4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+84.2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389120"/>
            <a:ext cx="5166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ARITHMETIC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754880"/>
            <a:ext cx="51663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Payback = 499 /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3-year net = 3 x saving - 499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Break-even saving = 499 / 3 = $166.3k/yr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52160"/>
            <a:ext cx="111831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t>Downside leaves a $110.2k three-year gap; base case is $13.0k short. Protecting saving delivery is the financial priority.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4  SCENARIO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CAPACITY: NO SITE EXCEEDS CAPACITY — WEST 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TIGHTEST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Daily demand vs daily capacity (units/day) | Headroom = capacity - demand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6309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Utilisation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92.9%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Within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89.4%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Within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96.7%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Within — tight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34340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09160"/>
            <a:ext cx="63093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No site has demand above capacity.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West has only 11 units/day spare (3.3% of capacity), so small demand growth or downtime would breach it first. Prioritise West in capacity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526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DEMAND vs CAPACITY (units/day)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132320" y="2103120"/>
          <a:ext cx="45262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5 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ROADMAP: VALIDATE AND TRAIN IN PARALLEL TO THE WEEK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10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14-week plan | Both Validate and Train feed the gate before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9509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Wk 1     2     3     4     5     6     7     8     9     10    11    12    13    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011680"/>
            <a:ext cx="9509760" cy="0"/>
          </a:xfrm>
          <a:prstGeom prst="line">
            <a:avLst/>
          </a:prstGeom>
          <a:ln w="12700">
            <a:solidFill>
              <a:srgbClr val="B9C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33172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88920"/>
            <a:ext cx="11183112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2240280"/>
            <a:ext cx="1362456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359152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Design 1-2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1256" y="2240280"/>
            <a:ext cx="2039112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2359152"/>
            <a:ext cx="1965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Build 3-5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1224" y="2240280"/>
            <a:ext cx="2039112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2359152"/>
            <a:ext cx="195681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Validate 6-8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21224" y="3520440"/>
            <a:ext cx="2039112" cy="502920"/>
          </a:xfrm>
          <a:prstGeom prst="rect">
            <a:avLst/>
          </a:prstGeom>
          <a:solidFill>
            <a:srgbClr val="7FB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3639312"/>
            <a:ext cx="195681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Train 6-8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0" y="2743200"/>
            <a:ext cx="457200" cy="77724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60336" y="2487168"/>
            <a:ext cx="685800" cy="347472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260336" y="3383280"/>
            <a:ext cx="685800" cy="384048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946136" y="2606040"/>
            <a:ext cx="676656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880360"/>
            <a:ext cx="658368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Wk 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22792" y="3108960"/>
            <a:ext cx="73152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695944" y="2834640"/>
            <a:ext cx="2642616" cy="54864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4" y="2990088"/>
            <a:ext cx="25603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Rollout 11-14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7200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00600"/>
            <a:ext cx="11155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Sequence: Design (1-2) -&gt; Build (3-5) -&gt; Validate and Train in parallel (6-8) -&gt; Gate (10) -&gt; Rollout (11-14). Both parallel streams feed the gate. Week 9 is the interval between the parallel streams ending (Week 8) and the Week 10 gate. No rollout before both finish and pass the gate.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6 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GATE: GO ONLY IF ALL FOUR CONDITIONS ARE MET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Week 10 decision | Any unmet condition means HOLD — no partial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694944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GO CRITERIA  (ALL REQUIRED)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309360" cy="2743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1.  Uptime at least 99.6% — demonstrated in operation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2.  All sites pass capacity validation (North, East, West)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3.  Validation finished (Technical lane)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4.  Training finished (People lane)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737360"/>
            <a:ext cx="3913632" cy="1645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68880"/>
            <a:ext cx="3383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All four met -&gt; proceed to rollout, weeks 11-14.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657600"/>
            <a:ext cx="3913632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840480"/>
            <a:ext cx="3383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0392B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389120"/>
            <a:ext cx="3383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Otherwise hold, remediate, and re-test. Do not roll 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32120"/>
            <a:ext cx="1118311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Caveat: Option C reference uptime (99.9%) is not proof of operational performance — uptime of at least 99.6% must be demonstrated at the gate.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7  GATE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RISK: SUPPLIER DELAY IS LIKELIER; TRAINING GAP HITS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HARDER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Likelihood (x) and impact (y), each scored 1-5 | Higher and further right = greater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54864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IMPACT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783080"/>
            <a:ext cx="45720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B9C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11680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26080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2514600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3246120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3977639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" y="4709160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14800" y="3429000"/>
            <a:ext cx="36576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840480"/>
            <a:ext cx="1463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0392B"/>
                </a:solidFill>
                <a:latin typeface="Arial"/>
              </a:defRPr>
            </a:pPr>
            <a:r>
              <a:t>Supplier delay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697480"/>
            <a:ext cx="365760" cy="365760"/>
          </a:xfrm>
          <a:prstGeom prst="round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1089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Training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1          2          3          4          5     LIKELIHOOD -&gt;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26480" y="1783080"/>
          <a:ext cx="5532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</a:tblGrid>
              <a:tr h="670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 (LxI)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126480" y="4023360"/>
            <a:ext cx="5532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MITIGATIONS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55321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Supplier delay (4 x 3): pre-order critical parts.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Training gap (2 x 4): supervised practice.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Both mitigations should be in place before the Week 10 gate.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98932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t>Board action: approve Option C ($499k) with mitigations funded and rollout conditional on the Week 10 GO gate.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8 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