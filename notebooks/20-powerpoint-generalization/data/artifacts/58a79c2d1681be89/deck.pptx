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FF704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39</c:v>
                </c:pt>
                <c:pt idx="2">
                  <c:v>31</c:v>
                </c:pt>
                <c:pt idx="3">
                  <c:v>47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FF7043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</c:v>
                </c:pt>
                <c:pt idx="1">
                  <c:v>22</c:v>
                </c:pt>
                <c:pt idx="2">
                  <c:v>14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291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YOU'RE INVITED  •  FICTIONAL CAMPAIGN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13232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263238"/>
                </a:solidFill>
                <a:latin typeface="Arial"/>
              </a:defRPr>
            </a:pPr>
            <a:r>
              <a:t>Bring it.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263238"/>
                </a:solidFill>
                <a:latin typeface="Arial"/>
              </a:defRPr>
            </a:pPr>
            <a:r>
              <a:t>Let's fix it —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66751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7474F"/>
                </a:solidFill>
                <a:latin typeface="Arial"/>
              </a:defRPr>
            </a:pPr>
            <a:r>
              <a:t>A neighborhood Repair Café where local residents bring one small household item, learn alongside volunteers, and see what can be repaired.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703320"/>
            <a:ext cx="2057400" cy="566928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40480"/>
            <a:ext cx="1783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Events: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3822191"/>
            <a:ext cx="3840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Sign up by the end of Week 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4617720"/>
            <a:ext cx="6309360" cy="0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4846320"/>
            <a:ext cx="67665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46E7A"/>
                </a:solidFill>
                <a:latin typeface="Arial"/>
              </a:defRPr>
            </a:pPr>
            <a:r>
              <a:t>Everyone is welcome — as a participant with an item, or as a volunteer. No experience needed to take part.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640080"/>
            <a:ext cx="34747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822960"/>
            <a:ext cx="28346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WHO CAN JOIN?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Local residents — bring an item or lend a hand.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2331720"/>
            <a:ext cx="3154680" cy="14173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514600"/>
            <a:ext cx="256032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HOW IT FLOWS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Arrive → assess → repair together → follow 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4023360"/>
            <a:ext cx="34747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206240"/>
            <a:ext cx="28346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WANT TO HELP?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Volunteer in welcome, repair support, or safety check.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6400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Fictional campaign • All data are synthetic • No repair is guaranteed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1  / 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162 seats across four sessions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7132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46E7A"/>
                </a:solidFill>
                <a:latin typeface="Arial"/>
              </a:defRPr>
            </a:pPr>
            <a:r>
              <a:t>Pick the session that suits you — every session lasts 2 hours.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676656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6126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Seats per session  (seats)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2788920"/>
          <a:ext cx="6217920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63840" y="2148840"/>
            <a:ext cx="3566160" cy="1600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2377440"/>
            <a:ext cx="29260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TOTAL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162 seats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4023360"/>
            <a:ext cx="324612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4251960"/>
            <a:ext cx="265176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THE MATH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45 + 39 + 31 + 47 = 162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4 sessions × 2 hours = 8 event-hours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7772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7474F"/>
                </a:solidFill>
                <a:latin typeface="Arial"/>
              </a:defRPr>
            </a:pPr>
            <a:r>
              <a:t>Walk-ins are welcome within session capacity — signing up helps us plan.  →  See slide 6.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2  / 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VOLUNTEERS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37 neighbors, 111 volunteer-hours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8404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32918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7043"/>
                </a:solidFill>
                <a:latin typeface="Arial"/>
              </a:defRPr>
            </a:pPr>
            <a:r>
              <a:t>37 volunteers  ×  3 hours each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7043"/>
                </a:solidFill>
                <a:latin typeface="Arial"/>
              </a:defRPr>
            </a:pPr>
            <a:r>
              <a:t>=  111 volunteer-hours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783080"/>
            <a:ext cx="621792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7474F"/>
                </a:solidFill>
                <a:latin typeface="Arial"/>
              </a:defRPr>
            </a:pPr>
            <a:r>
              <a:t>You don't need to be a specialist to help.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7474F"/>
                </a:solidFill>
                <a:latin typeface="Arial"/>
              </a:defRPr>
            </a:pPr>
            <a:r>
              <a:t>Training is in Week 2, and every role supports the others.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3291840"/>
            <a:ext cx="10881360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3520440"/>
            <a:ext cx="338328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749039"/>
            <a:ext cx="27432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1  •  WELCOME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Greet arrivals, check people in, explain how the session 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520440"/>
            <a:ext cx="3383280" cy="192024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3749039"/>
            <a:ext cx="27432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2  •  REPAIR SUPPORT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Work alongside participants to assess and attempt fixes together.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520440"/>
            <a:ext cx="338328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3749039"/>
            <a:ext cx="27432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3  •  SAFETY CHECK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Look over items and work areas before and after each repair attempt.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60720"/>
            <a:ext cx="10515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46E7A"/>
                </a:solidFill>
                <a:latin typeface="Arial"/>
              </a:defRPr>
            </a:pPr>
            <a:r>
              <a:t>No specialist qualification is implied by any volunteer role.  Volunteer sign-up closes at the end of Week 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3  / 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8686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A small, transparent $3,160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68580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46E7A"/>
                </a:solidFill>
                <a:latin typeface="Arial"/>
              </a:defRPr>
            </a:pPr>
            <a:r>
              <a:t>Every dollar is listed below. Nothing is hidden in a footnote.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694944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37744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(USD)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$1,270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$950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$640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$3,160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01000" y="2103120"/>
            <a:ext cx="3520440" cy="150876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2304288"/>
            <a:ext cx="301752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CHECK THE SUM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$1,270 + $950 + $640 + $300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=  $3,160 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3886200"/>
            <a:ext cx="33375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4069080"/>
            <a:ext cx="274320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PER SEAT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$3,160 ÷ 162 seats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≈  $19.51 per seat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107899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7474F"/>
                </a:solidFill>
                <a:latin typeface="Arial"/>
              </a:defRPr>
            </a:pPr>
            <a:r>
              <a:t>Materials are the largest share ($1,270 of $3,160 ≈ 40%). Access support is budgeted at $300 in this synthetic plan.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4  / 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Six weeks from sign-up to follow-up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80160" y="2788920"/>
            <a:ext cx="9601200" cy="0"/>
          </a:xfrm>
          <a:prstGeom prst="line">
            <a:avLst/>
          </a:prstGeom>
          <a:ln w="381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783080"/>
            <a:ext cx="1965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5087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WEEK 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Registration opens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3246120"/>
            <a:ext cx="1965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3429000"/>
            <a:ext cx="15087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WEEK 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Training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+ sign-up closes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1783080"/>
            <a:ext cx="1965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1965960"/>
            <a:ext cx="15087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WEEK 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Venue confirmation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3246120"/>
            <a:ext cx="1965960" cy="14173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3429000"/>
            <a:ext cx="15087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WEEK 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EVENTS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4 sessions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1783080"/>
            <a:ext cx="1965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29800" y="1965960"/>
            <a:ext cx="15087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WEEK 6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Follow-up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1 week after events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627632" y="2788920"/>
            <a:ext cx="0" cy="411480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858768" y="2788920"/>
            <a:ext cx="0" cy="457200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144768" y="2788920"/>
            <a:ext cx="0" cy="411480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94192" y="2788920"/>
            <a:ext cx="0" cy="457200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588752" y="2788920"/>
            <a:ext cx="0" cy="411480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194560" y="5074920"/>
            <a:ext cx="7772400" cy="96012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285232"/>
            <a:ext cx="71323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⚠  Week 5 events depend on BOTH Week 2 training AND Week 3 venue confirmation.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5  / 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PARTICIPATION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Bring one small household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73152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46E7A"/>
                </a:solidFill>
                <a:latin typeface="Arial"/>
              </a:defRPr>
            </a:pPr>
            <a:r>
              <a:t>We'll assess it together, try a fix if we can, and talk through next steps.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290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278892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1  •  BRING ONE ITEM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One small household item per participant keeps sessions moving.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94560"/>
            <a:ext cx="34290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423160"/>
            <a:ext cx="278892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2  •  REPAIR TOGETHER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Repairs depend on the skills and parts available on the 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194560"/>
            <a:ext cx="338328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423160"/>
            <a:ext cx="274320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3  •  WALK-INS WELCOME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Within session capacity — North 45, East 39, South 31, West 47.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297680"/>
            <a:ext cx="9418320" cy="123444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4526280"/>
            <a:ext cx="8686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Please know:  no repair is guaranteed, and no safety certification is provided.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06440"/>
            <a:ext cx="10515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46E7A"/>
                </a:solidFill>
                <a:latin typeface="Arial"/>
              </a:defRPr>
            </a:pPr>
            <a:r>
              <a:t>If we can't fix it, we'll say so — and discuss referral or next steps where possible.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6  / 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4114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OUTCOMES  •  LAST SYNTHETIC TRIAL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60.0% repaired in the synthetic trial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667512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6035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Trial outcomes  (items, of 90 assessed)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914400" y="2286000"/>
          <a:ext cx="6126480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0" y="1691640"/>
            <a:ext cx="3749039" cy="16459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874519"/>
            <a:ext cx="310896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REPAIR SHARE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54 ÷ 90  =  60.0%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611880"/>
            <a:ext cx="356616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3794760"/>
            <a:ext cx="2926080" cy="1325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COUNTS ADD 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54 + 22 + 14 = 90 assessed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Referred 24.4%  •  Not repairable 15.6%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77840"/>
            <a:ext cx="107899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46E7A"/>
                </a:solidFill>
                <a:latin typeface="Arial"/>
              </a:defRPr>
            </a:pPr>
            <a:r>
              <a:t>Last synthetic trial only — these are illustrative counts, not results from a real community. Future outcomes will vary.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7  / 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31520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63238"/>
                </a:solidFill>
                <a:latin typeface="Arial"/>
              </a:defRPr>
            </a:pPr>
            <a:r>
              <a:t>Sign up by the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63238"/>
                </a:solidFill>
                <a:latin typeface="Arial"/>
              </a:defRPr>
            </a:pPr>
            <a:r>
              <a:t>end of Week 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6858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46E7A"/>
                </a:solidFill>
                <a:latin typeface="Arial"/>
              </a:defRPr>
            </a:pPr>
            <a:r>
              <a:t>Events are in Week 5. Choose your path below — we'll see you there.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429000"/>
            <a:ext cx="3474720" cy="17830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657600"/>
            <a:ext cx="28346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→  PARTICIPANT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Bring one small household item to a Week 5 session.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429000"/>
            <a:ext cx="3474720" cy="178308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3657600"/>
            <a:ext cx="28346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→  VOLUNTEER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Welcome, repair support, or safety check — 3 hours, training Week 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822960"/>
            <a:ext cx="31546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051560"/>
            <a:ext cx="260604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AT A GLANCE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162 seats  •  4 sessions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37 volunteers  •  111 hrs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Budget  $3,160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3429000"/>
            <a:ext cx="333756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3657600"/>
            <a:ext cx="269748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QUESTIONS?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Contact:  Local organizer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5623560"/>
            <a:ext cx="10881360" cy="0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5806440"/>
            <a:ext cx="10058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8909C"/>
                </a:solidFill>
                <a:latin typeface="Arial"/>
              </a:defRPr>
            </a:pPr>
            <a:r>
              <a:t>Fictional campaign • All data are synthetic • No guaranteed repair or safety certification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8  /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