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Requests</c:v>
                </c:pt>
              </c:strCache>
            </c:strRef>
          </c:tx>
          <c:spPr>
            <a:solidFill>
              <a:srgbClr val="FFD700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Total requests</c:v>
                </c:pt>
                <c:pt idx="1">
                  <c:v>Succeeded</c:v>
                </c:pt>
                <c:pt idx="2">
                  <c:v>Failed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9000</c:v>
                </c:pt>
                <c:pt idx="1">
                  <c:v>7820</c:v>
                </c:pt>
                <c:pt idx="2">
                  <c:v>1180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FFFFFF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FFFFF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Error rate (%)</c:v>
                </c:pt>
              </c:strCache>
            </c:strRef>
          </c:tx>
          <c:spPr>
            <a:ln w="38100">
              <a:solidFill>
                <a:srgbClr val="FFD700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09:00</c:v>
                </c:pt>
                <c:pt idx="1">
                  <c:v>09:15</c:v>
                </c:pt>
                <c:pt idx="2">
                  <c:v>09:30</c:v>
                </c:pt>
                <c:pt idx="3">
                  <c:v>09:45</c:v>
                </c:pt>
                <c:pt idx="4">
                  <c:v>10:00</c:v>
                </c:pt>
                <c:pt idx="5">
                  <c:v>10:15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18</c:v>
                </c:pt>
                <c:pt idx="2">
                  <c:v>25</c:v>
                </c:pt>
                <c:pt idx="3">
                  <c:v>14</c:v>
                </c:pt>
                <c:pt idx="4">
                  <c:v>4</c:v>
                </c:pt>
                <c:pt idx="5">
                  <c:v>1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400">
                  <a:solidFill>
                    <a:srgbClr val="FFFFFF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400">
          <a:solidFill>
            <a:srgbClr val="FFFFF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332720" y="0"/>
            <a:ext cx="1858975" cy="21031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2331720"/>
            <a:ext cx="1036015" cy="822960"/>
          </a:xfrm>
          <a:prstGeom prst="rect">
            <a:avLst/>
          </a:prstGeom>
          <a:solidFill>
            <a:srgbClr val="2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48640"/>
            <a:ext cx="1645920" cy="14630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786384"/>
            <a:ext cx="822960" cy="14630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95097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D700"/>
                </a:solidFill>
                <a:latin typeface="Calibri"/>
              </a:defRPr>
            </a:pPr>
            <a:r>
              <a:t>INCIDENT SUMMARY · FICTIONAL SERVICE · SYNTHETIC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9601200" cy="1737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400" b="1">
                <a:solidFill>
                  <a:srgbClr val="FFFFFF"/>
                </a:solidFill>
                <a:latin typeface="Calibri"/>
              </a:defRPr>
            </a:pPr>
            <a:r>
              <a:t>Service interruption, 09:00–10:14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57600"/>
            <a:ext cx="109728" cy="1325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66160"/>
            <a:ext cx="32918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D700"/>
                </a:solidFill>
                <a:latin typeface="Calibri"/>
              </a:defRPr>
            </a:pPr>
            <a:r>
              <a:t>74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329184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9CCD8"/>
                </a:solidFill>
                <a:latin typeface="Calibri"/>
              </a:defRPr>
            </a:pPr>
            <a:r>
              <a:t>Deployment (09:00) to error-rate baseline (10:14)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3657600"/>
            <a:ext cx="109728" cy="1325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3566160"/>
            <a:ext cx="32918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D700"/>
                </a:solidFill>
                <a:latin typeface="Calibri"/>
              </a:defRPr>
            </a:pPr>
            <a:r>
              <a:t>13.1%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343400"/>
            <a:ext cx="329184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9CCD8"/>
                </a:solidFill>
                <a:latin typeface="Calibri"/>
              </a:defRPr>
            </a:pPr>
            <a:r>
              <a:t>Requests failed: 1,180 of 9,000 in the window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3657600"/>
            <a:ext cx="109728" cy="1325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3566160"/>
            <a:ext cx="347472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D700"/>
                </a:solidFill>
                <a:latin typeface="Calibri"/>
              </a:defRPr>
            </a:pPr>
            <a:r>
              <a:t>Recovered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4343400"/>
            <a:ext cx="347472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9CCD8"/>
                </a:solidFill>
                <a:latin typeface="Calibri"/>
              </a:defRPr>
            </a:pPr>
            <a:r>
              <a:t>Rollback complete 09:48; baseline verified 10:14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1A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5532120"/>
            <a:ext cx="109728" cy="7772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596128"/>
            <a:ext cx="1069848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Bottom line: rollback restored service. Root cause is still a hypothesis (retry amplification) until a causal load test is completed.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28016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13232"/>
            <a:ext cx="64008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Calibri"/>
              </a:defRPr>
            </a:pPr>
            <a:r>
              <a:t>1,180 of 9,000 requests failed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60350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D700"/>
                </a:solidFill>
                <a:latin typeface="Calibri"/>
              </a:defRPr>
            </a:pPr>
            <a:r>
              <a:t>Requests in the 09:00–10:14 window (count)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2423160"/>
          <a:ext cx="6035040" cy="39776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7086600" y="2011680"/>
            <a:ext cx="109728" cy="21031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60920" y="1828800"/>
            <a:ext cx="429768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800" b="1">
                <a:solidFill>
                  <a:srgbClr val="FFD700"/>
                </a:solidFill>
                <a:latin typeface="Calibri"/>
              </a:defRPr>
            </a:pPr>
            <a:r>
              <a:t>13.1%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3108960"/>
            <a:ext cx="42976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of requests failed in the window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3566160"/>
            <a:ext cx="429768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C9CCD8"/>
                </a:solidFill>
                <a:latin typeface="Calibri"/>
              </a:defRPr>
            </a:pPr>
            <a:r>
              <a:t>1,180 failed ÷ 9,000 total = 13.1%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C9CCD8"/>
                </a:solidFill>
                <a:latin typeface="Calibri"/>
              </a:defRPr>
            </a:pPr>
            <a:r>
              <a:t>7,820 succeeded = 86.9%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86600" y="4617720"/>
            <a:ext cx="4553712" cy="1783080"/>
          </a:xfrm>
          <a:prstGeom prst="rect">
            <a:avLst/>
          </a:prstGeom>
          <a:solidFill>
            <a:srgbClr val="0B0C15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69480" y="4709160"/>
            <a:ext cx="42062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D700"/>
                </a:solidFill>
                <a:latin typeface="Calibri"/>
              </a:defRPr>
            </a:pPr>
            <a:r>
              <a:t>CAVEAT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5120640"/>
            <a:ext cx="420624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Counts are requests, not people. Distinct affected users are unknown — do not report 1,180 as users impacted.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28016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13232"/>
            <a:ext cx="64008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22960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FFFFFF"/>
                </a:solidFill>
                <a:latin typeface="Calibri"/>
              </a:defRPr>
            </a:pPr>
            <a:r>
              <a:t>74 minutes, deploy to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1097280"/>
            <a:ext cx="28346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8A8FA8"/>
                </a:solidFill>
                <a:latin typeface="Calibri"/>
              </a:defRPr>
            </a:pPr>
            <a:r>
              <a:t>Scale: minutes after 09:00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3840480"/>
            <a:ext cx="10332720" cy="0"/>
          </a:xfrm>
          <a:prstGeom prst="line">
            <a:avLst/>
          </a:prstGeom>
          <a:ln w="762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801868" y="3712463"/>
            <a:ext cx="1815084" cy="2560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3712463"/>
            <a:ext cx="256032" cy="2560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901952" y="3712463"/>
            <a:ext cx="256032" cy="2560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63824" y="3712463"/>
            <a:ext cx="256032" cy="2560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73852" y="3712463"/>
            <a:ext cx="256032" cy="2560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88936" y="3712463"/>
            <a:ext cx="256032" cy="2560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119104" y="3712463"/>
            <a:ext cx="256032" cy="2560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2377440"/>
            <a:ext cx="219456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D700"/>
                </a:solidFill>
                <a:latin typeface="Calibri"/>
              </a:defRPr>
            </a:pPr>
            <a:r>
              <a:t>09:00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2926080"/>
            <a:ext cx="21945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Deployment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63824" y="2377440"/>
            <a:ext cx="23774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D700"/>
                </a:solidFill>
                <a:latin typeface="Calibri"/>
              </a:defRPr>
            </a:pPr>
            <a:r>
              <a:t>09:17  +17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63824" y="2926080"/>
            <a:ext cx="237744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Investigation starts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88936" y="2377440"/>
            <a:ext cx="23774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D700"/>
                </a:solidFill>
                <a:latin typeface="Calibri"/>
              </a:defRPr>
            </a:pPr>
            <a:r>
              <a:t>09:48  +48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88936" y="2926080"/>
            <a:ext cx="237744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Rollback complete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01952" y="4114800"/>
            <a:ext cx="219456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D700"/>
                </a:solidFill>
                <a:latin typeface="Calibri"/>
              </a:defRPr>
            </a:pPr>
            <a:r>
              <a:t>09:08  +8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01952" y="4663440"/>
            <a:ext cx="21945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First alert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73852" y="4114800"/>
            <a:ext cx="219456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D700"/>
                </a:solidFill>
                <a:latin typeface="Calibri"/>
              </a:defRPr>
            </a:pPr>
            <a:r>
              <a:t>09:35  +35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73852" y="4663440"/>
            <a:ext cx="21945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Rollback begins (13 min to complete)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4114800"/>
            <a:ext cx="2322576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D700"/>
                </a:solidFill>
                <a:latin typeface="Calibri"/>
              </a:defRPr>
            </a:pPr>
            <a:r>
              <a:t>10:14  +74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4663440"/>
            <a:ext cx="2322576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Error rate back to baseline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760720"/>
            <a:ext cx="11094415" cy="640080"/>
          </a:xfrm>
          <a:prstGeom prst="rect">
            <a:avLst/>
          </a:prstGeom>
          <a:solidFill>
            <a:srgbClr val="1A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5760720"/>
            <a:ext cx="109728" cy="6400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815584"/>
            <a:ext cx="10698480" cy="5303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Intervals: detect 8 min · alert→investigate 9 · investigate→rollback 18 · rollback 13 · rollback→baseline 26 = 74 min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28016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13232"/>
            <a:ext cx="64008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FFFFFF"/>
                </a:solidFill>
                <a:latin typeface="Calibri"/>
              </a:defRPr>
            </a:pPr>
            <a:r>
              <a:t>Error rate peaked at 25% at 09:30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73152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D700"/>
                </a:solidFill>
                <a:latin typeface="Calibri"/>
              </a:defRPr>
            </a:pPr>
            <a:r>
              <a:t>Observed error rate at each timestamp (% of requests)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2377440"/>
          <a:ext cx="731520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321040" y="2011680"/>
            <a:ext cx="109728" cy="43891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0" y="1920240"/>
            <a:ext cx="310896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D700"/>
                </a:solidFill>
                <a:latin typeface="Calibri"/>
              </a:defRPr>
            </a:pPr>
            <a:r>
              <a:t>READ THIS CORRECTLY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2423160"/>
            <a:ext cx="310896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Six point observations: 2 → 18 → 25 → 14 → 4 → 1%.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3611880"/>
            <a:ext cx="310896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Not the window-wide rate. Across the full window, 1,180 of 9,000 requests failed (13.1%).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5120640"/>
            <a:ext cx="310896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9CCD8"/>
                </a:solidFill>
                <a:latin typeface="Calibri"/>
              </a:defRPr>
            </a:pPr>
            <a:r>
              <a:t>The 10:15 reading (1%) falls after the window ended at 10:14.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28016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13232"/>
            <a:ext cx="64008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FFFFFF"/>
                </a:solidFill>
                <a:latin typeface="Calibri"/>
              </a:defRPr>
            </a:pPr>
            <a:r>
              <a:t>What we saw vs. what we think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94560"/>
            <a:ext cx="5394960" cy="32918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48463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B0C15"/>
                </a:solidFill>
                <a:latin typeface="Calibri"/>
              </a:defRPr>
            </a:pPr>
            <a:r>
              <a:t>OBSERVED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80360"/>
            <a:ext cx="4846320" cy="24688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B0C15"/>
                </a:solidFill>
                <a:latin typeface="Calibri"/>
              </a:defRPr>
            </a:pPr>
            <a:r>
              <a:t>Connection pool saturation after the 09:00 deployment.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B0C15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B0C15"/>
                </a:solidFill>
                <a:latin typeface="Calibri"/>
              </a:defRPr>
            </a:pPr>
            <a:r>
              <a:t>Recovery after the rollback (complete 09:48; baseline 10:14).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2560320"/>
            <a:ext cx="5285232" cy="2926080"/>
          </a:xfrm>
          <a:prstGeom prst="rect">
            <a:avLst/>
          </a:prstGeom>
          <a:solidFill>
            <a:srgbClr val="0B0C15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2743200"/>
            <a:ext cx="47548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D700"/>
                </a:solidFill>
                <a:latin typeface="Calibri"/>
              </a:defRPr>
            </a:pPr>
            <a:r>
              <a:t>WORKING HYPOTHESIS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3246120"/>
            <a:ext cx="4754880" cy="2103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Retry amplification under the new configuration.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Plausible, but not yet tested.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760720"/>
            <a:ext cx="11094415" cy="640080"/>
          </a:xfrm>
          <a:prstGeom prst="rect">
            <a:avLst/>
          </a:prstGeom>
          <a:solidFill>
            <a:srgbClr val="1A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760720"/>
            <a:ext cx="109728" cy="6400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815584"/>
            <a:ext cx="10698480" cy="5303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Status: causal load test not yet completed — root cause is unconfirmed.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28016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13232"/>
            <a:ext cx="64008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FFFFFF"/>
                </a:solidFill>
                <a:latin typeface="Calibri"/>
              </a:defRPr>
            </a:pPr>
            <a:r>
              <a:t>Response: roll back, then verify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2286000"/>
            <a:ext cx="1828800" cy="1280160"/>
          </a:xfrm>
          <a:prstGeom prst="rect">
            <a:avLst/>
          </a:prstGeom>
          <a:solidFill>
            <a:srgbClr val="1A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44368" y="2286000"/>
            <a:ext cx="1828800" cy="1280160"/>
          </a:xfrm>
          <a:prstGeom prst="rect">
            <a:avLst/>
          </a:prstGeom>
          <a:solidFill>
            <a:srgbClr val="1A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84648" y="2286000"/>
            <a:ext cx="1828800" cy="12801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24927" y="2286000"/>
            <a:ext cx="1828800" cy="12801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65208" y="2286000"/>
            <a:ext cx="1828800" cy="1280160"/>
          </a:xfrm>
          <a:prstGeom prst="rect">
            <a:avLst/>
          </a:prstGeom>
          <a:solidFill>
            <a:srgbClr val="1A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2532888" y="2926080"/>
            <a:ext cx="411480" cy="0"/>
          </a:xfrm>
          <a:prstGeom prst="line">
            <a:avLst/>
          </a:prstGeom>
          <a:ln w="762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773168" y="2926080"/>
            <a:ext cx="411480" cy="0"/>
          </a:xfrm>
          <a:prstGeom prst="line">
            <a:avLst/>
          </a:prstGeom>
          <a:ln w="762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013448" y="2926080"/>
            <a:ext cx="411479" cy="0"/>
          </a:xfrm>
          <a:prstGeom prst="line">
            <a:avLst/>
          </a:prstGeom>
          <a:ln w="762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53728" y="2926080"/>
            <a:ext cx="411480" cy="0"/>
          </a:xfrm>
          <a:prstGeom prst="line">
            <a:avLst/>
          </a:prstGeom>
          <a:ln w="762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95528" y="2514600"/>
            <a:ext cx="164592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1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5808" y="2514600"/>
            <a:ext cx="164592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2 Triage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76088" y="2514600"/>
            <a:ext cx="164592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B0C15"/>
                </a:solidFill>
                <a:latin typeface="Calibri"/>
              </a:defRPr>
            </a:pPr>
            <a:r>
              <a:t>3 Rollback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16368" y="2514600"/>
            <a:ext cx="164592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B0C15"/>
                </a:solidFill>
                <a:latin typeface="Calibri"/>
              </a:defRPr>
            </a:pPr>
            <a:r>
              <a:t>4 Verify baseline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10928" y="2514600"/>
            <a:ext cx="173736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5 Retrospective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3657600"/>
            <a:ext cx="18288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9CCD8"/>
                </a:solidFill>
                <a:latin typeface="Calibri"/>
              </a:defRPr>
            </a:pPr>
            <a:r>
              <a:t>09:08 alert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44368" y="3657600"/>
            <a:ext cx="18288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9CCD8"/>
                </a:solidFill>
                <a:latin typeface="Calibri"/>
              </a:defRPr>
            </a:pPr>
            <a:r>
              <a:t>09:17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84648" y="3657600"/>
            <a:ext cx="18288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9CCD8"/>
                </a:solidFill>
                <a:latin typeface="Calibri"/>
              </a:defRPr>
            </a:pPr>
            <a:r>
              <a:t>09:35–09:48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4927" y="3657600"/>
            <a:ext cx="18288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9CCD8"/>
                </a:solidFill>
                <a:latin typeface="Calibri"/>
              </a:defRPr>
            </a:pPr>
            <a:r>
              <a:t>10:14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65208" y="3657600"/>
            <a:ext cx="18288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9CCD8"/>
                </a:solidFill>
                <a:latin typeface="Calibri"/>
              </a:defRPr>
            </a:pPr>
            <a:r>
              <a:t>After recovery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4088" y="4480560"/>
            <a:ext cx="109728" cy="1463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434840"/>
            <a:ext cx="48463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D700"/>
                </a:solidFill>
                <a:latin typeface="Calibri"/>
              </a:defRPr>
            </a:pPr>
            <a:r>
              <a:t>ON-CALL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892040"/>
            <a:ext cx="484632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Handles the rollback.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4480560"/>
            <a:ext cx="109728" cy="1463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65392" y="4434840"/>
            <a:ext cx="493776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D700"/>
                </a:solidFill>
                <a:latin typeface="Calibri"/>
              </a:defRPr>
            </a:pPr>
            <a:r>
              <a:t>SERVICE OWNER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65392" y="4892040"/>
            <a:ext cx="493776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Authorizes restoration. Verification follows rollback, never precedes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28016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13232"/>
            <a:ext cx="64008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FFFFFF"/>
                </a:solidFill>
                <a:latin typeface="Calibri"/>
              </a:defRPr>
            </a:pPr>
            <a:r>
              <a:t>1 of 3 actions complete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82296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D700"/>
                </a:solidFill>
                <a:latin typeface="Calibri"/>
              </a:defRPr>
            </a:pPr>
            <a:r>
              <a:t>Follow-up actions, sorted by deadline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423160"/>
          <a:ext cx="78638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965960"/>
                <a:gridCol w="1965960"/>
                <a:gridCol w="1965960"/>
              </a:tblGrid>
              <a:tr h="68580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Owner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Action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Deadline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Owner C</a:t>
                      </a:r>
                    </a:p>
                  </a:txBody>
                  <a:tcPr marL="64008" marR="64008" marT="36576" marB="36576">
                    <a:solidFill>
                      <a:srgbClr val="1A1C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Add saturation alert</a:t>
                      </a:r>
                    </a:p>
                  </a:txBody>
                  <a:tcPr marL="64008" marR="64008" marT="36576" marB="36576">
                    <a:solidFill>
                      <a:srgbClr val="1A1C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Day 5</a:t>
                      </a:r>
                    </a:p>
                  </a:txBody>
                  <a:tcPr marL="64008" marR="64008" marT="36576" marB="36576">
                    <a:solidFill>
                      <a:srgbClr val="1A1C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Complete</a:t>
                      </a:r>
                    </a:p>
                  </a:txBody>
                  <a:tcPr marL="64008" marR="64008" marT="36576" marB="36576">
                    <a:solidFill>
                      <a:srgbClr val="1A1C2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Owner B</a:t>
                      </a:r>
                    </a:p>
                  </a:txBody>
                  <a:tcPr marL="64008" marR="64008" marT="36576" marB="36576">
                    <a:solidFill>
                      <a:srgbClr val="1A1C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Run causal load test</a:t>
                      </a:r>
                    </a:p>
                  </a:txBody>
                  <a:tcPr marL="64008" marR="64008" marT="36576" marB="36576">
                    <a:solidFill>
                      <a:srgbClr val="1A1C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Day 7</a:t>
                      </a:r>
                    </a:p>
                  </a:txBody>
                  <a:tcPr marL="64008" marR="64008" marT="36576" marB="36576">
                    <a:solidFill>
                      <a:srgbClr val="1A1C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Planned</a:t>
                      </a:r>
                    </a:p>
                  </a:txBody>
                  <a:tcPr marL="64008" marR="64008" marT="36576" marB="36576">
                    <a:solidFill>
                      <a:srgbClr val="1A1C2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Owner A</a:t>
                      </a:r>
                    </a:p>
                  </a:txBody>
                  <a:tcPr marL="64008" marR="64008" marT="36576" marB="36576">
                    <a:solidFill>
                      <a:srgbClr val="1A1C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Cap retries</a:t>
                      </a:r>
                    </a:p>
                  </a:txBody>
                  <a:tcPr marL="64008" marR="64008" marT="36576" marB="36576">
                    <a:solidFill>
                      <a:srgbClr val="1A1C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Day 12</a:t>
                      </a:r>
                    </a:p>
                  </a:txBody>
                  <a:tcPr marL="64008" marR="64008" marT="36576" marB="36576">
                    <a:solidFill>
                      <a:srgbClr val="1A1C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Planned</a:t>
                      </a:r>
                    </a:p>
                  </a:txBody>
                  <a:tcPr marL="64008" marR="64008" marT="36576" marB="36576">
                    <a:solidFill>
                      <a:srgbClr val="1A1C2B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869680" y="2423160"/>
            <a:ext cx="109728" cy="27432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2331720"/>
            <a:ext cx="256032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D700"/>
                </a:solidFill>
                <a:latin typeface="Calibri"/>
              </a:defRPr>
            </a:pPr>
            <a:r>
              <a:t>2 planned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3429000"/>
            <a:ext cx="2560320" cy="1737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The load test (day 7) and retry cap (day 12) are not done. Recurrence risk remains open.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C9CCD8"/>
                </a:solidFill>
                <a:latin typeface="Calibri"/>
              </a:defRPr>
            </a:pPr>
            <a:r>
              <a:t>The load test should confirm or reject the retry-amplification hypothesis before the retry cap is treated as the fix.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332720" y="4754880"/>
            <a:ext cx="1858975" cy="21031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3703320"/>
            <a:ext cx="1036015" cy="822960"/>
          </a:xfrm>
          <a:prstGeom prst="rect">
            <a:avLst/>
          </a:prstGeom>
          <a:solidFill>
            <a:srgbClr val="2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02920"/>
            <a:ext cx="128016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713232"/>
            <a:ext cx="64008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FFFFFF"/>
                </a:solidFill>
                <a:latin typeface="Calibri"/>
              </a:defRPr>
            </a:pPr>
            <a:r>
              <a:t>Lessons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109728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D700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148840"/>
            <a:ext cx="822960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Separate observed evidence (pool saturation, recovery after rollback) from the root-cause hypothesis (retry amplification).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737360" y="3200400"/>
            <a:ext cx="8229600" cy="0"/>
          </a:xfrm>
          <a:prstGeom prst="line">
            <a:avLst/>
          </a:prstGeom>
          <a:ln w="38100">
            <a:solidFill>
              <a:srgbClr val="2A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3383280"/>
            <a:ext cx="109728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D700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429000"/>
            <a:ext cx="822960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Preserve the distinction between failed requests (1,180 of 9,000) and affected people (unknown).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737360" y="4480560"/>
            <a:ext cx="8229600" cy="0"/>
          </a:xfrm>
          <a:prstGeom prst="line">
            <a:avLst/>
          </a:prstGeom>
          <a:ln w="38100">
            <a:solidFill>
              <a:srgbClr val="2A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4663440"/>
            <a:ext cx="109728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D700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709160"/>
            <a:ext cx="822960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Recovery is verified (baseline at 10:14). Preventing recurrence still depends on planned work: load test and retry cap.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