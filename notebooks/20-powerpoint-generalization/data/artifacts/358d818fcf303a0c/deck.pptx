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rgbClr val="404040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Lead-time demand</c:v>
                </c:pt>
                <c:pt idx="1">
                  <c:v>Safety stock</c:v>
                </c:pt>
                <c:pt idx="2">
                  <c:v>Reorder point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132</c:v>
                </c:pt>
                <c:pt idx="1">
                  <c:v>32</c:v>
                </c:pt>
                <c:pt idx="2">
                  <c:v>164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solidFill>
                    <a:srgbClr val="000000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rgbClr val="404040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Inv. position</c:v>
                </c:pt>
                <c:pt idx="1">
                  <c:v>Reorder point</c:v>
                </c:pt>
                <c:pt idx="2">
                  <c:v>Target position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159</c:v>
                </c:pt>
                <c:pt idx="1">
                  <c:v>164</c:v>
                </c:pt>
                <c:pt idx="2">
                  <c:v>264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solidFill>
                    <a:srgbClr val="000000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00000"/>
                </a:solidFill>
                <a:latin typeface="Arial"/>
              </a:defRPr>
            </a:pPr>
            <a:r>
              <a:t>Inventory Reorder Protocol — Learning 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95959"/>
                </a:solidFill>
                <a:latin typeface="Arial"/>
              </a:defRPr>
            </a:pPr>
            <a:r>
              <a:t>For junior warehouse personnel  •  A simple reorder-point rule: logic, worked example, and practice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170432"/>
            <a:ext cx="11183112" cy="0"/>
          </a:xfrm>
          <a:prstGeom prst="line">
            <a:avLst/>
          </a:prstGeom>
          <a:ln w="285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02920" y="1417320"/>
            <a:ext cx="11183112" cy="1051560"/>
          </a:xfrm>
          <a:prstGeom prst="rect">
            <a:avLst/>
          </a:prstGeom>
          <a:solidFill>
            <a:srgbClr val="F2F2F2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69848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t>LEARNING GOAL:  Teach novice stockroom coordinators a simple reorder-point rule — explain the logic, work through an example, then complete a short practice exercise (answer on Slide 7).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69748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t>What you will be able to do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3063240"/>
          <a:ext cx="694944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6480"/>
                <a:gridCol w="2316480"/>
                <a:gridCol w="2316480"/>
              </a:tblGrid>
              <a:tr h="53035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Step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Skill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Slide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State the two formulas and the ORDER / WAIT rule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Calculate a reorder point from demand, lead time, safety stock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Calculate inventory position and order quantity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Follow the daily decision process without skipping a step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5–8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726679" y="3063240"/>
            <a:ext cx="3959352" cy="82296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3291840"/>
            <a:ext cx="3593592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t>WHEN?  At each daily review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26679" y="3977639"/>
            <a:ext cx="3959352" cy="822960"/>
          </a:xfrm>
          <a:prstGeom prst="rect">
            <a:avLst/>
          </a:prstGeom>
          <a:solidFill>
            <a:srgbClr val="F2F2F2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4206240"/>
            <a:ext cx="3593592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t>DECISION:  ORDER  or  WAIT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26679" y="4892040"/>
            <a:ext cx="3959352" cy="822960"/>
          </a:xfrm>
          <a:prstGeom prst="rect">
            <a:avLst/>
          </a:prstGeom>
          <a:solidFill>
            <a:srgbClr val="FFFFFF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5120640"/>
            <a:ext cx="3593592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Always label units (units, days)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98932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95959"/>
                </a:solidFill>
                <a:latin typeface="Arial"/>
              </a:defRPr>
            </a:pPr>
            <a:r>
              <a:t>All data in this deck are synthetic and for training only.  •  Slide 1 of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00000"/>
                </a:solidFill>
                <a:latin typeface="Arial"/>
              </a:defRPr>
            </a:pPr>
            <a:r>
              <a:t>The Rule — Two Formulas, One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95959"/>
                </a:solidFill>
                <a:latin typeface="Arial"/>
              </a:defRPr>
            </a:pPr>
            <a:r>
              <a:t>Calculate both quantities first. Only then compare them.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170432"/>
            <a:ext cx="11183112" cy="0"/>
          </a:xfrm>
          <a:prstGeom prst="line">
            <a:avLst/>
          </a:prstGeom>
          <a:ln w="285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02920" y="1417320"/>
            <a:ext cx="5486400" cy="123444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512064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①  REORDER POINT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= daily demand × lead time (days) + safety stock</a:t>
            </a:r>
          </a:p>
        </p:txBody>
      </p:sp>
      <p:sp>
        <p:nvSpPr>
          <p:cNvPr id="7" name="Rectangle 6"/>
          <p:cNvSpPr/>
          <p:nvPr/>
        </p:nvSpPr>
        <p:spPr>
          <a:xfrm>
            <a:off x="6199632" y="1417320"/>
            <a:ext cx="5486400" cy="1234440"/>
          </a:xfrm>
          <a:prstGeom prst="rect">
            <a:avLst/>
          </a:prstGeom>
          <a:solidFill>
            <a:srgbClr val="F2F2F2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1508760"/>
            <a:ext cx="512064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t>②  INVENTORY POSITION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t>= on-hand + on-order − committed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2880360"/>
          <a:ext cx="722376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7920"/>
                <a:gridCol w="2407920"/>
                <a:gridCol w="2407920"/>
              </a:tblGrid>
              <a:tr h="4724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Term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Meaning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Units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Daily demand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Units used per day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units / day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Lead time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Days until a new order arrives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days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Safety stock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Buffer held against variability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On-order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Already ordered, not yet received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Committed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Promised / allocated to orders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955279" y="2880360"/>
            <a:ext cx="3730752" cy="2834640"/>
          </a:xfrm>
          <a:prstGeom prst="rect">
            <a:avLst/>
          </a:prstGeom>
          <a:solidFill>
            <a:srgbClr val="D9D9D9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3017520"/>
            <a:ext cx="3364992" cy="2560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0000"/>
                </a:solidFill>
                <a:latin typeface="Arial"/>
              </a:defRPr>
            </a:pPr>
            <a:r>
              <a:t>DECISION RULE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0000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0000"/>
                </a:solidFill>
                <a:latin typeface="Arial"/>
              </a:defRPr>
            </a:pPr>
            <a:r>
              <a:t>Place an order when: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0000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0000"/>
                </a:solidFill>
                <a:latin typeface="Arial"/>
              </a:defRPr>
            </a:pPr>
            <a:r>
              <a:t>Inventory position  ≤  Reorder point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0000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0000"/>
                </a:solidFill>
                <a:latin typeface="Arial"/>
              </a:defRPr>
            </a:pPr>
            <a:r>
              <a:t>Otherwise: WAIT and review again tomorrow.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98932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95959"/>
                </a:solidFill>
                <a:latin typeface="Arial"/>
              </a:defRPr>
            </a:pPr>
            <a:r>
              <a:t>Key point: compare inventory position (not on-hand alone) with the reorder point.  •  Slide 2 of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00000"/>
                </a:solidFill>
                <a:latin typeface="Arial"/>
              </a:defRPr>
            </a:pPr>
            <a:r>
              <a:t>Worked Example — Calculating the Reorder 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95959"/>
                </a:solidFill>
                <a:latin typeface="Arial"/>
              </a:defRPr>
            </a:pPr>
            <a:r>
              <a:t>Daily demand 22 units/day  •  Lead time 6 days  •  Safety stock 32 units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170432"/>
            <a:ext cx="11183112" cy="0"/>
          </a:xfrm>
          <a:prstGeom prst="line">
            <a:avLst/>
          </a:prstGeom>
          <a:ln w="285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17320"/>
          <a:ext cx="58521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0720"/>
                <a:gridCol w="1950720"/>
                <a:gridCol w="1950720"/>
              </a:tblGrid>
              <a:tr h="6858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Step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Arithmetic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Result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1. Demand during lead time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22 units/day × 6 days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132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2. Add safety stock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132 units + 32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164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3. Reorder point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(22 × 6) + 32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164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4389120"/>
            <a:ext cx="5852160" cy="1325880"/>
          </a:xfrm>
          <a:prstGeom prst="rect">
            <a:avLst/>
          </a:prstGeom>
          <a:solidFill>
            <a:srgbClr val="F2F2F2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498848"/>
            <a:ext cx="539496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Check the units: (units/day × days) = units.  Then units + units = units.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Safety stock is added once — it is NOT multiplied by lead 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1417320"/>
            <a:ext cx="5029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Components of the reorder point (units)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629400" y="1783080"/>
          <a:ext cx="5056632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629400" y="5257800"/>
            <a:ext cx="5056632" cy="4572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5330952"/>
            <a:ext cx="505663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REORDER POINT  =  164 units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98932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95959"/>
                </a:solidFill>
                <a:latin typeface="Arial"/>
              </a:defRPr>
            </a:pPr>
            <a:r>
              <a:t>132 units cover expected use while waiting; 32 units are the buffer. Together they set the trigger.  •  Slide 3 of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00000"/>
                </a:solidFill>
                <a:latin typeface="Arial"/>
              </a:defRPr>
            </a:pPr>
            <a:r>
              <a:t>Inventory Position — Order or Wait?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95959"/>
                </a:solidFill>
                <a:latin typeface="Arial"/>
              </a:defRPr>
            </a:pPr>
            <a:r>
              <a:t>Same item as Slide 3. Reorder point = 164 units. Now read today's counts.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170432"/>
            <a:ext cx="11183112" cy="0"/>
          </a:xfrm>
          <a:prstGeom prst="line">
            <a:avLst/>
          </a:prstGeom>
          <a:ln w="285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17320"/>
          <a:ext cx="58521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0720"/>
                <a:gridCol w="1950720"/>
                <a:gridCol w="1950720"/>
              </a:tblGrid>
              <a:tr h="58521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Quantity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Value (units)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Sign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On-hand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156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+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On-order (already coming)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+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Committed (promised out)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−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Inventory position = 156 + 20 − 17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159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=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4526280"/>
          <a:ext cx="58521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0720"/>
                <a:gridCol w="1950720"/>
                <a:gridCol w="195072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Comparison / sizing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Arithmetic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Result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Position vs. trigger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159 ≤ 164 ?  Yes — 5 below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ORDER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Order qty = target − position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264 − 159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105 units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629400" y="1417320"/>
            <a:ext cx="5029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Position, trigger and target (units)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629400" y="1783080"/>
          <a:ext cx="5056632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6629400" y="5074920"/>
            <a:ext cx="5056632" cy="822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12280" y="5257800"/>
            <a:ext cx="4690872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DECISION: ORDER 105 units  →  target position 264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08076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95959"/>
                </a:solidFill>
                <a:latin typeface="Arial"/>
              </a:defRPr>
            </a:pPr>
            <a:r>
              <a:t>On-order (20) and committed (17) are preserved in the calculation — never drop them.  •  Slide 4 of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00000"/>
                </a:solidFill>
                <a:latin typeface="Arial"/>
              </a:defRPr>
            </a:pPr>
            <a:r>
              <a:t>The Daily Process — A Connected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95959"/>
                </a:solidFill>
                <a:latin typeface="Arial"/>
              </a:defRPr>
            </a:pPr>
            <a:r>
              <a:t>Run the same sequence every day, in order. Do not jump straight to the comparison.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170432"/>
            <a:ext cx="11183112" cy="0"/>
          </a:xfrm>
          <a:prstGeom prst="line">
            <a:avLst/>
          </a:prstGeom>
          <a:ln w="285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02920" y="1554480"/>
            <a:ext cx="2590038" cy="1143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627632"/>
            <a:ext cx="2443734" cy="9966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Arial"/>
              </a:defRPr>
            </a:pPr>
            <a:r>
              <a:t>1  Read counts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367278" y="1554480"/>
            <a:ext cx="2590038" cy="1143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40430" y="1627632"/>
            <a:ext cx="2443734" cy="9966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Arial"/>
              </a:defRPr>
            </a:pPr>
            <a:r>
              <a:t>2  Calculate inventory position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92958" y="2125980"/>
            <a:ext cx="27432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231636" y="1554480"/>
            <a:ext cx="2590038" cy="1143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4788" y="1627632"/>
            <a:ext cx="2443734" cy="9966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Arial"/>
              </a:defRPr>
            </a:pPr>
            <a:r>
              <a:t>3  Compare with reorder point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57316" y="2125980"/>
            <a:ext cx="27432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9095994" y="1554480"/>
            <a:ext cx="2590038" cy="1143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69146" y="1627632"/>
            <a:ext cx="2443734" cy="9966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Arial"/>
              </a:defRPr>
            </a:pPr>
            <a:r>
              <a:t>4  ORDER if at / below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821674" y="2125980"/>
            <a:ext cx="27432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02920" y="2971800"/>
          <a:ext cx="694944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6480"/>
                <a:gridCol w="2316480"/>
                <a:gridCol w="2316480"/>
              </a:tblGrid>
              <a:tr h="49377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Step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You do this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You record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1. Read counts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On-hand, on-order, committed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 numbers, in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2. Calculate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Position = on-hand + on-order − committed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Position (units)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3. Compare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Position ≤ reorder point?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Yes / No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4. Act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Yes → ORDER to target. No → WAIT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Order qty or WAIT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7726679" y="2971800"/>
            <a:ext cx="3959352" cy="1143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9560" y="3337560"/>
            <a:ext cx="3593592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IF AT / BELOW  →  ORDER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26679" y="4297680"/>
            <a:ext cx="3959352" cy="1143000"/>
          </a:xfrm>
          <a:prstGeom prst="rect">
            <a:avLst/>
          </a:prstGeom>
          <a:solidFill>
            <a:srgbClr val="D9D9D9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09560" y="4526280"/>
            <a:ext cx="3593592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t>OTHERWISE  →  WAIT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t>↺ return to next daily review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692640" y="5440680"/>
            <a:ext cx="0" cy="320040"/>
          </a:xfrm>
          <a:prstGeom prst="line">
            <a:avLst/>
          </a:prstGeom>
          <a:ln w="1905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22960" y="5760720"/>
            <a:ext cx="8869680" cy="0"/>
          </a:xfrm>
          <a:prstGeom prst="line">
            <a:avLst/>
          </a:prstGeom>
          <a:ln w="1905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" y="5532120"/>
            <a:ext cx="0" cy="228600"/>
          </a:xfrm>
          <a:prstGeom prst="line">
            <a:avLst/>
          </a:prstGeom>
          <a:ln w="1905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926080" y="5833872"/>
            <a:ext cx="5943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95959"/>
                </a:solidFill>
                <a:latin typeface="Arial"/>
              </a:defRPr>
            </a:pPr>
            <a:r>
              <a:t>WAIT loop: no order today — repeat Steps 1–3 tomorrow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26364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95959"/>
                </a:solidFill>
                <a:latin typeface="Arial"/>
              </a:defRPr>
            </a:pPr>
            <a:r>
              <a:t>Slide 5 of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00000"/>
                </a:solidFill>
                <a:latin typeface="Arial"/>
              </a:defRPr>
            </a:pPr>
            <a:r>
              <a:t>Practice Exercise — You Decide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95959"/>
                </a:solidFill>
                <a:latin typeface="Arial"/>
              </a:defRPr>
            </a:pPr>
            <a:r>
              <a:t>Work it out before turning the page. The answer is revealed at the top of Slide 7.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170432"/>
            <a:ext cx="11183112" cy="0"/>
          </a:xfrm>
          <a:prstGeom prst="line">
            <a:avLst/>
          </a:prstGeom>
          <a:ln w="285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02920" y="1417320"/>
            <a:ext cx="6949440" cy="1005840"/>
          </a:xfrm>
          <a:prstGeom prst="rect">
            <a:avLst/>
          </a:prstGeom>
          <a:solidFill>
            <a:srgbClr val="F2F2F2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64922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t>EXERCISE:  At today's review, should you ORDER or WAIT?  Show the comparison and the gap in units.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2651760"/>
          <a:ext cx="694944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3474720"/>
              </a:tblGrid>
              <a:tr h="5181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Given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Value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Inventory position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176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Reorder point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164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4434840"/>
          <a:ext cx="69494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347472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Your working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Write here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1. Compare: 176  ?  164  ( ≤  or  &gt; 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2. Gap = 176 − 164 = ____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3. Decision: ORDER / WAIT (circle one)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726679" y="1417320"/>
            <a:ext cx="3959352" cy="4480560"/>
          </a:xfrm>
          <a:prstGeom prst="rect">
            <a:avLst/>
          </a:prstGeom>
          <a:solidFill>
            <a:srgbClr val="FFFFFF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1600200"/>
            <a:ext cx="3502152" cy="4114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HINTS — no answer yet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• Use the rule from Slide 2 exactly as written.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• "At or below" the trigger means ≤.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• State the gap with its unit: "___ units above / below".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• Do not use on-hand alone — you are given the position.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08076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95959"/>
                </a:solidFill>
                <a:latin typeface="Arial"/>
              </a:defRPr>
            </a:pPr>
            <a:r>
              <a:t>Commit to an answer now. Check yourself on the next slide.  •  Slide 6 of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00000"/>
                </a:solidFill>
                <a:latin typeface="Arial"/>
              </a:defRPr>
            </a:pPr>
            <a:r>
              <a:t>Practice Answer, Then Common Misconceptions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95959"/>
                </a:solidFill>
                <a:latin typeface="Arial"/>
              </a:defRPr>
            </a:pPr>
            <a:r>
              <a:t>First: the reveal for Slide 6. Then: three errors to avoid every day.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170432"/>
            <a:ext cx="11183112" cy="0"/>
          </a:xfrm>
          <a:prstGeom prst="line">
            <a:avLst/>
          </a:prstGeom>
          <a:ln w="285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02920" y="1371600"/>
            <a:ext cx="11183112" cy="9601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69848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ANSWER (Slide 6):  WAIT  —  position 176 units is 12 units above the 164-unit trigger  (176 − 164 = 12;  176 &gt; 164).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2606040"/>
          <a:ext cx="11183112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7704"/>
                <a:gridCol w="3727704"/>
                <a:gridCol w="3727704"/>
              </a:tblGrid>
              <a:tr h="7543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Misconception — do NOT do this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Why it is wrong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Do this instead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Compare on-hand alone with the trigger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Ignores stock already on-order and stock committed out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Compare inventory position = on-hand + on-order − committed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Multiply safety stock by lead time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Safety stock is a one-off buffer in units, not a per-day rate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Add safety stock once: (demand × lead time) + safety stock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Treat a larger reorder point as the order quantity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The reorder point is a trigger level, not how much to buy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Order quantity = target position − inventory position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5806440"/>
            <a:ext cx="11183112" cy="502920"/>
          </a:xfrm>
          <a:prstGeom prst="rect">
            <a:avLst/>
          </a:prstGeom>
          <a:solidFill>
            <a:srgbClr val="F2F2F2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943600"/>
            <a:ext cx="106984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If you answered WAIT with a 12-unit gap, your logic matches the protocol. If not, re-run Slides 2 and 5.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0080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95959"/>
                </a:solidFill>
                <a:latin typeface="Arial"/>
              </a:defRPr>
            </a:pPr>
            <a:r>
              <a:t>Slide 7 of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00000"/>
                </a:solidFill>
                <a:latin typeface="Arial"/>
              </a:defRPr>
            </a:pPr>
            <a:r>
              <a:t>Before You Order — Final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95959"/>
                </a:solidFill>
                <a:latin typeface="Arial"/>
              </a:defRPr>
            </a:pPr>
            <a:r>
              <a:t>Tick each line in order. Then locate today's position on the number line.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170432"/>
            <a:ext cx="11183112" cy="0"/>
          </a:xfrm>
          <a:prstGeom prst="line">
            <a:avLst/>
          </a:prstGeom>
          <a:ln w="285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71600"/>
          <a:ext cx="11183112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7704"/>
                <a:gridCol w="3727704"/>
                <a:gridCol w="3727704"/>
              </a:tblGrid>
              <a:tr h="42976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☐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Check before ordering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Pass looks like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Verify units on every input and result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units, units/day and days are not mixed up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Include existing orders (add on-order)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Nothing already coming is ordered twice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Subtract commitments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Promised stock is not counted as available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Check the trigger: position ≤ reorder point?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ORDER only if Yes; otherwise WAIT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370332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Annotated number line (units) — worked example (159), trigger (164), practice position (176), target (264)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617720"/>
            <a:ext cx="2468880" cy="384048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08960" y="4617720"/>
            <a:ext cx="8412480" cy="384048"/>
          </a:xfrm>
          <a:prstGeom prst="rect">
            <a:avLst/>
          </a:prstGeom>
          <a:solidFill>
            <a:srgbClr val="F2F2F2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690872"/>
            <a:ext cx="24688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Arial"/>
              </a:defRPr>
            </a:pPr>
            <a:r>
              <a:t>ORDER zone  ≤164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4690872"/>
            <a:ext cx="3657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0000"/>
                </a:solidFill>
                <a:latin typeface="Arial"/>
              </a:defRPr>
            </a:pPr>
            <a:r>
              <a:t>WAIT zone  &gt;164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" y="5257800"/>
            <a:ext cx="108813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743200" y="5120640"/>
            <a:ext cx="0" cy="27432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108960" y="5074920"/>
            <a:ext cx="0" cy="365760"/>
          </a:xfrm>
          <a:prstGeom prst="line">
            <a:avLst/>
          </a:prstGeom>
          <a:ln w="317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977639" y="5120640"/>
            <a:ext cx="0" cy="274320"/>
          </a:xfrm>
          <a:prstGeom prst="line">
            <a:avLst/>
          </a:prstGeom>
          <a:ln w="2540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351008" y="5120640"/>
            <a:ext cx="0" cy="274320"/>
          </a:xfrm>
          <a:prstGeom prst="line">
            <a:avLst/>
          </a:prstGeom>
          <a:ln w="2540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057400" y="5468112"/>
            <a:ext cx="137160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0000"/>
                </a:solidFill>
                <a:latin typeface="Arial"/>
              </a:defRPr>
            </a:pPr>
            <a:r>
              <a:t>159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0000"/>
                </a:solidFill>
                <a:latin typeface="Arial"/>
              </a:defRPr>
            </a:pPr>
            <a:r>
              <a:t>Position → ORDER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4114800"/>
            <a:ext cx="12801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0000"/>
                </a:solidFill>
                <a:latin typeface="Arial"/>
              </a:defRPr>
            </a:pPr>
            <a:r>
              <a:t>164  TRIGGER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5468112"/>
            <a:ext cx="137160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176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Practice → WAIT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46920" y="5468112"/>
            <a:ext cx="146304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264  TARGET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(order 105)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126480"/>
            <a:ext cx="111556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Decision to remember: position ≤ 164 units → ORDER up to target; position &gt; 164 units → WAIT until tomorrow's review.  •  Slide 8 of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