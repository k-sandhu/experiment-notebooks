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Inventory position</c:v>
                </c:pt>
                <c:pt idx="1">
                  <c:v>Reorder point</c:v>
                </c:pt>
                <c:pt idx="2">
                  <c:v>Target position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</c:v>
                </c:pt>
                <c:pt idx="1">
                  <c:v>123</c:v>
                </c:pt>
                <c:pt idx="2">
                  <c:v>223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Reorder Point: Knowing When to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A field guide for new stockroom staff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828800"/>
            <a:ext cx="5120640" cy="393192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9728" cy="393192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YOUR LEARNING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452628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Learn one simple reorder-point rule that tells you when to reorder a stock item, and apply it correctly on every shift.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45262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You will see the logic, a worked example, and a short practice exercise with its answer.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48640" cy="54864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19"/>
            <a:ext cx="548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783080"/>
            <a:ext cx="4389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Understand the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194560"/>
            <a:ext cx="43891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Reorder point, inventory position and the trigger comparison.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154680"/>
            <a:ext cx="548640" cy="54864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548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108960"/>
            <a:ext cx="4389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Follow a worked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520440"/>
            <a:ext cx="43891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Every arithmetic step shown, with units labeled.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480560"/>
            <a:ext cx="548640" cy="54864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526280"/>
            <a:ext cx="548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434840"/>
            <a:ext cx="4389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Try a practice exercise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846320"/>
            <a:ext cx="43891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Decide ORDER or WAIT; the answer is revealed on the following slide.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6126480"/>
            <a:ext cx="10725912" cy="0"/>
          </a:xfrm>
          <a:prstGeom prst="line">
            <a:avLst/>
          </a:prstGeom>
          <a:ln w="12700">
            <a:solidFill>
              <a:srgbClr val="D9C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6199632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6650"/>
                </a:solidFill>
                <a:latin typeface="Georgia"/>
              </a:defRPr>
            </a:pPr>
            <a:r>
              <a:t>All figures in this guide are synthetic training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The Rule in Three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Two numbers to calculate, one comparison to make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783080"/>
            <a:ext cx="10725912" cy="123444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9728" cy="123444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1 · REORDER POINT (the trigger)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10058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Reorder point = daily demand × lead time in days + safety 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10058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Units: (units/day × days) = units, then add safety stock in units.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0725912" cy="123444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109728" cy="123444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91840"/>
            <a:ext cx="10058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2 · INVENTORY POSITION (what you really have)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Inventory position = on-hand + on-order − committed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69080"/>
            <a:ext cx="10058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Count stock on the shelf, add stock already ordered, subtract stock already promised.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10725912" cy="123444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09160"/>
            <a:ext cx="10058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E9DC"/>
                </a:solidFill>
                <a:latin typeface="Georgia"/>
              </a:defRPr>
            </a:pPr>
            <a:r>
              <a:t>3 · THE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100584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Georgia"/>
              </a:defRPr>
            </a:pPr>
            <a:r>
              <a:t>If inventory position ≤ reorder point → place an ORDER. Otherwise → WAIT.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Always compare the inventory position, not on-hand alone, with the reorder 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Worked Example: Finding the Reorder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Every step shown, every number labeled with its unit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GIVEN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03120"/>
          <a:ext cx="4572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343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Input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Unit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19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units/day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Lead time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days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Safety stock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28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114800"/>
            <a:ext cx="4572000" cy="15544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4114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E9DC"/>
                </a:solidFill>
                <a:latin typeface="Georgia"/>
              </a:defRPr>
            </a:pPr>
            <a: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17720"/>
            <a:ext cx="4114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Reorder point = 123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166360"/>
            <a:ext cx="4114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E9DC"/>
                </a:solidFill>
                <a:latin typeface="Georgia"/>
              </a:defRPr>
            </a:pPr>
            <a:r>
              <a:t>This is the trigger, not an order quantity.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783080"/>
            <a:ext cx="5605272" cy="118872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874519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STEP 1 · Lead-time demand (used while you wait)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286000"/>
            <a:ext cx="51206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19 units/day × 5 days = 95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3108960"/>
            <a:ext cx="5605272" cy="118872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200400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STEP 2 · Add safety stock once (buffer)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611880"/>
            <a:ext cx="51206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95 units + 28 units = 123 units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4434840"/>
            <a:ext cx="5605272" cy="123444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4526280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STEP 3 · Read the 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937760"/>
            <a:ext cx="51206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Order when inventory position ≤ 123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Units check: units/day × days = units, so every term is in units before you add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Checking Inventory: Order or Wait?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Inventory position 118 is below the reorder point of 123, so we ORDER 105 units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783080"/>
            <a:ext cx="5394960" cy="123444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937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STEP 1 · Inventory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9377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115 on-hand + 20 on-order − 17 committed = 118 units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5394960" cy="123444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4937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E9DC"/>
                </a:solidFill>
                <a:latin typeface="Georgia"/>
              </a:defRPr>
            </a:pPr>
            <a:r>
              <a:t>STEP 2 · Compare with the reorder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11880"/>
            <a:ext cx="49377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118 ≤ 123 units →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26280"/>
            <a:ext cx="5394960" cy="123444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617720"/>
            <a:ext cx="4937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STEP 3 · Order quantity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83480"/>
            <a:ext cx="49377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223 target − 118 position = 105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48737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Position vs. trigger and target (units)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583680" y="2194560"/>
          <a:ext cx="4873752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Rectangle 15"/>
          <p:cNvSpPr/>
          <p:nvPr/>
        </p:nvSpPr>
        <p:spPr>
          <a:xfrm>
            <a:off x="6583680" y="5349240"/>
            <a:ext cx="4873752" cy="41148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5376672"/>
            <a:ext cx="4663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Gap to target: 223 − 118 = 105 units to 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Keep the 20 on-order and 17 committed units in the count; never drop them from the position.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The Daily Decision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Follow the same steps for each item at every daily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2697480"/>
            <a:ext cx="2286000" cy="1188720"/>
          </a:xfrm>
          <a:prstGeom prst="roundRect">
            <a:avLst/>
          </a:prstGeom>
          <a:solidFill>
            <a:srgbClr val="F5E6C8"/>
          </a:solidFill>
          <a:ln>
            <a:solidFill>
              <a:srgbClr val="D9C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21031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1 · Read counts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on-hand, on-order, committed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697480"/>
            <a:ext cx="2377440" cy="1188720"/>
          </a:xfrm>
          <a:prstGeom prst="roundRect">
            <a:avLst/>
          </a:prstGeom>
          <a:solidFill>
            <a:srgbClr val="F5E6C8"/>
          </a:solidFill>
          <a:ln>
            <a:solidFill>
              <a:srgbClr val="D9C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743200"/>
            <a:ext cx="21945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2 · Calculate inventory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on-hand + on-order − committed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97480"/>
            <a:ext cx="2377440" cy="1188720"/>
          </a:xfrm>
          <a:prstGeom prst="roundRect">
            <a:avLst/>
          </a:prstGeom>
          <a:solidFill>
            <a:srgbClr val="F5E6C8"/>
          </a:solidFill>
          <a:ln>
            <a:solidFill>
              <a:srgbClr val="D9C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743200"/>
            <a:ext cx="21945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3 · Compare with reorder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Is position ≤ trigger?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3291840"/>
            <a:ext cx="41148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06440" y="3291840"/>
            <a:ext cx="41148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95360" y="3291840"/>
            <a:ext cx="4572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52560" y="2240280"/>
            <a:ext cx="0" cy="210312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52560" y="2240280"/>
            <a:ext cx="27432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052560" y="4343400"/>
            <a:ext cx="27432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26880" y="1737360"/>
            <a:ext cx="2130552" cy="100584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783080"/>
            <a:ext cx="194767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position at or below the trigger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3840480"/>
            <a:ext cx="2130552" cy="1005840"/>
          </a:xfrm>
          <a:prstGeom prst="roundRect">
            <a:avLst/>
          </a:prstGeom>
          <a:solidFill>
            <a:srgbClr val="FFFDF6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3886200"/>
            <a:ext cx="194767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position above the trigger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392156" y="4846320"/>
            <a:ext cx="0" cy="594360"/>
          </a:xfrm>
          <a:prstGeom prst="line">
            <a:avLst/>
          </a:prstGeom>
          <a:ln w="25400">
            <a:solidFill>
              <a:srgbClr val="7A6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74519" y="5440680"/>
            <a:ext cx="8517637" cy="0"/>
          </a:xfrm>
          <a:prstGeom prst="line">
            <a:avLst/>
          </a:prstGeom>
          <a:ln w="25400">
            <a:solidFill>
              <a:srgbClr val="7A6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74519" y="3886200"/>
            <a:ext cx="0" cy="1554480"/>
          </a:xfrm>
          <a:prstGeom prst="line">
            <a:avLst/>
          </a:prstGeom>
          <a:ln w="25400">
            <a:solidFill>
              <a:srgbClr val="7A6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43200" y="498348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WAIT branch → return to step 1 at the next daily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760720"/>
            <a:ext cx="10725912" cy="54864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33872"/>
            <a:ext cx="104241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Example from the previous slide: position 118 ≤ reorder point 123 → ORDER 105 units.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Practice: 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Apply the rule to one item, then check your answer on the next slide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874519"/>
            <a:ext cx="3291840" cy="9052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135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62072"/>
            <a:ext cx="3291840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Inventory position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520439"/>
            <a:ext cx="329184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97680" y="1874519"/>
            <a:ext cx="3291840" cy="9052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123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862072"/>
            <a:ext cx="3291840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Reorder point (trigger)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0" y="3520439"/>
            <a:ext cx="329184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3840480"/>
            <a:ext cx="6858000" cy="182880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109728" cy="182880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77639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THE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389120"/>
            <a:ext cx="64008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Using the rule, should you ORDER or WAIT? Write the comparison and your decision.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410712" cy="3794760"/>
          </a:xfrm>
          <a:prstGeom prst="roundRect">
            <a:avLst/>
          </a:prstGeom>
          <a:solidFill>
            <a:srgbClr val="FFFDF6"/>
          </a:solidFill>
          <a:ln>
            <a:solidFill>
              <a:srgbClr val="D9C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29260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Your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6032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80360"/>
            <a:ext cx="29260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4A3B2A"/>
                </a:solidFill>
                <a:latin typeface="Georgia"/>
              </a:defRPr>
            </a:pPr>
            <a:r>
              <a:t>135  ____  123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65760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Decision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21040" y="4434840"/>
            <a:ext cx="2834640" cy="0"/>
          </a:xfrm>
          <a:prstGeom prst="line">
            <a:avLst/>
          </a:prstGeom>
          <a:ln w="19050">
            <a:solidFill>
              <a:srgbClr val="7A6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21040" y="4754880"/>
            <a:ext cx="29260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45B3A"/>
                </a:solidFill>
                <a:latin typeface="Georgia"/>
              </a:defRPr>
            </a:pPr>
            <a:r>
              <a:t>Answer revealed on the next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Answer and 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First, the practice answer, then three mistakes to avoid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737360"/>
            <a:ext cx="10725912" cy="128016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101498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Practice answer: 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101498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Georgia"/>
              </a:defRPr>
            </a:pPr>
            <a:r>
              <a:t>135 units &gt; 123 units. The position is 12 units above the trigger (135 − 123 = 12), so no order yet.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91840"/>
            <a:ext cx="3392424" cy="274320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401568"/>
            <a:ext cx="31729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On-hand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023360"/>
            <a:ext cx="3172968" cy="1901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Do not compare on-hand alone with the trigger. Use on-hand + on-order − committed.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8264" y="3291840"/>
            <a:ext cx="3392424" cy="274320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3401568"/>
            <a:ext cx="31729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Safety stock × lead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4023360"/>
            <a:ext cx="3172968" cy="1901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Do not multiply safety stock by lead time. Only daily demand is multiplied; safety stock is added once.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008" y="3291840"/>
            <a:ext cx="3392424" cy="274320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3401568"/>
            <a:ext cx="31729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Trigger ≠ quantity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4023360"/>
            <a:ext cx="3172968" cy="1901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A larger reorder point is a trigger, not the order quantity. It tells you when, not how much.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7220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Each of these mistakes can flip the ORDER / WAIT decision. Check them every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Pre-Order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Four checks before you place any order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691640"/>
            <a:ext cx="5212080" cy="402336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109728" cy="402336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47091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1 · Verify units: every number uses the same unit of measure.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47091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2 · Include existing orders: add the on-order quantity.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03320"/>
            <a:ext cx="47091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3 · Subtract commitments: remove units already promised.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17720"/>
            <a:ext cx="47091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4 · Then check the trigger: ORDER only if position ≤ reorder point.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39512" cy="4023360"/>
          </a:xfrm>
          <a:prstGeom prst="roundRect">
            <a:avLst/>
          </a:prstGeom>
          <a:solidFill>
            <a:srgbClr val="FFFDF6"/>
          </a:solidFill>
          <a:ln>
            <a:solidFill>
              <a:srgbClr val="E3C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Where does the position sit?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At or left of the trigger: ORDER. Right of it: WAIT.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611880"/>
            <a:ext cx="2139696" cy="502920"/>
          </a:xfrm>
          <a:prstGeom prst="rect">
            <a:avLst/>
          </a:prstGeom>
          <a:solidFill>
            <a:srgbClr val="F2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40496" y="3611880"/>
            <a:ext cx="2798064" cy="502920"/>
          </a:xfrm>
          <a:prstGeom prst="rect">
            <a:avLst/>
          </a:prstGeom>
          <a:solidFill>
            <a:srgbClr val="E4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75887"/>
            <a:ext cx="213969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ORDER zone (≤ 123)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3675887"/>
            <a:ext cx="279806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E6B3A"/>
                </a:solidFill>
                <a:latin typeface="Georgia"/>
              </a:defRPr>
            </a:pPr>
            <a:r>
              <a:t>WAIT zone (&gt; 123)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0" y="4114800"/>
            <a:ext cx="493776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0496" y="3246120"/>
            <a:ext cx="0" cy="118872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34656" y="2880360"/>
            <a:ext cx="2011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Reorder point 123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17536" y="4114800"/>
            <a:ext cx="0" cy="22860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39712" y="4389120"/>
            <a:ext cx="16459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3B2A"/>
                </a:solidFill>
                <a:latin typeface="Georgia"/>
              </a:defRPr>
            </a:pPr>
            <a:r>
              <a:t>118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3B2A"/>
                </a:solidFill>
                <a:latin typeface="Georgia"/>
              </a:defRPr>
            </a:pPr>
            <a:r>
              <a:t>example: ORDER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515600" y="4114800"/>
            <a:ext cx="0" cy="22860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720072" y="4389120"/>
            <a:ext cx="1591056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3B2A"/>
                </a:solidFill>
                <a:latin typeface="Georgia"/>
              </a:defRPr>
            </a:pPr>
            <a:r>
              <a:t>135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3B2A"/>
                </a:solidFill>
                <a:latin typeface="Georgia"/>
              </a:defRPr>
            </a:pPr>
            <a:r>
              <a:t>practice: WAIT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20640"/>
            <a:ext cx="4937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6650"/>
                </a:solidFill>
                <a:latin typeface="Georgia"/>
              </a:defRPr>
            </a:pPr>
            <a:r>
              <a:t>Inventory position (units), scale 110 to 140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Run all four checks on every shift before placing an order.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