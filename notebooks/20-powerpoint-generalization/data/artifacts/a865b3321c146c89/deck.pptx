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9DB4C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1190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90.4</c:v>
                </c:pt>
                <c:pt idx="1">
                  <c:v>113</c:v>
                </c:pt>
                <c:pt idx="2">
                  <c:v>135.6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capacity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DECISION: SELECT OPTION 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Requested approval: $343k equipment investment, subject to the week-9 GO/HOLD gate (synthetic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$343k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5848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$113k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Annual saving per year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55848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8776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3.0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Simple payback (343 ÷ 113)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08776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61704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−$4k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1704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Three-year net (3 × 113 − 343)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61704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3520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WHAT OPTION B DELIVERS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35661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Mid-range option: higher saving than A ($72k/yr), lower investment than C ($499k). Reference uptime 99.1%.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749039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THREE-YEAR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4160520"/>
            <a:ext cx="35661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Base case is near breakeven at −$4k after three years; downside −$71.8k, upside +$63.8k (see Scenario).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749039"/>
            <a:ext cx="362102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5" y="4160520"/>
            <a:ext cx="3621024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Rollout proceeds only on GO at week 9: uptime ≥ 99.6%, all sites pass capacity validation, training and validation complete.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All figures are synthetic. $k = thousands of dollars.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OPTIONS: THREE REFERENCE CONFIGURATIONS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Investment, annual saving and reference uptime as provided; reference options unchanged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577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Investment and annual saving by option ($k)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577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572768"/>
            <a:ext cx="5257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Side-by-side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65960"/>
          <a:ext cx="5257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Simple payback (yrs)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5166360"/>
            <a:ext cx="5257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257800"/>
            <a:ext cx="5257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Payback = investment ÷ annual saving; three-year net = 3 × saving − investment. Only C's reference uptime meets the 99.6% gate threshold; reference uptime is not proof of operational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PERFORMANCE: 270 UNITS BELOW SIX-MONTH TARGET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Monthly output M1–M6 versus a flat target of 1,100 units per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7589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Monthly output vs target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758952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96596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6,330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62432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Actual total (units)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0" y="3063239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0" y="329184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97A6"/>
                </a:solidFill>
                <a:latin typeface="Arial"/>
              </a:defRPr>
            </a:pPr>
            <a:r>
              <a:t>6,600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5020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Target total (units)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389120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03920" y="461772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−270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27608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Shortfall (units, −4.1%)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5715000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053328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Variance vs target: M1 −240, M2 −310, M3 +90, M4 +90, M5 +30, M6 +70. Early deficit of 550 is offset by 280 surplus → net −270.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SCENARIO: PAYBACK RANGES FROM 2.5 TO 3.8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Option B, investment fixed at $343k; saving at 80% / 100% / 120% of $113k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Annual saving by scenario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1206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572768"/>
            <a:ext cx="5623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Computed payback and three-year net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965960"/>
          <a:ext cx="5623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90.4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 ÷ 90.4 = 3.8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90.4 − 343 = −71.8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 ÷ 113 = 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113 − 343 = −4.0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135.6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 ÷ 135.6 = 2.5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135.6 − 343 = +63.8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4572000"/>
            <a:ext cx="5623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4709160"/>
            <a:ext cx="5623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BREAKEVEN WITHIN THREE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074920"/>
            <a:ext cx="5623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Requires saving ≥ 343 ÷ 3 = $114.3k/yr, about 1% above the base case. Only the upside scenario clears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CAPACITY: NO SITE HAS DEMAND ABOVE CAPACITY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Daily demand vs daily capacity at North, East and West; West has the tightest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Daily demand vs capacity by site (per day)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1572768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Site check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96596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/ day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 / day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Utilization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&gt; capacity?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92.9%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55080" y="4389120"/>
            <a:ext cx="5303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52628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892040"/>
            <a:ext cx="53035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Demand is within capacity at all three sites. West runs closest to its limit (96.7%, 11/day headroom). Site capacity validation remains a gate criterion.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6035040"/>
            <a:ext cx="5303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Headroom = capacity − demand; utilization = demand ÷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ROADMAP: 13 WEEKS FROM DESIGN TO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Technical and People lanes converge at the week-9 gate (drawn to scale)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42900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2286000"/>
            <a:ext cx="137160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331720"/>
            <a:ext cx="1371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286000"/>
            <a:ext cx="210312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331720"/>
            <a:ext cx="2103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2286000"/>
            <a:ext cx="210312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331720"/>
            <a:ext cx="2103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3566160"/>
            <a:ext cx="210312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3611880"/>
            <a:ext cx="2103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286000"/>
            <a:ext cx="640080" cy="2011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971800"/>
            <a:ext cx="6400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Wk 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2286000"/>
            <a:ext cx="283464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331720"/>
            <a:ext cx="2834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10–13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2651760"/>
            <a:ext cx="914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06440" y="2651760"/>
            <a:ext cx="914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69280" y="3017520"/>
            <a:ext cx="36576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01000" y="2651760"/>
            <a:ext cx="914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01000" y="3931920"/>
            <a:ext cx="914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32520" y="2651760"/>
            <a:ext cx="914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75488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Validate and Train run in parallel in weeks 6–8, both starting after Build. Both must finish before the week-9 gate; rollout (weeks 10–13) starts only on 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GATE: GO ONLY IF ALL THREE CRITERIA ARE MET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Week-9 decision rule; any unmet criterion results in HOLD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Criterion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 for GO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at week 9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 least 99.6%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Measured operational uptime, not the reference figure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All sites pass (North, East, West)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Capacity validation result for each site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Readiness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and validation both finished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Completion of the weeks 6–8 workstreams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543800" y="2423160"/>
            <a:ext cx="54864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43800" y="3886200"/>
            <a:ext cx="54864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38160" y="1783080"/>
            <a:ext cx="3520440" cy="1280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91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33172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All three criteria met → proceed to rollout, weeks 10–13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3246120"/>
            <a:ext cx="35204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291840"/>
            <a:ext cx="3291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55A4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9476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Any criterion unmet → no rollout until resolved and re-tested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73152" cy="1280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CAVEAT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Reference uptime is not proof of operational performance. Option B's reference uptime (99.1%) is 0.5 points below the 99.6% threshold, so GO depends on measured operational uptime.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RISK: SUPPLIER DELAY IS THE MORE LIKELY 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Likelihood (x) and impact (y), each scored 1–5, with planned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Impact (1–5) ↑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920240"/>
            <a:ext cx="502920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62272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94176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57984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6144768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96" y="3694176"/>
            <a:ext cx="292608" cy="29260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3291840"/>
            <a:ext cx="23774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Supplier delay (L4, I3)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42616" y="2926080"/>
            <a:ext cx="292608" cy="29260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523744"/>
            <a:ext cx="23774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Training gap (L2, I4)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766560" y="1920240"/>
          <a:ext cx="48920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8"/>
                <a:gridCol w="978408"/>
                <a:gridCol w="978408"/>
                <a:gridCol w="978408"/>
                <a:gridCol w="978408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766560" y="3931920"/>
            <a:ext cx="48920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69080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READING THE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34840"/>
            <a:ext cx="48920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Supplier delay is more likely (4 vs 2) and scores higher overall (12 vs 8). Training gap carries the higher impact (4 vs 3). Score = likelihood × impact, used as a ranking aid.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6035040"/>
            <a:ext cx="4892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All data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