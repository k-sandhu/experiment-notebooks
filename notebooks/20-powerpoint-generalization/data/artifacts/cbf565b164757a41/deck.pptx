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Control (127/220)</c:v>
                </c:pt>
                <c:pt idx="1">
                  <c:v>Treatment (157/220)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57.7</c:v>
                </c:pt>
                <c:pt idx="1">
                  <c:v>71.4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9C8770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Batch P</c:v>
                </c:pt>
                <c:pt idx="1">
                  <c:v>Batch Q</c:v>
                </c:pt>
                <c:pt idx="2">
                  <c:v>Batch 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52</c:v>
                </c:pt>
                <c:pt idx="2">
                  <c:v>53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SIMULATED STUDY REPORT · ALL DATA SYNTHETIC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10820095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200" b="0">
                <a:solidFill>
                  <a:srgbClr val="4A3B2A"/>
                </a:solidFill>
                <a:latin typeface="Georgia"/>
              </a:defRPr>
            </a:pPr>
            <a:r>
              <a:t>Does the treatment beat control?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820095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A6550"/>
                </a:solidFill>
                <a:latin typeface="Georgia"/>
              </a:defRPr>
            </a:pPr>
            <a:r>
              <a:t>Pass rate and durability in a fictional material-screening study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94960" y="278892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3154680"/>
            <a:ext cx="6309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20440"/>
            <a:ext cx="63093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4A3B2A"/>
                </a:solidFill>
                <a:latin typeface="Georgia"/>
              </a:defRPr>
            </a:pPr>
            <a:r>
              <a:t>Compare a treatment with a control on two outcomes: the share of samples passing a predefined strength test, and durability across repeated test cycles. Samples were randomly assigned to each group.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49240"/>
            <a:ext cx="63093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3B2A"/>
                </a:solidFill>
                <a:latin typeface="Georgia"/>
              </a:defRPr>
            </a:pPr>
            <a:r>
              <a:t>2 groups · 220 samples each · 440 samples in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154680"/>
            <a:ext cx="4099255" cy="283464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3337560"/>
            <a:ext cx="3566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SCOPE OF THE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749039"/>
            <a:ext cx="356616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Random assignment: yes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Laboratories: 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Material batches: one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Findings describe this sample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One lab, one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02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31520"/>
            <a:ext cx="10972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A3B2A"/>
                </a:solidFill>
                <a:latin typeface="Georgia"/>
              </a:defRPr>
            </a:pPr>
            <a:r>
              <a:t>Design: two equal arms under one test protocol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169164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2103120"/>
            <a:ext cx="1828800" cy="17830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1 · Assign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16459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440 samples randomly split: 220 control, 220 treatment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33669" y="2103120"/>
            <a:ext cx="1828800" cy="17830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5109" y="2212848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2 · Expose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5109" y="2651760"/>
            <a:ext cx="16459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Equal-duration exposure for both groups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630" y="2103120"/>
            <a:ext cx="1828800" cy="17830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3070" y="2212848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3 ·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3070" y="2651760"/>
            <a:ext cx="16459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Same test equipment used for every sample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9500" y="2103120"/>
            <a:ext cx="1828800" cy="17830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0940" y="2212848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4 ·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0940" y="2651760"/>
            <a:ext cx="16459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Endpoint: pass or fail on the predefined strength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7369" y="2103120"/>
            <a:ext cx="1828800" cy="17830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68809" y="2212848"/>
            <a:ext cx="16459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45B3A"/>
                </a:solidFill>
                <a:latin typeface="Georgia"/>
              </a:defRPr>
            </a:pPr>
            <a:r>
              <a:t>5 ·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8809" y="2651760"/>
            <a:ext cx="16459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Exclusions reviewed before final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51960"/>
            <a:ext cx="6035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WHY THE COMPARISON IS FAIR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17720"/>
            <a:ext cx="603504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Random assignment, equal exposure and shared equipment mean the two arms differ mainly by treatment. The pass criterion was predefined, not chosen after seeing the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4206240"/>
            <a:ext cx="4419295" cy="1920240"/>
          </a:xfrm>
          <a:prstGeom prst="roundRect">
            <a:avLst/>
          </a:prstGeom>
          <a:solidFill>
            <a:srgbClr val="FBEFD9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343400"/>
            <a:ext cx="4023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LIMITS TO KEEP IN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09160"/>
            <a:ext cx="402336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One lab and one batch only. Blinded scoring is not reported. The duplicate-record audit is still pending (page 6).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One lab, one batch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03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31520"/>
            <a:ext cx="10972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A3B2A"/>
                </a:solidFill>
                <a:latin typeface="Georgia"/>
              </a:defRPr>
            </a:pPr>
            <a:r>
              <a:t>Treatment passed 71.4% of samples vs. 57.7% for control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169164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965960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rate, % of samples (n = 220 per group)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377440"/>
          <a:ext cx="53035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51050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019"/>
                <a:gridCol w="1021019"/>
                <a:gridCol w="1021019"/>
                <a:gridCol w="1021019"/>
                <a:gridCol w="1021019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Group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Failed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Rate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93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57.7%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63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71.4%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−30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+13.6 pp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0" y="4114800"/>
            <a:ext cx="5105095" cy="182880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4251960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THE ARITHMETIC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617720"/>
            <a:ext cx="466344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127 ÷ 220 = 57.7%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157 ÷ 220 = 71.4%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30 extra passes ÷ 220 = 13.6 percentage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Denominators fixed at 220 per group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04 · TIMECOURSE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31520"/>
            <a:ext cx="10972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A3B2A"/>
                </a:solidFill>
                <a:latin typeface="Georgia"/>
              </a:defRPr>
            </a:pPr>
            <a:r>
              <a:t>Durability gap widens from 0 to 15 points by cycle 300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169164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965960"/>
            <a:ext cx="66751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Durability (%) at each test cycle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377440"/>
          <a:ext cx="667512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806440"/>
            <a:ext cx="6675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550"/>
                </a:solidFill>
                <a:latin typeface="Georgia"/>
              </a:defRPr>
            </a:pPr>
            <a:r>
              <a:t>Test cycles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2011680"/>
          <a:ext cx="37334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3373"/>
                <a:gridCol w="933373"/>
                <a:gridCol w="933373"/>
                <a:gridCol w="933376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Cycle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Georgia"/>
                        </a:defRPr>
                      </a:pPr>
                      <a:r>
                        <a:t>Gap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0 pts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 pts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200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72%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82%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10 pts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58%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73%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 pts</a:t>
                      </a:r>
                    </a:p>
                  </a:txBody>
                  <a:tcPr marL="64008" marR="64008" marT="36576" marB="36576">
                    <a:solidFill>
                      <a:srgbClr val="FBEFD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4434840"/>
            <a:ext cx="3733495" cy="160020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4553712"/>
            <a:ext cx="3383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READING THE CURVES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892040"/>
            <a:ext cx="33832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Cycle 0 to 300: control loses 42 pts, treatment 27 pts. The gap grows 5 pts every 100 cycles.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All eight durability values shown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05 · SUBGROUPS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31520"/>
            <a:ext cx="10972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A3B2A"/>
                </a:solidFill>
                <a:latin typeface="Georgia"/>
              </a:defRPr>
            </a:pPr>
            <a:r>
              <a:t>Treatment passes split almost evenly across P, Q and 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169164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96596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passes by batch label (count of samples)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377440"/>
          <a:ext cx="57607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486400"/>
            <a:ext cx="576072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52 + 52 + 53 = 157, matching the treatment total of 157 passes.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011680"/>
            <a:ext cx="4556455" cy="402336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2240280"/>
            <a:ext cx="73152" cy="3566160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4114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COUNTS, NOT RATES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560320"/>
            <a:ext cx="411480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Each bar counts treatment samples that passed within a label. Samples tested per label were not supplied, so per-label pass rates cannot be calculated. Equal counts do not imply equal rates, and control counts by label were not supplied either.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4983480"/>
            <a:ext cx="41148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550"/>
                </a:solidFill>
                <a:latin typeface="Georgia"/>
              </a:defRPr>
            </a:pPr>
            <a:r>
              <a:t>Consistency note: the study is described as one batch; how labels P, Q and R relate to it is not documented.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Subgroup denominators not supplied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06 ·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31520"/>
            <a:ext cx="10972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A3B2A"/>
                </a:solidFill>
                <a:latin typeface="Georgia"/>
              </a:defRPr>
            </a:pPr>
            <a:r>
              <a:t>Initial extract only: duplicate-record audit is pending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169164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2057400"/>
            <a:ext cx="3291840" cy="114300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Initial 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550"/>
                </a:solidFill>
                <a:latin typeface="Georgia"/>
              </a:defRPr>
            </a:pPr>
            <a:r>
              <a:t>Status: received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2628900"/>
            <a:ext cx="472471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450110" y="2057400"/>
            <a:ext cx="3291840" cy="1143000"/>
          </a:xfrm>
          <a:prstGeom prst="roundRect">
            <a:avLst/>
          </a:prstGeom>
          <a:solidFill>
            <a:srgbClr val="FFF8E7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2990" y="214884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Duplicate-record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990" y="2606040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45B3A"/>
                </a:solidFill>
                <a:latin typeface="Georgia"/>
              </a:defRPr>
            </a:pPr>
            <a:r>
              <a:t>Status: pending — we are here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41950" y="2628900"/>
            <a:ext cx="472379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14329" y="2057400"/>
            <a:ext cx="3291840" cy="114300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7209" y="2148840"/>
            <a:ext cx="29260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3B2A"/>
                </a:solidFill>
                <a:latin typeface="Georgia"/>
              </a:defRPr>
            </a:pPr>
            <a:r>
              <a:t>Final figures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7209" y="2606040"/>
            <a:ext cx="29260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6550"/>
                </a:solidFill>
                <a:latin typeface="Georgia"/>
              </a:defRPr>
            </a:pPr>
            <a:r>
              <a:t>Status: after the 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5257800" cy="251460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WHAT THE EXTRACT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Passes: 127/220 control, 157/220 treatment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Observed difference: 13.6 percentage points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Durability at four cycles for each arm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Any figure may change if duplicates are found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3566160"/>
            <a:ext cx="5257800" cy="2514600"/>
          </a:xfrm>
          <a:prstGeom prst="roundRect">
            <a:avLst/>
          </a:prstGeom>
          <a:solidFill>
            <a:srgbClr val="FBEFD9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6695" y="370332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WHAT WE DO NOT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695" y="4069080"/>
            <a:ext cx="4846320" cy="1920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No claim of statistical significance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No confidence interval reported or estimated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No generalization beyond one lab, one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• No final figures until the audit is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Unaudited extract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07 ·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31520"/>
            <a:ext cx="10972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A3B2A"/>
                </a:solidFill>
                <a:latin typeface="Georgia"/>
              </a:defRPr>
            </a:pPr>
            <a:r>
              <a:t>A measured 13.6-point sample gap, not field 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169164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81704" y="2011680"/>
            <a:ext cx="5029200" cy="17830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1704" y="2103120"/>
            <a:ext cx="50292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0" b="1">
                <a:solidFill>
                  <a:srgbClr val="FFFFFF"/>
                </a:solidFill>
                <a:latin typeface="Georgia"/>
              </a:defRPr>
            </a:pPr>
            <a:r>
              <a:t>+13.6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704" y="3108960"/>
            <a:ext cx="502920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Georgia"/>
              </a:defRPr>
            </a:pPr>
            <a:r>
              <a:t>Treatment minus control pass rate: 71.4% − 57.7%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114800"/>
            <a:ext cx="5257800" cy="196596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48463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A difference measured in this sample: 30 more treatment passes out of 220, with durability 5–15 pts higher from cycle 100 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4114800"/>
            <a:ext cx="5257800" cy="1965960"/>
          </a:xfrm>
          <a:prstGeom prst="roundRect">
            <a:avLst/>
          </a:prstGeom>
          <a:solidFill>
            <a:srgbClr val="FBEFD9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6695" y="4251960"/>
            <a:ext cx="4846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WHAT IT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695" y="4617720"/>
            <a:ext cx="484632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Evidence of broad field performance. One lab, one batch, an unaudited extract and no significance claim limit how far it travels.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Sample difference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64592"/>
          </a:xfrm>
          <a:prstGeom prst="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820095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45B3A"/>
                </a:solidFill>
                <a:latin typeface="Georgia"/>
              </a:defRPr>
            </a:pPr>
            <a:r>
              <a:t>08 ·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31520"/>
            <a:ext cx="1097280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4A3B2A"/>
                </a:solidFill>
                <a:latin typeface="Georgia"/>
              </a:defRPr>
            </a:pPr>
            <a:r>
              <a:t>Decision: replicate before any deployment claim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394960" y="1691640"/>
            <a:ext cx="1401775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965960"/>
            <a:ext cx="10820095" cy="91440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027145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Georgia"/>
              </a:defRPr>
            </a:pPr>
            <a:r>
              <a:t>No deployment claim yet: replicate in 3 independent labs and test a second batch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54680"/>
            <a:ext cx="2514600" cy="22402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2148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45B3A"/>
                </a:solidFill>
                <a:latin typeface="Georgia"/>
              </a:defRPr>
            </a:pPr>
            <a:r>
              <a:t>3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148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Replicate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2148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Run the same protocol in three independent labs.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4420" y="3154680"/>
            <a:ext cx="2514600" cy="22402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7300" y="3246120"/>
            <a:ext cx="2148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45B3A"/>
                </a:solidFill>
                <a:latin typeface="Georgia"/>
              </a:defRPr>
            </a:pPr>
            <a:r>
              <a:t>Blind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7300" y="3840480"/>
            <a:ext cx="2148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Blinded scoring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300" y="4251960"/>
            <a:ext cx="2148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Scorers do not know which group a sample is 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40" y="3154680"/>
            <a:ext cx="2514600" cy="22402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5920" y="3246120"/>
            <a:ext cx="2148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45B3A"/>
                </a:solidFill>
                <a:latin typeface="Georgia"/>
              </a:defRPr>
            </a:pPr>
            <a:r>
              <a:t>Fix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920" y="3840480"/>
            <a:ext cx="2148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Preregister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5920" y="4251960"/>
            <a:ext cx="2148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Preregister exclusions and keep a control arm in every lab.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1569" y="3154680"/>
            <a:ext cx="2514600" cy="2240280"/>
          </a:xfrm>
          <a:prstGeom prst="roundRect">
            <a:avLst/>
          </a:prstGeom>
          <a:solidFill>
            <a:srgbClr val="F3E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4449" y="3246120"/>
            <a:ext cx="21488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45B3A"/>
                </a:solidFill>
                <a:latin typeface="Georgia"/>
              </a:defRPr>
            </a:pPr>
            <a:r>
              <a:t>Batch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4449" y="3840480"/>
            <a:ext cx="2148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Record &amp; extend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4449" y="4251960"/>
            <a:ext cx="214884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4A3B2A"/>
                </a:solidFill>
                <a:latin typeface="Georgia"/>
              </a:defRPr>
            </a:pPr>
            <a:r>
              <a:t>Log batch conditions; test a second batch.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577840"/>
            <a:ext cx="10820095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Success check: does the pass-rate gap and durability pattern recur across labs and batches?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8229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Fictional material-screening study · All data synthetic · One lab, one batch to 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4295" y="6355080"/>
            <a:ext cx="1371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C7A66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