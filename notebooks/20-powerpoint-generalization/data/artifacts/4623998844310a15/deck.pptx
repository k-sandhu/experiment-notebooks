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Units</c:v>
                </c:pt>
              </c:strCache>
            </c:strRef>
          </c:tx>
          <c:spPr>
            <a:solidFill>
              <a:srgbClr val="808080"/>
            </a:solidFill>
            <a:ln>
              <a:noFill/>
            </a:ln>
          </c:spPr>
          <c:cat>
            <c:strRef>
              <c:f>Sheet1!$A$2:$A$4</c:f>
              <c:strCache>
                <c:ptCount val="3"/>
                <c:pt idx="0">
                  <c:v>Lead-time demand</c:v>
                </c:pt>
                <c:pt idx="1">
                  <c:v>Safety stock</c:v>
                </c:pt>
                <c:pt idx="2">
                  <c:v>Reorder point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132</c:v>
                </c:pt>
                <c:pt idx="1">
                  <c:v>32</c:v>
                </c:pt>
                <c:pt idx="2">
                  <c:v>164</c:v>
                </c:pt>
              </c:numCache>
            </c:numRef>
          </c:val>
        </c:ser>
        <c:dLbls>
          <c:txPr>
            <a:bodyPr/>
            <a:lstStyle/>
            <a:p>
              <a:pPr>
                <a:defRPr sz="1200">
                  <a:solidFill>
                    <a:srgbClr val="000000"/>
                  </a:solidFill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200">
                <a:solidFill>
                  <a:srgbClr val="000000"/>
                </a:solidFill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200">
                <a:solidFill>
                  <a:srgbClr val="000000"/>
                </a:solidFill>
                <a:latin typeface="Arial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200">
          <a:solidFill>
            <a:srgbClr val="000000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Units</c:v>
                </c:pt>
              </c:strCache>
            </c:strRef>
          </c:tx>
          <c:spPr>
            <a:solidFill>
              <a:srgbClr val="808080"/>
            </a:solidFill>
            <a:ln>
              <a:noFill/>
            </a:ln>
          </c:spPr>
          <c:cat>
            <c:strRef>
              <c:f>Sheet1!$A$2:$A$7</c:f>
              <c:strCache>
                <c:ptCount val="6"/>
                <c:pt idx="0">
                  <c:v>On-hand</c:v>
                </c:pt>
                <c:pt idx="1">
                  <c:v>On-order</c:v>
                </c:pt>
                <c:pt idx="2">
                  <c:v>Committed</c:v>
                </c:pt>
                <c:pt idx="3">
                  <c:v>Inventory position</c:v>
                </c:pt>
                <c:pt idx="4">
                  <c:v>Reorder point</c:v>
                </c:pt>
                <c:pt idx="5">
                  <c:v>Target position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156</c:v>
                </c:pt>
                <c:pt idx="1">
                  <c:v>20</c:v>
                </c:pt>
                <c:pt idx="2">
                  <c:v>17</c:v>
                </c:pt>
                <c:pt idx="3">
                  <c:v>159</c:v>
                </c:pt>
                <c:pt idx="4">
                  <c:v>164</c:v>
                </c:pt>
                <c:pt idx="5">
                  <c:v>264</c:v>
                </c:pt>
              </c:numCache>
            </c:numRef>
          </c:val>
        </c:ser>
        <c:dLbls>
          <c:txPr>
            <a:bodyPr/>
            <a:lstStyle/>
            <a:p>
              <a:pPr>
                <a:defRPr sz="1200">
                  <a:solidFill>
                    <a:srgbClr val="000000"/>
                  </a:solidFill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200">
                <a:solidFill>
                  <a:srgbClr val="000000"/>
                </a:solidFill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b"/>
        <c:majorGridlines/>
        <c:majorTickMark val="out"/>
        <c:minorTickMark val="none"/>
        <c:tickLblPos val="nextTo"/>
        <c:txPr>
          <a:bodyPr/>
          <a:lstStyle/>
          <a:p>
            <a:pPr>
              <a:defRPr sz="1200">
                <a:solidFill>
                  <a:srgbClr val="000000"/>
                </a:solidFill>
                <a:latin typeface="Arial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200">
          <a:solidFill>
            <a:srgbClr val="000000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Inventory position</c:v>
                </c:pt>
              </c:strCache>
            </c:strRef>
          </c:tx>
          <c:spPr>
            <a:solidFill>
              <a:srgbClr val="000000"/>
            </a:solidFill>
            <a:ln>
              <a:noFill/>
            </a:ln>
          </c:spPr>
          <c:cat>
            <c:strRef>
              <c:f>Sheet1!$A$2:$A$3</c:f>
              <c:strCache>
                <c:ptCount val="2"/>
                <c:pt idx="0">
                  <c:v>Worked example: ORDER</c:v>
                </c:pt>
                <c:pt idx="1">
                  <c:v>Practice: WAIT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159</c:v>
                </c:pt>
                <c:pt idx="1">
                  <c:v>176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Reorder point</c:v>
                </c:pt>
              </c:strCache>
            </c:strRef>
          </c:tx>
          <c:spPr>
            <a:solidFill>
              <a:srgbClr val="A6A6A6"/>
            </a:solidFill>
            <a:ln>
              <a:noFill/>
            </a:ln>
          </c:spPr>
          <c:cat>
            <c:strRef>
              <c:f>Sheet1!$A$2:$A$3</c:f>
              <c:strCache>
                <c:ptCount val="2"/>
                <c:pt idx="0">
                  <c:v>Worked example: ORDER</c:v>
                </c:pt>
                <c:pt idx="1">
                  <c:v>Practice: WAIT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164</c:v>
                </c:pt>
                <c:pt idx="1">
                  <c:v>164</c:v>
                </c:pt>
              </c:numCache>
            </c:numRef>
          </c:val>
        </c:ser>
        <c:dLbls>
          <c:txPr>
            <a:bodyPr/>
            <a:lstStyle/>
            <a:p>
              <a:pPr>
                <a:defRPr sz="1200">
                  <a:solidFill>
                    <a:srgbClr val="000000"/>
                  </a:solidFill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200">
                <a:solidFill>
                  <a:srgbClr val="000000"/>
                </a:solidFill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200">
                <a:solidFill>
                  <a:srgbClr val="000000"/>
                </a:solidFill>
                <a:latin typeface="Arial"/>
              </a:defRPr>
            </a:pPr>
          </a:p>
        </c:txPr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200">
          <a:solidFill>
            <a:srgbClr val="000000"/>
          </a:solidFill>
          <a:latin typeface="Arial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808080"/>
                </a:solidFill>
                <a:latin typeface="Arial"/>
              </a:defRPr>
            </a:pPr>
            <a:r>
              <a:t>01 · LEARNING GOAL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94415" cy="5943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000000"/>
                </a:solidFill>
                <a:latin typeface="Arial"/>
              </a:defRPr>
            </a:pPr>
            <a:r>
              <a:t>Inventory Reorder Protocol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1094415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404040"/>
                </a:solidFill>
                <a:latin typeface="Arial"/>
              </a:defRPr>
            </a:pPr>
            <a:r>
              <a:t>When and how to initiate a reorder: a reorder-point rule for junior warehouse staff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691640"/>
            <a:ext cx="11094415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1920240"/>
            <a:ext cx="512064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00000"/>
                </a:solidFill>
                <a:latin typeface="Arial"/>
              </a:defRPr>
            </a:pPr>
            <a:r>
              <a:t>Learning goal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331720"/>
            <a:ext cx="5120640" cy="12344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000000"/>
                </a:solidFill>
                <a:latin typeface="Arial"/>
              </a:defRPr>
            </a:pPr>
            <a:r>
              <a:t>Apply a simple reorder-point rule as a stockroom coordinator. We explain the logic, work through one example, then you complete a short practice exercise and check its answer.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3749039"/>
            <a:ext cx="5120640" cy="1463040"/>
          </a:xfrm>
          <a:prstGeom prst="rect">
            <a:avLst/>
          </a:prstGeom>
          <a:solidFill>
            <a:srgbClr val="ED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3749039"/>
            <a:ext cx="73152" cy="14630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3840480"/>
            <a:ext cx="475488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000000"/>
                </a:solidFill>
                <a:latin typeface="Arial"/>
              </a:defRPr>
            </a:pPr>
            <a:r>
              <a:t>The one decision you will make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206240"/>
            <a:ext cx="4754880" cy="9144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000000"/>
                </a:solidFill>
                <a:latin typeface="Arial"/>
              </a:defRPr>
            </a:pPr>
            <a:r>
              <a:t>Every daily review ends in exactly one outcome: ORDER (position at or below the trigger) or WAIT (position above it).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5440680"/>
            <a:ext cx="5120640" cy="7315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595959"/>
                </a:solidFill>
                <a:latin typeface="Arial"/>
              </a:defRPr>
            </a:pPr>
            <a:r>
              <a:t>All figures in this deck are synthetic and expressed in units, units/day or days.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72200" y="1920240"/>
            <a:ext cx="5470855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00000"/>
                </a:solidFill>
                <a:latin typeface="Arial"/>
              </a:defRPr>
            </a:pPr>
            <a:r>
              <a:t>Session sequence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6172200" y="2377440"/>
          <a:ext cx="5470855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3618"/>
                <a:gridCol w="1823618"/>
                <a:gridCol w="1823619"/>
              </a:tblGrid>
              <a:tr h="54864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Part</a:t>
                      </a:r>
                    </a:p>
                  </a:txBody>
                  <a:tcPr marL="64008" marR="64008" marT="36576" marB="36576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Slides</a:t>
                      </a:r>
                    </a:p>
                  </a:txBody>
                  <a:tcPr marL="64008" marR="64008" marT="36576" marB="36576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What you do</a:t>
                      </a:r>
                    </a:p>
                  </a:txBody>
                  <a:tcPr marL="64008" marR="64008" marT="36576" marB="36576">
                    <a:solidFill>
                      <a:srgbClr val="000000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Logic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2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Learn the rule and its two formulas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Worked example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3–4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Compute reorder point and inventory position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Process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5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Follow the daily decision sequence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Practice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6–7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Decide ORDER or WAIT; check the answer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Checklist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8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Run four checks before ordering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548640" y="6400800"/>
            <a:ext cx="11094415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808080"/>
                </a:solidFill>
                <a:latin typeface="Arial"/>
              </a:defRPr>
            </a:pPr>
            <a:r>
              <a:t>Synthetic data for training  |  1 / 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808080"/>
                </a:solidFill>
                <a:latin typeface="Arial"/>
              </a:defRPr>
            </a:pPr>
            <a:r>
              <a:t>02 · RULE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94415" cy="5943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000000"/>
                </a:solidFill>
                <a:latin typeface="Arial"/>
              </a:defRPr>
            </a:pPr>
            <a:r>
              <a:t>The rule: two formulas, one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1094415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404040"/>
                </a:solidFill>
                <a:latin typeface="Arial"/>
              </a:defRPr>
            </a:pPr>
            <a:r>
              <a:t>Compute the trigger, compute what you effectively have, then compare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691640"/>
            <a:ext cx="11094415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48640" y="1920240"/>
            <a:ext cx="5394960" cy="1097280"/>
          </a:xfrm>
          <a:prstGeom prst="rect">
            <a:avLst/>
          </a:prstGeom>
          <a:solidFill>
            <a:srgbClr val="ED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965960"/>
            <a:ext cx="502920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595959"/>
                </a:solidFill>
                <a:latin typeface="Arial"/>
              </a:defRPr>
            </a:pPr>
            <a:r>
              <a:t>FORMULA 1 · TRIGGER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240280"/>
            <a:ext cx="5029200" cy="7315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000000"/>
                </a:solidFill>
                <a:latin typeface="Arial"/>
              </a:defRPr>
            </a:pPr>
            <a:r>
              <a:t>Reorder point = daily demand × lead time (days) + safety stock</a:t>
            </a:r>
          </a:p>
        </p:txBody>
      </p:sp>
      <p:sp>
        <p:nvSpPr>
          <p:cNvPr id="9" name="Rectangle 8"/>
          <p:cNvSpPr/>
          <p:nvPr/>
        </p:nvSpPr>
        <p:spPr>
          <a:xfrm>
            <a:off x="6248095" y="1920240"/>
            <a:ext cx="5394960" cy="1097280"/>
          </a:xfrm>
          <a:prstGeom prst="rect">
            <a:avLst/>
          </a:prstGeom>
          <a:solidFill>
            <a:srgbClr val="ED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30975" y="1965960"/>
            <a:ext cx="502920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595959"/>
                </a:solidFill>
                <a:latin typeface="Arial"/>
              </a:defRPr>
            </a:pPr>
            <a:r>
              <a:t>FORMULA 2 · WHAT YOU EFFECTIVELY HAVE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30975" y="2240280"/>
            <a:ext cx="5029200" cy="7315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000000"/>
                </a:solidFill>
                <a:latin typeface="Arial"/>
              </a:defRPr>
            </a:pPr>
            <a:r>
              <a:t>Inventory position = on-hand + on-order − committed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3246120"/>
            <a:ext cx="11094415" cy="7772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3291840"/>
            <a:ext cx="10728655" cy="6858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Arial"/>
              </a:defRPr>
            </a:pPr>
            <a:r>
              <a:t>DECISION: place an order when inventory position ≤ reorder point. Otherwise, wait.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548640" y="4251960"/>
          <a:ext cx="11094415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73603"/>
                <a:gridCol w="2773603"/>
                <a:gridCol w="2773603"/>
                <a:gridCol w="2773606"/>
              </a:tblGrid>
              <a:tr h="27432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Term</a:t>
                      </a:r>
                    </a:p>
                  </a:txBody>
                  <a:tcPr marL="64008" marR="64008" marT="36576" marB="36576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Meaning</a:t>
                      </a:r>
                    </a:p>
                  </a:txBody>
                  <a:tcPr marL="64008" marR="64008" marT="36576" marB="36576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Unit</a:t>
                      </a:r>
                    </a:p>
                  </a:txBody>
                  <a:tcPr marL="64008" marR="64008" marT="36576" marB="36576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Role in formula</a:t>
                      </a:r>
                    </a:p>
                  </a:txBody>
                  <a:tcPr marL="64008" marR="64008" marT="36576" marB="36576">
                    <a:solidFill>
                      <a:srgbClr val="000000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Daily demand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Average units used per day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units/day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× lead time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Lead time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Days from order to receipt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days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× daily demand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Safety stock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Buffer for demand or delay swings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units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+ added once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On-hand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Units physically in stock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units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+ add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On-order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Ordered, not yet received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units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+ add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Committed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Promised, not yet shipped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units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− subtract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548640" y="6400800"/>
            <a:ext cx="11094415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808080"/>
                </a:solidFill>
                <a:latin typeface="Arial"/>
              </a:defRPr>
            </a:pPr>
            <a:r>
              <a:t>Synthetic data for training  |  2 / 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808080"/>
                </a:solidFill>
                <a:latin typeface="Arial"/>
              </a:defRPr>
            </a:pPr>
            <a:r>
              <a:t>03 · WORKED EXAMPLE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94415" cy="5943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000000"/>
                </a:solidFill>
                <a:latin typeface="Arial"/>
              </a:defRPr>
            </a:pPr>
            <a:r>
              <a:t>Worked example: the reorder point is 164 units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1094415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404040"/>
                </a:solidFill>
                <a:latin typeface="Arial"/>
              </a:defRPr>
            </a:pPr>
            <a:r>
              <a:t>22 units/day × 6 days + 32 units = 164 units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691640"/>
            <a:ext cx="11094415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48640" y="1920240"/>
            <a:ext cx="2011680" cy="914400"/>
          </a:xfrm>
          <a:prstGeom prst="rect">
            <a:avLst/>
          </a:prstGeom>
          <a:solidFill>
            <a:srgbClr val="ED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965960"/>
            <a:ext cx="1828800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000000"/>
                </a:solidFill>
                <a:latin typeface="Arial"/>
              </a:defRPr>
            </a:pPr>
            <a:r>
              <a:t>22 units/day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423160"/>
            <a:ext cx="182880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404040"/>
                </a:solidFill>
                <a:latin typeface="Arial"/>
              </a:defRPr>
            </a:pPr>
            <a:r>
              <a:t>Daily demand</a:t>
            </a:r>
          </a:p>
        </p:txBody>
      </p:sp>
      <p:sp>
        <p:nvSpPr>
          <p:cNvPr id="9" name="Rectangle 8"/>
          <p:cNvSpPr/>
          <p:nvPr/>
        </p:nvSpPr>
        <p:spPr>
          <a:xfrm>
            <a:off x="2834640" y="1920240"/>
            <a:ext cx="2011680" cy="914400"/>
          </a:xfrm>
          <a:prstGeom prst="rect">
            <a:avLst/>
          </a:prstGeom>
          <a:solidFill>
            <a:srgbClr val="ED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26080" y="1965960"/>
            <a:ext cx="1828800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000000"/>
                </a:solidFill>
                <a:latin typeface="Arial"/>
              </a:defRPr>
            </a:pPr>
            <a:r>
              <a:t>6 days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0" y="2423160"/>
            <a:ext cx="182880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404040"/>
                </a:solidFill>
                <a:latin typeface="Arial"/>
              </a:defRPr>
            </a:pPr>
            <a:r>
              <a:t>Lead time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120640" y="1920240"/>
            <a:ext cx="2011680" cy="914400"/>
          </a:xfrm>
          <a:prstGeom prst="rect">
            <a:avLst/>
          </a:prstGeom>
          <a:solidFill>
            <a:srgbClr val="ED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212080" y="1965960"/>
            <a:ext cx="1828800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000000"/>
                </a:solidFill>
                <a:latin typeface="Arial"/>
              </a:defRPr>
            </a:pPr>
            <a:r>
              <a:t>32 units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12080" y="2423160"/>
            <a:ext cx="182880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404040"/>
                </a:solidFill>
                <a:latin typeface="Arial"/>
              </a:defRPr>
            </a:pPr>
            <a:r>
              <a:t>Safety stock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548640" y="3063240"/>
          <a:ext cx="658368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2194560"/>
                <a:gridCol w="2194560"/>
              </a:tblGrid>
              <a:tr h="45720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Step</a:t>
                      </a:r>
                    </a:p>
                  </a:txBody>
                  <a:tcPr marL="64008" marR="64008" marT="36576" marB="36576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Arithmetic</a:t>
                      </a:r>
                    </a:p>
                  </a:txBody>
                  <a:tcPr marL="64008" marR="64008" marT="36576" marB="36576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Result</a:t>
                      </a:r>
                    </a:p>
                  </a:txBody>
                  <a:tcPr marL="64008" marR="64008" marT="36576" marB="36576">
                    <a:solidFill>
                      <a:srgbClr val="00000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1. Lead-time demand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22 units/day × 6 days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132 units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2. Add safety stock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132 units + 32 units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164 units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3. Reorder point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Trigger level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164 units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Unit check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units/day × days = units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units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6" name="Rectangle 15"/>
          <p:cNvSpPr/>
          <p:nvPr/>
        </p:nvSpPr>
        <p:spPr>
          <a:xfrm>
            <a:off x="548640" y="5532120"/>
            <a:ext cx="6583680" cy="64008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5577840"/>
            <a:ext cx="6309360" cy="5486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00000"/>
                </a:solidFill>
                <a:latin typeface="Arial"/>
              </a:defRPr>
            </a:pPr>
            <a:r>
              <a:t>Safety stock is added once, after the multiplication. Result: trigger = 164 units.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89520" y="1920240"/>
            <a:ext cx="4053535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0000"/>
                </a:solidFill>
                <a:latin typeface="Arial"/>
              </a:defRPr>
            </a:pPr>
            <a:r>
              <a:t>Building the trigger (units)</a:t>
            </a:r>
          </a:p>
        </p:txBody>
      </p:sp>
      <p:graphicFrame>
        <p:nvGraphicFramePr>
          <p:cNvPr id="19" name="Chart 18"/>
          <p:cNvGraphicFramePr>
            <a:graphicFrameLocks noGrp="1"/>
          </p:cNvGraphicFramePr>
          <p:nvPr/>
        </p:nvGraphicFramePr>
        <p:xfrm>
          <a:off x="7589520" y="2286000"/>
          <a:ext cx="4053535" cy="3886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548640" y="6400800"/>
            <a:ext cx="11094415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808080"/>
                </a:solidFill>
                <a:latin typeface="Arial"/>
              </a:defRPr>
            </a:pPr>
            <a:r>
              <a:t>Synthetic data for training  |  3 / 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808080"/>
                </a:solidFill>
                <a:latin typeface="Arial"/>
              </a:defRPr>
            </a:pPr>
            <a:r>
              <a:t>04 · INVENTORY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94415" cy="5943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000000"/>
                </a:solidFill>
                <a:latin typeface="Arial"/>
              </a:defRPr>
            </a:pPr>
            <a:r>
              <a:t>Position 159 is below the trigger 164: ORDER 105 units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1094415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404040"/>
                </a:solidFill>
                <a:latin typeface="Arial"/>
              </a:defRPr>
            </a:pPr>
            <a:r>
              <a:t>Count on-order stock and subtract committed units before comparing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691640"/>
            <a:ext cx="11094415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920240"/>
          <a:ext cx="603504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011680"/>
                <a:gridCol w="2011680"/>
              </a:tblGrid>
              <a:tr h="45720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Component</a:t>
                      </a:r>
                    </a:p>
                  </a:txBody>
                  <a:tcPr marL="64008" marR="64008" marT="36576" marB="36576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Value</a:t>
                      </a:r>
                    </a:p>
                  </a:txBody>
                  <a:tcPr marL="64008" marR="64008" marT="36576" marB="36576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Operation</a:t>
                      </a:r>
                    </a:p>
                  </a:txBody>
                  <a:tcPr marL="64008" marR="64008" marT="36576" marB="36576">
                    <a:solidFill>
                      <a:srgbClr val="00000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On-hand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156 units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Start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On-order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20 units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+ add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Committed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17 units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− subtract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Inventory position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159 units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156 + 20 − 17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548640" y="4434840"/>
            <a:ext cx="6035040" cy="7772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4480560"/>
            <a:ext cx="5669280" cy="6858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Arial"/>
              </a:defRPr>
            </a:pPr>
            <a:r>
              <a:t>159 ≤ 164 → ORDER (5 units below the trigger)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5394960"/>
            <a:ext cx="6035040" cy="77724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5440680"/>
            <a:ext cx="5669280" cy="6858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0000"/>
                </a:solidFill>
                <a:latin typeface="Arial"/>
              </a:defRPr>
            </a:pPr>
            <a:r>
              <a:t>Order quantity = target position − inventory position = 264 − 159 = 105 units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49440" y="1920240"/>
            <a:ext cx="4693615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0000"/>
                </a:solidFill>
                <a:latin typeface="Arial"/>
              </a:defRPr>
            </a:pPr>
            <a:r>
              <a:t>Quantities compared (units)</a:t>
            </a:r>
          </a:p>
        </p:txBody>
      </p:sp>
      <p:graphicFrame>
        <p:nvGraphicFramePr>
          <p:cNvPr id="12" name="Chart 11"/>
          <p:cNvGraphicFramePr>
            <a:graphicFrameLocks noGrp="1"/>
          </p:cNvGraphicFramePr>
          <p:nvPr/>
        </p:nvGraphicFramePr>
        <p:xfrm>
          <a:off x="6949440" y="2286000"/>
          <a:ext cx="4693615" cy="3886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548640" y="6400800"/>
            <a:ext cx="11094415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808080"/>
                </a:solidFill>
                <a:latin typeface="Arial"/>
              </a:defRPr>
            </a:pPr>
            <a:r>
              <a:t>Synthetic data for training  |  4 / 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808080"/>
                </a:solidFill>
                <a:latin typeface="Arial"/>
              </a:defRPr>
            </a:pPr>
            <a:r>
              <a:t>05 · PROCESS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94415" cy="5943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000000"/>
                </a:solidFill>
                <a:latin typeface="Arial"/>
              </a:defRPr>
            </a:pPr>
            <a:r>
              <a:t>The daily decision sequence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1094415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404040"/>
                </a:solidFill>
                <a:latin typeface="Arial"/>
              </a:defRPr>
            </a:pPr>
            <a:r>
              <a:t>Read → calculate → compare → ORDER or WAIT; WAIT returns to the next daily review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691640"/>
            <a:ext cx="11094415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48640" y="2286000"/>
            <a:ext cx="2286000" cy="1143000"/>
          </a:xfrm>
          <a:prstGeom prst="rect">
            <a:avLst/>
          </a:prstGeom>
          <a:solidFill>
            <a:srgbClr val="EDEDED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331720"/>
            <a:ext cx="2103120" cy="10515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00000"/>
                </a:solidFill>
                <a:latin typeface="Arial"/>
              </a:defRPr>
            </a:pPr>
            <a:r>
              <a:t>1  Read counts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00000"/>
                </a:solidFill>
                <a:latin typeface="Arial"/>
              </a:defRPr>
            </a:pPr>
            <a:r>
              <a:t>On-hand 156, on-order 20, committed 17</a:t>
            </a:r>
          </a:p>
        </p:txBody>
      </p:sp>
      <p:sp>
        <p:nvSpPr>
          <p:cNvPr id="8" name="Rectangle 7"/>
          <p:cNvSpPr/>
          <p:nvPr/>
        </p:nvSpPr>
        <p:spPr>
          <a:xfrm>
            <a:off x="3291840" y="2286000"/>
            <a:ext cx="2286000" cy="1143000"/>
          </a:xfrm>
          <a:prstGeom prst="rect">
            <a:avLst/>
          </a:prstGeom>
          <a:solidFill>
            <a:srgbClr val="EDEDED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83280" y="2331720"/>
            <a:ext cx="2103120" cy="10515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00000"/>
                </a:solidFill>
                <a:latin typeface="Arial"/>
              </a:defRPr>
            </a:pPr>
            <a:r>
              <a:t>2  Calculate position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00000"/>
                </a:solidFill>
                <a:latin typeface="Arial"/>
              </a:defRPr>
            </a:pPr>
            <a:r>
              <a:t>156 + 20 − 17 = 159 units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35040" y="2286000"/>
            <a:ext cx="2286000" cy="1143000"/>
          </a:xfrm>
          <a:prstGeom prst="rect">
            <a:avLst/>
          </a:prstGeom>
          <a:solidFill>
            <a:srgbClr val="EDEDED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26480" y="2331720"/>
            <a:ext cx="2103120" cy="10515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00000"/>
                </a:solidFill>
                <a:latin typeface="Arial"/>
              </a:defRPr>
            </a:pPr>
            <a:r>
              <a:t>3  Compare with reorder point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00000"/>
                </a:solidFill>
                <a:latin typeface="Arial"/>
              </a:defRPr>
            </a:pPr>
            <a:r>
              <a:t>Is 159 ≤ 164?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006840" y="1783080"/>
            <a:ext cx="2636215" cy="1143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98280" y="1828800"/>
            <a:ext cx="2453335" cy="10515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Arial"/>
              </a:defRPr>
            </a:pPr>
            <a:r>
              <a:t>ORDER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Arial"/>
              </a:defRPr>
            </a:pPr>
            <a:r>
              <a:t>At or below 164. Order 264 − 159 = 105 units.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006840" y="3657600"/>
            <a:ext cx="2636215" cy="1143000"/>
          </a:xfrm>
          <a:prstGeom prst="rect">
            <a:avLst/>
          </a:prstGeom>
          <a:solidFill>
            <a:srgbClr val="D9D9D9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98280" y="3703320"/>
            <a:ext cx="2453335" cy="10515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00000"/>
                </a:solidFill>
                <a:latin typeface="Arial"/>
              </a:defRPr>
            </a:pPr>
            <a:r>
              <a:t>WAIT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00000"/>
                </a:solidFill>
                <a:latin typeface="Arial"/>
              </a:defRPr>
            </a:pPr>
            <a:r>
              <a:t>Above 164. No order; re-check at the next daily review.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834640" y="2857500"/>
            <a:ext cx="457200" cy="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5577840" y="2857500"/>
            <a:ext cx="457200" cy="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8321040" y="2857500"/>
            <a:ext cx="365760" cy="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8686800" y="2354580"/>
            <a:ext cx="0" cy="187452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8686800" y="2354580"/>
            <a:ext cx="320040" cy="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8686800" y="4229100"/>
            <a:ext cx="320040" cy="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0323576" y="4800600"/>
            <a:ext cx="0" cy="320040"/>
          </a:xfrm>
          <a:prstGeom prst="line">
            <a:avLst/>
          </a:prstGeom>
          <a:ln w="1905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1691640" y="5120640"/>
            <a:ext cx="8631936" cy="0"/>
          </a:xfrm>
          <a:prstGeom prst="line">
            <a:avLst/>
          </a:prstGeom>
          <a:ln w="1905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1691640" y="3429000"/>
            <a:ext cx="0" cy="1691640"/>
          </a:xfrm>
          <a:prstGeom prst="line">
            <a:avLst/>
          </a:prstGeom>
          <a:ln w="1905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7223760" y="1874519"/>
            <a:ext cx="137160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0000"/>
                </a:solidFill>
                <a:latin typeface="Arial"/>
              </a:defRPr>
            </a:pPr>
            <a:r>
              <a:t>Yes: ≤ 164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23760" y="3611880"/>
            <a:ext cx="137160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0000"/>
                </a:solidFill>
                <a:latin typeface="Arial"/>
              </a:defRPr>
            </a:pPr>
            <a:r>
              <a:t>No: &gt; 164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828800" y="5212080"/>
            <a:ext cx="832104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404040"/>
                </a:solidFill>
                <a:latin typeface="Arial"/>
              </a:defRPr>
            </a:pPr>
            <a:r>
              <a:t>WAIT loop: return to step 1 at the next daily review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6400800"/>
            <a:ext cx="11094415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808080"/>
                </a:solidFill>
                <a:latin typeface="Arial"/>
              </a:defRPr>
            </a:pPr>
            <a:r>
              <a:t>Synthetic data for training  |  5 / 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808080"/>
                </a:solidFill>
                <a:latin typeface="Arial"/>
              </a:defRPr>
            </a:pPr>
            <a:r>
              <a:t>06 · PRACTICE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94415" cy="5943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000000"/>
                </a:solidFill>
                <a:latin typeface="Arial"/>
              </a:defRPr>
            </a:pPr>
            <a:r>
              <a:t>Practice: ORDER or WAIT?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1094415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404040"/>
                </a:solidFill>
                <a:latin typeface="Arial"/>
              </a:defRPr>
            </a:pPr>
            <a:r>
              <a:t>Use the comparison from slide 2; the answer is revealed on the next slide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691640"/>
            <a:ext cx="11094415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48640" y="1920240"/>
            <a:ext cx="3474720" cy="1188720"/>
          </a:xfrm>
          <a:prstGeom prst="rect">
            <a:avLst/>
          </a:prstGeom>
          <a:solidFill>
            <a:srgbClr val="ED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965960"/>
            <a:ext cx="3200400" cy="5943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000000"/>
                </a:solidFill>
                <a:latin typeface="Arial"/>
              </a:defRPr>
            </a:pPr>
            <a:r>
              <a:t>176 units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606040"/>
            <a:ext cx="320040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404040"/>
                </a:solidFill>
                <a:latin typeface="Arial"/>
              </a:defRPr>
            </a:pPr>
            <a:r>
              <a:t>Inventory position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4297680" y="1920240"/>
            <a:ext cx="3474720" cy="1188720"/>
          </a:xfrm>
          <a:prstGeom prst="rect">
            <a:avLst/>
          </a:prstGeom>
          <a:solidFill>
            <a:srgbClr val="ED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34840" y="1965960"/>
            <a:ext cx="3200400" cy="5943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000000"/>
                </a:solidFill>
                <a:latin typeface="Arial"/>
              </a:defRPr>
            </a:pPr>
            <a:r>
              <a:t>164 units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34840" y="2606040"/>
            <a:ext cx="320040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404040"/>
                </a:solidFill>
                <a:latin typeface="Arial"/>
              </a:defRPr>
            </a:pPr>
            <a:r>
              <a:t>Reorder point (trigger)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46720" y="1920240"/>
            <a:ext cx="3596335" cy="118872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83879" y="1965960"/>
            <a:ext cx="3322015" cy="10972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00000"/>
                </a:solidFill>
                <a:latin typeface="Arial"/>
              </a:defRPr>
            </a:pPr>
            <a:r>
              <a:t>Rule reminder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00000"/>
                </a:solidFill>
                <a:latin typeface="Arial"/>
              </a:defRPr>
            </a:pPr>
            <a:r>
              <a:t>ORDER only when inventory position ≤ reorder point.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548640" y="3383280"/>
          <a:ext cx="11094415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98138"/>
                <a:gridCol w="3698138"/>
                <a:gridCol w="3698139"/>
              </a:tblGrid>
              <a:tr h="45720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Step</a:t>
                      </a:r>
                    </a:p>
                  </a:txBody>
                  <a:tcPr marL="64008" marR="64008" marT="36576" marB="36576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Your work</a:t>
                      </a:r>
                    </a:p>
                  </a:txBody>
                  <a:tcPr marL="64008" marR="64008" marT="36576" marB="36576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Unit</a:t>
                      </a:r>
                    </a:p>
                  </a:txBody>
                  <a:tcPr marL="64008" marR="64008" marT="36576" marB="36576">
                    <a:solidFill>
                      <a:srgbClr val="00000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1. Compare position with trigger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176  ?  164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units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2. Gap (position − trigger)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________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units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3. Decision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ORDER  /  WAIT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5" name="Rectangle 14"/>
          <p:cNvSpPr/>
          <p:nvPr/>
        </p:nvSpPr>
        <p:spPr>
          <a:xfrm>
            <a:off x="548640" y="5440680"/>
            <a:ext cx="11094415" cy="73152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5486400"/>
            <a:ext cx="10728655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000000"/>
                </a:solidFill>
                <a:latin typeface="Arial"/>
              </a:defRPr>
            </a:pPr>
            <a:r>
              <a:t>Your task: write the gap in units and circle ORDER or WAIT. Answer revealed on slide 7.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400800"/>
            <a:ext cx="11094415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808080"/>
                </a:solidFill>
                <a:latin typeface="Arial"/>
              </a:defRPr>
            </a:pPr>
            <a:r>
              <a:t>Synthetic data for training  |  6 / 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808080"/>
                </a:solidFill>
                <a:latin typeface="Arial"/>
              </a:defRPr>
            </a:pPr>
            <a:r>
              <a:t>07 · ANSWER AND MISCONCEPTIONS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94415" cy="5943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000000"/>
                </a:solidFill>
                <a:latin typeface="Arial"/>
              </a:defRPr>
            </a:pPr>
            <a:r>
              <a:t>Answer: WAIT. Then avoid three common errors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1094415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404040"/>
                </a:solidFill>
                <a:latin typeface="Arial"/>
              </a:defRPr>
            </a:pPr>
            <a:r>
              <a:t>Each error changes the comparison or the quantity ordered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691640"/>
            <a:ext cx="11094415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48640" y="1920240"/>
            <a:ext cx="11094415" cy="914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965960"/>
            <a:ext cx="10728655" cy="8229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FFFFFF"/>
                </a:solidFill>
                <a:latin typeface="Arial"/>
              </a:defRPr>
            </a:pPr>
            <a:r>
              <a:t>Practice answer: WAIT. 176 − 164 = 12 units above the trigger, so no order today; re-check at the next daily review.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3063240"/>
          <a:ext cx="7040880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46960"/>
                <a:gridCol w="2346960"/>
                <a:gridCol w="2346960"/>
              </a:tblGrid>
              <a:tr h="77724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Misconception</a:t>
                      </a:r>
                    </a:p>
                  </a:txBody>
                  <a:tcPr marL="64008" marR="64008" marT="36576" marB="36576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Why it is wrong</a:t>
                      </a:r>
                    </a:p>
                  </a:txBody>
                  <a:tcPr marL="64008" marR="64008" marT="36576" marB="36576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Correct practice</a:t>
                      </a:r>
                    </a:p>
                  </a:txBody>
                  <a:tcPr marL="64008" marR="64008" marT="36576" marB="36576">
                    <a:solidFill>
                      <a:srgbClr val="000000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Comparing on-hand alone with the trigger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Ignores stock on order and units already committed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Compare inventory position: 156 + 20 − 17 = 159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Multiplying safety stock by lead time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Inflates the buffer: 32 × 6 = 192 units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Add safety stock once: 22 × 6 + 32 = 164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Treating a larger reorder point as the order size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164 is a trigger, not an order quantity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Order target − position: 264 − 159 = 105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7863840" y="3063240"/>
            <a:ext cx="3779215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0000"/>
                </a:solidFill>
                <a:latin typeface="Arial"/>
              </a:defRPr>
            </a:pPr>
            <a:r>
              <a:t>Position vs. trigger (units)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7863840" y="3429000"/>
          <a:ext cx="3779215" cy="2743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548640" y="6400800"/>
            <a:ext cx="11094415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808080"/>
                </a:solidFill>
                <a:latin typeface="Arial"/>
              </a:defRPr>
            </a:pPr>
            <a:r>
              <a:t>Synthetic data for training  |  7 / 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808080"/>
                </a:solidFill>
                <a:latin typeface="Arial"/>
              </a:defRPr>
            </a:pPr>
            <a:r>
              <a:t>08 · CHECKLIST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94415" cy="5943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000000"/>
                </a:solidFill>
                <a:latin typeface="Arial"/>
              </a:defRPr>
            </a:pPr>
            <a:r>
              <a:t>Before ordering: four checks, in order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1094415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404040"/>
                </a:solidFill>
                <a:latin typeface="Arial"/>
              </a:defRPr>
            </a:pPr>
            <a:r>
              <a:t>Verify units, include existing orders, subtract commitments, then check the trigger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691640"/>
            <a:ext cx="11094415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920240"/>
          <a:ext cx="11094415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98138"/>
                <a:gridCol w="3698138"/>
                <a:gridCol w="3698139"/>
              </a:tblGrid>
              <a:tr h="438912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Check</a:t>
                      </a:r>
                    </a:p>
                  </a:txBody>
                  <a:tcPr marL="64008" marR="64008" marT="36576" marB="36576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Question to ask</a:t>
                      </a:r>
                    </a:p>
                  </a:txBody>
                  <a:tcPr marL="64008" marR="64008" marT="36576" marB="36576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Example (slides 3–4)</a:t>
                      </a:r>
                    </a:p>
                  </a:txBody>
                  <a:tcPr marL="64008" marR="64008" marT="36576" marB="36576">
                    <a:solidFill>
                      <a:srgbClr val="000000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1. Verify units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Demand in units/day, lead time in days?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22 units/day × 6 days = 132 units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2. Include existing orders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Did I add on-order stock?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156 + 20 = 176 units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3. Subtract commitments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Did I subtract committed units?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176 − 17 = 159 units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4. Check the trigger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Is position ≤ reorder point?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159 ≤ 164 → ORDER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4251960"/>
            <a:ext cx="11094415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0000"/>
                </a:solidFill>
                <a:latin typeface="Arial"/>
              </a:defRPr>
            </a:pPr>
            <a:r>
              <a:t>Number line: where each inventory position falls (units)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5074920"/>
            <a:ext cx="4836261" cy="36576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" name="Connector 8"/>
          <p:cNvCxnSpPr/>
          <p:nvPr/>
        </p:nvCxnSpPr>
        <p:spPr>
          <a:xfrm>
            <a:off x="914400" y="5257800"/>
            <a:ext cx="10362895" cy="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914400" y="5166360"/>
            <a:ext cx="0" cy="18288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4369003" y="5166360"/>
            <a:ext cx="0" cy="18288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823606" y="5166360"/>
            <a:ext cx="0" cy="18288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11277295" y="5166360"/>
            <a:ext cx="0" cy="18288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457200" y="5440680"/>
            <a:ext cx="91440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95959"/>
                </a:solidFill>
                <a:latin typeface="Arial"/>
              </a:defRPr>
            </a:pPr>
            <a:r>
              <a:t>150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11803" y="5440680"/>
            <a:ext cx="91440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95959"/>
                </a:solidFill>
                <a:latin typeface="Arial"/>
              </a:defRPr>
            </a:pPr>
            <a:r>
              <a:t>160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66406" y="5440680"/>
            <a:ext cx="91440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95959"/>
                </a:solidFill>
                <a:latin typeface="Arial"/>
              </a:defRPr>
            </a:pPr>
            <a:r>
              <a:t>170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820095" y="5440680"/>
            <a:ext cx="91440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95959"/>
                </a:solidFill>
                <a:latin typeface="Arial"/>
              </a:defRPr>
            </a:pPr>
            <a:r>
              <a:t>180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750661" y="4709160"/>
            <a:ext cx="0" cy="960120"/>
          </a:xfrm>
          <a:prstGeom prst="line">
            <a:avLst/>
          </a:prstGeom>
          <a:ln w="317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836261" y="5715000"/>
            <a:ext cx="182880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0000"/>
                </a:solidFill>
                <a:latin typeface="Arial"/>
              </a:defRPr>
            </a:pPr>
            <a:r>
              <a:t>Trigger 164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023360" y="4892040"/>
            <a:ext cx="0" cy="365760"/>
          </a:xfrm>
          <a:prstGeom prst="line">
            <a:avLst/>
          </a:prstGeom>
          <a:ln w="25400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1828800" y="4617720"/>
            <a:ext cx="214884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0000"/>
                </a:solidFill>
                <a:latin typeface="Arial"/>
              </a:defRPr>
            </a:pPr>
            <a:r>
              <a:t>Example 159 → ORDER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9895636" y="4892040"/>
            <a:ext cx="0" cy="365760"/>
          </a:xfrm>
          <a:prstGeom prst="line">
            <a:avLst/>
          </a:prstGeom>
          <a:ln w="25400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7680960" y="4617720"/>
            <a:ext cx="214884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0000"/>
                </a:solidFill>
                <a:latin typeface="Arial"/>
              </a:defRPr>
            </a:pPr>
            <a:r>
              <a:t>Practice 176 → WAIT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5897880"/>
            <a:ext cx="365760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404040"/>
                </a:solidFill>
                <a:latin typeface="Arial"/>
              </a:defRPr>
            </a:pPr>
            <a:r>
              <a:t>ORDER zone: at or below 164 (shaded)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76895" y="5897880"/>
            <a:ext cx="320040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404040"/>
                </a:solidFill>
                <a:latin typeface="Arial"/>
              </a:defRPr>
            </a:pPr>
            <a:r>
              <a:t>WAIT zone: above 164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6400800"/>
            <a:ext cx="11094415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808080"/>
                </a:solidFill>
                <a:latin typeface="Arial"/>
              </a:defRPr>
            </a:pPr>
            <a:r>
              <a:t>Synthetic data for training  |  8 / 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Synthetic presentation experiment</dc:title>
  <dc:subject/>
  <dc:creator/>
  <cp:keywords/>
  <dc:description>generated using python-pptx</dc:description>
  <cp:lastModifiedBy/>
  <cp:revision>1</cp:revision>
  <dcterms:created xsi:type="dcterms:W3CDTF">2013-01-27T09:14:16Z</dcterms:created>
  <dcterms:modified xsi:type="dcterms:W3CDTF">2013-01-27T09:15:58Z</dcterms:modified>
  <cp:category/>
</cp:coreProperties>
</file>