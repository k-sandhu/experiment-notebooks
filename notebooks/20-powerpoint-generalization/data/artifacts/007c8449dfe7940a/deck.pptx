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42A5F5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Total requests</c:v>
                </c:pt>
                <c:pt idx="1">
                  <c:v>Succeeded</c:v>
                </c:pt>
                <c:pt idx="2">
                  <c:v>Failed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10000</c:v>
                </c:pt>
                <c:pt idx="1">
                  <c:v>8720</c:v>
                </c:pt>
                <c:pt idx="2">
                  <c:v>1280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263238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2632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263238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rate (%)</c:v>
                </c:pt>
              </c:strCache>
            </c:strRef>
          </c:tx>
          <c:spPr>
            <a:ln w="38100">
              <a:solidFill>
                <a:srgbClr val="FF7043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09:00</c:v>
                </c:pt>
                <c:pt idx="1">
                  <c:v>09:15</c:v>
                </c:pt>
                <c:pt idx="2">
                  <c:v>09:30</c:v>
                </c:pt>
                <c:pt idx="3">
                  <c:v>09:45</c:v>
                </c:pt>
                <c:pt idx="4">
                  <c:v>10:00</c:v>
                </c:pt>
                <c:pt idx="5">
                  <c:v>10:15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18</c:v>
                </c:pt>
                <c:pt idx="2">
                  <c:v>25</c:v>
                </c:pt>
                <c:pt idx="3">
                  <c:v>14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400">
                  <a:solidFill>
                    <a:srgbClr val="263238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263238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263238"/>
                </a:solidFill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4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Simulated service disruption: what happened and what is next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Fictional service incident · window 09:00–10:14 · all data synthetic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94360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63238"/>
                </a:solidFill>
                <a:latin typeface="Arial"/>
              </a:defRPr>
            </a:pPr>
            <a:r>
              <a:t>A 09:00 deployment led to elevated request errors; rollback restored baseline by 10:14.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58521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55A64"/>
                </a:solidFill>
                <a:latin typeface="Arial"/>
              </a:defRPr>
            </a:pPr>
            <a:r>
              <a:t>This review recounts the sequence of events to give a shared basis for process-improvement discussion.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737360"/>
            <a:ext cx="219456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1874519"/>
            <a:ext cx="1828800" cy="82981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7043"/>
                </a:solidFill>
                <a:latin typeface="Arial"/>
              </a:defRPr>
            </a:pPr>
            <a:r>
              <a:t>74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2779775"/>
            <a:ext cx="1828800" cy="52806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Incident window, 09:00–10:14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223760" y="3383279"/>
            <a:ext cx="182880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464040" y="2057400"/>
            <a:ext cx="224028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46920" y="2194560"/>
            <a:ext cx="1874519" cy="82981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7043"/>
                </a:solidFill>
                <a:latin typeface="Arial"/>
              </a:defRPr>
            </a:pPr>
            <a:r>
              <a:t>12.8%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3099815"/>
            <a:ext cx="1874519" cy="52806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Requests failed (1,280 of 10,000)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46920" y="3703320"/>
            <a:ext cx="187452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138160" y="4069080"/>
            <a:ext cx="237744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206240"/>
            <a:ext cx="2011680" cy="82981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6A69A"/>
                </a:solidFill>
                <a:latin typeface="Arial"/>
              </a:defRPr>
            </a:pPr>
            <a:r>
              <a:t>1 of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111496"/>
            <a:ext cx="2011680" cy="52806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Follow-up actions complete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321040" y="5715000"/>
            <a:ext cx="201168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1520" y="4526280"/>
            <a:ext cx="6949440" cy="1600200"/>
          </a:xfrm>
          <a:prstGeom prst="roundRect">
            <a:avLst/>
          </a:prstGeom>
          <a:solidFill>
            <a:srgbClr val="FF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645152"/>
            <a:ext cx="6400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F360C"/>
                </a:solidFill>
                <a:latin typeface="Arial"/>
              </a:defRPr>
            </a:pPr>
            <a:r>
              <a:t>DISCUSSION FOCUS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010912"/>
            <a:ext cx="64008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238"/>
                </a:solidFill>
                <a:latin typeface="Arial"/>
              </a:defRPr>
            </a:pPr>
            <a:r>
              <a:t>Recovery is verified. Preventing recurrence still depends on two planned actions: capping retries and a causal load test.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Impact: 1,280 of 10,000 requests failed (12.8%)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Counts are requests in the 09:00–10:14 window, not distinct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6035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Requests in incident window (count)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2011680"/>
          <a:ext cx="60350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223760" y="1737360"/>
            <a:ext cx="4389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1874519"/>
            <a:ext cx="4023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7043"/>
                </a:solidFill>
                <a:latin typeface="Arial"/>
              </a:defRPr>
            </a:pPr>
            <a:r>
              <a:t>1,280 ÷ 10,000 = 12.8%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60320"/>
            <a:ext cx="402336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Failed requests as a share of all requests in the 74-minute window. 8,720 requests succeeded.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3886200"/>
            <a:ext cx="4023360" cy="2286000"/>
          </a:xfrm>
          <a:prstGeom prst="roundRect">
            <a:avLst/>
          </a:prstGeom>
          <a:solidFill>
            <a:srgbClr val="FF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4023360"/>
            <a:ext cx="36576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F360C"/>
                </a:solidFill>
                <a:latin typeface="Arial"/>
              </a:defRPr>
            </a:pPr>
            <a:r>
              <a:t>Unknown: distinct affected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4526280"/>
            <a:ext cx="3657600" cy="1554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One person may account for several failed requests, so the 1,280 request count cannot be converted into a count of affected people.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Timeline: 74 minutes from deployment to baseline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Six key events, 09:00–10:14, positioned to scale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749039"/>
            <a:ext cx="10241280" cy="0"/>
          </a:xfrm>
          <a:prstGeom prst="line">
            <a:avLst/>
          </a:prstGeom>
          <a:ln w="3810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843576" y="3749039"/>
            <a:ext cx="1799540" cy="0"/>
          </a:xfrm>
          <a:prstGeom prst="line">
            <a:avLst/>
          </a:prstGeom>
          <a:ln w="88900">
            <a:solidFill>
              <a:srgbClr val="26A6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" y="3611880"/>
            <a:ext cx="274320" cy="27432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84578" y="3611880"/>
            <a:ext cx="274320" cy="27432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15591" y="3611880"/>
            <a:ext cx="274320" cy="27432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06416" y="3611880"/>
            <a:ext cx="274320" cy="27432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05956" y="3611880"/>
            <a:ext cx="274320" cy="27432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018520" y="3611880"/>
            <a:ext cx="274320" cy="27432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914400" y="3154680"/>
            <a:ext cx="0" cy="41148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021738" y="3931920"/>
            <a:ext cx="0" cy="41148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352751" y="3154680"/>
            <a:ext cx="0" cy="41148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843576" y="3931920"/>
            <a:ext cx="0" cy="41148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643116" y="3154680"/>
            <a:ext cx="0" cy="41148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155680" y="3931920"/>
            <a:ext cx="0" cy="41148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2148840"/>
            <a:ext cx="146304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09:00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5898" y="4389120"/>
            <a:ext cx="201168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09:08 (+8 min)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First alert fires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2148840"/>
            <a:ext cx="219456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09:17 (+17 min)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Investigation starts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37736" y="4389120"/>
            <a:ext cx="201168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09:35 (+35 min)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Rollback begins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37276" y="2148840"/>
            <a:ext cx="201168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09:48 (+48 min)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Rollback complete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4389120"/>
            <a:ext cx="237744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96B"/>
                </a:solidFill>
                <a:latin typeface="Arial"/>
              </a:defRPr>
            </a:pPr>
            <a:r>
              <a:t>10:14 (+74 min)</a:t>
            </a:r>
          </a:p>
          <a:p>
            <a:pPr algn="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96B"/>
                </a:solidFill>
                <a:latin typeface="Arial"/>
              </a:defRPr>
            </a:pPr>
            <a:r>
              <a:t>Error rate at baseline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43246" y="3858768"/>
            <a:ext cx="1600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0796B"/>
                </a:solidFill>
                <a:latin typeface="Arial"/>
              </a:defRPr>
            </a:pPr>
            <a:r>
              <a:t>rollback: 13 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532120"/>
            <a:ext cx="106984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623560"/>
            <a:ext cx="102412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Gaps to discuss: 8 min to first alert · 9 more to start investigating · 18 more to begin rollback · 13 min rollback · 26 min until baseline confirmed (total 74 min)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Error rate peaked at 25% at 09:30, then fell to 1% by 10:15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Six point-in-time readings, % of requests erroring;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7223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Error rate at each reading (%)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965960"/>
          <a:ext cx="72237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1737360"/>
            <a:ext cx="347472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828800"/>
            <a:ext cx="301752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7043"/>
                </a:solidFill>
                <a:latin typeface="Arial"/>
              </a:defRPr>
            </a:pPr>
            <a:r>
              <a:t>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596896"/>
            <a:ext cx="301752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Peak reading, 09:30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58200" y="3108960"/>
            <a:ext cx="301752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458200" y="3154680"/>
            <a:ext cx="3063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55A64"/>
                </a:solidFill>
                <a:latin typeface="Arial"/>
              </a:defRPr>
            </a:pPr>
            <a:r>
              <a:t>The 10:15 reading (1%) falls just after baseline returned at 10:14.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4023360"/>
            <a:ext cx="3200400" cy="2377440"/>
          </a:xfrm>
          <a:prstGeom prst="roundRect">
            <a:avLst/>
          </a:prstGeom>
          <a:solidFill>
            <a:srgbClr val="FF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4133087"/>
            <a:ext cx="28346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F360C"/>
                </a:solidFill>
                <a:latin typeface="Arial"/>
              </a:defRPr>
            </a:pPr>
            <a:r>
              <a:t>Not the window-wide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572000"/>
            <a:ext cx="283464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63238"/>
                </a:solidFill>
                <a:latin typeface="Arial"/>
              </a:defRPr>
            </a:pPr>
            <a:r>
              <a:t>These are snapshots. The 12.8% figure is failed ÷ total requests (1,280 ÷ 10,000); averaging the six readings does not reproduce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Evidence: what we observed vs. what we suspect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Root cause stays a working hypothesis until a causal load test is completed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8404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96B"/>
                </a:solidFill>
                <a:latin typeface="Arial"/>
              </a:defRPr>
            </a:pPr>
            <a:r>
              <a:t>OBSERVED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2918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Facts from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3291840" cy="2286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• Connection pool saturated after the 09:00 deployment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• Service recovered after rollback (complete 09:48; baseline 10:14)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480560" y="3840480"/>
            <a:ext cx="457200" cy="0"/>
          </a:xfrm>
          <a:prstGeom prst="line">
            <a:avLst/>
          </a:prstGeom>
          <a:ln w="2540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37760" y="2286000"/>
            <a:ext cx="3657600" cy="3291840"/>
          </a:xfrm>
          <a:prstGeom prst="roundRect">
            <a:avLst/>
          </a:prstGeom>
          <a:solidFill>
            <a:srgbClr val="FF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2468880"/>
            <a:ext cx="3108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F360C"/>
                </a:solidFill>
                <a:latin typeface="Arial"/>
              </a:defRPr>
            </a:pPr>
            <a:r>
              <a:t>WORKING HYPOTHESIS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834640"/>
            <a:ext cx="31089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Retry amplification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3383280"/>
            <a:ext cx="3108960" cy="2103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Retries under the new configuration may have multiplied load on the pool. Consistent with observations, but not yet demonstrated.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95360" y="3108960"/>
            <a:ext cx="457200" cy="0"/>
          </a:xfrm>
          <a:prstGeom prst="line">
            <a:avLst/>
          </a:prstGeom>
          <a:ln w="2540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052560" y="1828800"/>
            <a:ext cx="256032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FF7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2011680"/>
            <a:ext cx="21031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F360C"/>
                </a:solidFill>
                <a:latin typeface="Arial"/>
              </a:defRPr>
            </a:pPr>
            <a:r>
              <a:t>OPEN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2377440"/>
            <a:ext cx="21488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3238"/>
                </a:solidFill>
                <a:latin typeface="Arial"/>
              </a:defRPr>
            </a:pPr>
            <a:r>
              <a:t>Causal load test not yet completed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3520440"/>
            <a:ext cx="21488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55A64"/>
                </a:solidFill>
                <a:latin typeface="Arial"/>
              </a:defRPr>
            </a:pPr>
            <a:r>
              <a:t>Planned: Owner B, by day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3238"/>
                </a:solidFill>
                <a:latin typeface="Arial"/>
              </a:defRPr>
            </a:pPr>
            <a:r>
              <a:t>Treat retry amplification as a working explanation, not a confirmed root cause.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Response path: detect, triage, roll back, then verify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Baseline verification follows rollback; the service owner authorizes restoration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95681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901952"/>
            <a:ext cx="1810512" cy="9509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Detection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871215" y="1828800"/>
            <a:ext cx="195681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368" y="1901952"/>
            <a:ext cx="1810512" cy="9509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Triage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96896" y="2377440"/>
            <a:ext cx="274319" cy="0"/>
          </a:xfrm>
          <a:prstGeom prst="line">
            <a:avLst/>
          </a:prstGeom>
          <a:ln w="254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102352" y="1828800"/>
            <a:ext cx="195681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75504" y="1901952"/>
            <a:ext cx="1810512" cy="9509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Rollback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28032" y="2377440"/>
            <a:ext cx="274320" cy="0"/>
          </a:xfrm>
          <a:prstGeom prst="line">
            <a:avLst/>
          </a:prstGeom>
          <a:ln w="254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333488" y="1828800"/>
            <a:ext cx="195681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901952"/>
            <a:ext cx="1810512" cy="9509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Verify baseline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59168" y="2377440"/>
            <a:ext cx="274320" cy="0"/>
          </a:xfrm>
          <a:prstGeom prst="line">
            <a:avLst/>
          </a:prstGeom>
          <a:ln w="254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564624" y="1828800"/>
            <a:ext cx="195681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37776" y="1901952"/>
            <a:ext cx="1810512" cy="9509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Retrospective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90303" y="2377440"/>
            <a:ext cx="274321" cy="0"/>
          </a:xfrm>
          <a:prstGeom prst="line">
            <a:avLst/>
          </a:prstGeom>
          <a:ln w="254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22376" y="3063240"/>
            <a:ext cx="2011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55A64"/>
                </a:solidFill>
                <a:latin typeface="Arial"/>
              </a:defRPr>
            </a:pPr>
            <a:r>
              <a:t>09:08 first alert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8648" y="3063240"/>
            <a:ext cx="2011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55A64"/>
                </a:solidFill>
                <a:latin typeface="Arial"/>
              </a:defRPr>
            </a:pPr>
            <a:r>
              <a:t>From 09:17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3063240"/>
            <a:ext cx="2011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96B"/>
                </a:solidFill>
                <a:latin typeface="Arial"/>
              </a:defRPr>
            </a:pPr>
            <a:r>
              <a:t>09:35–09:48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1192" y="3063240"/>
            <a:ext cx="2011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96B"/>
                </a:solidFill>
                <a:latin typeface="Arial"/>
              </a:defRPr>
            </a:pPr>
            <a:r>
              <a:t>Baseline at 10:14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7464" y="3063240"/>
            <a:ext cx="2011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55A64"/>
                </a:solidFill>
                <a:latin typeface="Arial"/>
              </a:defRPr>
            </a:pPr>
            <a:r>
              <a:t>This review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3977639"/>
            <a:ext cx="44805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114800"/>
            <a:ext cx="3931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F360C"/>
                </a:solidFill>
                <a:latin typeface="Arial"/>
              </a:defRPr>
            </a:pPr>
            <a:r>
              <a:t>ON-CALL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480560"/>
            <a:ext cx="39319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Handles the rollback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029200"/>
            <a:ext cx="39319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Started 09:35, completed 09:48 (13 min).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297680"/>
            <a:ext cx="4846320" cy="2057400"/>
          </a:xfrm>
          <a:prstGeom prst="roundRect">
            <a:avLst/>
          </a:prstGeom>
          <a:solidFill>
            <a:srgbClr val="FF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434840"/>
            <a:ext cx="4297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F360C"/>
                </a:solidFill>
                <a:latin typeface="Arial"/>
              </a:defRPr>
            </a:pPr>
            <a:r>
              <a:t>SERVICE OWNER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800600"/>
            <a:ext cx="4297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Authorizes restoration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349240"/>
            <a:ext cx="42976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Verification comes after rollback, never before it: baseline confirmed at 10:14, 26 min after rollback completed.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Follow-up actions: 1 of 3 complete, 2 still planned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Owner, deadline and status for each follow-up action, ordered by deadline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749807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874519"/>
                <a:gridCol w="1874519"/>
                <a:gridCol w="1874522"/>
              </a:tblGrid>
              <a:tr h="7315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Action</a:t>
                      </a:r>
                    </a:p>
                  </a:txBody>
                  <a:tcPr marL="64008" marR="64008" marT="36576" marB="36576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Deadline</a:t>
                      </a:r>
                    </a:p>
                  </a:txBody>
                  <a:tcPr marL="64008" marR="64008" marT="36576" marB="36576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26323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Owner C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Add saturation alert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Day 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Complete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Owner B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Run causal load test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Day 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Owner A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Cap retries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Day 12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0" y="1783080"/>
            <a:ext cx="292608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1920240"/>
            <a:ext cx="2560320" cy="82981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6A69A"/>
                </a:solidFill>
                <a:latin typeface="Arial"/>
              </a:defRPr>
            </a:pPr>
            <a:r>
              <a:t>1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2825496"/>
            <a:ext cx="2560320" cy="52806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Saturation alert (Owner C)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869680" y="3429000"/>
            <a:ext cx="256032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961120" y="3840480"/>
            <a:ext cx="2743200" cy="1874519"/>
          </a:xfrm>
          <a:prstGeom prst="roundRect">
            <a:avLst/>
          </a:prstGeom>
          <a:solidFill>
            <a:srgbClr val="FF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3977639"/>
            <a:ext cx="2377440" cy="88011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7043"/>
                </a:solidFill>
                <a:latin typeface="Arial"/>
              </a:defRPr>
            </a:pPr>
            <a:r>
              <a:t>2 planned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4937759"/>
            <a:ext cx="2377440" cy="56006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Load test (day 7), retry cap (day 12)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0" y="5577840"/>
            <a:ext cx="2377440" cy="0"/>
          </a:xfrm>
          <a:prstGeom prst="line">
            <a:avLst/>
          </a:prstGeom>
          <a:ln w="127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5120640"/>
            <a:ext cx="76809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3238"/>
                </a:solidFill>
                <a:latin typeface="Arial"/>
              </a:defRPr>
            </a:pPr>
            <a:r>
              <a:t>Until the load test and retry cap are done, the suspected recurrence path remains open.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3238"/>
                </a:solidFill>
                <a:latin typeface="Arial"/>
              </a:defRPr>
            </a:pPr>
            <a:r>
              <a:t>Lessons for process improvement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3238"/>
                </a:solidFill>
                <a:latin typeface="Arial"/>
              </a:defRPr>
            </a:pPr>
            <a:r>
              <a:t>Three distinctions to carry into the next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344424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38528"/>
            <a:ext cx="322478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Evidence ≠ hypothesis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560320"/>
            <a:ext cx="3224784" cy="22677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Pool saturation and recovery were observed. Retry amplification stays unproven until the load test.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58640" y="1828800"/>
            <a:ext cx="344424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8368" y="1938528"/>
            <a:ext cx="322478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Requests ≠ people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8368" y="2560320"/>
            <a:ext cx="3224784" cy="22677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1,280 failed requests (12.8% of 10,000). Distinct affected users are unknown.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77200" y="1828800"/>
            <a:ext cx="344424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6928" y="1938528"/>
            <a:ext cx="322478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Recovered ≠ prevented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6928" y="2560320"/>
            <a:ext cx="3224784" cy="22677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Baseline was verified at 10:14. Preventing recurrence depends on planned 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57800"/>
            <a:ext cx="10881360" cy="1097280"/>
          </a:xfrm>
          <a:prstGeom prst="roundRect">
            <a:avLst/>
          </a:prstGeom>
          <a:solidFill>
            <a:srgbClr val="FF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103327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Next step: review the load-test result (day 7) before confirming a root cause, and track the retry cap through day 12.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