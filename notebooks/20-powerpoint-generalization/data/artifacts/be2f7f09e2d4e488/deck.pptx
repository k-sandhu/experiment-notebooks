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72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6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6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B8B8B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FICTIONAL MATERIAL SCREENING  /  PRELIMINARY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01  / 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783080"/>
            <a:ext cx="11183112" cy="14173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75104"/>
            <a:ext cx="10652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How does treatment compare with control on pass rate and durability?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0440"/>
            <a:ext cx="5440680" cy="20574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30752"/>
            <a:ext cx="498348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493776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Treatment versus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Random assignment was 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520440"/>
            <a:ext cx="5486400" cy="20574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3730752"/>
            <a:ext cx="50292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STUDY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4251960"/>
            <a:ext cx="498348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One lab. One batch.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Scope limits generalization.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79592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Purpose: enable peer evaluation of the methodology and observed patterns.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Preliminary screening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METHOD  /  CONTROLLED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02  / 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10512"/>
          <a:ext cx="1118311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65151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feature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Assigned samples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 duration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Test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681728"/>
            <a:ext cx="6793992" cy="132588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6336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PREDEFINED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94376"/>
            <a:ext cx="6336792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Passing the predefined strength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4681728"/>
            <a:ext cx="4142232" cy="132588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846320"/>
            <a:ext cx="36850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REPORTING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266944"/>
            <a:ext cx="3685032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Exclusions reviewed before final reporting.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Random assignment; 400 samples across two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ENDPOINT  /  PASSING THE PREDEFINED STRENGTH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03  /  Treatment pass rate is 14.0 points higher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764792"/>
            <a:ext cx="566928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Observed pass rate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221992"/>
          <a:ext cx="5806440" cy="32735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05272"/>
            <a:ext cx="580644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Two study groups; the connecting line does not represent time.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810512"/>
          <a:ext cx="5102352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</a:tblGrid>
              <a:tr h="694943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 / total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94943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 / 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94945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 / 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0" y="4160520"/>
            <a:ext cx="5102352" cy="19202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4343400"/>
            <a:ext cx="4645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FIXED DENOMINATORS: 200 PER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800600"/>
            <a:ext cx="464515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72.0% − 58.0% = 14.0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144 − 116 = 28 more passes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pp = percentage points; observed sample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DURABILITY  /  REPEATED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04  /  Durability declines in both groups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746504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Durability (%) by exposure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76272"/>
          <a:ext cx="6858000" cy="38587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70632" y="6016752"/>
            <a:ext cx="2286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Exposure cycles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1810512"/>
          <a:ext cx="4050791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63"/>
                <a:gridCol w="1350263"/>
                <a:gridCol w="1350265"/>
              </a:tblGrid>
              <a:tr h="55778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635240" y="4846320"/>
            <a:ext cx="4050791" cy="1252728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010912"/>
            <a:ext cx="35935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AT 300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449824"/>
            <a:ext cx="3593592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74% − 59% = 15 pp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All eight reported durability values 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SUBGROUPS  /  COUNTS REQUIRE DENOMINATORS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E0E0E0"/>
                </a:solidFill>
                <a:latin typeface="Calibri"/>
              </a:defRPr>
            </a:pPr>
            <a:r>
              <a:t>05  /  Equal pass counts do not establish equal rates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10512"/>
          <a:ext cx="65379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/>
                <a:gridCol w="3268980"/>
              </a:tblGrid>
              <a:tr h="68580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Reported 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1810512"/>
            <a:ext cx="4370832" cy="342900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2088" y="2029968"/>
            <a:ext cx="38770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COUNTS, NOT PASS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2670048"/>
            <a:ext cx="3877056" cy="21579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Subgroup denominators are not supplied.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The three counts cannot be used to calculate or compare subgroup pass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32120"/>
            <a:ext cx="11183112" cy="4937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48 + 48 + 48 = 144 treatment passes, matching the reported treatment total.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P / Q / R are the supplied labels; subgroup sample sizes are unavailable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DATA STATUS  /  OPEN AUDIT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06  /  Duplicate-record audit remains pending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10512"/>
            <a:ext cx="11183112" cy="1115568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84831"/>
            <a:ext cx="10671048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The initial extract awaits a duplicate-record audit.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255264"/>
          <a:ext cx="11183112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556"/>
                <a:gridCol w="5591556"/>
              </a:tblGrid>
              <a:tr h="589788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Review item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Reported status / implication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8978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8978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 records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Audit of the initial extract is pending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8978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inference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significance claim or confidence interval reported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52160"/>
            <a:ext cx="1118311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Peer-review stance: treat the reported patterns as preliminary descriptive findings.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Audit status limits confidence in the initial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INTERPRETATION  /  OBSERVATION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07  /  A measured sample difference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10512"/>
            <a:ext cx="3794760" cy="35204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66543"/>
            <a:ext cx="3246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OBSERVED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3246120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0FF99"/>
                </a:solidFill>
                <a:latin typeface="Calibri"/>
              </a:defRPr>
            </a:pPr>
            <a:r>
              <a:t>+14.0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3246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percentage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52544"/>
            <a:ext cx="324612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72.0% 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58.0%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10512"/>
            <a:ext cx="7114032" cy="35204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066543"/>
            <a:ext cx="6565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WHAT THE FINDINGS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60904"/>
            <a:ext cx="6565392" cy="9784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The treatment pass rate was higher in the measured sample.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3840480"/>
            <a:ext cx="6565392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0" y="4105656"/>
            <a:ext cx="6565392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One lab and one batch do not establish broad field performance. The duplicate-record audit remains open.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32704"/>
            <a:ext cx="111831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Durability was also higher for treatment at 100, 200 and 300 cycles; both groups began at 100%.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Descriptive findings; no statistical significance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NEXT STEP  /  INDEPENDENT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08  /  Replicate before making deployment claims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81328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10512"/>
            <a:ext cx="2788920" cy="3502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12264"/>
            <a:ext cx="2276856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1A1A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218688"/>
            <a:ext cx="2276856" cy="941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A1A1A"/>
                </a:solidFill>
                <a:latin typeface="Calibri"/>
              </a:defRPr>
            </a:pPr>
            <a:r>
              <a:t>independent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517136"/>
            <a:ext cx="2276856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A1A1A"/>
                </a:solidFill>
                <a:latin typeface="Calibri"/>
              </a:defRPr>
            </a:pPr>
            <a:r>
              <a:t>Blinded scoring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6160" y="1810512"/>
          <a:ext cx="8119872" cy="350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936"/>
                <a:gridCol w="4059936"/>
              </a:tblGrid>
              <a:tr h="70043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Replication requirement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Preserve controls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Maintain the comparison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Preregister 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Set rules before results are reviewed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Record batch conditions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Support assessment of batch effects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04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Include a second batch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Required before any deployment claim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577840"/>
            <a:ext cx="11183112" cy="59436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696712"/>
            <a:ext cx="10762488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Decision: proceed to replication; a second batch is needed before any deployment claim.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510528"/>
            <a:ext cx="978408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  <a:r>
              <a:t>ALL DATA ARE SYNTHETIC  •  Proposed next study: independent labs, blinded scoring, additional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98755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