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Treatment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</c:v>
                </c:pt>
                <c:pt idx="1">
                  <c:v>66.5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3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3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 (%)</c:v>
                </c:pt>
              </c:strCache>
            </c:strRef>
          </c:tx>
          <c:spPr>
            <a:ln w="38100">
              <a:solidFill>
                <a:srgbClr val="888888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87</c:v>
                </c:pt>
                <c:pt idx="2">
                  <c:v>73</c:v>
                </c:pt>
                <c:pt idx="3">
                  <c:v>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 (%)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92</c:v>
                </c:pt>
                <c:pt idx="2">
                  <c:v>83</c:v>
                </c:pt>
                <c:pt idx="3">
                  <c:v>74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Question: Does treatment outperform control?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Fictional material-screening study • Preliminary results for peer review • All data are synthetic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1183112" cy="1874519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34472" cy="1508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E0E0E0"/>
                </a:solidFill>
                <a:latin typeface="Calibri"/>
              </a:defRPr>
            </a:pPr>
            <a:r>
              <a:t>Compare treatment with control on pass rate and durability.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E0E0E0"/>
                </a:solidFill>
                <a:latin typeface="Calibri"/>
              </a:defRPr>
            </a:pPr>
            <a:r>
              <a:t>Random assignment was used — but the study covers ONE lab and ONE batch only.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03320"/>
            <a:ext cx="3544824" cy="21488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38130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4434840"/>
            <a:ext cx="3325368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Treatment vs. control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Random assignment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064" y="3703320"/>
            <a:ext cx="3544824" cy="21488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1792" y="38130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1792" y="4434840"/>
            <a:ext cx="3325368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Pass rate (%)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Durability over cycles (%)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1208" y="3703320"/>
            <a:ext cx="3544824" cy="21488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0936" y="38130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SCOPE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0936" y="4434840"/>
            <a:ext cx="3325368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1 lab  •  1 batch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No broad generalisation yet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72200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01  /  QUESTION     •     Synthetic data — evaluate the pattern, not a field claim.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Design: Two groups, one predefined endpoint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Equal exposure and same equipment isolate the group comparison within this lab and batch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2590038" cy="10515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719072"/>
            <a:ext cx="2443734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Random assignment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7278" y="1645920"/>
            <a:ext cx="2590038" cy="10515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0430" y="1719072"/>
            <a:ext cx="2443734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Control  n=200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2958" y="217170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31636" y="1645920"/>
            <a:ext cx="2590038" cy="10515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788" y="1719072"/>
            <a:ext cx="2443734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Treatment  n=200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57316" y="217170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95994" y="1645920"/>
            <a:ext cx="2590038" cy="10515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69146" y="1719072"/>
            <a:ext cx="2443734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Strength 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21674" y="217170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3017520"/>
          <a:ext cx="69494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53035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Samples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Exposure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Equal duration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Equal duration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Equipment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Same test equipment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Same test equipment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Pass predefined strength test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Pass predefined strength test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772400" y="3017520"/>
            <a:ext cx="3913632" cy="2651760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3200400"/>
            <a:ext cx="3364992" cy="2331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TOTAL SAMPLE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400 samples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200 + 200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Exclusions were reviewed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before final reporting.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97880"/>
            <a:ext cx="1118311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FF99"/>
                </a:solidFill>
                <a:latin typeface="Calibri"/>
              </a:defRPr>
            </a:pPr>
            <a:r>
              <a:t>Denominators are fixed at 200 per group for all pass-rate calculations that follow.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02  / 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Results: Treatment passed 8.5 points higher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Revised counts after audit • Exact counts with fixed denominators • Pass rate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5669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PASS RATE (%)  —  CONTROL vs. TREATMENT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566928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1874519"/>
            <a:ext cx="251460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+8.5 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670048"/>
            <a:ext cx="251460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66.5% − 58.0%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92240" y="3200400"/>
            <a:ext cx="251460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89720" y="1874519"/>
            <a:ext cx="2496312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+17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2670048"/>
            <a:ext cx="2496312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more passes per 200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89720" y="3200400"/>
            <a:ext cx="2496312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92240" y="3429000"/>
            <a:ext cx="5193792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Arithmetic: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116 / 200 = 58.0%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133 / 200 = 66.5%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133 − 116 = 17 passes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4937760"/>
          <a:ext cx="11183112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622"/>
                <a:gridCol w="2236622"/>
                <a:gridCol w="2236622"/>
                <a:gridCol w="2236622"/>
                <a:gridCol w="2236624"/>
              </a:tblGrid>
              <a:tr h="33147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Did not pass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116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58.0%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133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66.5%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67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Difference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+17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+8.5 pp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−17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2920" y="6400800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03  /  RESULTS     •     pp = percentage points.  Observed sample difference only — see Audit (slide 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Timecourse: Durability gap widens by cycle 300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Durability retained (%) at cycles 0 / 100 / 200 / 300 • All eight values retained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7132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DURABILITY (%)  vs.  CYCLES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713232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55279" y="1874519"/>
            <a:ext cx="3730752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15 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615184"/>
            <a:ext cx="3730752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gap at 300 cycles: 74% − 59%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3108960"/>
            <a:ext cx="3730753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79" y="3337560"/>
            <a:ext cx="3730752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Decline 0 → 300 cycles: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Control:  100 → 59  (−41 pp)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Treatment: 100 → 74  (−26 pp)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Both groups decline;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treatment declines less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in this sample.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5394960"/>
          <a:ext cx="11183112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622"/>
                <a:gridCol w="2236622"/>
                <a:gridCol w="2236622"/>
                <a:gridCol w="2236622"/>
                <a:gridCol w="2236624"/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 cycles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100 cycles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200 cycles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300 cycles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87%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73%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59%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83%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74%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04  /  TIMECOURSE     •     Unit: durability (%).  X-axis: cycles.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Subgroups: Batch counts near-equal — rates unknown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Treatment passes by batch label P / Q / R • Counts, not pass 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3520440" cy="1554480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31546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BATCH 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44 passes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4256" y="1645920"/>
            <a:ext cx="3520440" cy="1554480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6" y="1783080"/>
            <a:ext cx="31546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BATCH Q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44 passes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65592" y="1645920"/>
            <a:ext cx="3520440" cy="1554480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783080"/>
            <a:ext cx="31546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BATCH 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45 passes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3520440"/>
          <a:ext cx="58521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3474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Batch label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 passes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Share of 133 passes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33.1%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Q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33.1%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33.8%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133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675120" y="3520440"/>
            <a:ext cx="5010912" cy="1737360"/>
          </a:xfrm>
          <a:prstGeom prst="rect">
            <a:avLst/>
          </a:prstGeom>
          <a:solidFill>
            <a:srgbClr val="2A1A1A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657600"/>
            <a:ext cx="4462272" cy="14813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⚠  DO NOT READ AS RATES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Subgroup denominators are not supplied, so P / Q / R pass rates cannot be calculated or compared.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44 + 44 + 45 = 133 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532120"/>
            <a:ext cx="1118311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Near-equal counts (44 / 44 / 45) describe where the 133 treatment passes sit. They do not show equal performance by batch label.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05  /  SUBGROUPS     •     Share of passes ≠ pass rate.  Missing: samples per batch label.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Audit: 11 duplicate positives removed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Treatment numerator revised to 133 • Denominators remain correct at 200 per group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1183112" cy="1143000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344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FF99"/>
                </a:solidFill>
                <a:latin typeface="Calibri"/>
              </a:defRPr>
            </a:pPr>
            <a:r>
              <a:t>REVISED COUNT:  133 / 200  =  66.5%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26080"/>
            <a:ext cx="1118311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Correction applied:  initial treatment passes − 11 duplicate positive records  =  133 revised passes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520440"/>
          <a:ext cx="58521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</a:tblGrid>
              <a:tr h="472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116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58.0%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 (revised)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133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66.5%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675120" y="3520440"/>
            <a:ext cx="5010912" cy="1417320"/>
          </a:xfrm>
          <a:prstGeom prst="rect">
            <a:avLst/>
          </a:prstGeom>
          <a:solidFill>
            <a:srgbClr val="2A1A1A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3657600"/>
            <a:ext cx="4462272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NOT CLAIMED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✕  Statistical significance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✕  Confidence interval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(none invented or reported)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66360"/>
            <a:ext cx="1118311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Denominators remain correct: 200 + 200 = 400 samples. Only the treatment pass numerator changes.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Revised difference: 66.5% − 58.0% = +8.5 percentage points.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26480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All results, subgroups, and conclusions in this deck use the revised 133 count.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06  /  AUDIT     •     Exclusions were reviewed before final reporting.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Interpretation: A sample difference, not a field claim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What the observed pattern supports — and what it does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35204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88888"/>
                </a:solidFill>
                <a:latin typeface="Calibri"/>
              </a:defRPr>
            </a:pPr>
            <a:r>
              <a:t>58.0%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68880"/>
            <a:ext cx="35204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Control  •  116 / 200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3017520"/>
            <a:ext cx="352044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6" y="1645920"/>
            <a:ext cx="35204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66.5%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4256" y="2468880"/>
            <a:ext cx="35204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Treatment  •  133 / 200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34256" y="3017520"/>
            <a:ext cx="352044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165592" y="1645920"/>
            <a:ext cx="35204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+8.5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2468880"/>
            <a:ext cx="35204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observed difference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65592" y="3017520"/>
            <a:ext cx="352044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" y="3337560"/>
            <a:ext cx="5454396" cy="23317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447288"/>
            <a:ext cx="52349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069080"/>
            <a:ext cx="5234940" cy="1490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Treatment pass rate is higher by 8.5 points in this sample (+17 passes per 200).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Durability gap: 15 pp at 300 cycles.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3337560"/>
            <a:ext cx="5454396" cy="23317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1364" y="3447288"/>
            <a:ext cx="52349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NOT EVIDENCE 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1364" y="4069080"/>
            <a:ext cx="5234940" cy="1490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Broad field performance.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One lab and one batch — generalisation is not supported. No significance or interval claimed.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97880"/>
            <a:ext cx="11183112" cy="50292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971032"/>
            <a:ext cx="106344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CONCLUSION:  Measured sample difference worth replicating — not a deployment case.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07  /  INTERPRETATION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Next step: Replicate before any deployment claim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Four independent labs, blinded scoring, and a second batch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2590038" cy="10972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719072"/>
            <a:ext cx="2443734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4 independent labs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7278" y="1645920"/>
            <a:ext cx="2590038" cy="10972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0430" y="1719072"/>
            <a:ext cx="2443734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Blinded scoring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2958" y="219456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31636" y="1645920"/>
            <a:ext cx="2590038" cy="10972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788" y="1719072"/>
            <a:ext cx="2443734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Preregister exclusions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57316" y="219456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95994" y="1645920"/>
            <a:ext cx="2590038" cy="10972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69146" y="1719072"/>
            <a:ext cx="2443734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Second batch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21674" y="219456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02920" y="3017520"/>
            <a:ext cx="3544824" cy="24688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1272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PRESERVE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749039"/>
            <a:ext cx="3325368" cy="16276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Controls in every lab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Same predefined strength-test endpoint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2064" y="3017520"/>
            <a:ext cx="3544824" cy="24688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1792" y="31272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RECORD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1792" y="3749039"/>
            <a:ext cx="3325368" cy="16276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Batch conditions for every run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Subgroup denominators (P / Q / 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1208" y="3017520"/>
            <a:ext cx="3544824" cy="24688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0936" y="31272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0936" y="3749039"/>
            <a:ext cx="3325368" cy="16276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A second batch is needed before any deployment claim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760720"/>
            <a:ext cx="11183112" cy="59436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852160"/>
            <a:ext cx="1063447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DECISION:  REPLICATE IN 4 LABS  →  AUDIT  →  ONLY THEN CONSIDER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08  /  NEXT STEP     •     All data in this deck are synthetic and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