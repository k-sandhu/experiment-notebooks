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 ($k)</c:v>
                </c:pt>
              </c:strCache>
            </c:strRef>
          </c:tx>
          <c:spPr>
            <a:solidFill>
              <a:srgbClr val="7FB3D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Output (units)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(units)</c:v>
                </c:pt>
              </c:strCache>
            </c:strRef>
          </c:tx>
          <c:spPr>
            <a:solidFill>
              <a:srgbClr val="B0B0B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B0B0B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EQUIPMENT INVESTMENT  •  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1  — 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6766560" cy="28803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217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SELECT OPTION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60350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Approve Option C for the gated roadmap.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Proceed to rollout only if the Week 10 gate is met (Slide 7). Options A and B remain unchanged reference alternatives.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737360"/>
            <a:ext cx="3867912" cy="28803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20240"/>
            <a:ext cx="3291840" cy="2514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WHY THIS NEEDS SCRUTINY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Highest investment and highest saving. Payback is just over 3 years and the 3-year net is negative, so the case depends on full saving delivery and on demonstrated gate performance.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92040"/>
            <a:ext cx="26517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22860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4892040"/>
            <a:ext cx="26517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5029200"/>
            <a:ext cx="22860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$162k /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4892040"/>
            <a:ext cx="26517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5029200"/>
            <a:ext cx="22860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SIMPLE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4892040"/>
            <a:ext cx="2596896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5029200"/>
            <a:ext cx="2240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3-YEAR NET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42318"/>
                </a:solidFill>
                <a:latin typeface="Arial"/>
              </a:defRPr>
            </a:pPr>
            <a:r>
              <a:t>−$13k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Simple payback = 499 ÷ 162 = 3.08 yrs  •  3-year net = 3 × 162 − 499 = −$13k  •  All data are synthetic.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5508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NEUTRAL COMPARISON  •  REFERENCE OPTIONS UNCHANGED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2  — 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5760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C ★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Payback (yrs) = inv. ÷ saving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3-year net ($k) = 3×saving − inv.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20840" y="1691640"/>
            <a:ext cx="4754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INVESTMENT vs ANNUAL SAVING  ($k)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720840" y="2057400"/>
          <a:ext cx="4828032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349240"/>
            <a:ext cx="10908792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424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READ-OUT:  A is cheapest, fastest payback and the only 3-year positive.  C (selected ★) costs $156k more than B for +$49k/yr saving and +0.8 pts uptime; vs A, +$302k for +$90k/yr and +2.1 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Reference uptime is supplier/reference data — it is not proof of operational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SIX-MONTH OUTPUT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3  — 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49807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MONTHLY OUTPUT AND TARGET  (units / month)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057400"/>
          <a:ext cx="7498079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2057400"/>
            <a:ext cx="3090672" cy="3794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240280"/>
            <a:ext cx="2651760" cy="3474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TOTALS (M1–M6)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Actual:    6,490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Target:    6,600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Shortfall:   110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110 ÷ 6,600 = 1.7% below target.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M1 −240, M2 −310; then M3 +90, M4 +250, M5 +30, M6 +70.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CONCLUSION:  Strong recovery from M3 — led by M4 (1,350) — but the half-year still closed 110 units (1.7%) short.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OPTION C  •  INVESTMENT $499k  •  SENSITIVITY TO SAVING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4  — 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ANNUAL SAVING BY SCENARIO  ($k / year)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057400"/>
          <a:ext cx="53035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691640"/>
            <a:ext cx="5212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COMPUTED PAYBACK AND 3-YEAR NET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2057400"/>
          <a:ext cx="52852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308"/>
                <a:gridCol w="1321308"/>
                <a:gridCol w="1321308"/>
                <a:gridCol w="1321308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129.6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194.4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2.57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4434840"/>
            <a:ext cx="528523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Payback = 499 ÷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3-year net = 3 × saving − 499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Break-even saving for 3-yr net = $0: 499 ÷ 3 = $166.3k/yr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32120"/>
            <a:ext cx="10908792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650992"/>
            <a:ext cx="10424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CONCLUSION:  Only the upside case is 3-year positive (+$84.2k). Base is −$13k; a 20% saving shortfall widens the loss to −$110.2k and payback to 3.9 years.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DAILY DEMAND vs CAPACITY BY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5  — 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/ day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 / day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&gt; capacity?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26280"/>
            <a:ext cx="56692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Headroom = capacity − demand.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Utilisation: North 92.9%  •  East 89.4%  •  West 96.7%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 site has demand above capacity — but West has only 11 units/day spare.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DEMAND vs CAPACITY  (units / day)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629400" y="2057400"/>
          <a:ext cx="4919472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629400" y="5486400"/>
            <a:ext cx="4919472" cy="8229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5596128"/>
            <a:ext cx="4480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WATCH: WEST — 319 / 330. Any growth or downtime erases headroom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All six demand/capacity cells are preserved exactly as given.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14-WEEK PLAN  •  VALIDATE AND TRAIN IN PARALLEL AFTER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6  — 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645920"/>
            <a:ext cx="94183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t>Wk 1      2      3      4      5      6      7      8      9     10     11     12     13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325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148840"/>
            <a:ext cx="1335024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2267712"/>
            <a:ext cx="12618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Design 1–2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38144" y="2395728"/>
            <a:ext cx="54864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493008" y="2148840"/>
            <a:ext cx="1947672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267712"/>
            <a:ext cx="187451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Build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95544" y="2148840"/>
            <a:ext cx="1947672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2267712"/>
            <a:ext cx="187451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Validate 6–8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1325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40680" y="2651760"/>
            <a:ext cx="0" cy="932688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40680" y="3584448"/>
            <a:ext cx="54864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95544" y="3337560"/>
            <a:ext cx="1947672" cy="502920"/>
          </a:xfrm>
          <a:prstGeom prst="rect">
            <a:avLst/>
          </a:prstGeom>
          <a:solidFill>
            <a:srgbClr val="7FB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3456432"/>
            <a:ext cx="187451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33333"/>
                </a:solidFill>
                <a:latin typeface="Arial"/>
              </a:defRPr>
            </a:pPr>
            <a:r>
              <a:t>Train 6–8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43216" y="2395728"/>
            <a:ext cx="722376" cy="438912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43216" y="3200400"/>
            <a:ext cx="722376" cy="384048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165592" y="2148840"/>
            <a:ext cx="667512" cy="16916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2651760"/>
            <a:ext cx="886968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33104" y="2999232"/>
            <a:ext cx="54864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887968" y="2148840"/>
            <a:ext cx="256032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9408" y="2697480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34840"/>
            <a:ext cx="10908792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617720"/>
            <a:ext cx="104241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SEQUENCE:  Design (1–2) → Build (3–5) → Validate (6–8) and Train (6–8) in parallel → Gate (Week 10) → Rollout (11–14).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Both Validate and Train feed the gate. Neither lane can bypass it. Week 9 sits between parallel work and the gate.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WEEK 10  •  ALL CONDITIONS MUST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7  — 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5204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6324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1  UPTIME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Operational uptime ≥ 99.6%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Option C reference uptime is 99.9% (+0.3 pts vs threshold) — but reference data is not proof.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4256" y="1783080"/>
            <a:ext cx="35204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965960"/>
            <a:ext cx="306324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2  CAPACITY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All sites pass capacity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North, East and West — no exceptions. West headroom is thinnest (11/day).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1" y="1783080"/>
            <a:ext cx="35204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965960"/>
            <a:ext cx="306324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3  COMPLETION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Training AND validation both finish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Both Week 6–8 lanes must be complete before the gate can pass.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5349240" cy="14173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4892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GO  →  ROLLOUT (WEEKS 11–14)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Only if conditions 1, 2 and 3 are all met.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4114800"/>
            <a:ext cx="5349240" cy="14173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4297680"/>
            <a:ext cx="4892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HOLD  →  NO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If any single condition fails.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2318"/>
                </a:solidFill>
                <a:latin typeface="Arial"/>
              </a:defRPr>
            </a:pPr>
            <a:r>
              <a:t>CAVEAT:  Reference uptime is not proof of operational performance. Uptime must be demonstrated in operation at ≥99.6%.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LIKELIHOOD × IMPACT  •  EACH SCALE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8  — 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45720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103120" y="1828800"/>
            <a:ext cx="0" cy="320040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1828800"/>
            <a:ext cx="0" cy="320040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1828800"/>
            <a:ext cx="0" cy="320040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46320" y="1828800"/>
            <a:ext cx="0" cy="320040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2468880"/>
            <a:ext cx="45720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3108960"/>
            <a:ext cx="45720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3749039"/>
            <a:ext cx="45720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4389120"/>
            <a:ext cx="4572000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224528" y="3264408"/>
            <a:ext cx="329184" cy="329184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880360"/>
            <a:ext cx="2103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42318"/>
                </a:solidFill>
                <a:latin typeface="Arial"/>
              </a:defRPr>
            </a:pPr>
            <a:r>
              <a:t>Supplier delay (4, 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728" y="2624328"/>
            <a:ext cx="329184" cy="32918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240280"/>
            <a:ext cx="2103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Training gap (2, 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2064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1          2          3          4          5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44068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LIKELIHOOD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828800"/>
            <a:ext cx="594360" cy="3200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685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33333"/>
                </a:solidFill>
                <a:latin typeface="Arial"/>
              </a:defRPr>
            </a:pPr>
            <a:r>
              <a:t>IMPACT 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63640" y="1828800"/>
          <a:ext cx="52852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744"/>
                <a:gridCol w="1761744"/>
                <a:gridCol w="1761744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 = Score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 × 4 = 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263640" y="4526280"/>
            <a:ext cx="5285232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663440"/>
            <a:ext cx="4846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PRIORITY: Supplier delay scores highest (12) — pre-order early. Training gap is less likely but higher impact (4) — it directly threatens the Week 10 gate.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DECISION REMINDER:  Select Option C ($499k, $162k/yr, 3.1-yr payback, −$13k 3-year net), gated at Week 10.  All data are synthetic.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