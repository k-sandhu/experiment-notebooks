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Requests</c:v>
                </c:pt>
              </c:strCache>
            </c:strRef>
          </c:tx>
          <c:spPr>
            <a:solidFill>
              <a:srgbClr val="42A5F5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Total requests</c:v>
                </c:pt>
                <c:pt idx="1">
                  <c:v>Succeeded</c:v>
                </c:pt>
                <c:pt idx="2">
                  <c:v>Failed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10000</c:v>
                </c:pt>
                <c:pt idx="1">
                  <c:v>8720</c:v>
                </c:pt>
                <c:pt idx="2">
                  <c:v>1280</c:v>
                </c:pt>
              </c:numCache>
            </c:numRef>
          </c:val>
        </c:ser>
        <c:dLbls>
          <c:txPr>
            <a:bodyPr/>
            <a:lstStyle/>
            <a:p>
              <a:pPr>
                <a:defRPr sz="1400">
                  <a:solidFill>
                    <a:srgbClr val="263238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263238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263238"/>
                </a:solidFill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solidFill>
            <a:srgbClr val="263238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Error rate (%)</c:v>
                </c:pt>
              </c:strCache>
            </c:strRef>
          </c:tx>
          <c:spPr>
            <a:ln w="38100">
              <a:solidFill>
                <a:srgbClr val="FF7043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09:00</c:v>
                </c:pt>
                <c:pt idx="1">
                  <c:v>09:15</c:v>
                </c:pt>
                <c:pt idx="2">
                  <c:v>09:30</c:v>
                </c:pt>
                <c:pt idx="3">
                  <c:v>09:45</c:v>
                </c:pt>
                <c:pt idx="4">
                  <c:v>10:00</c:v>
                </c:pt>
                <c:pt idx="5">
                  <c:v>10:15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</c:v>
                </c:pt>
                <c:pt idx="1">
                  <c:v>18</c:v>
                </c:pt>
                <c:pt idx="2">
                  <c:v>25</c:v>
                </c:pt>
                <c:pt idx="3">
                  <c:v>14</c:v>
                </c:pt>
                <c:pt idx="4">
                  <c:v>4</c:v>
                </c:pt>
                <c:pt idx="5">
                  <c:v>1</c:v>
                </c:pt>
              </c:numCache>
            </c:numRef>
          </c:val>
          <c:smooth val="0"/>
        </c:ser>
        <c:dLbls>
          <c:txPr>
            <a:bodyPr/>
            <a:lstStyle/>
            <a:p>
              <a:pPr>
                <a:defRPr sz="1400">
                  <a:solidFill>
                    <a:srgbClr val="263238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263238"/>
                </a:solidFill>
                <a:latin typeface="Arial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263238"/>
                </a:solidFill>
                <a:latin typeface="Arial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400">
          <a:solidFill>
            <a:srgbClr val="263238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263238"/>
                </a:solidFill>
                <a:latin typeface="Arial"/>
              </a:defRPr>
            </a:pPr>
            <a:r>
              <a:t>Simulated service disruption: what happened and what is next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63238"/>
                </a:solidFill>
                <a:latin typeface="Arial"/>
              </a:defRPr>
            </a:pPr>
            <a:r>
              <a:t>Fictional service incident · window 09:00–10:14 · all data synthetic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5943600" cy="1463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263238"/>
                </a:solidFill>
                <a:latin typeface="Arial"/>
              </a:defRPr>
            </a:pPr>
            <a:r>
              <a:t>A 09:00 deployment led to elevated request errors; rollback restored baseline by 10:14.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337560"/>
            <a:ext cx="585216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455A64"/>
                </a:solidFill>
                <a:latin typeface="Arial"/>
              </a:defRPr>
            </a:pPr>
            <a:r>
              <a:t>This review recounts the sequence of events to give a shared basis for process-improvement discussion.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40880" y="1737360"/>
            <a:ext cx="2194560" cy="1783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23760" y="1874519"/>
            <a:ext cx="1828800" cy="82981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7043"/>
                </a:solidFill>
                <a:latin typeface="Arial"/>
              </a:defRPr>
            </a:pPr>
            <a:r>
              <a:t>74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0" y="2779775"/>
            <a:ext cx="1828800" cy="528065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  <a:r>
              <a:t>Incident window, 09:00–10:14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223760" y="3383279"/>
            <a:ext cx="1828800" cy="0"/>
          </a:xfrm>
          <a:prstGeom prst="line">
            <a:avLst/>
          </a:prstGeom>
          <a:ln w="1270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464040" y="2057400"/>
            <a:ext cx="2240280" cy="1783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46920" y="2194560"/>
            <a:ext cx="1874519" cy="82981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7043"/>
                </a:solidFill>
                <a:latin typeface="Arial"/>
              </a:defRPr>
            </a:pPr>
            <a:r>
              <a:t>12.8%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46920" y="3099815"/>
            <a:ext cx="1874519" cy="528065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  <a:r>
              <a:t>Requests failed (1,280 of 10,000)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646920" y="3703320"/>
            <a:ext cx="1874520" cy="0"/>
          </a:xfrm>
          <a:prstGeom prst="line">
            <a:avLst/>
          </a:prstGeom>
          <a:ln w="1270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138160" y="4069080"/>
            <a:ext cx="2377440" cy="1783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4206240"/>
            <a:ext cx="2011680" cy="82981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26A69A"/>
                </a:solidFill>
                <a:latin typeface="Arial"/>
              </a:defRPr>
            </a:pPr>
            <a:r>
              <a:t>1 of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5111496"/>
            <a:ext cx="2011680" cy="528065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  <a:r>
              <a:t>Follow-up actions complete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321040" y="5715000"/>
            <a:ext cx="2011680" cy="0"/>
          </a:xfrm>
          <a:prstGeom prst="line">
            <a:avLst/>
          </a:prstGeom>
          <a:ln w="1270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31520" y="4526280"/>
            <a:ext cx="6949440" cy="1463040"/>
          </a:xfrm>
          <a:prstGeom prst="roundRect">
            <a:avLst/>
          </a:prstGeom>
          <a:solidFill>
            <a:srgbClr val="FFE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645152"/>
            <a:ext cx="64008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BF360C"/>
                </a:solidFill>
                <a:latin typeface="Arial"/>
              </a:defRPr>
            </a:pPr>
            <a:r>
              <a:t>DISCUSSION FOCUS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5010912"/>
            <a:ext cx="6400800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63238"/>
                </a:solidFill>
                <a:latin typeface="Arial"/>
              </a:defRPr>
            </a:pPr>
            <a:r>
              <a:t>Recovery is verified. Preventing recurrence still depends on two planned actions: a causal load test (day 7) and capping retries (day 12).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263238"/>
                </a:solidFill>
                <a:latin typeface="Arial"/>
              </a:defRPr>
            </a:pPr>
            <a:r>
              <a:t>Impact: 1,280 of 10,000 requests failed (12.8%)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63238"/>
                </a:solidFill>
                <a:latin typeface="Arial"/>
              </a:defRPr>
            </a:pPr>
            <a:r>
              <a:t>Counts are requests in the 09:00–10:14 window, not distinct users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60350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63238"/>
                </a:solidFill>
                <a:latin typeface="Arial"/>
              </a:defRPr>
            </a:pPr>
            <a:r>
              <a:t>Requests in incident window (count)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40080" y="2011680"/>
          <a:ext cx="603504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223760" y="1737360"/>
            <a:ext cx="438912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52360" y="1874519"/>
            <a:ext cx="402336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7043"/>
                </a:solidFill>
                <a:latin typeface="Arial"/>
              </a:defRPr>
            </a:pPr>
            <a:r>
              <a:t>1,280 ÷ 10,000 = 12.8%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52360" y="2560320"/>
            <a:ext cx="4023360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263238"/>
                </a:solidFill>
                <a:latin typeface="Arial"/>
              </a:defRPr>
            </a:pPr>
            <a:r>
              <a:t>Failed requests as a share of all requests in the 74-minute window. 8,720 requests succeeded.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89520" y="3886200"/>
            <a:ext cx="4023360" cy="1920240"/>
          </a:xfrm>
          <a:prstGeom prst="roundRect">
            <a:avLst/>
          </a:prstGeom>
          <a:solidFill>
            <a:srgbClr val="FFE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18120" y="4023360"/>
            <a:ext cx="365760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BF360C"/>
                </a:solidFill>
                <a:latin typeface="Arial"/>
              </a:defRPr>
            </a:pPr>
            <a:r>
              <a:t>Unknown: distinct affected users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4526280"/>
            <a:ext cx="3657600" cy="11887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263238"/>
                </a:solidFill>
                <a:latin typeface="Arial"/>
              </a:defRPr>
            </a:pPr>
            <a:r>
              <a:t>One person may account for several failed requests, so the 1,280 request count cannot be converted into a count of affected people.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263238"/>
                </a:solidFill>
                <a:latin typeface="Arial"/>
              </a:defRPr>
            </a:pPr>
            <a:r>
              <a:t>Timeline: 74 minutes from deployment to baseline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63238"/>
                </a:solidFill>
                <a:latin typeface="Arial"/>
              </a:defRPr>
            </a:pPr>
            <a:r>
              <a:t>Six key events, 09:00–10:14, positioned to scale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3749039"/>
            <a:ext cx="10241280" cy="0"/>
          </a:xfrm>
          <a:prstGeom prst="line">
            <a:avLst/>
          </a:prstGeom>
          <a:ln w="38100">
            <a:solidFill>
              <a:srgbClr val="90A4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757976" y="3749039"/>
            <a:ext cx="1799540" cy="0"/>
          </a:xfrm>
          <a:prstGeom prst="line">
            <a:avLst/>
          </a:prstGeom>
          <a:ln w="88900">
            <a:solidFill>
              <a:srgbClr val="26A6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77240" y="3611880"/>
            <a:ext cx="274320" cy="274320"/>
          </a:xfrm>
          <a:prstGeom prst="round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884578" y="3611880"/>
            <a:ext cx="274320" cy="274320"/>
          </a:xfrm>
          <a:prstGeom prst="round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129991" y="3611880"/>
            <a:ext cx="274320" cy="274320"/>
          </a:xfrm>
          <a:prstGeom prst="round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620816" y="3611880"/>
            <a:ext cx="274320" cy="274320"/>
          </a:xfrm>
          <a:prstGeom prst="round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420356" y="3611880"/>
            <a:ext cx="274320" cy="274320"/>
          </a:xfrm>
          <a:prstGeom prst="round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1018520" y="3611880"/>
            <a:ext cx="274320" cy="274320"/>
          </a:xfrm>
          <a:prstGeom prst="round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 flipV="1">
            <a:off x="914400" y="3154680"/>
            <a:ext cx="0" cy="411480"/>
          </a:xfrm>
          <a:prstGeom prst="line">
            <a:avLst/>
          </a:prstGeom>
          <a:ln w="19050">
            <a:solidFill>
              <a:srgbClr val="90A4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021738" y="3931920"/>
            <a:ext cx="0" cy="411480"/>
          </a:xfrm>
          <a:prstGeom prst="line">
            <a:avLst/>
          </a:prstGeom>
          <a:ln w="19050">
            <a:solidFill>
              <a:srgbClr val="90A4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3267151" y="3154680"/>
            <a:ext cx="0" cy="411480"/>
          </a:xfrm>
          <a:prstGeom prst="line">
            <a:avLst/>
          </a:prstGeom>
          <a:ln w="19050">
            <a:solidFill>
              <a:srgbClr val="90A4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757976" y="3931920"/>
            <a:ext cx="0" cy="411480"/>
          </a:xfrm>
          <a:prstGeom prst="line">
            <a:avLst/>
          </a:prstGeom>
          <a:ln w="19050">
            <a:solidFill>
              <a:srgbClr val="90A4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7557516" y="3154680"/>
            <a:ext cx="0" cy="411480"/>
          </a:xfrm>
          <a:prstGeom prst="line">
            <a:avLst/>
          </a:prstGeom>
          <a:ln w="19050">
            <a:solidFill>
              <a:srgbClr val="90A4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1155680" y="3931920"/>
            <a:ext cx="0" cy="411480"/>
          </a:xfrm>
          <a:prstGeom prst="line">
            <a:avLst/>
          </a:prstGeom>
          <a:ln w="19050">
            <a:solidFill>
              <a:srgbClr val="90A4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77240" y="2148840"/>
            <a:ext cx="1737360" cy="9601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263238"/>
                </a:solidFill>
                <a:latin typeface="Arial"/>
              </a:defRPr>
            </a:pPr>
            <a:r>
              <a:t>09:00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263238"/>
                </a:solidFill>
                <a:latin typeface="Arial"/>
              </a:defRPr>
            </a:pPr>
            <a:r>
              <a:t>Deployment released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5898" y="4389120"/>
            <a:ext cx="2011680" cy="9601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263238"/>
                </a:solidFill>
                <a:latin typeface="Arial"/>
              </a:defRPr>
            </a:pPr>
            <a:r>
              <a:t>09:08 (+8 min)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263238"/>
                </a:solidFill>
                <a:latin typeface="Arial"/>
              </a:defRPr>
            </a:pPr>
            <a:r>
              <a:t>First alert fires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07031" y="2148840"/>
            <a:ext cx="1920240" cy="9601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263238"/>
                </a:solidFill>
                <a:latin typeface="Arial"/>
              </a:defRPr>
            </a:pPr>
            <a:r>
              <a:t>09:17 (+17 min)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263238"/>
                </a:solidFill>
                <a:latin typeface="Arial"/>
              </a:defRPr>
            </a:pPr>
            <a:r>
              <a:t>Investigation starts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2136" y="4389120"/>
            <a:ext cx="2011680" cy="9601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263238"/>
                </a:solidFill>
                <a:latin typeface="Arial"/>
              </a:defRPr>
            </a:pPr>
            <a:r>
              <a:t>09:35 (+35 min)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263238"/>
                </a:solidFill>
                <a:latin typeface="Arial"/>
              </a:defRPr>
            </a:pPr>
            <a:r>
              <a:t>Rollback begins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51676" y="2148840"/>
            <a:ext cx="2011680" cy="9601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263238"/>
                </a:solidFill>
                <a:latin typeface="Arial"/>
              </a:defRPr>
            </a:pPr>
            <a:r>
              <a:t>09:48 (+48 min)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263238"/>
                </a:solidFill>
                <a:latin typeface="Arial"/>
              </a:defRPr>
            </a:pPr>
            <a:r>
              <a:t>Rollback complete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06840" y="4389120"/>
            <a:ext cx="2286000" cy="9601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796B"/>
                </a:solidFill>
                <a:latin typeface="Arial"/>
              </a:defRPr>
            </a:pPr>
            <a:r>
              <a:t>10:14 (+74 min)</a:t>
            </a:r>
          </a:p>
          <a:p>
            <a:pPr algn="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796B"/>
                </a:solidFill>
                <a:latin typeface="Arial"/>
              </a:defRPr>
            </a:pPr>
            <a:r>
              <a:t>Error rate at baseline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7646" y="3858768"/>
            <a:ext cx="16002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00796B"/>
                </a:solidFill>
                <a:latin typeface="Arial"/>
              </a:defRPr>
            </a:pPr>
            <a:r>
              <a:t>rollback: 13 min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557516" y="4041648"/>
            <a:ext cx="3598164" cy="0"/>
          </a:xfrm>
          <a:prstGeom prst="line">
            <a:avLst/>
          </a:prstGeom>
          <a:ln w="25400">
            <a:solidFill>
              <a:srgbClr val="FFA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412480" y="4069080"/>
            <a:ext cx="192024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BF360C"/>
                </a:solidFill>
                <a:latin typeface="Arial"/>
              </a:defRPr>
            </a:pPr>
            <a:r>
              <a:t>verification: 26 min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5532120"/>
            <a:ext cx="1069848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" y="5623560"/>
            <a:ext cx="1024128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  <a:r>
              <a:t>Gaps to discuss: 8 min to first alert · 9 more to start investigating · 18 more to begin rollback · 13 min rollback · 26 min until baseline confirmed (8+9+18+13+26 = 74 min)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263238"/>
                </a:solidFill>
                <a:latin typeface="Arial"/>
              </a:defRPr>
            </a:pPr>
            <a:r>
              <a:t>Error rate peaked at 25% at 09:30, then fell to 1% by 10:15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63238"/>
                </a:solidFill>
                <a:latin typeface="Arial"/>
              </a:defRPr>
            </a:pPr>
            <a:r>
              <a:t>Six point-in-time readings, % of requests erroring;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72768"/>
            <a:ext cx="72237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63238"/>
                </a:solidFill>
                <a:latin typeface="Arial"/>
              </a:defRPr>
            </a:pPr>
            <a:r>
              <a:t>Error rate at each reading (%)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965960"/>
          <a:ext cx="722376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229600" y="1737360"/>
            <a:ext cx="3474720" cy="2057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58200" y="1828800"/>
            <a:ext cx="3017520" cy="70408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7043"/>
                </a:solidFill>
                <a:latin typeface="Arial"/>
              </a:defRPr>
            </a:pPr>
            <a:r>
              <a:t>25%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58200" y="2596896"/>
            <a:ext cx="3017520" cy="448055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  <a:r>
              <a:t>Peak reading, 09:30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458200" y="3108960"/>
            <a:ext cx="3017520" cy="0"/>
          </a:xfrm>
          <a:prstGeom prst="line">
            <a:avLst/>
          </a:prstGeom>
          <a:ln w="1270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458200" y="3154680"/>
            <a:ext cx="306324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55A64"/>
                </a:solidFill>
                <a:latin typeface="Arial"/>
              </a:defRPr>
            </a:pPr>
            <a:r>
              <a:t>The 10:15 reading (1%) falls just after baseline returned at 10:14.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03920" y="4023360"/>
            <a:ext cx="3200400" cy="2240280"/>
          </a:xfrm>
          <a:prstGeom prst="roundRect">
            <a:avLst/>
          </a:prstGeom>
          <a:solidFill>
            <a:srgbClr val="FFE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0" y="4133087"/>
            <a:ext cx="283464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BF360C"/>
                </a:solidFill>
                <a:latin typeface="Arial"/>
              </a:defRPr>
            </a:pPr>
            <a:r>
              <a:t>Not the window-wide 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4572000"/>
            <a:ext cx="2834640" cy="1600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263238"/>
                </a:solidFill>
                <a:latin typeface="Arial"/>
              </a:defRPr>
            </a:pPr>
            <a:r>
              <a:t>These are snapshots. The 12.8% figure is failed ÷ total requests (1,280 ÷ 10,000); the six readings average 10.7%, which does not reproduce 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263238"/>
                </a:solidFill>
                <a:latin typeface="Arial"/>
              </a:defRPr>
            </a:pPr>
            <a:r>
              <a:t>Evidence: what we observed vs. what we suspect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63238"/>
                </a:solidFill>
                <a:latin typeface="Arial"/>
              </a:defRPr>
            </a:pPr>
            <a:r>
              <a:t>Root cause stays a working hypothesis until a causal load test is completed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384048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26A6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32918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796B"/>
                </a:solidFill>
                <a:latin typeface="Arial"/>
              </a:defRPr>
            </a:pPr>
            <a:r>
              <a:t>OBSERVED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329184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63238"/>
                </a:solidFill>
                <a:latin typeface="Arial"/>
              </a:defRPr>
            </a:pPr>
            <a:r>
              <a:t>Facts from monitoring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71800"/>
            <a:ext cx="3291840" cy="2011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63238"/>
                </a:solidFill>
                <a:latin typeface="Arial"/>
              </a:defRPr>
            </a:pPr>
            <a:r>
              <a:t>• Connection pool saturated after the 09:00 deployment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63238"/>
                </a:solidFill>
                <a:latin typeface="Arial"/>
              </a:defRPr>
            </a:pPr>
            <a:r>
              <a:t>• Service recovered after rollback (complete 09:48; baseline 10:14)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480560" y="3474720"/>
            <a:ext cx="457200" cy="0"/>
          </a:xfrm>
          <a:prstGeom prst="line">
            <a:avLst/>
          </a:prstGeom>
          <a:ln w="25400">
            <a:solidFill>
              <a:srgbClr val="90A4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937760" y="2286000"/>
            <a:ext cx="3657600" cy="2834640"/>
          </a:xfrm>
          <a:prstGeom prst="roundRect">
            <a:avLst/>
          </a:prstGeom>
          <a:solidFill>
            <a:srgbClr val="FFE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12080" y="2468880"/>
            <a:ext cx="31089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BF360C"/>
                </a:solidFill>
                <a:latin typeface="Arial"/>
              </a:defRPr>
            </a:pPr>
            <a:r>
              <a:t>WORKING HYPOTHESIS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2834640"/>
            <a:ext cx="310896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63238"/>
                </a:solidFill>
                <a:latin typeface="Arial"/>
              </a:defRPr>
            </a:pPr>
            <a:r>
              <a:t>Retry amplification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3383280"/>
            <a:ext cx="3108960" cy="1645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  <a:r>
              <a:t>Retries under the new configuration may have multiplied load on the pool. Consistent with observations, but not yet demonstrated.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595360" y="3108960"/>
            <a:ext cx="457200" cy="0"/>
          </a:xfrm>
          <a:prstGeom prst="line">
            <a:avLst/>
          </a:prstGeom>
          <a:ln w="25400">
            <a:solidFill>
              <a:srgbClr val="90A4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052560" y="1828800"/>
            <a:ext cx="256032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FF7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81160" y="2011680"/>
            <a:ext cx="21031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BF360C"/>
                </a:solidFill>
                <a:latin typeface="Arial"/>
              </a:defRPr>
            </a:pPr>
            <a:r>
              <a:t>OPEN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81160" y="2377440"/>
            <a:ext cx="214884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263238"/>
                </a:solidFill>
                <a:latin typeface="Arial"/>
              </a:defRPr>
            </a:pPr>
            <a:r>
              <a:t>Causal load test not yet completed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81160" y="3383280"/>
            <a:ext cx="214884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55A64"/>
                </a:solidFill>
                <a:latin typeface="Arial"/>
              </a:defRPr>
            </a:pPr>
            <a:r>
              <a:t>Planned: Owner B, by day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669280"/>
            <a:ext cx="1097280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263238"/>
                </a:solidFill>
                <a:latin typeface="Arial"/>
              </a:defRPr>
            </a:pPr>
            <a:r>
              <a:t>Treat retry amplification as a working explanation, not a confirmed root cause.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263238"/>
                </a:solidFill>
                <a:latin typeface="Arial"/>
              </a:defRPr>
            </a:pPr>
            <a:r>
              <a:t>Response path: detect, triage, roll back, then verify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63238"/>
                </a:solidFill>
                <a:latin typeface="Arial"/>
              </a:defRPr>
            </a:pPr>
            <a:r>
              <a:t>Baseline verification follows rollback; the service owner authorizes restoration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1956816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1" y="1901952"/>
            <a:ext cx="1810512" cy="76809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63238"/>
                </a:solidFill>
                <a:latin typeface="Arial"/>
              </a:defRPr>
            </a:pPr>
            <a:r>
              <a:t>Detection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2871215" y="1828800"/>
            <a:ext cx="1956816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44368" y="1901952"/>
            <a:ext cx="1810512" cy="76809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63238"/>
                </a:solidFill>
                <a:latin typeface="Arial"/>
              </a:defRPr>
            </a:pPr>
            <a:r>
              <a:t>Triage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96896" y="2286000"/>
            <a:ext cx="274319" cy="0"/>
          </a:xfrm>
          <a:prstGeom prst="line">
            <a:avLst/>
          </a:prstGeom>
          <a:ln w="25400">
            <a:solidFill>
              <a:srgbClr val="2632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5102352" y="1828800"/>
            <a:ext cx="1956816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75504" y="1901952"/>
            <a:ext cx="1810512" cy="76809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63238"/>
                </a:solidFill>
                <a:latin typeface="Arial"/>
              </a:defRPr>
            </a:pPr>
            <a:r>
              <a:t>Rollback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828032" y="2286000"/>
            <a:ext cx="274320" cy="0"/>
          </a:xfrm>
          <a:prstGeom prst="line">
            <a:avLst/>
          </a:prstGeom>
          <a:ln w="25400">
            <a:solidFill>
              <a:srgbClr val="2632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7333488" y="1828800"/>
            <a:ext cx="1956816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0" y="1901952"/>
            <a:ext cx="1810512" cy="76809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63238"/>
                </a:solidFill>
                <a:latin typeface="Arial"/>
              </a:defRPr>
            </a:pPr>
            <a:r>
              <a:t>Verify baseline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059168" y="2286000"/>
            <a:ext cx="274320" cy="0"/>
          </a:xfrm>
          <a:prstGeom prst="line">
            <a:avLst/>
          </a:prstGeom>
          <a:ln w="25400">
            <a:solidFill>
              <a:srgbClr val="2632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9564624" y="1828800"/>
            <a:ext cx="1956816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37776" y="1901952"/>
            <a:ext cx="1810512" cy="76809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63238"/>
                </a:solidFill>
                <a:latin typeface="Arial"/>
              </a:defRPr>
            </a:pPr>
            <a:r>
              <a:t>Retrospective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290303" y="2286000"/>
            <a:ext cx="274321" cy="0"/>
          </a:xfrm>
          <a:prstGeom prst="line">
            <a:avLst/>
          </a:prstGeom>
          <a:ln w="25400">
            <a:solidFill>
              <a:srgbClr val="2632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22376" y="2926080"/>
            <a:ext cx="201168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455A64"/>
                </a:solidFill>
                <a:latin typeface="Arial"/>
              </a:defRPr>
            </a:pPr>
            <a:r>
              <a:t>09:08 first alert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98648" y="2926080"/>
            <a:ext cx="201168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455A64"/>
                </a:solidFill>
                <a:latin typeface="Arial"/>
              </a:defRPr>
            </a:pPr>
            <a:r>
              <a:t>From 09:17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74920" y="2926080"/>
            <a:ext cx="201168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796B"/>
                </a:solidFill>
                <a:latin typeface="Arial"/>
              </a:defRPr>
            </a:pPr>
            <a:r>
              <a:t>09:35–09:48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51192" y="2926080"/>
            <a:ext cx="201168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796B"/>
                </a:solidFill>
                <a:latin typeface="Arial"/>
              </a:defRPr>
            </a:pPr>
            <a:r>
              <a:t>Baseline at 10:14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27464" y="2926080"/>
            <a:ext cx="201168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455A64"/>
                </a:solidFill>
                <a:latin typeface="Arial"/>
              </a:defRPr>
            </a:pPr>
            <a:r>
              <a:t>This review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97280" y="3931920"/>
            <a:ext cx="448056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71600" y="4069080"/>
            <a:ext cx="39319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BF360C"/>
                </a:solidFill>
                <a:latin typeface="Arial"/>
              </a:defRPr>
            </a:pPr>
            <a:r>
              <a:t>ON-CALL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4434840"/>
            <a:ext cx="393192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63238"/>
                </a:solidFill>
                <a:latin typeface="Arial"/>
              </a:defRPr>
            </a:pPr>
            <a:r>
              <a:t>Handles the rollback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4983480"/>
            <a:ext cx="393192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  <a:r>
              <a:t>Started 09:35, completed 09:48 (13 min).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09360" y="4251960"/>
            <a:ext cx="4846320" cy="2011680"/>
          </a:xfrm>
          <a:prstGeom prst="roundRect">
            <a:avLst/>
          </a:prstGeom>
          <a:solidFill>
            <a:srgbClr val="FFE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0" y="4389120"/>
            <a:ext cx="429768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BF360C"/>
                </a:solidFill>
                <a:latin typeface="Arial"/>
              </a:defRPr>
            </a:pPr>
            <a:r>
              <a:t>SERVICE OWNER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4754880"/>
            <a:ext cx="429768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63238"/>
                </a:solidFill>
                <a:latin typeface="Arial"/>
              </a:defRPr>
            </a:pPr>
            <a:r>
              <a:t>Authorizes restoration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5303520"/>
            <a:ext cx="4297680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  <a:r>
              <a:t>Verification comes after rollback, never before it: 26 min of checks, baseline confirmed at 10:14.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263238"/>
                </a:solidFill>
                <a:latin typeface="Arial"/>
              </a:defRPr>
            </a:pPr>
            <a:r>
              <a:t>Follow-up actions: 1 of 3 complete, 2 still planned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63238"/>
                </a:solidFill>
                <a:latin typeface="Arial"/>
              </a:defRPr>
            </a:pPr>
            <a:r>
              <a:t>Owner, deadline and status for each follow-up action, ordered by deadline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828800"/>
          <a:ext cx="7498079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19"/>
                <a:gridCol w="1874519"/>
                <a:gridCol w="1874519"/>
                <a:gridCol w="1874522"/>
              </a:tblGrid>
              <a:tr h="68580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Owner</a:t>
                      </a:r>
                    </a:p>
                  </a:txBody>
                  <a:tcPr marL="64008" marR="64008" marT="36576" marB="36576">
                    <a:solidFill>
                      <a:srgbClr val="2632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Action</a:t>
                      </a:r>
                    </a:p>
                  </a:txBody>
                  <a:tcPr marL="64008" marR="64008" marT="36576" marB="36576">
                    <a:solidFill>
                      <a:srgbClr val="2632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Deadline</a:t>
                      </a:r>
                    </a:p>
                  </a:txBody>
                  <a:tcPr marL="64008" marR="64008" marT="36576" marB="36576">
                    <a:solidFill>
                      <a:srgbClr val="2632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Status</a:t>
                      </a:r>
                    </a:p>
                  </a:txBody>
                  <a:tcPr marL="64008" marR="64008" marT="36576" marB="36576">
                    <a:solidFill>
                      <a:srgbClr val="263238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Owner C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Add saturation alert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Day 5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Complete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Owner B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Run causal load test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Day 7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Planned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Owner A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Cap retries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Day 12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Planned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686800" y="1783080"/>
            <a:ext cx="2926080" cy="1783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0" y="1920240"/>
            <a:ext cx="2560320" cy="82981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26A69A"/>
                </a:solidFill>
                <a:latin typeface="Arial"/>
              </a:defRPr>
            </a:pPr>
            <a:r>
              <a:t>1 complete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0" y="2825496"/>
            <a:ext cx="2560320" cy="528065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  <a:r>
              <a:t>Saturation alert (Owner C)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869680" y="3429000"/>
            <a:ext cx="2560320" cy="0"/>
          </a:xfrm>
          <a:prstGeom prst="line">
            <a:avLst/>
          </a:prstGeom>
          <a:ln w="1270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961120" y="3840480"/>
            <a:ext cx="2743200" cy="1874519"/>
          </a:xfrm>
          <a:prstGeom prst="roundRect">
            <a:avLst/>
          </a:prstGeom>
          <a:solidFill>
            <a:srgbClr val="FFE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0" y="3977639"/>
            <a:ext cx="2377440" cy="88011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7043"/>
                </a:solidFill>
                <a:latin typeface="Arial"/>
              </a:defRPr>
            </a:pPr>
            <a:r>
              <a:t>2 planned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4937759"/>
            <a:ext cx="2377440" cy="560069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  <a:r>
              <a:t>Load test (day 7), retry cap (day 12)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144000" y="5577840"/>
            <a:ext cx="2377440" cy="0"/>
          </a:xfrm>
          <a:prstGeom prst="line">
            <a:avLst/>
          </a:prstGeom>
          <a:ln w="1270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40080" y="5029200"/>
            <a:ext cx="768096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263238"/>
                </a:solidFill>
                <a:latin typeface="Arial"/>
              </a:defRPr>
            </a:pPr>
            <a:r>
              <a:t>Until the load test and retry cap are done, the suspected recurrence path remains open.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263238"/>
                </a:solidFill>
                <a:latin typeface="Arial"/>
              </a:defRPr>
            </a:pPr>
            <a:r>
              <a:t>Lessons for process improvement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63238"/>
                </a:solidFill>
                <a:latin typeface="Arial"/>
              </a:defRPr>
            </a:pPr>
            <a:r>
              <a:t>Three distinctions to carry into the next review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3444240" cy="2651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938528"/>
            <a:ext cx="3224784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263238"/>
                </a:solidFill>
                <a:latin typeface="Arial"/>
              </a:defRPr>
            </a:pPr>
            <a:r>
              <a:t>Evidence ≠ hypothesis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560320"/>
            <a:ext cx="3224784" cy="181051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63238"/>
                </a:solidFill>
                <a:latin typeface="Arial"/>
              </a:defRPr>
            </a:pPr>
            <a:r>
              <a:t>Pool saturation and recovery were observed. Retry amplification stays unproven until the load test.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58640" y="1828800"/>
            <a:ext cx="3444240" cy="2651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68368" y="1938528"/>
            <a:ext cx="3224784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263238"/>
                </a:solidFill>
                <a:latin typeface="Arial"/>
              </a:defRPr>
            </a:pPr>
            <a:r>
              <a:t>Requests ≠ people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68368" y="2560320"/>
            <a:ext cx="3224784" cy="181051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63238"/>
                </a:solidFill>
                <a:latin typeface="Arial"/>
              </a:defRPr>
            </a:pPr>
            <a:r>
              <a:t>1,280 failed requests (12.8% of 10,000). Distinct affected users are unknown.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77200" y="1828800"/>
            <a:ext cx="3444240" cy="2651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6928" y="1938528"/>
            <a:ext cx="3224784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263238"/>
                </a:solidFill>
                <a:latin typeface="Arial"/>
              </a:defRPr>
            </a:pPr>
            <a:r>
              <a:t>Recovered ≠ prevented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6928" y="2560320"/>
            <a:ext cx="3224784" cy="181051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63238"/>
                </a:solidFill>
                <a:latin typeface="Arial"/>
              </a:defRPr>
            </a:pPr>
            <a:r>
              <a:t>Baseline was verified at 10:14. Preventing recurrence depends on planned work.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983480"/>
            <a:ext cx="10881360" cy="1188720"/>
          </a:xfrm>
          <a:prstGeom prst="roundRect">
            <a:avLst/>
          </a:prstGeom>
          <a:solidFill>
            <a:srgbClr val="FFE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120640"/>
            <a:ext cx="1033272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263238"/>
                </a:solidFill>
                <a:latin typeface="Arial"/>
              </a:defRPr>
            </a:pPr>
            <a:r>
              <a:t>Next step: review the load-test result (day 7) before confirming a root cause, and track the retry cap through day 12.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