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740</c:v>
                </c:pt>
                <c:pt idx="1">
                  <c:v>780</c:v>
                </c:pt>
                <c:pt idx="2">
                  <c:v>1120</c:v>
                </c:pt>
                <c:pt idx="3">
                  <c:v>1030</c:v>
                </c:pt>
                <c:pt idx="4">
                  <c:v>1110</c:v>
                </c:pt>
                <c:pt idx="5">
                  <c:v>910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97.6</c:v>
                </c:pt>
                <c:pt idx="1">
                  <c:v>122</c:v>
                </c:pt>
                <c:pt idx="2">
                  <c:v>146.4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 for 3-yr break-even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122</c:v>
                </c:pt>
                <c:pt idx="1">
                  <c:v>122</c:v>
                </c:pt>
                <c:pt idx="2">
                  <c:v>122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demand</c:v>
                </c:pt>
              </c:strCache>
            </c:strRef>
          </c:tx>
          <c:spPr>
            <a:ln w="38100">
              <a:solidFill>
                <a:srgbClr val="00FF99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</c:v>
                </c:pt>
                <c:pt idx="1">
                  <c:v>294</c:v>
                </c:pt>
                <c:pt idx="2">
                  <c:v>338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capacity</c:v>
                </c:pt>
              </c:strCache>
            </c:strRef>
          </c:tx>
          <c:spPr>
            <a:ln w="38100">
              <a:solidFill>
                <a:srgbClr val="8A8A8A"/>
              </a:solidFill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200">
                  <a:solidFill>
                    <a:srgbClr val="E0E0E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E0E0E0"/>
                </a:solidFill>
                <a:latin typeface="Calibr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E0E0E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01 /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Recommendation: select Option 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91640"/>
            <a:ext cx="11091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0E0E0"/>
                </a:solidFill>
                <a:latin typeface="Calibri"/>
              </a:defRPr>
            </a:pPr>
            <a:r>
              <a:t>Option B balances investment, annual saving and reference uptime, and breaks even exactly at three years.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2606040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2606040" cy="5486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$366k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94760"/>
            <a:ext cx="2331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Investment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2651760"/>
            <a:ext cx="2606040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2651760"/>
            <a:ext cx="2606040" cy="5486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292608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$122k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3794760"/>
            <a:ext cx="2331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Annual saving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2651760"/>
            <a:ext cx="2606040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651760"/>
            <a:ext cx="2606040" cy="5486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92608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3.0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794760"/>
            <a:ext cx="2331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Simple payback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5128" y="2651760"/>
            <a:ext cx="2606040" cy="18288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25128" y="2651760"/>
            <a:ext cx="2606040" cy="54864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2926080"/>
            <a:ext cx="233172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99"/>
                </a:solidFill>
                <a:latin typeface="Calibri"/>
              </a:defRPr>
            </a:pPr>
            <a:r>
              <a:t>$0k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3794760"/>
            <a:ext cx="2331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Three-year net (break-even)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109167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0E0E0"/>
                </a:solidFill>
                <a:latin typeface="Calibri"/>
              </a:defRPr>
            </a:pPr>
            <a:r>
              <a:t>Arithmetic: payback = 366 ÷ 122 = 3.0 years   |   three-year net = 3 × 122 − 366 = $0k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Condition: rollout proceeds only on GO at the week-9 gate, which requires ≥ 99.6% operational uptime. B's reference uptime is 99.1%, and reference uptime is not proof of operational performance. All data are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02 /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B sits between low-cost A and high-uptime 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737360"/>
                <a:gridCol w="1737360"/>
                <a:gridCol w="173736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B (selected)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366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528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79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Simple payback (yrs)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Three-year net ($k)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+23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7863840" y="1783080"/>
            <a:ext cx="0" cy="914400"/>
          </a:xfrm>
          <a:prstGeom prst="line">
            <a:avLst/>
          </a:prstGeom>
          <a:ln w="381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046720" y="1737360"/>
            <a:ext cx="359359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A — lowest cost and fastest payback, but 97.8% uptime is furthest below the 99.6% gate threshold.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863840" y="2971800"/>
            <a:ext cx="0" cy="914400"/>
          </a:xfrm>
          <a:prstGeom prst="line">
            <a:avLst/>
          </a:prstGeom>
          <a:ln w="381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046720" y="2926080"/>
            <a:ext cx="359359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FF99"/>
                </a:solidFill>
                <a:latin typeface="Calibri"/>
              </a:defRPr>
            </a:pPr>
            <a:r>
              <a:t>B — mid-range cost, $122k/yr saving, break-even at 3 years, 99.1% reference uptime.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863840" y="4160520"/>
            <a:ext cx="0" cy="914400"/>
          </a:xfrm>
          <a:prstGeom prst="line">
            <a:avLst/>
          </a:prstGeom>
          <a:ln w="381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046720" y="4114800"/>
            <a:ext cx="359359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C — only option above 99.6% reference uptime, but highest cost and −$9k at three years.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11091672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A9A"/>
                </a:solidFill>
                <a:latin typeface="Calibri"/>
              </a:defRPr>
            </a:pPr>
            <a:r>
              <a:t>Payback = investment ÷ annual saving (A 214 ÷ 79; C 528 ÷ 173). Three-year net = 3 × saving − investment (A 237 − 214; C 519 − 528). Reference options stay unchanged.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03 /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Output missed target by 910 units over six months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Monthly output vs target (units)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7498079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1965960"/>
            <a:ext cx="3227832" cy="96012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201168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0E0E0"/>
                </a:solidFill>
                <a:latin typeface="Calibri"/>
              </a:defRPr>
            </a:pPr>
            <a:r>
              <a:t>5,690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51460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A9A"/>
                </a:solidFill>
                <a:latin typeface="Calibri"/>
              </a:defRPr>
            </a:pPr>
            <a:r>
              <a:t>Actual total (units)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3063240"/>
            <a:ext cx="3227832" cy="96012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310896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E0E0E0"/>
                </a:solidFill>
                <a:latin typeface="Calibri"/>
              </a:defRPr>
            </a:pPr>
            <a:r>
              <a:t>6,600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361188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A9A"/>
                </a:solidFill>
                <a:latin typeface="Calibri"/>
              </a:defRPr>
            </a:pPr>
            <a:r>
              <a:t>Target total (6 × 1,100)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160520"/>
            <a:ext cx="3227832" cy="960120"/>
          </a:xfrm>
          <a:prstGeom prst="rect">
            <a:avLst/>
          </a:prstGeom>
          <a:solidFill>
            <a:srgbClr val="242424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9640" y="420624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F99"/>
                </a:solidFill>
                <a:latin typeface="Calibri"/>
              </a:defRPr>
            </a:pPr>
            <a:r>
              <a:t>−910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470916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9A9A"/>
                </a:solidFill>
                <a:latin typeface="Calibri"/>
              </a:defRPr>
            </a:pPr>
            <a:r>
              <a:t>Shortfall (13.8% of target)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303520"/>
            <a:ext cx="322783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Only M3 (+20) and M5 (+10) beat target; M1 (−360) and M2 (−320) account for 680 of the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04 /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B breaks even only in the base case; ±20% saving swings net ±$73.2k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Option B annual saving by scenario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965960"/>
          <a:ext cx="58521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766560" y="1965960"/>
          <a:ext cx="487375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438"/>
                <a:gridCol w="1218438"/>
                <a:gridCol w="1218438"/>
                <a:gridCol w="1218438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97.6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3.75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−73.2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122.0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3.00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0.0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146.4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2.50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+73.2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766560" y="4572000"/>
            <a:ext cx="4873752" cy="160020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4617720"/>
            <a:ext cx="4617720" cy="1508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Payback = 366 ÷ saving; three-year net = 3 × saving − 366.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Downside: 366 ÷ 97.6 = 3.75 yrs; 292.8 − 366 = −73.2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Upside: 366 ÷ 146.4 = 2.50 yrs; 439.2 − 366 = +73.2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05 /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West demand exceeds capacity by 8 per day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600200"/>
            <a:ext cx="6583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Daily demand vs daily capacity by site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965960"/>
          <a:ext cx="6583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736"/>
                <a:gridCol w="1316736"/>
                <a:gridCol w="1316736"/>
                <a:gridCol w="1316736"/>
                <a:gridCol w="1316736"/>
              </a:tblGrid>
              <a:tr h="6400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Daily capacity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236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294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+16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Within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−8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DEMAND ABOVE CAPACITY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800600"/>
            <a:ext cx="73152" cy="128016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635508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E0E0E0"/>
                </a:solidFill>
                <a:latin typeface="Calibri"/>
              </a:defRPr>
            </a:pPr>
            <a:r>
              <a:t>West: 338 − 330 = 8 over capacity (2.4%). North headroom is thin at 4 (1.7%). All sites must pass capacity validation before the gate can return 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14223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A9A9A"/>
                </a:solidFill>
                <a:latin typeface="Calibri"/>
              </a:defRPr>
            </a:pPr>
            <a:r>
              <a:t>Demand vs capacity (per day)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498079" y="1965960"/>
          <a:ext cx="4142232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06 /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13-week plan: parallel Validate and Train both feed the week-9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94560" y="1691640"/>
            <a:ext cx="1097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9A9A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691640"/>
            <a:ext cx="10972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9A9A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1691640"/>
            <a:ext cx="822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9A9A"/>
                </a:solidFill>
                <a:latin typeface="Calibri"/>
              </a:defRPr>
            </a:pPr>
            <a:r>
              <a:t>WEEK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51592" y="1691640"/>
            <a:ext cx="11887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9A9A"/>
                </a:solidFill>
                <a:latin typeface="Calibri"/>
              </a:defRPr>
            </a:pPr>
            <a:r>
              <a:t>WEEK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1091672" cy="1188720"/>
          </a:xfrm>
          <a:prstGeom prst="rect">
            <a:avLst/>
          </a:prstGeom>
          <a:solidFill>
            <a:srgbClr val="222222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TECHNICAL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1091672" cy="1188720"/>
          </a:xfrm>
          <a:prstGeom prst="rect">
            <a:avLst/>
          </a:prstGeom>
          <a:solidFill>
            <a:srgbClr val="222222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14630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99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2423160"/>
            <a:ext cx="1371600" cy="5486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2496312"/>
            <a:ext cx="1371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DESIGN wk 1–2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03320" y="2423160"/>
            <a:ext cx="2103120" cy="5486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496312"/>
            <a:ext cx="21031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BUILD wk 3–5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2423160"/>
            <a:ext cx="2011680" cy="5486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2496312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VALIDATE wk 6–8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3886200"/>
            <a:ext cx="2011680" cy="54864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959352"/>
            <a:ext cx="2011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A1A1A"/>
                </a:solidFill>
                <a:latin typeface="Calibri"/>
              </a:defRPr>
            </a:pPr>
            <a:r>
              <a:t>TRAIN wk 6–8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0" y="2971800"/>
            <a:ext cx="0" cy="118872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909560" y="2697480"/>
            <a:ext cx="274319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909560" y="4160520"/>
            <a:ext cx="274319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183879" y="2240280"/>
            <a:ext cx="457200" cy="2377440"/>
          </a:xfrm>
          <a:prstGeom prst="rect">
            <a:avLst/>
          </a:prstGeom>
          <a:solidFill>
            <a:srgbClr val="1A1A1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108960"/>
            <a:ext cx="8229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wk 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60" y="2423160"/>
            <a:ext cx="2743200" cy="2011680"/>
          </a:xfrm>
          <a:prstGeom prst="rect">
            <a:avLst/>
          </a:prstGeom>
          <a:solidFill>
            <a:srgbClr val="2A2A2A"/>
          </a:solidFill>
          <a:ln>
            <a:solidFill>
              <a:srgbClr val="00F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3108960"/>
            <a:ext cx="27432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0E0E0"/>
                </a:solidFill>
                <a:latin typeface="Calibri"/>
              </a:defRPr>
            </a:pPr>
            <a:r>
              <a:t>weeks 10–13 (on GO)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E0E0E0"/>
                </a:solidFill>
                <a:latin typeface="Calibri"/>
              </a:defRPr>
            </a:pPr>
            <a:r>
              <a:t>Build (wk 3–5) releases both lanes: Validate and Train run in parallel in weeks 6–8. Both must finish before the week-9 gate; rollout starts only after 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07 /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GO requires all three criteria; otherwise HOLD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417320"/>
            <a:ext cx="11091672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783080"/>
            <a:ext cx="5120640" cy="10058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754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1  Operational uptime ≥ 99.6%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754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 reference uptime is 99.1%; it must be proven in operation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71800"/>
            <a:ext cx="5120640" cy="10058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2  All sites pass capacity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4754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West demand 338 exceeds capacity 330 per day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5120640" cy="1005840"/>
          </a:xfrm>
          <a:prstGeom prst="rect">
            <a:avLst/>
          </a:prstGeom>
          <a:solidFill>
            <a:srgbClr val="242424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47548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FF99"/>
                </a:solidFill>
                <a:latin typeface="Calibri"/>
              </a:defRPr>
            </a:pPr>
            <a:r>
              <a:t>3  Training and validation both finished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475488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E0E0E0"/>
                </a:solidFill>
                <a:latin typeface="Calibri"/>
              </a:defRPr>
            </a:pPr>
            <a:r>
              <a:t>Both scheduled for weeks 6–8, ahead of the week-9 gate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2286000"/>
            <a:ext cx="5486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9280" y="3474720"/>
            <a:ext cx="5486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69280" y="4663440"/>
            <a:ext cx="5486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217920" y="2286000"/>
            <a:ext cx="0" cy="237744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217920" y="3474720"/>
            <a:ext cx="54864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766560" y="2697480"/>
            <a:ext cx="2194560" cy="155448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926080"/>
            <a:ext cx="21945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A1A1A"/>
                </a:solidFill>
                <a:latin typeface="Calibri"/>
              </a:defRPr>
            </a:pPr>
            <a:r>
              <a:t>all three met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0" y="3474720"/>
            <a:ext cx="365760" cy="0"/>
          </a:xfrm>
          <a:prstGeom prst="line">
            <a:avLst/>
          </a:prstGeom>
          <a:ln w="25400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9326880" y="2697480"/>
            <a:ext cx="2313432" cy="1554480"/>
          </a:xfrm>
          <a:prstGeom prst="rect">
            <a:avLst/>
          </a:prstGeom>
          <a:solidFill>
            <a:srgbClr val="242424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926080"/>
            <a:ext cx="231343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0E0E0"/>
                </a:solidFill>
                <a:latin typeface="Calibri"/>
              </a:defRPr>
            </a:pPr>
            <a:r>
              <a:t>any criterion unmet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109167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A9A9A"/>
                </a:solidFill>
                <a:latin typeface="Calibri"/>
              </a:defRPr>
            </a:pPr>
            <a:r>
              <a:t>Caveat: reference uptime is not proof of operational performance. The gate must use uptime measured during validation, not supplier reference figures.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99"/>
                </a:solidFill>
                <a:latin typeface="Calibri"/>
              </a:defRPr>
            </a:pPr>
            <a:r>
              <a:t>08 /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Supplier delay is the larger exposure (score 12 vs 8)</a:t>
            </a:r>
          </a:p>
        </p:txBody>
      </p:sp>
      <p:sp>
        <p:nvSpPr>
          <p:cNvPr id="4" name="Rectangle 3"/>
          <p:cNvSpPr/>
          <p:nvPr/>
        </p:nvSpPr>
        <p:spPr>
          <a:xfrm>
            <a:off x="1280160" y="1737360"/>
            <a:ext cx="4114800" cy="4114800"/>
          </a:xfrm>
          <a:prstGeom prst="rect">
            <a:avLst/>
          </a:prstGeom>
          <a:solidFill>
            <a:srgbClr val="222222"/>
          </a:solidFill>
          <a:ln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103120" y="1737360"/>
            <a:ext cx="0" cy="411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926080" y="1737360"/>
            <a:ext cx="0" cy="411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749039" y="1737360"/>
            <a:ext cx="0" cy="411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572000" y="1737360"/>
            <a:ext cx="0" cy="411480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0160" y="2560320"/>
            <a:ext cx="41148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80160" y="3383280"/>
            <a:ext cx="41148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280160" y="4206240"/>
            <a:ext cx="41148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280160" y="5029200"/>
            <a:ext cx="4114800" cy="0"/>
          </a:xfrm>
          <a:prstGeom prst="line">
            <a:avLst/>
          </a:prstGeom>
          <a:ln w="12700">
            <a:solidFill>
              <a:srgbClr val="3A3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41732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897880"/>
            <a:ext cx="5486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65760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83464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0116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9A9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62179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0E0E0"/>
                </a:solidFill>
                <a:latin typeface="Calibri"/>
              </a:defRPr>
            </a:pPr>
            <a:r>
              <a:t>LIKELIHOOD (1–5)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1463040"/>
            <a:ext cx="12801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0E0E0"/>
                </a:solidFill>
                <a:latin typeface="Calibri"/>
              </a:defRPr>
            </a:pPr>
            <a:r>
              <a:t>↑ IMPACT (1–5)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3657600"/>
            <a:ext cx="274320" cy="274320"/>
          </a:xfrm>
          <a:prstGeom prst="rect">
            <a:avLst/>
          </a:prstGeom>
          <a:solidFill>
            <a:srgbClr val="00F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3931920"/>
            <a:ext cx="1600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99"/>
                </a:solidFill>
                <a:latin typeface="Calibri"/>
              </a:defRPr>
            </a:pPr>
            <a:r>
              <a:t>Supplier delay (4,3)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834640"/>
            <a:ext cx="274320" cy="2743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3108960"/>
            <a:ext cx="1600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0E0E0"/>
                </a:solidFill>
                <a:latin typeface="Calibri"/>
              </a:defRPr>
            </a:pPr>
            <a:r>
              <a:t>Training gap (2,4)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035040" y="1737360"/>
          <a:ext cx="560527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054"/>
                <a:gridCol w="1121054"/>
                <a:gridCol w="1121054"/>
                <a:gridCol w="1121054"/>
                <a:gridCol w="1121056"/>
              </a:tblGrid>
              <a:tr h="8229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Score (L×I)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FF9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E0E0E0"/>
                          </a:solidFill>
                          <a:latin typeface="Calibri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2424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