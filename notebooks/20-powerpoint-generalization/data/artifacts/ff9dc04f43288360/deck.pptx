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Reported duplication</c:v>
                </c:pt>
                <c:pt idx="1">
                  <c:v>Other teams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Stage 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RELAY / FICTIONAL TEAM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5120640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One team.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One clear schedule.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47091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Calibri"/>
              </a:defRPr>
            </a:pPr>
            <a:r>
              <a:t>Bring availability, conflict checks and approvals into one shared planning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960120"/>
            <a:ext cx="5669280" cy="4462272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758952"/>
            <a:ext cx="19659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4983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PROJECT ATLAS / WEEK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46504"/>
            <a:ext cx="49377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EB5C9"/>
                </a:solidFill>
                <a:latin typeface="Calibri"/>
              </a:defRPr>
            </a:pPr>
            <a:r>
              <a:t>ILLUSTRATIVE INTERFACE • BEFORE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2295144"/>
            <a:ext cx="11612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MON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5672" y="2295144"/>
            <a:ext cx="11612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TUE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1552" y="2295144"/>
            <a:ext cx="11612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71216"/>
            <a:ext cx="1033271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9792" y="2798064"/>
            <a:ext cx="2487168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2889504"/>
            <a:ext cx="2267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Maya • 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666744"/>
            <a:ext cx="1033271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5672" y="3593592"/>
            <a:ext cx="2487168" cy="548640"/>
          </a:xfrm>
          <a:prstGeom prst="rect">
            <a:avLst/>
          </a:prstGeom>
          <a:solidFill>
            <a:srgbClr val="3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3685032"/>
            <a:ext cx="22768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Alex • overlap flagged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4453128"/>
            <a:ext cx="5029200" cy="0"/>
          </a:xfrm>
          <a:prstGeom prst="line">
            <a:avLst/>
          </a:prstGeom>
          <a:ln w="25400">
            <a:solidFill>
              <a:srgbClr val="3439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3640" y="4681728"/>
            <a:ext cx="498348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Review availability before approving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90288"/>
            <a:ext cx="4892040" cy="7498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IMPORT → CHECK → APPROVE → NOTIFY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96128"/>
            <a:ext cx="1115568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15000"/>
            <a:ext cx="107899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Try Pro for 14 days • No payment required • Built for small-team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969264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UI IS ILLUSTRATIVE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19088"/>
            <a:ext cx="141732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01 /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11887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Scheduling work gets repeated.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881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Synthetic pilot survey: 71 of 120 teams reported duplicated scheduling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3749039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FFD700"/>
                </a:solidFill>
                <a:latin typeface="Calibri"/>
              </a:defRPr>
            </a:pPr>
            <a:r>
              <a:t>59.2%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75887"/>
            <a:ext cx="3611880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of surveyed teams reported duplicated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09160"/>
            <a:ext cx="36118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EB5C9"/>
                </a:solidFill>
                <a:latin typeface="Calibri"/>
              </a:defRPr>
            </a:pPr>
            <a:r>
              <a:t>71 ÷ 120 × 100 ≈ 59.2%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423160"/>
            <a:ext cx="109728" cy="2971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249424"/>
            <a:ext cx="63093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SURVEY RESPONSES / NUMBER OF TEAMS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0" y="2770632"/>
          <a:ext cx="626364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669280"/>
            <a:ext cx="11155680" cy="521207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760720"/>
            <a:ext cx="107899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 planning problem to explore in a pilot; this survey is not a market-size estimate.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969264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ALL DATA SYNTHETIC • SURVEY n = 120 TEAMS • PERCENTAGE ROUNDED TO ONE DECIMAL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41732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02 /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17830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Resolve conflicts before approval.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A connected workflow keeps availability review ahead of the final schedule.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06040"/>
            <a:ext cx="2103120" cy="12344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788920"/>
            <a:ext cx="177393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Import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3218688"/>
            <a:ext cx="548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154680" y="2606040"/>
            <a:ext cx="2240280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2825496"/>
            <a:ext cx="1911095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B0C15"/>
                </a:solidFill>
                <a:latin typeface="Calibri"/>
              </a:defRPr>
            </a:pPr>
            <a:r>
              <a:t>02 Flag conflicts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B0C15"/>
                </a:solidFill>
                <a:latin typeface="Calibri"/>
              </a:defRPr>
            </a:pPr>
            <a:r>
              <a:t>Conflict found?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3218688"/>
            <a:ext cx="14630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95544" y="2734056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NO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606040"/>
            <a:ext cx="2103120" cy="12344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2788920"/>
            <a:ext cx="177393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Approve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schedule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3218688"/>
            <a:ext cx="548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509760" y="2606040"/>
            <a:ext cx="2148840" cy="12344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2788920"/>
            <a:ext cx="181965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Notify team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70248" y="3840480"/>
            <a:ext cx="0" cy="82296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80560" y="411480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YES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4663440"/>
            <a:ext cx="2240280" cy="868680"/>
          </a:xfrm>
          <a:prstGeom prst="rect">
            <a:avLst/>
          </a:prstGeom>
          <a:solidFill>
            <a:srgbClr val="3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4818888"/>
            <a:ext cx="1911095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554480" y="5093208"/>
            <a:ext cx="160020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54480" y="3840480"/>
            <a:ext cx="0" cy="1252728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321808"/>
            <a:ext cx="205740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↑ Update &amp; recheck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709160"/>
            <a:ext cx="4617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Approval proceeds only after the conflict review loop is clear.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969264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ILLUSTRATIVE WORKFLOW • ALL DATA SYNTHETIC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19088"/>
            <a:ext cx="141732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03 /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3774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Choose the fit for your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Pro combines a shared calendar with conflict alerts for teams of up to 40.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313432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65836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PLAN DETAIL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 / team / month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 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15584"/>
            <a:ext cx="109728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797296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EB5C9"/>
                </a:solidFill>
                <a:latin typeface="Calibri"/>
              </a:defRPr>
            </a:pPr>
            <a:r>
              <a:t>Enterprise pricing, member limits and capabilities are confirmed with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969264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PLANS • ALL DATA SYNTHETIC • PRICES ARE PER TEAM, PER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141732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04 / PLANS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9718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220 trials. 100 paid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Synthetic funnel counts show progression through four adoption stages.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67128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FUNNEL STAGE COUNTS / VISITS OR TEAMS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670048"/>
          <a:ext cx="71323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2313432"/>
            <a:ext cx="3611880" cy="3401568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2606040"/>
            <a:ext cx="31089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FD700"/>
                </a:solidFill>
                <a:latin typeface="Calibri"/>
              </a:defRPr>
            </a:pPr>
            <a:r>
              <a:t>45.5%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3639312"/>
            <a:ext cx="3063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Trial-to-paid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conversion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02752" y="4572000"/>
            <a:ext cx="306324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02752" y="4791456"/>
            <a:ext cx="30632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100 ÷ 220 ×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5294376"/>
            <a:ext cx="306324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EB5C9"/>
                </a:solidFill>
                <a:latin typeface="Calibri"/>
              </a:defRPr>
            </a:pPr>
            <a:r>
              <a:t>ROUNDED TO ONE DECIMAL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25312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EB5C9"/>
                </a:solidFill>
                <a:latin typeface="Calibri"/>
              </a:defRPr>
            </a:pPr>
            <a:r>
              <a:t>These illustrative counts do not establish a causal effect of the product.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969264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ALL DATA SYNTHETIC • VISITS 1,400 → SIGNUPS 480 → TRIAL STARTS 220 → PAID TEAMS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41732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05 / FUNNEL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3566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Less re-entry. Clearer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Three capabilities to evaluate against your current project planning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77440"/>
            <a:ext cx="3538728" cy="32918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15968" y="2697480"/>
            <a:ext cx="3538728" cy="32918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9016" y="2377440"/>
            <a:ext cx="3529584" cy="32918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7772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269748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9016" y="2377440"/>
            <a:ext cx="17830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734056"/>
            <a:ext cx="3063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01 /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3063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without 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507992"/>
            <a:ext cx="3063240" cy="8869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Availability import reduces manual re-entry.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054096"/>
            <a:ext cx="3063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02 / 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657600"/>
            <a:ext cx="3063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Overlaps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828032"/>
            <a:ext cx="3063240" cy="8869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Conflict alerts surface overlapping shifts.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34056"/>
            <a:ext cx="3054096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03 /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37560"/>
            <a:ext cx="3054096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 approval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507992"/>
            <a:ext cx="3054096" cy="8869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Approval history records who approved a schedule.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969264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NO QUANTIFIED TIME-SAVING CLAIM IS PROVIDED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41732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06 /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41605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Launch in week 7, with two gates.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AEB5C9"/>
                </a:solidFill>
                <a:latin typeface="Calibri"/>
              </a:defRPr>
            </a:pPr>
            <a:r>
              <a:t>Launch depends on beta feedback AND security review. Support training stays in week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31136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2231136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231136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31136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31136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231136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231136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22402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55848"/>
            <a:ext cx="22402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50208"/>
            <a:ext cx="22402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44568"/>
            <a:ext cx="22402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743200"/>
            <a:ext cx="370332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3337560"/>
            <a:ext cx="3703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3931920"/>
            <a:ext cx="1234440" cy="411480"/>
          </a:xfrm>
          <a:prstGeom prst="rect">
            <a:avLst/>
          </a:prstGeom>
          <a:solidFill>
            <a:srgbClr val="A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32720" y="4526280"/>
            <a:ext cx="123444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394960"/>
            <a:ext cx="3291840" cy="59436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5394960"/>
            <a:ext cx="182880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5394960"/>
            <a:ext cx="4480560" cy="59436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541264"/>
            <a:ext cx="2980944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Beta feedback + security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522976"/>
            <a:ext cx="155448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B0C15"/>
                </a:solidFill>
                <a:latin typeface="Calibri"/>
              </a:defRPr>
            </a:pPr>
            <a:r>
              <a:t>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5522976"/>
            <a:ext cx="4169663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Both gates satisfied → launch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94760" y="5687568"/>
            <a:ext cx="7772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00800" y="5687568"/>
            <a:ext cx="7772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6419088"/>
            <a:ext cx="1115568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LAUNCH PLAN • ALL DATA SYNTHETIC • TIMELINE UNITS: WEEKS                                                   07 /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47548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6858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RELAY / YOUR NEXT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649224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Put your next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schedule to the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38728"/>
            <a:ext cx="62179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AEB5C9"/>
                </a:solidFill>
                <a:latin typeface="Calibri"/>
              </a:defRPr>
            </a:pPr>
            <a:r>
              <a:t>Start with one project: import availability, resolve conflicts and approve a shared schedule.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527048"/>
            <a:ext cx="4114800" cy="360273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252728"/>
            <a:ext cx="17373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828800"/>
            <a:ext cx="3520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PRO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414016"/>
            <a:ext cx="352044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0B0C15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3593592"/>
            <a:ext cx="352044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No payment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4608576"/>
            <a:ext cx="3520440" cy="301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Up to 40 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266944"/>
            <a:ext cx="6309360" cy="6949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431536"/>
            <a:ext cx="590702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Start your 14-day Pro 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5449824"/>
            <a:ext cx="41148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After the trial: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Pro is $62/team/month.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969264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NO CUSTOMER TESTIMONIALS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19088"/>
            <a:ext cx="141732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08 / INVITATION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