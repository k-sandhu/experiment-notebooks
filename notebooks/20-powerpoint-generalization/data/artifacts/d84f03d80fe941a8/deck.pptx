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</c:v>
                </c:pt>
                <c:pt idx="1">
                  <c:v>66.5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3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(%)</c:v>
                </c:pt>
              </c:strCache>
            </c:strRef>
          </c:tx>
          <c:spPr>
            <a:ln w="38100">
              <a:solidFill>
                <a:srgbClr val="888888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 (%)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Question: Does treatment outperform control?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Fictional material-screening study • Preliminary results for peer review • All data are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83112" cy="1874519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34472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  <a:r>
              <a:t>Compare treatment with control on pass rate and durability.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0E0E0"/>
                </a:solidFill>
                <a:latin typeface="Calibri"/>
              </a:defRPr>
            </a:pPr>
            <a:r>
              <a:t>Random assignment was used — but the study covers ONE lab and ONE batch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vs.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2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2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Pass rate (%)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Durability over cycles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1208" y="3703320"/>
            <a:ext cx="3544824" cy="2148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3813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SCOPE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0936" y="4434840"/>
            <a:ext cx="3325368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 lab  •  1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No broad generalisation yet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01  /  QUESTION     •     Synthetic data — evaluate the pattern, not a field claim.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Design: Two groups, one predefined endpoint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Equal exposure and same equipment isolate the group comparison within this lab and batch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Control  n=200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Treatment  n=200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645920"/>
            <a:ext cx="2590038" cy="10515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719072"/>
            <a:ext cx="2443734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017520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5303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predefined strength test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 predefined strength test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772400" y="3017520"/>
            <a:ext cx="3913632" cy="265176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200400"/>
            <a:ext cx="3364992" cy="2331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TOTAL SAMPLE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400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200 + 200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Exclusions were reviewed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before final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FF99"/>
                </a:solidFill>
                <a:latin typeface="Calibri"/>
              </a:defRPr>
            </a:pPr>
            <a:r>
              <a:t>Denominators are fixed at 200 per group for all pass-rate calculations that follow.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02  / 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Results: Treatment passed 8.5 points higher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Exact counts with fixed denominators • Pass rate (%) • After duplicate removal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PASS RATE (%)  —  CONTROL vs. TREATMENT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56692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874519"/>
            <a:ext cx="2514600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+8.5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70048"/>
            <a:ext cx="2514600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66.5% − 58.0%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92240" y="3200400"/>
            <a:ext cx="251460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89720" y="1874519"/>
            <a:ext cx="2496312" cy="7292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670048"/>
            <a:ext cx="2496312" cy="46405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more passes per 200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3200400"/>
            <a:ext cx="2496312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92240" y="3429000"/>
            <a:ext cx="5193792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Arithmetic: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116 / 200 = 58.0%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133 / 200 = 66.5%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133 − 116 = 17 passes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4937760"/>
          <a:ext cx="1118311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3314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Did not pass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66.5%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+8.5 pp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−17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03  /  RESULTS     •     pp = percentage points.  Observed sample difference only — see Audit (slide 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Timecourse: Durability gap widens by cycle 300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Durability retained (%) at cycles 0 / 100 / 200 / 300 • All eight values retained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DURABILITY (%)  vs.  CYCLES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1323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874519"/>
            <a:ext cx="3730752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15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615184"/>
            <a:ext cx="3730752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gap at 300 cycles: 74% − 59%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3108960"/>
            <a:ext cx="3730753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3337560"/>
            <a:ext cx="373075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Decline 0 → 300 cycles: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Control:  100 → 59  (−41 pp)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Treatment: 100 → 74  (−26 pp)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Both groups decline;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 declines less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 this sample.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5394960"/>
          <a:ext cx="11183112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300 cycles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04  /  TIMECOURSE     •     Unit: durability (%).  X-axis: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Subgroups: Batch counts near-equal — rates unknown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Treatment passes by batch label P / Q / R • Counts, not pass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44 passes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4256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Q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44 passes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5592" y="1645920"/>
            <a:ext cx="3520440" cy="155448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783080"/>
            <a:ext cx="31546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BATCH 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45 passes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520440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Share of 133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33.1%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33.1%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33.8%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675120" y="3520440"/>
            <a:ext cx="5010912" cy="1737360"/>
          </a:xfrm>
          <a:prstGeom prst="rect">
            <a:avLst/>
          </a:prstGeom>
          <a:solidFill>
            <a:srgbClr val="2A1A1A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657600"/>
            <a:ext cx="4462272" cy="1481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⚠  DO NOT READ AS RATES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Subgroup denominators are not supplied, so P / Q / R pass rates cannot be calculated or compared.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44 + 44 + 45 = 133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32120"/>
            <a:ext cx="111831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Near-equal counts (44 / 44 / 45) describe where the 133 treatment passes sit. They do not show equal performance by batch label.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05  /  SUBGROUPS     •     Share of passes ≠ pass rate.  Missing: samples per batch label.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Audit: 11 duplicates removed — counts corrected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Duplicate positive treatment records removed • Denominators remain correct at 200 per group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83112" cy="1143000"/>
          </a:xfrm>
          <a:prstGeom prst="rect">
            <a:avLst/>
          </a:prstGeom>
          <a:solidFill>
            <a:srgbClr val="1A2E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344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CORRECTION APPLIED:  144 − 11 = 133 TREATMENT PASSES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017520"/>
            <a:ext cx="3544824" cy="2651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749039"/>
            <a:ext cx="3325368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11 duplicate positive treatment records removed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Treatment: 144 → 133 passes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Rate: 72.0% → 66.5%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3017520"/>
            <a:ext cx="3544824" cy="2651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2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NOT CLAIMED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2" y="3749039"/>
            <a:ext cx="3325368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✕  Statistical significance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✕ 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(none invented or reported)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1208" y="3017520"/>
            <a:ext cx="3544824" cy="2651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WHAT DID NOT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0936" y="3749039"/>
            <a:ext cx="3325368" cy="18105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Denominators remain correct: 200 per group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Control: 116/200 (58.0%) unchanged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Difference now: +8.5 pp (+17 passes)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All numbers in this deck use the corrected counts and remain descriptive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06  / 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Interpretation: A sample difference, not a field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What the corrected observed pattern supports — and what it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88888"/>
                </a:solidFill>
                <a:latin typeface="Calibri"/>
              </a:defRPr>
            </a:pPr>
            <a:r>
              <a:t>58.0%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Control  •  116 / 200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6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66.5%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Treatment  •  133 / 200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34256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65592" y="1645920"/>
            <a:ext cx="3520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+8.5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468880"/>
            <a:ext cx="3520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observed difference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65592" y="3017520"/>
            <a:ext cx="352044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337560"/>
            <a:ext cx="5454396" cy="2331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447288"/>
            <a:ext cx="52349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069080"/>
            <a:ext cx="5234940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pass rate is higher by 8.5 points in this sample.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Durability gap: 15 pp at 300 cycles.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3337560"/>
            <a:ext cx="5454396" cy="2331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3447288"/>
            <a:ext cx="52349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NOT EVIDENCE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069080"/>
            <a:ext cx="5234940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Broad field performance.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One lab, one batch — generalisation is not supported.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71032"/>
            <a:ext cx="106344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CONCLUSION:  Preliminary pattern worth replicating — not a deployment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07  /  INTERPRETATION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Next step: Replicate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Four independent labs, blinded scoring, and a second batch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4 independent labs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7278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0430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Blinded scoring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2958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31636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Preregister exclusions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57316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95994" y="1645920"/>
            <a:ext cx="2590038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146" y="1719072"/>
            <a:ext cx="2443734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Second batch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1674" y="219456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Controls in every lab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Same predefined strength-test endpoint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2064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1792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1792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Batch conditions for every run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Subgroup denominators (P / Q / 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1208" y="3017520"/>
            <a:ext cx="3544824" cy="24688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0936" y="31272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0936" y="3749039"/>
            <a:ext cx="3325368" cy="16276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 second batch is needed before any deployment claim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60720"/>
            <a:ext cx="11183112" cy="5943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52160"/>
            <a:ext cx="10634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DECISION:  REPLICATE IN 4 LABS  →  ONLY THEN CONSIDER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08  /  NEXT STEP     •     All data in this deck are synthetic and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