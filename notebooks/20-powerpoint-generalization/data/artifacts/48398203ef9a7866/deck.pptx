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43</c:v>
                </c:pt>
                <c:pt idx="2">
                  <c:v>34</c:v>
                </c:pt>
                <c:pt idx="3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24</c:v>
                </c:pt>
                <c:pt idx="2">
                  <c:v>16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5A4"/>
                </a:solidFill>
                <a:latin typeface="Arial"/>
              </a:defRPr>
            </a:pPr>
            <a:r>
              <a:t>NEIGHBORHOOD REPAIR CAFÉ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961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38528"/>
            <a:ext cx="1069848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Bring an item. Share your time.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Help make repair possible.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00400"/>
            <a:ext cx="105156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A fictional neighborhood repair-café campaign welcomes people with small household items and volunteers ready to help.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315968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55A4"/>
                </a:solidFill>
                <a:latin typeface="Arial"/>
              </a:defRPr>
            </a:pPr>
            <a:r>
              <a:t>01  JOIN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36592"/>
            <a:ext cx="32918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Sign up with the Local organizer as a participant or volunteer by the end of week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315968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55A4"/>
                </a:solidFill>
                <a:latin typeface="Arial"/>
              </a:defRPr>
            </a:pPr>
            <a:r>
              <a:t>02  PREPARE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736592"/>
            <a:ext cx="32918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Volunteer training is in week 2; venue confirmation is in week 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315968"/>
            <a:ext cx="3383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55A4"/>
                </a:solidFill>
                <a:latin typeface="Arial"/>
              </a:defRPr>
            </a:pPr>
            <a:r>
              <a:t>03  TAKE PART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736592"/>
            <a:ext cx="338328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Events take place in week 5, with follow-up in week 6.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Four sessions offer 176 seats in total.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38528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55A4"/>
                </a:solidFill>
                <a:latin typeface="Arial"/>
              </a:defRPr>
            </a:pPr>
            <a:r>
              <a:t>SEATS BY SESSION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2423160"/>
          <a:ext cx="726948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0" y="1965960"/>
            <a:ext cx="18288" cy="3703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2057400"/>
            <a:ext cx="27432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0055A4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862072"/>
            <a:ext cx="27432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total seats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703320"/>
            <a:ext cx="27432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2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4370832"/>
            <a:ext cx="27432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per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5074920"/>
            <a:ext cx="2743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50 + 43 + 34 + 49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= 176 seats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VOLUNTEERS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A three-hour commitment can support the whole event experience.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10972800" cy="1143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Arial"/>
              </a:defRPr>
            </a:pPr>
            <a:r>
              <a:t>40 volunteers × 3 hours = 120 volunteer-hours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20440"/>
            <a:ext cx="32918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WELCOME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69080"/>
            <a:ext cx="32918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Greet participants, help with check-in and explain the session 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520440"/>
            <a:ext cx="32918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REPAIR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069080"/>
            <a:ext cx="32918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Help organize items and materials, and assist within available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520440"/>
            <a:ext cx="3383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SAFETY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069080"/>
            <a:ext cx="33832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Help follow event safety guidance and flag concerns to the organizer.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532120"/>
            <a:ext cx="109728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No specialist qualification is implied. Safety checks do not provide safety certification.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The synthetic event budget totals $3,320.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2011680"/>
          <a:ext cx="694944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601980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Budget item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($)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1,000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3,320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2148840"/>
            <a:ext cx="3474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55A4"/>
                </a:solidFill>
                <a:latin typeface="Arial"/>
              </a:defRPr>
            </a:pPr>
            <a:r>
              <a:t>LARGEST ALLOCATION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2761488"/>
            <a:ext cx="3474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333333"/>
                </a:solidFill>
                <a:latin typeface="Arial"/>
              </a:defRPr>
            </a:pPr>
            <a:r>
              <a:t>$1,340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3547872"/>
            <a:ext cx="34747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Materials account for 40.4% of the total.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4526280"/>
            <a:ext cx="34747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4754880"/>
            <a:ext cx="347472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$1,340 + $1,000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+ $680 + $300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= $3,320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 • Amounts shown in dollars ($)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Week 5 events require both training and venue confirmation.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01952"/>
            <a:ext cx="10972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KEY MILESTONES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45920" y="2697480"/>
            <a:ext cx="8823960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94360" y="2377440"/>
            <a:ext cx="2011680" cy="6400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2377440"/>
            <a:ext cx="2011680" cy="6400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74920" y="2377440"/>
            <a:ext cx="2011680" cy="6400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2377440"/>
            <a:ext cx="2011680" cy="6400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55480" y="2377440"/>
            <a:ext cx="2011680" cy="6400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23744"/>
            <a:ext cx="1737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523744"/>
            <a:ext cx="1737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523744"/>
            <a:ext cx="1737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523744"/>
            <a:ext cx="1737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WEEK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523744"/>
            <a:ext cx="1737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WEEK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273552"/>
            <a:ext cx="20116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Registration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opens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273552"/>
            <a:ext cx="201168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Training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Sign up by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end of week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273552"/>
            <a:ext cx="20116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Venue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confirmation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273552"/>
            <a:ext cx="20116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Repair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273552"/>
            <a:ext cx="201168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Follow-up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One week after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events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5029200"/>
            <a:ext cx="109728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248656"/>
            <a:ext cx="10515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55A4"/>
                </a:solidFill>
                <a:latin typeface="Arial"/>
              </a:defRPr>
            </a:pPr>
            <a:r>
              <a:t>EVENT REQUIREMENTS:  Week 2 training  AND  Week 3 venue confirmation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PARTICIPATION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Bring one small household item and an open mind.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57400"/>
            <a:ext cx="4892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55A4"/>
                </a:solidFill>
                <a:latin typeface="Arial"/>
              </a:defRPr>
            </a:pPr>
            <a:r>
              <a:t>WHAT TO EXPECT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43200"/>
            <a:ext cx="48920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33333"/>
                </a:solidFill>
                <a:latin typeface="Arial"/>
              </a:defRPr>
            </a:pPr>
            <a:r>
              <a:t>Bring one small household item for assessment.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794760"/>
            <a:ext cx="48920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096512"/>
            <a:ext cx="48920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Arial"/>
              </a:defRPr>
            </a:pPr>
            <a:r>
              <a:t>Walk-ins are welcome within the capacity of each session.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057400"/>
            <a:ext cx="18288" cy="36118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51663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55A4"/>
                </a:solidFill>
                <a:latin typeface="Arial"/>
              </a:defRPr>
            </a:pPr>
            <a:r>
              <a:t>REPAIR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51663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33333"/>
                </a:solidFill>
                <a:latin typeface="Arial"/>
              </a:defRPr>
            </a:pPr>
            <a:r>
              <a:t>Repairs depend on the skills and parts available.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94760"/>
            <a:ext cx="51663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96512"/>
            <a:ext cx="51663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Arial"/>
              </a:defRPr>
            </a:pPr>
            <a:r>
              <a:t>There is no guaranteed repair and no safety certification.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Last synthetic trial: 60 of 100 assessed items were repaired.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7223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55A4"/>
                </a:solidFill>
                <a:latin typeface="Arial"/>
              </a:defRPr>
            </a:pPr>
            <a:r>
              <a:t>LAST SYNTHETIC TRIAL • NUMBER OF ITEMS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2468880"/>
          <a:ext cx="73609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275320" y="1965960"/>
            <a:ext cx="18288" cy="374903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2148840"/>
            <a:ext cx="2834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0055A4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2999232"/>
            <a:ext cx="2834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repair 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3611880"/>
            <a:ext cx="28346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t>60 ÷ 100 ×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t>= 60.0%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4617720"/>
            <a:ext cx="2834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60 + 24 + 16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= 100 items assessed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833872"/>
            <a:ext cx="10972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Arial"/>
              </a:defRPr>
            </a:pPr>
            <a:r>
              <a:t>Synthetic trial results illustrate possible outcomes; they do not guarantee future repairs.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Choose your role and take the next step.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27632"/>
            <a:ext cx="1097280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38528"/>
            <a:ext cx="1069848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Sign up by the end of week 2.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Join the events in week 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50292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33333"/>
                </a:solidFill>
                <a:latin typeface="Arial"/>
              </a:defRPr>
            </a:pPr>
            <a:r>
              <a:t>AS A PARTICIPANT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096512"/>
            <a:ext cx="50292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Bring one small household item.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Repairs depend on skills and parts.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520440"/>
            <a:ext cx="51663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33333"/>
                </a:solidFill>
                <a:latin typeface="Arial"/>
              </a:defRPr>
            </a:pPr>
            <a:r>
              <a:t>AS A VOLUNTEER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96512"/>
            <a:ext cx="51663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Commit 3 hours to welcome, repair support or safety check.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257800"/>
            <a:ext cx="10972800" cy="6858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13248"/>
            <a:ext cx="10515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SIGN-UP CONTACT:  Local organizer  (placeholder)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272784"/>
            <a:ext cx="109728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00800"/>
            <a:ext cx="9875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0800"/>
            <a:ext cx="7772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