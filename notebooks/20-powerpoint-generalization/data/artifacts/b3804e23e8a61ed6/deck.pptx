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9AA5B1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</c:v>
                </c:pt>
                <c:pt idx="1">
                  <c:v>343</c:v>
                </c:pt>
                <c:pt idx="2">
                  <c:v>499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1350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8C2CC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129.6</c:v>
                </c:pt>
                <c:pt idx="1">
                  <c:v>162</c:v>
                </c:pt>
                <c:pt idx="2">
                  <c:v>194.4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Daily capacity</c:v>
                </c:pt>
              </c:strCache>
            </c:strRef>
          </c:tx>
          <c:spPr>
            <a:solidFill>
              <a:srgbClr val="B8C2C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CAPITAL ALLOCATION · EQUIPMENT INVESTMENT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333333"/>
                </a:solidFill>
                <a:latin typeface="Arial"/>
              </a:defRPr>
            </a:pPr>
            <a:r>
              <a:t>DECISION: SELECT OPTION 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Option C selected from three reference equipment options (A, B, C). All figures are synthetic.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2670048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2670048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55A4"/>
                </a:solidFill>
                <a:latin typeface="Arial"/>
              </a:defRPr>
            </a:pPr>
            <a:r>
              <a:t>$499k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One-time capital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2651760"/>
            <a:ext cx="2670048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2651760"/>
            <a:ext cx="2670048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88036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55A4"/>
                </a:solidFill>
                <a:latin typeface="Arial"/>
              </a:defRPr>
            </a:pPr>
            <a:r>
              <a:t>$162k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1188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Per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2651760"/>
            <a:ext cx="2670048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2651760"/>
            <a:ext cx="2670048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88036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55A4"/>
                </a:solidFill>
                <a:latin typeface="Arial"/>
              </a:defRPr>
            </a:pPr>
            <a:r>
              <a:t>3.1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61188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Simple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$499k ÷ $162k/yr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0264" y="2651760"/>
            <a:ext cx="2670048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0264" y="2651760"/>
            <a:ext cx="2670048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88036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55A4"/>
                </a:solidFill>
                <a:latin typeface="Arial"/>
              </a:defRPr>
            </a:pPr>
            <a:r>
              <a:t>−$13k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361188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Three-year net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3 × $162k − $499k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00600"/>
            <a:ext cx="1109167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Context: C is the highest-cost option, with the largest annual saving and the highest reference uptime (99.9%). Option A has a shorter payback (2.7 yrs) and the only positive three-year net (+$19k); Option B pays back in 3.0 yrs (−$4k). Rollout remains conditional on the week-10 gate: measured uptime ≥ 99.6%, capacity validation at all sites, and completed training and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OPTIONS: COST, SAVING AND UPTIME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C has the highest cost, saving and reference uptime; A pays back fastest with the only positive three-year net.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60350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5638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Simple payback (yrs)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Three-year net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874519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Investment vs annual saving ($k)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949440" y="2286000"/>
          <a:ext cx="46634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577840"/>
            <a:ext cx="1109167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555"/>
                </a:solidFill>
                <a:latin typeface="Arial"/>
              </a:defRPr>
            </a:pPr>
            <a:r>
              <a:t>Payback = investment ÷ annual saving. Three-year net = 3 × annual saving − investment. Reference options stay unchanged; uptime values are reference figures, not proof of operational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PERFORMANCE: 110 UNITS BELOW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Six-month output reached 6,490 vs a 6,600 target; the gap came from M1 and M2.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Monthly output vs target (units)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86000"/>
          <a:ext cx="7498079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503920" y="1920240"/>
            <a:ext cx="27432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92024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ACTUAL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240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33333"/>
                </a:solidFill>
                <a:latin typeface="Arial"/>
              </a:defRPr>
            </a:pPr>
            <a:r>
              <a:t>6,490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1752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TARGET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33756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33333"/>
                </a:solidFill>
                <a:latin typeface="Arial"/>
              </a:defRPr>
            </a:pPr>
            <a:r>
              <a:t>6,600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411480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SHORTFALL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43484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5A4"/>
                </a:solidFill>
                <a:latin typeface="Arial"/>
              </a:defRPr>
            </a:pPr>
            <a:r>
              <a:t>−110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02920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−1.7% vs target. M1 (−240) and M2 (−310) fell short by 550; M3–M6 exceeded target by +440 combined.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SCENARIO: OPTION C SAVING SENSITIVITY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Investment held at $499k; annual saving flexed to 80% / 100% / 120% of $162k.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Annual saving by scenario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86000"/>
          <a:ext cx="53035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92024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(80%)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129.6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−110.2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(100%)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 (120%)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194.4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+84.2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09360" y="4389120"/>
            <a:ext cx="53035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526280"/>
            <a:ext cx="53035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Payback = $499k ÷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Three-year net = 3 × saving − $499k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257800"/>
            <a:ext cx="5303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Break-even three-year net requires saving of $166.3k/yr ($499k ÷ 3), about 2.7% above the base case. Only the upside scenario returns a positive three-year 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CAPACITY: NO SITE DEMAND ABOVE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Demand above capacity: none. West is tightest at 96.7% utilization (11 units/day headroom).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Daily capacity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Utilization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&gt; capacity?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92.9%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89.4%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96.7%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754880"/>
            <a:ext cx="6400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64008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Headroom = capacity − demand; utilization = demand ÷ capacity (units/day). Current headroom is not a substitute for the capacity validation required at the week-10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74519"/>
            <a:ext cx="4297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Daily demand vs capacity (units/day)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0" y="2286000"/>
          <a:ext cx="42976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ROADMAP: 14 WEEKS TO ROLLOUT COMPLETION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Validate and Train run in parallel (weeks 6–8) after Build; both feed the week-10 gate. Rollout follows in weeks 11–14.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9167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520440"/>
            <a:ext cx="1109167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78608"/>
            <a:ext cx="1600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04487"/>
            <a:ext cx="1600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4872" y="2468880"/>
            <a:ext cx="1264615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2496312"/>
            <a:ext cx="126461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24351" y="2468880"/>
            <a:ext cx="1923897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4351" y="2496312"/>
            <a:ext cx="1923897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3–5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03112" y="2468880"/>
            <a:ext cx="1923897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3112" y="2496312"/>
            <a:ext cx="1923897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03112" y="3794760"/>
            <a:ext cx="1923897" cy="68580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03112" y="3822191"/>
            <a:ext cx="1923897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42071" y="2468880"/>
            <a:ext cx="604418" cy="20116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2071" y="3154680"/>
            <a:ext cx="604418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Wk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1353" y="2468880"/>
            <a:ext cx="2584094" cy="20116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1353" y="3154680"/>
            <a:ext cx="258409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Wk 11–14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86300" y="3154680"/>
            <a:ext cx="0" cy="98298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86300" y="4137660"/>
            <a:ext cx="1016812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27010" y="2811780"/>
            <a:ext cx="715061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27010" y="4137660"/>
            <a:ext cx="715061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89520" y="4800600"/>
            <a:ext cx="78638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Wk 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1109167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Rollout starts only after a GO at the week-10 gate. Validate and Train must both finish (weeks 6–8) for the gate to proceed; no activity is scheduled in week 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GATE: GO ONLY IF ALL THREE CRITERIA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Week-10 decision. Any unmet criterion results in HOLD.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852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73152" cy="1143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1. Uptime ≥ 99.6% (measured)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486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Option C reference uptime is 99.9%, but reference uptime is not proof of operational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5852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" cy="1143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2. All sites pass capacity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5486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North, East and West each validated; current demand is within capacity at all three.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5852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73152" cy="1143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3. Training and validation both finish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29200"/>
            <a:ext cx="5486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Both parallel workstreams (weeks 6–8) complete before the week-10 gate.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2491740"/>
            <a:ext cx="45720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3817620"/>
            <a:ext cx="45720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5143500"/>
            <a:ext cx="45720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2491740"/>
            <a:ext cx="0" cy="265176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3817620"/>
            <a:ext cx="36576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23760" y="3246120"/>
            <a:ext cx="1828800" cy="1143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474720"/>
            <a:ext cx="18288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ALL THREE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MET?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052560" y="2926080"/>
            <a:ext cx="457200" cy="73152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3977639"/>
            <a:ext cx="457200" cy="731521"/>
          </a:xfrm>
          <a:prstGeom prst="line">
            <a:avLst/>
          </a:prstGeom>
          <a:ln w="190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509760" y="2286000"/>
            <a:ext cx="2130552" cy="12801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377440"/>
            <a:ext cx="194767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YES → GO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Proceed to rollout, weeks 11–14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4069080"/>
            <a:ext cx="2130552" cy="128016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4160520"/>
            <a:ext cx="194767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NO → HOLD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Remediate the unmet criterion, then re-assess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RISK: SUPPLIER DELAY SCORES HIGHEST (4 × 3 = 12)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IMPACT (1–5) ↑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502920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103120" y="1737360"/>
            <a:ext cx="0" cy="402336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108960" y="1737360"/>
            <a:ext cx="0" cy="402336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1737360"/>
            <a:ext cx="0" cy="402336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1737360"/>
            <a:ext cx="0" cy="402336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2542032"/>
            <a:ext cx="50292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3346704"/>
            <a:ext cx="50292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4151376"/>
            <a:ext cx="50292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4956048"/>
            <a:ext cx="50292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17320" y="5788152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5788152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5788152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788152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788152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21224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1655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118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807208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02536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108192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2272" y="3593592"/>
            <a:ext cx="310896" cy="31089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931920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Supplier delay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L4 · I3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50592" y="2788920"/>
            <a:ext cx="310896" cy="31089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127248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Training gap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L2 · I4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766560" y="173736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264"/>
                <a:gridCol w="969264"/>
                <a:gridCol w="969264"/>
                <a:gridCol w="969264"/>
                <a:gridCol w="969264"/>
              </a:tblGrid>
              <a:tr h="853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 (L×I)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