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 reported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11480"/>
            <a:ext cx="260604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1024128"/>
            <a:ext cx="2103120" cy="164592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3840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ROTAFLOW  •  FICTIONAL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502920"/>
            <a:ext cx="2331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FOR SMALL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7498079" cy="2331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TEAM SCHEDULING,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WITHOUT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949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9DCE6"/>
                </a:solidFill>
                <a:latin typeface="Calibri"/>
              </a:defRPr>
            </a:pPr>
            <a:r>
              <a:t>Import availability. Flag conflicts. Approve once. Notify everyone — in one connected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965960"/>
            <a:ext cx="3108960" cy="23317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965960"/>
            <a:ext cx="31089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240280"/>
            <a:ext cx="2606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SEE IT IN YOUR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06040"/>
            <a:ext cx="26060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14-DAY PRO 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566160"/>
            <a:ext cx="2606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No payment required.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Then $62 / team / month.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IMPORT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0420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35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86100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17919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1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599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75419" y="4617720"/>
            <a:ext cx="2583179" cy="9601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8572" y="4690872"/>
            <a:ext cx="2436875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NOTIFY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01099" y="509778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All performance numbers in this deck are synthetic illustrations — not customer testimonials.  •  Slide 1 of 8 —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71 of 120 teams duplicate scheduling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Synthetic pilot survey • A count of surveyed teams — not a market-size estimate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4688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24688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71 ÷ 120 surveyed teams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20040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3429000"/>
            <a:ext cx="24688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24688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teams without duplication reported (120 − 71)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4800600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83280" y="1691640"/>
            <a:ext cx="5303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PILOT SURVEY — TEAMS (n = 120)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383280" y="2011680"/>
          <a:ext cx="53035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Rectangle 13"/>
          <p:cNvSpPr/>
          <p:nvPr/>
        </p:nvSpPr>
        <p:spPr>
          <a:xfrm>
            <a:off x="9098280" y="1783080"/>
            <a:ext cx="2606040" cy="329184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1783080"/>
            <a:ext cx="26060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WHAT IT 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514600"/>
            <a:ext cx="2103120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The same availability is entered, checked and re-entered.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That is the problem the workflow on the next slide is built to remove.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9DCE6"/>
                </a:solidFill>
                <a:latin typeface="Calibri"/>
              </a:defRPr>
            </a:pPr>
            <a:r>
              <a:t>Read this correctly:  59.2% describes these 120 pilot teams only. It does not size the market and does not prove product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Source: synthetic pilot survey, 120 teams.  •  Slide 2 of 8 —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One connected workflow — with a conflict loop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Conflicts return to availability review before anything can be 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1  IMPORT AVAILABILITY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2  FLAG CONFLICTS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3  APPROVE SCHEDULE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691640"/>
            <a:ext cx="2583179" cy="105156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764792"/>
            <a:ext cx="2436875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4  NOTIFY TEAM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217420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06324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THE DECISION BRANCH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20440"/>
            <a:ext cx="224028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2057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3794760"/>
            <a:ext cx="210312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46120" y="3474720"/>
            <a:ext cx="11887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YES 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337560"/>
            <a:ext cx="2743200" cy="9144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502152"/>
            <a:ext cx="24688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 TO AVAILABILITY 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89520" y="3794760"/>
            <a:ext cx="128016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818120" y="3474720"/>
            <a:ext cx="914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3337560"/>
            <a:ext cx="2788920" cy="9144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502152"/>
            <a:ext cx="25146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RE-CHECK, THEN APPROVE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27632" y="4434840"/>
            <a:ext cx="0" cy="82296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27632" y="5257800"/>
            <a:ext cx="3218688" cy="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  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4846320"/>
            <a:ext cx="2743200" cy="8686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5074920"/>
            <a:ext cx="24688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APPROVE → NOTIFY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892040"/>
            <a:ext cx="3749039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9DCE6"/>
                </a:solidFill>
                <a:latin typeface="Calibri"/>
              </a:defRPr>
            </a:pPr>
            <a:r>
              <a:t>No approval bypasses the conflict check.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Import availability → Flag conflicts → Approve schedule → Notify team  •  Slide 3 of 8 —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Plans: pay for team size and conflict alerts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Enterprise pricing is by conversation — no price is shown because none is specified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95527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  <a:gridCol w="1988819"/>
                <a:gridCol w="1988822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40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Discuss with sales</a:t>
                      </a:r>
                    </a:p>
                  </a:txBody>
                  <a:tcPr marL="64008" marR="64008" marT="36576" marB="36576">
                    <a:solidFill>
                      <a:srgbClr val="1A1D3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778240" y="1691640"/>
            <a:ext cx="2880360" cy="3429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901952"/>
            <a:ext cx="2377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267712"/>
            <a:ext cx="23774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B0C15"/>
                </a:solidFill>
                <a:latin typeface="Calibri"/>
              </a:defRPr>
            </a:pPr>
            <a:r>
              <a:t>Need conflict alerts? Choose Pro.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401568"/>
            <a:ext cx="237744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Pro − Starter = $39 / team / month more.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40 − 5 = 35 more member places.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21808"/>
            <a:ext cx="2468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7044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Starter / team / month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6236208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6120" y="5321808"/>
            <a:ext cx="2468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$62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87044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Pro / team /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6236208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5321808"/>
            <a:ext cx="2468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870448"/>
            <a:ext cx="24688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Enterprise: contact sales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6236208"/>
            <a:ext cx="2468880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78240" y="5440680"/>
            <a:ext cx="28803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9DCE6"/>
                </a:solidFill>
                <a:latin typeface="Calibri"/>
              </a:defRPr>
            </a:pPr>
            <a:r>
              <a:t>All prices per team, per month.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E93A8"/>
                </a:solidFill>
                <a:latin typeface="Calibri"/>
              </a:defRPr>
            </a:pPr>
            <a:r>
              <a:t>Synthetic fictional pricing as specified.  •  Slide 4 of 8 —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Funnel: 100 paid teams from 1,400 visits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Synthetic counts only — stage movement does not imply the product caused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583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TEAMS / PEOPLE AT EACH STAGE  (count)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65960"/>
          <a:ext cx="65836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452360" y="1691640"/>
            <a:ext cx="4206240" cy="365760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691640"/>
            <a:ext cx="42062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6596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STAGE-TO-STAGE ARITHMETIC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377440"/>
            <a:ext cx="365760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Signups ÷ Visits        480 ÷ 1,400  =  34.3%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Trials ÷ Signups       220 ÷ 480  =  45.8%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Paid ÷ Trials            100 ÷ 220  =  45.5%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Paid ÷ Visits            100 ÷ 1,400  =  7.1%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480560"/>
            <a:ext cx="3566160" cy="42748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946904"/>
            <a:ext cx="3566160" cy="27203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trial-to-paid rate  (100 of 220)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5257800"/>
            <a:ext cx="3566161" cy="0"/>
          </a:xfrm>
          <a:prstGeom prst="line">
            <a:avLst/>
          </a:prstGeom>
          <a:ln w="127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5623560"/>
            <a:ext cx="111556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Exact counts:  1,400 visits  →  480 signups  →  220 trial starts  →  100 paid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Synthetic funnel. Rates are arithmetic on these counts; no causal product impact is claimed.  •  Slide 5 of 8 — Funnel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Three benefits you can see in the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What each capability does — with no quantified time-saving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Availability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Bring availability in once instead of re-entering it by hand in multiple places.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reduces manual re-entry.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Conflict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Overlapping shifts are surfaced before approval, so the team resolves them in review.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conflicts are visible early.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737360"/>
            <a:ext cx="3535680" cy="301752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47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Approval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68880"/>
            <a:ext cx="3316224" cy="21762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Every approved schedule records who approved it, so accountability is traceable.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Benefit: a clear approval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29200"/>
            <a:ext cx="69494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230368"/>
            <a:ext cx="1097280" cy="91440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468112"/>
            <a:ext cx="6949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Deliberately not claimed: a number of hours saved.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138928"/>
            <a:ext cx="3840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9DCE6"/>
                </a:solidFill>
                <a:latin typeface="Calibri"/>
              </a:defRPr>
            </a:pPr>
            <a:r>
              <a:t>No quantified time-saving claim is provided. Judge the workflow in the trial on your own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Capabilities as specified for this fictional platform.  •  Slide 6 of 8 —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Calibri"/>
              </a:defRPr>
            </a:pPr>
            <a:r>
              <a:t>Launch in week 7 — gated by two inputs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Beta feedback AND security review must both be complete before launch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46520" y="2651760"/>
            <a:ext cx="4069080" cy="169164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08392" y="3383280"/>
            <a:ext cx="3172968" cy="96012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7480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9352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1224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E93A8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68712" y="1691640"/>
            <a:ext cx="122529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148840"/>
            <a:ext cx="3749039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267712"/>
            <a:ext cx="3566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7180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2880360"/>
            <a:ext cx="374903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1" y="2999232"/>
            <a:ext cx="3566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0332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44968" y="3611880"/>
            <a:ext cx="1225296" cy="502920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730752"/>
            <a:ext cx="11704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34840"/>
            <a:ext cx="2103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68712" y="4343400"/>
            <a:ext cx="1225296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6144" y="4462272"/>
            <a:ext cx="117043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57800"/>
            <a:ext cx="11155680" cy="777240"/>
          </a:xfrm>
          <a:prstGeom prst="rect">
            <a:avLst/>
          </a:prstGeom>
          <a:solidFill>
            <a:srgbClr val="1A1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GATE:  Beta feedback  AND  Security review  →  Launch (week 7).     Support training stays in week 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Schedule as specified; weeks are relative launch-programme weeks.  •  Slide 7 of 8 —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201168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411480"/>
            <a:ext cx="3246120" cy="14630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658368"/>
            <a:ext cx="2423160" cy="109728"/>
          </a:xfrm>
          <a:prstGeom prst="rect">
            <a:avLst/>
          </a:prstGeom>
          <a:solidFill>
            <a:srgbClr val="2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4572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YOUR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68096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14 DAYS OF PRO.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$0 DUE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9DCE6"/>
                </a:solidFill>
                <a:latin typeface="Calibri"/>
              </a:defRPr>
            </a:pPr>
            <a:r>
              <a:t>Run one real project through import → conflict check → approval → notify.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234440"/>
            <a:ext cx="3246120" cy="2926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508760"/>
            <a:ext cx="2651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TRIAL TERMS —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20240"/>
            <a:ext cx="26517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Duration: 14 days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Plan: Pro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Payment: none required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After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$62 / team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5120640" cy="960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846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START 14-DAY PRO TRIAL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617720"/>
            <a:ext cx="5715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payment required to start.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Decide after 14 days at $62 / team / month.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E93A8"/>
                </a:solidFill>
                <a:latin typeface="Calibri"/>
              </a:defRPr>
            </a:pPr>
            <a:r>
              <a:t>Fictional product and synthetic figures throughout this deck. Pro includes up to 40 members, shared calendar and conflict alerts.  •  Slide 8 of 8 — Invitation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