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740</c:v>
                </c:pt>
                <c:pt idx="1">
                  <c:v>780</c:v>
                </c:pt>
                <c:pt idx="2">
                  <c:v>1120</c:v>
                </c:pt>
                <c:pt idx="3">
                  <c:v>1030</c:v>
                </c:pt>
                <c:pt idx="4">
                  <c:v>1110</c:v>
                </c:pt>
                <c:pt idx="5">
                  <c:v>910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38100">
              <a:solidFill>
                <a:srgbClr val="B0B0B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5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5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 annual saving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Downside</c:v>
                </c:pt>
                <c:pt idx="1">
                  <c:v>Base</c:v>
                </c:pt>
                <c:pt idx="2">
                  <c:v>Upside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97.6</c:v>
                </c:pt>
                <c:pt idx="1">
                  <c:v>122</c:v>
                </c:pt>
                <c:pt idx="2">
                  <c:v>146.4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5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5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DECISION / Select option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0789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Strategic equipment procurement • Commit to B as the preferred path; release rollout only after the gate.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1672" y="320040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01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5440680" cy="1444752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FF99"/>
                </a:solidFill>
                <a:latin typeface="Calibri"/>
              </a:defRPr>
            </a:pPr>
            <a:r>
              <a:t>$366k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23744"/>
            <a:ext cx="493776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INITIAL INVESTMENT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91640"/>
            <a:ext cx="5468112" cy="1444752"/>
          </a:xfrm>
          <a:prstGeom prst="rect">
            <a:avLst/>
          </a:prstGeom>
          <a:solidFill>
            <a:srgbClr val="242424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47088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FF99"/>
                </a:solidFill>
                <a:latin typeface="Calibri"/>
              </a:defRPr>
            </a:pPr>
            <a:r>
              <a:t>$122k /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23744"/>
            <a:ext cx="493776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ANNUAL SAVING • BASE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64992"/>
            <a:ext cx="5440680" cy="1444752"/>
          </a:xfrm>
          <a:prstGeom prst="rect">
            <a:avLst/>
          </a:prstGeom>
          <a:solidFill>
            <a:srgbClr val="242424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FF99"/>
                </a:solidFill>
                <a:latin typeface="Calibri"/>
              </a:defRPr>
            </a:pPr>
            <a:r>
              <a:t>3.0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97096"/>
            <a:ext cx="493776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SIMPLE PAYBACK • 366 ÷ 122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364992"/>
            <a:ext cx="5468112" cy="1444752"/>
          </a:xfrm>
          <a:prstGeom prst="rect">
            <a:avLst/>
          </a:prstGeom>
          <a:solidFill>
            <a:srgbClr val="242424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520440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FF99"/>
                </a:solidFill>
                <a:latin typeface="Calibri"/>
              </a:defRPr>
            </a:pPr>
            <a:r>
              <a:t>$0k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197096"/>
            <a:ext cx="493776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THREE-YEAR NET • (3 × 122) − 366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138928"/>
            <a:ext cx="11183112" cy="941832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276088"/>
            <a:ext cx="10698480" cy="6309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Approval boundary: B is the selected procurement option. Operational GO still requires ≥99.6% uptime, capacity at every site, and completed training and validation.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1118311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FAFAF"/>
                </a:solidFill>
                <a:latin typeface="Calibri"/>
              </a:defRPr>
            </a:pPr>
            <a:r>
              <a:t>SYNTHETIC DATA • Simple payback and three-year net use the stated investment and annual saving.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OPTIONS / Three investment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0789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Reference options remain unchanged. B is the selected middle-investment path.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1672" y="320040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02 / 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1118311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778"/>
                <a:gridCol w="2795778"/>
                <a:gridCol w="2795778"/>
                <a:gridCol w="2795778"/>
              </a:tblGrid>
              <a:tr h="65151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Reference metric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B • selected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C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214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366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528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Annual saving ($k/year)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173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Uptime (%)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645152"/>
            <a:ext cx="5440680" cy="1280160"/>
          </a:xfrm>
          <a:prstGeom prst="rect">
            <a:avLst/>
          </a:prstGeom>
          <a:solidFill>
            <a:srgbClr val="242424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91456"/>
            <a:ext cx="498348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FF99"/>
                </a:solidFill>
                <a:latin typeface="Calibri"/>
              </a:defRPr>
            </a:pPr>
            <a:r>
              <a:t>B versus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76088"/>
            <a:ext cx="498348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+$152k investment → +$43k/year saving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645152"/>
            <a:ext cx="5468112" cy="1280160"/>
          </a:xfrm>
          <a:prstGeom prst="rect">
            <a:avLst/>
          </a:prstGeom>
          <a:solidFill>
            <a:srgbClr val="242424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791456"/>
            <a:ext cx="5010912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FF99"/>
                </a:solidFill>
                <a:latin typeface="Calibri"/>
              </a:defRPr>
            </a:pPr>
            <a:r>
              <a:t>C versus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5276088"/>
            <a:ext cx="5010912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+$162k investment → +$51k/year saving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08192"/>
            <a:ext cx="1118311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B reference uptime: 99.1%, which is 0.5 percentage points below the 99.6% operational GO threshold.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1183112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FAFAF"/>
                </a:solidFill>
                <a:latin typeface="Calibri"/>
              </a:defRPr>
            </a:pPr>
            <a:r>
              <a:t>SYNTHETIC DATA • Reference uptime is not proof of operational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PERFORMANCE / Output trails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0789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Six-month actual output reaches 86.2% of target; the cumulative gap is 910 units.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1672" y="320040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7269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MONTHLY OUTPUT • UNITS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956816"/>
          <a:ext cx="7424927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247888" y="1691640"/>
            <a:ext cx="3438144" cy="1234440"/>
          </a:xfrm>
          <a:prstGeom prst="rect">
            <a:avLst/>
          </a:prstGeom>
          <a:solidFill>
            <a:srgbClr val="242424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49056" y="1837943"/>
            <a:ext cx="3017520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5,690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9056" y="2423160"/>
            <a:ext cx="301752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ACTUAL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47888" y="3127248"/>
            <a:ext cx="3438144" cy="1234440"/>
          </a:xfrm>
          <a:prstGeom prst="rect">
            <a:avLst/>
          </a:prstGeom>
          <a:solidFill>
            <a:srgbClr val="242424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3273552"/>
            <a:ext cx="3017520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E0E0E0"/>
                </a:solidFill>
                <a:latin typeface="Calibri"/>
              </a:defRPr>
            </a:pPr>
            <a:r>
              <a:t>6,600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9056" y="3858768"/>
            <a:ext cx="301752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TARGET TOTAL • 6 × 1,100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4562856"/>
            <a:ext cx="3438144" cy="146304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4709160"/>
            <a:ext cx="3017520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910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5303520"/>
            <a:ext cx="30175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SHORTFALL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6,600 − 5,690 = 910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1118311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FAFAF"/>
                </a:solidFill>
                <a:latin typeface="Calibri"/>
              </a:defRPr>
            </a:pPr>
            <a:r>
              <a:t>SYNTHETIC DATA • Actual exceeds target in M3 and M5; four of six months fall below target.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SCENARIO / B breaks even in the base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0789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A ±20% change in annual saving moves the three-year net by ±$73.2k.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1672" y="320040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04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4709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ANNUAL SAVING • $k/YEAR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2011680"/>
          <a:ext cx="466344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40680" y="1691640"/>
          <a:ext cx="624535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338"/>
                <a:gridCol w="1561338"/>
                <a:gridCol w="1561338"/>
                <a:gridCol w="1561338"/>
              </a:tblGrid>
              <a:tr h="64008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 metric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Downside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Upside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Saving vs. base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Saving ($k/year)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97.6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122.0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146.4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Payback (years)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3.75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2.50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3-year net ($k)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−73.2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+73.2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40680" y="5166360"/>
            <a:ext cx="6245352" cy="886968"/>
          </a:xfrm>
          <a:prstGeom prst="rect">
            <a:avLst/>
          </a:prstGeom>
          <a:solidFill>
            <a:srgbClr val="242424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41848" y="5303520"/>
            <a:ext cx="5843016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Payback = 366 ÷ annual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Three-year net ($k) = 3 × annual saving − 366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44768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Decision implication: the downside extends payback beyond three years; the base case has no three-year net surplus.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11183112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FAFAF"/>
                </a:solidFill>
                <a:latin typeface="Calibri"/>
              </a:defRPr>
            </a:pPr>
            <a:r>
              <a:t>SYNTHETIC DATA • Investment held at $366k; annual saving held constant within each scenario; undiscounted arithmetic.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CAPACITY / West needs 8 more units per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0789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Aggregate capacity is sufficient, but West demand exceeds its local capacity.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1672" y="320040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05 / 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1118311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73152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Daily demand</a:t>
                      </a:r>
                    </a:p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(units/day)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Capacity</a:t>
                      </a:r>
                    </a:p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(units/day)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Headroom</a:t>
                      </a:r>
                    </a:p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(units/day)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Demand check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236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294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ABOVE CAPACITY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919472"/>
            <a:ext cx="5440680" cy="1069848"/>
          </a:xfrm>
          <a:prstGeom prst="rect">
            <a:avLst/>
          </a:prstGeom>
          <a:solidFill>
            <a:srgbClr val="242424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56632"/>
            <a:ext cx="49834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NETWORK TOTAL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880 capacity − 868 demand = +12 units/day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919472"/>
            <a:ext cx="5468112" cy="1069848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5056632"/>
            <a:ext cx="50109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GATE ACTION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Resolve West’s 8-unit/day gap and validate all sites.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81344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Spare capacity elsewhere does not establish that West can meet demand; every site must pass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11183112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FAFAF"/>
                </a:solidFill>
                <a:latin typeface="Calibri"/>
              </a:defRPr>
            </a:pPr>
            <a:r>
              <a:t>SYNTHETIC DATA • Headroom = capacity − daily demand. Demand checks are arithmetic, not completed operational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ROADMAP / Two lanes converge at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0789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Validate and Train run in parallel after Build; both must finish before the gate.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1672" y="320040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06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11183112" cy="1508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3749039"/>
            <a:ext cx="11183112" cy="1508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1234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F99"/>
                </a:solidFill>
                <a:latin typeface="Calibri"/>
              </a:defRPr>
            </a:pPr>
            <a: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70248"/>
            <a:ext cx="1234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F99"/>
                </a:solidFill>
                <a:latin typeface="Calibri"/>
              </a:defRPr>
            </a:pPr>
            <a:r>
              <a:t>PEOPLE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286000"/>
            <a:ext cx="1417320" cy="868680"/>
          </a:xfrm>
          <a:prstGeom prst="rect">
            <a:avLst/>
          </a:prstGeom>
          <a:solidFill>
            <a:srgbClr val="303030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4831" y="2414016"/>
            <a:ext cx="127101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Weeks 1–2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286000"/>
            <a:ext cx="1417320" cy="868680"/>
          </a:xfrm>
          <a:prstGeom prst="rect">
            <a:avLst/>
          </a:prstGeom>
          <a:solidFill>
            <a:srgbClr val="303030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3632" y="2414016"/>
            <a:ext cx="127101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Weeks 3–5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2286000"/>
            <a:ext cx="1691640" cy="868680"/>
          </a:xfrm>
          <a:prstGeom prst="rect">
            <a:avLst/>
          </a:prstGeom>
          <a:solidFill>
            <a:srgbClr val="303030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5312" y="2414016"/>
            <a:ext cx="154533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Weeks 6–8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4069080"/>
            <a:ext cx="1691640" cy="868680"/>
          </a:xfrm>
          <a:prstGeom prst="rect">
            <a:avLst/>
          </a:prstGeom>
          <a:solidFill>
            <a:srgbClr val="303030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5312" y="4197096"/>
            <a:ext cx="154533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Weeks 6–8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2286000"/>
            <a:ext cx="1188720" cy="2651760"/>
          </a:xfrm>
          <a:prstGeom prst="rect">
            <a:avLst/>
          </a:prstGeom>
          <a:solidFill>
            <a:srgbClr val="00FF99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3200400"/>
            <a:ext cx="1042415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1A"/>
                </a:solidFill>
                <a:latin typeface="Calibri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1A"/>
                </a:solidFill>
                <a:latin typeface="Calibri"/>
              </a:defRPr>
            </a:pPr>
            <a:r>
              <a:t>Week 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3182112"/>
            <a:ext cx="1572768" cy="868680"/>
          </a:xfrm>
          <a:prstGeom prst="rect">
            <a:avLst/>
          </a:prstGeom>
          <a:solidFill>
            <a:srgbClr val="303030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9528" y="3300984"/>
            <a:ext cx="1444752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Weeks 10–13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29000" y="2724912"/>
            <a:ext cx="41148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57800" y="2724912"/>
            <a:ext cx="59436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2724912"/>
            <a:ext cx="0" cy="178308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532120" y="4507992"/>
            <a:ext cx="32004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543800" y="2724912"/>
            <a:ext cx="640079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543800" y="4507992"/>
            <a:ext cx="640079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372600" y="3621024"/>
            <a:ext cx="50292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5669280"/>
            <a:ext cx="111831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DEPENDENCY LOGIC  /  Design → Build → Validate + Train → Gate → Rollout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SYNTHETIC DATA • Timing is a planned sequence. Rollout proceeds only after a GO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GATE / GO requires every condition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0789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Week 9 is an evidence-based release decision. A missing or failed condition means HOLD.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1672" y="320040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07 / 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77724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722376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Required condition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Evidence needed for GO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Operational uptime ≥99.6%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Measured operational performance meets threshold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All sites pass capacity validation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North, East and West each pass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Training finishes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Training completion confirmed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Validation finishes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Validation completion confirmed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595360" y="1691640"/>
            <a:ext cx="3090672" cy="160020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96528" y="1847088"/>
            <a:ext cx="2688336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A1A1A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2505456"/>
            <a:ext cx="2688336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A1A1A"/>
                </a:solidFill>
                <a:latin typeface="Calibri"/>
              </a:defRPr>
            </a:pPr>
            <a:r>
              <a:t>Only when all four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A1A1A"/>
                </a:solidFill>
                <a:latin typeface="Calibri"/>
              </a:defRPr>
            </a:pPr>
            <a:r>
              <a:t>conditions are met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3566160"/>
            <a:ext cx="3090672" cy="1737360"/>
          </a:xfrm>
          <a:prstGeom prst="rect">
            <a:avLst/>
          </a:prstGeom>
          <a:solidFill>
            <a:srgbClr val="24242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96528" y="3730752"/>
            <a:ext cx="2688336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E0E0E0"/>
                </a:solidFill>
                <a:latin typeface="Calibri"/>
              </a:defRPr>
            </a:pPr>
            <a:r>
              <a:t>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4407408"/>
            <a:ext cx="2688336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Otherwise: resolve gaps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before rollout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667512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5724144"/>
            <a:ext cx="10780776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Current inputs do not establish GO: B reference uptime is 99.1%; West demand exceeds capacity by 8 units/day.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11183112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FAFAF"/>
                </a:solidFill>
                <a:latin typeface="Calibri"/>
              </a:defRPr>
            </a:pPr>
            <a:r>
              <a:t>SYNTHETIC DATA • Reference uptime is not proof of operational performance. Completion evidence has not been supplied.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FF99"/>
                </a:solidFill>
                <a:latin typeface="Calibri"/>
              </a:defRPr>
            </a:pPr>
            <a:r>
              <a:t>RISK / Protect schedule and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0789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Supplier delay has higher likelihood; the training gap has higher impact.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1672" y="320040"/>
            <a:ext cx="594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08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63040" y="5623560"/>
            <a:ext cx="5120640" cy="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463040" y="1965960"/>
            <a:ext cx="0" cy="365760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98448" y="57150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57150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57150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57150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57150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4864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5720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6576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7432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828800"/>
            <a:ext cx="3291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508760"/>
            <a:ext cx="1828800" cy="301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IMPACT (1–5)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608076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LIKELIHOOD (1–5)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02936" y="3694176"/>
            <a:ext cx="201168" cy="20116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06908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FF99"/>
                </a:solidFill>
                <a:latin typeface="Calibri"/>
              </a:defRPr>
            </a:pPr>
            <a:r>
              <a:t>Supplier delay (4, 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42616" y="2779776"/>
            <a:ext cx="201168" cy="2011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2331720"/>
            <a:ext cx="2788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Training gap (2, 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1965960"/>
            <a:ext cx="4187952" cy="164592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2130552"/>
            <a:ext cx="3767328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SUPPLIER DELAY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Likelihood 4 • Impact 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Mitigation: pre-order critical parts.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3886200"/>
            <a:ext cx="4187952" cy="1645920"/>
          </a:xfrm>
          <a:prstGeom prst="rect">
            <a:avLst/>
          </a:prstGeom>
          <a:solidFill>
            <a:srgbClr val="242424"/>
          </a:solidFill>
          <a:ln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4050791"/>
            <a:ext cx="3767328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TRAINING GAP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Likelihood 2 • Impact 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Mitigation: supervised practice.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37960"/>
            <a:ext cx="11183112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FAFAF"/>
                </a:solidFill>
                <a:latin typeface="Calibri"/>
              </a:defRPr>
            </a:pPr>
            <a:r>
              <a:t>SYNTHETIC DATA • Plot coordinates are (likelihood, impact), each on a 1–5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