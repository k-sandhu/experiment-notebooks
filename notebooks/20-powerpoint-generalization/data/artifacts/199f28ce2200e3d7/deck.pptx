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Passing samples</c:v>
                </c:pt>
              </c:strCache>
            </c:strRef>
          </c:tx>
          <c:spPr>
            <a:solidFill>
              <a:srgbClr val="C45B3A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Control</c:v>
                </c:pt>
                <c:pt idx="1">
                  <c:v>Treatment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127</c:v>
                </c:pt>
                <c:pt idx="1">
                  <c:v>144</c:v>
                </c:pt>
              </c:numCache>
            </c:numRef>
          </c:val>
        </c:ser>
        <c:dLbls>
          <c:txPr>
            <a:bodyPr/>
            <a:lstStyle/>
            <a:p>
              <a:pPr>
                <a:defRPr sz="1600">
                  <a:solidFill>
                    <a:srgbClr val="4A3B2A"/>
                  </a:solidFill>
                  <a:latin typeface="Georgia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600">
                <a:solidFill>
                  <a:srgbClr val="4A3B2A"/>
                </a:solidFill>
                <a:latin typeface="Georgia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600">
                <a:solidFill>
                  <a:srgbClr val="4A3B2A"/>
                </a:solidFill>
                <a:latin typeface="Georgia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600">
          <a:solidFill>
            <a:srgbClr val="4A3B2A"/>
          </a:solidFill>
          <a:latin typeface="Georgia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Control</c:v>
                </c:pt>
              </c:strCache>
            </c:strRef>
          </c:tx>
          <c:spPr>
            <a:ln w="38100">
              <a:solidFill>
                <a:srgbClr val="8A7965"/>
              </a:solidFill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0</c:v>
                </c:pt>
                <c:pt idx="1">
                  <c:v>100</c:v>
                </c:pt>
                <c:pt idx="2">
                  <c:v>200</c:v>
                </c:pt>
                <c:pt idx="3">
                  <c:v>300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86</c:v>
                </c:pt>
                <c:pt idx="2">
                  <c:v>72</c:v>
                </c:pt>
                <c:pt idx="3">
                  <c:v>58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Treatment</c:v>
                </c:pt>
              </c:strCache>
            </c:strRef>
          </c:tx>
          <c:spPr>
            <a:ln w="38100">
              <a:solidFill>
                <a:srgbClr val="C45B3A"/>
              </a:solidFill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0</c:v>
                </c:pt>
                <c:pt idx="1">
                  <c:v>100</c:v>
                </c:pt>
                <c:pt idx="2">
                  <c:v>200</c:v>
                </c:pt>
                <c:pt idx="3">
                  <c:v>300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100</c:v>
                </c:pt>
                <c:pt idx="1">
                  <c:v>91</c:v>
                </c:pt>
                <c:pt idx="2">
                  <c:v>82</c:v>
                </c:pt>
                <c:pt idx="3">
                  <c:v>73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4A3B2A"/>
                </a:solidFill>
                <a:latin typeface="Georgia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4A3B2A"/>
                </a:solidFill>
                <a:latin typeface="Georgia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400">
          <a:solidFill>
            <a:srgbClr val="4A3B2A"/>
          </a:solidFill>
          <a:latin typeface="Georgia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100023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45B3A"/>
                </a:solidFill>
                <a:latin typeface="Georgia"/>
              </a:defRPr>
            </a:pPr>
            <a:r>
              <a:t>SIMULATED MATERIAL ANALYSIS  / 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11000232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4A3B2A"/>
                </a:solidFill>
                <a:latin typeface="Georgia"/>
              </a:defRPr>
            </a:pPr>
            <a:r>
              <a:t>Does treatment improve performance?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463040"/>
            <a:ext cx="11000232" cy="0"/>
          </a:xfrm>
          <a:prstGeom prst="line">
            <a:avLst/>
          </a:prstGeom>
          <a:ln w="1905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783080"/>
            <a:ext cx="6537960" cy="1691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4A3B2A"/>
                </a:solidFill>
                <a:latin typeface="Georgia"/>
              </a:defRPr>
            </a:pPr>
            <a:r>
              <a:t>A fictional screening study compares treatment with control on two outcomes: passing a predefined strength test and retaining durability over repeated cycles.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18120" y="1783080"/>
            <a:ext cx="3593592" cy="3429000"/>
          </a:xfrm>
          <a:prstGeom prst="roundRect">
            <a:avLst/>
          </a:prstGeom>
          <a:solidFill>
            <a:srgbClr val="F1E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92440" y="2011680"/>
            <a:ext cx="3044952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4A3B2A"/>
                </a:solidFill>
                <a:latin typeface="Georgia"/>
              </a:defRPr>
            </a:pPr>
            <a:r>
              <a:t>The scope of the 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2440" y="2770632"/>
            <a:ext cx="3044952" cy="2011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4A3B2A"/>
                </a:solidFill>
                <a:latin typeface="Georgia"/>
              </a:defRPr>
            </a:pPr>
            <a:r>
              <a:t>Random assignment was used.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4A3B2A"/>
                </a:solidFill>
                <a:latin typeface="Georgia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4A3B2A"/>
                </a:solidFill>
                <a:latin typeface="Georgia"/>
              </a:defRPr>
            </a:pPr>
            <a:r>
              <a:t>The study covers one lab and one batch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703320"/>
            <a:ext cx="65379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C45B3A"/>
                </a:solidFill>
                <a:latin typeface="Georgia"/>
              </a:defRPr>
            </a:pPr>
            <a:r>
              <a:t>THE STAKEHOLDER 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206240"/>
            <a:ext cx="6537960" cy="1463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4A3B2A"/>
                </a:solidFill>
                <a:latin typeface="Georgia"/>
              </a:defRPr>
            </a:pPr>
            <a:r>
              <a:t>Are the reported differences internally consistent, and what must be verified before extending the claim?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94360" y="6309360"/>
            <a:ext cx="11000232" cy="0"/>
          </a:xfrm>
          <a:prstGeom prst="line">
            <a:avLst/>
          </a:prstGeom>
          <a:ln w="12700">
            <a:solidFill>
              <a:srgbClr val="D9C8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40080" y="6446520"/>
            <a:ext cx="996696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A3B2A"/>
                </a:solidFill>
                <a:latin typeface="Georgia"/>
              </a:defRPr>
            </a:pPr>
            <a:r>
              <a:t>All data are synthetic. Findings describe a fictional study.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27080" y="6428232"/>
            <a:ext cx="594360" cy="2560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A3B2A"/>
                </a:solidFill>
                <a:latin typeface="Georgia"/>
              </a:defRPr>
            </a:pPr>
            <a:r>
              <a:t>01 / 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100023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45B3A"/>
                </a:solidFill>
                <a:latin typeface="Georgia"/>
              </a:defRPr>
            </a:pPr>
            <a:r>
              <a:t>STUDY DESIGN  / 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11000232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4A3B2A"/>
                </a:solidFill>
                <a:latin typeface="Georgia"/>
              </a:defRPr>
            </a:pPr>
            <a:r>
              <a:t>A controlled comparison with fixed group sizes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463040"/>
            <a:ext cx="11000232" cy="0"/>
          </a:xfrm>
          <a:prstGeom prst="line">
            <a:avLst/>
          </a:prstGeom>
          <a:ln w="1905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77240" y="1783080"/>
            <a:ext cx="5166360" cy="1234440"/>
          </a:xfrm>
          <a:prstGeom prst="roundRect">
            <a:avLst/>
          </a:prstGeom>
          <a:solidFill>
            <a:srgbClr val="F1E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0" y="1783080"/>
            <a:ext cx="5166360" cy="1234440"/>
          </a:xfrm>
          <a:prstGeom prst="roundRect">
            <a:avLst/>
          </a:prstGeom>
          <a:solidFill>
            <a:srgbClr val="EAD6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965960"/>
            <a:ext cx="46177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45B3A"/>
                </a:solidFill>
                <a:latin typeface="Georgia"/>
              </a:defRPr>
            </a:pPr>
            <a:r>
              <a:t>CONTROL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395728"/>
            <a:ext cx="461772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4A3B2A"/>
                </a:solidFill>
                <a:latin typeface="Georgia"/>
              </a:defRPr>
            </a:pPr>
            <a:r>
              <a:t>220 samples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965960"/>
            <a:ext cx="46177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45B3A"/>
                </a:solidFill>
                <a:latin typeface="Georgia"/>
              </a:defRPr>
            </a:pPr>
            <a:r>
              <a:t>TREATMENT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395728"/>
            <a:ext cx="461772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4A3B2A"/>
                </a:solidFill>
                <a:latin typeface="Georgia"/>
              </a:defRPr>
            </a:pPr>
            <a:r>
              <a:t>220 samples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337560"/>
            <a:ext cx="324612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4A3B2A"/>
                </a:solidFill>
                <a:latin typeface="Georgia"/>
              </a:defRPr>
            </a:pPr>
            <a:r>
              <a:t>01  Assign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867912"/>
            <a:ext cx="3246120" cy="12801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4A3B2A"/>
                </a:solidFill>
                <a:latin typeface="Georgia"/>
              </a:defRPr>
            </a:pPr>
            <a:r>
              <a:t>Random assignment to treatment or control; 440 samples in total.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3337560"/>
            <a:ext cx="324612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4A3B2A"/>
                </a:solidFill>
                <a:latin typeface="Georgia"/>
              </a:defRPr>
            </a:pPr>
            <a:r>
              <a:t>02  Expose and test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3867912"/>
            <a:ext cx="3246120" cy="1417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4A3B2A"/>
                </a:solidFill>
                <a:latin typeface="Georgia"/>
              </a:defRPr>
            </a:pPr>
            <a:r>
              <a:t>Equal-duration exposure and the same test equipment. Endpoint: passing the predefined strength test.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3337560"/>
            <a:ext cx="324612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4A3B2A"/>
                </a:solidFill>
                <a:latin typeface="Georgia"/>
              </a:defRPr>
            </a:pPr>
            <a:r>
              <a:t>03  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3867912"/>
            <a:ext cx="3246120" cy="12801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4A3B2A"/>
                </a:solidFill>
                <a:latin typeface="Georgia"/>
              </a:defRPr>
            </a:pPr>
            <a:r>
              <a:t>Exclusions were reviewed before final reporting.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5513832"/>
            <a:ext cx="10607040" cy="521207"/>
          </a:xfrm>
          <a:prstGeom prst="roundRect">
            <a:avLst/>
          </a:prstGeom>
          <a:solidFill>
            <a:srgbClr val="F1E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5605272"/>
            <a:ext cx="10241280" cy="33832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4A3B2A"/>
                </a:solidFill>
                <a:latin typeface="Georgia"/>
              </a:defRPr>
            </a:pPr>
            <a:r>
              <a:t>Reporting rule: retain 220 as the denominator for each group.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94360" y="6309360"/>
            <a:ext cx="11000232" cy="0"/>
          </a:xfrm>
          <a:prstGeom prst="line">
            <a:avLst/>
          </a:prstGeom>
          <a:ln w="12700">
            <a:solidFill>
              <a:srgbClr val="D9C8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40080" y="6446520"/>
            <a:ext cx="996696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A3B2A"/>
                </a:solidFill>
                <a:latin typeface="Georgia"/>
              </a:defRPr>
            </a:pPr>
            <a:r>
              <a:t>Synthetic data • one lab • one batch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27080" y="6428232"/>
            <a:ext cx="594360" cy="2560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A3B2A"/>
                </a:solidFill>
                <a:latin typeface="Georgia"/>
              </a:defRPr>
            </a:pPr>
            <a:r>
              <a:t>02 / 08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100023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45B3A"/>
                </a:solidFill>
                <a:latin typeface="Georgia"/>
              </a:defRPr>
            </a:pPr>
            <a:r>
              <a:t>STRENGTH-TEST RESULTS  / 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11000232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4A3B2A"/>
                </a:solidFill>
                <a:latin typeface="Georgia"/>
              </a:defRPr>
            </a:pPr>
            <a:r>
              <a:t>Treatment recorded 17 more passes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463040"/>
            <a:ext cx="11000232" cy="0"/>
          </a:xfrm>
          <a:prstGeom prst="line">
            <a:avLst/>
          </a:prstGeom>
          <a:ln w="1905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719072"/>
            <a:ext cx="649224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4A3B2A"/>
                </a:solidFill>
                <a:latin typeface="Georgia"/>
              </a:defRPr>
            </a:pPr>
            <a:r>
              <a:t>Passing samples (count; 220 tested per group)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2240280"/>
          <a:ext cx="649224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635240" y="1783080"/>
            <a:ext cx="3749039" cy="3611880"/>
          </a:xfrm>
          <a:prstGeom prst="roundRect">
            <a:avLst/>
          </a:prstGeom>
          <a:solidFill>
            <a:srgbClr val="F1E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09560" y="1993392"/>
            <a:ext cx="32004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C45B3A"/>
                </a:solidFill>
                <a:latin typeface="Georgia"/>
              </a:defRPr>
            </a:pPr>
            <a:r>
              <a:t>EXACT COUNTS → PASS RATES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09560" y="2578608"/>
            <a:ext cx="320040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4A3B2A"/>
                </a:solidFill>
                <a:latin typeface="Georgia"/>
              </a:defRPr>
            </a:pPr>
            <a:r>
              <a:t>Control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4A3B2A"/>
                </a:solidFill>
                <a:latin typeface="Georgia"/>
              </a:defRPr>
            </a:pPr>
            <a:r>
              <a:t>127 / 220 = 57.7%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9560" y="3538728"/>
            <a:ext cx="320040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4A3B2A"/>
                </a:solidFill>
                <a:latin typeface="Georgia"/>
              </a:defRPr>
            </a:pPr>
            <a:r>
              <a:t>Treatment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4A3B2A"/>
                </a:solidFill>
                <a:latin typeface="Georgia"/>
              </a:defRPr>
            </a:pPr>
            <a:r>
              <a:t>144 / 220 = 65.5%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9560" y="4590288"/>
            <a:ext cx="320040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C45B3A"/>
                </a:solidFill>
                <a:latin typeface="Georgia"/>
              </a:defRPr>
            </a:pPr>
            <a:r>
              <a:t>+7.7 percentage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577840"/>
            <a:ext cx="1051560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4A3B2A"/>
                </a:solidFill>
                <a:latin typeface="Georgia"/>
              </a:defRPr>
            </a:pPr>
            <a:r>
              <a:t>Difference = (144 − 127) / 220 × 100 = 7.7 percentage points, rounded from exact counts.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94360" y="6309360"/>
            <a:ext cx="11000232" cy="0"/>
          </a:xfrm>
          <a:prstGeom prst="line">
            <a:avLst/>
          </a:prstGeom>
          <a:ln w="12700">
            <a:solidFill>
              <a:srgbClr val="D9C8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0080" y="6446520"/>
            <a:ext cx="996696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A3B2A"/>
                </a:solidFill>
                <a:latin typeface="Georgia"/>
              </a:defRPr>
            </a:pPr>
            <a:r>
              <a:t>Synthetic data • rates and difference rounded independently • denominators fixed at 220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27080" y="6428232"/>
            <a:ext cx="594360" cy="2560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A3B2A"/>
                </a:solidFill>
                <a:latin typeface="Georgia"/>
              </a:defRPr>
            </a:pPr>
            <a:r>
              <a:t>03 / 08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100023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45B3A"/>
                </a:solidFill>
                <a:latin typeface="Georgia"/>
              </a:defRPr>
            </a:pPr>
            <a:r>
              <a:t>DURABILITY TIMECOURSE  / 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11000232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4A3B2A"/>
                </a:solidFill>
                <a:latin typeface="Georgia"/>
              </a:defRPr>
            </a:pPr>
            <a:r>
              <a:t>Durability declines in both groups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463040"/>
            <a:ext cx="11000232" cy="0"/>
          </a:xfrm>
          <a:prstGeom prst="line">
            <a:avLst/>
          </a:prstGeom>
          <a:ln w="1905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709928"/>
            <a:ext cx="69494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4A3B2A"/>
                </a:solidFill>
                <a:latin typeface="Georgia"/>
              </a:defRPr>
            </a:pPr>
            <a:r>
              <a:t>Durability (%) by exposure cycle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85800" y="2194560"/>
          <a:ext cx="6995160" cy="3383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788920" y="5650992"/>
            <a:ext cx="29260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4A3B2A"/>
                </a:solidFill>
                <a:latin typeface="Georgia"/>
              </a:defRPr>
            </a:pPr>
            <a:r>
              <a:t>Exposure cycles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783080"/>
            <a:ext cx="3429000" cy="4251960"/>
          </a:xfrm>
          <a:prstGeom prst="roundRect">
            <a:avLst/>
          </a:prstGeom>
          <a:solidFill>
            <a:srgbClr val="F1E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83879" y="1993392"/>
            <a:ext cx="297180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4A3B2A"/>
                </a:solidFill>
                <a:latin typeface="Georgia"/>
              </a:defRPr>
            </a:pPr>
            <a:r>
              <a:t>All values retained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8183879" y="2606040"/>
          <a:ext cx="29718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0600"/>
                <a:gridCol w="990600"/>
                <a:gridCol w="990600"/>
              </a:tblGrid>
              <a:tr h="38404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8E7"/>
                          </a:solidFill>
                          <a:latin typeface="Georgia"/>
                        </a:defRPr>
                      </a:pPr>
                      <a:r>
                        <a:t>Cycle</a:t>
                      </a:r>
                    </a:p>
                  </a:txBody>
                  <a:tcPr marL="64008" marR="64008" marT="36576" marB="36576">
                    <a:solidFill>
                      <a:srgbClr val="C45B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8E7"/>
                          </a:solidFill>
                          <a:latin typeface="Georgia"/>
                        </a:defRPr>
                      </a:pPr>
                      <a:r>
                        <a:t>Control %</a:t>
                      </a:r>
                    </a:p>
                  </a:txBody>
                  <a:tcPr marL="64008" marR="64008" marT="36576" marB="36576">
                    <a:solidFill>
                      <a:srgbClr val="C45B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8E7"/>
                          </a:solidFill>
                          <a:latin typeface="Georgia"/>
                        </a:defRPr>
                      </a:pPr>
                      <a:r>
                        <a:t>Treat. %</a:t>
                      </a:r>
                    </a:p>
                  </a:txBody>
                  <a:tcPr marL="64008" marR="64008" marT="36576" marB="36576">
                    <a:solidFill>
                      <a:srgbClr val="C45B3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0</a:t>
                      </a:r>
                    </a:p>
                  </a:txBody>
                  <a:tcPr marL="64008" marR="64008" marT="36576" marB="36576">
                    <a:solidFill>
                      <a:srgbClr val="F1E4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100</a:t>
                      </a:r>
                    </a:p>
                  </a:txBody>
                  <a:tcPr marL="64008" marR="64008" marT="36576" marB="36576">
                    <a:solidFill>
                      <a:srgbClr val="F1E4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100</a:t>
                      </a:r>
                    </a:p>
                  </a:txBody>
                  <a:tcPr marL="64008" marR="64008" marT="36576" marB="36576">
                    <a:solidFill>
                      <a:srgbClr val="F1E4C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100</a:t>
                      </a:r>
                    </a:p>
                  </a:txBody>
                  <a:tcPr marL="64008" marR="64008" marT="36576" marB="36576">
                    <a:solidFill>
                      <a:srgbClr val="F1E4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86</a:t>
                      </a:r>
                    </a:p>
                  </a:txBody>
                  <a:tcPr marL="64008" marR="64008" marT="36576" marB="36576">
                    <a:solidFill>
                      <a:srgbClr val="F1E4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91</a:t>
                      </a:r>
                    </a:p>
                  </a:txBody>
                  <a:tcPr marL="64008" marR="64008" marT="36576" marB="36576">
                    <a:solidFill>
                      <a:srgbClr val="F1E4C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200</a:t>
                      </a:r>
                    </a:p>
                  </a:txBody>
                  <a:tcPr marL="64008" marR="64008" marT="36576" marB="36576">
                    <a:solidFill>
                      <a:srgbClr val="F1E4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72</a:t>
                      </a:r>
                    </a:p>
                  </a:txBody>
                  <a:tcPr marL="64008" marR="64008" marT="36576" marB="36576">
                    <a:solidFill>
                      <a:srgbClr val="F1E4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82</a:t>
                      </a:r>
                    </a:p>
                  </a:txBody>
                  <a:tcPr marL="64008" marR="64008" marT="36576" marB="36576">
                    <a:solidFill>
                      <a:srgbClr val="F1E4C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300</a:t>
                      </a:r>
                    </a:p>
                  </a:txBody>
                  <a:tcPr marL="64008" marR="64008" marT="36576" marB="36576">
                    <a:solidFill>
                      <a:srgbClr val="F1E4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58</a:t>
                      </a:r>
                    </a:p>
                  </a:txBody>
                  <a:tcPr marL="64008" marR="64008" marT="36576" marB="36576">
                    <a:solidFill>
                      <a:srgbClr val="F1E4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73</a:t>
                      </a:r>
                    </a:p>
                  </a:txBody>
                  <a:tcPr marL="64008" marR="64008" marT="36576" marB="36576">
                    <a:solidFill>
                      <a:srgbClr val="F1E4CD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8183879" y="4773168"/>
            <a:ext cx="2971800" cy="9601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4A3B2A"/>
                </a:solidFill>
                <a:latin typeface="Georgia"/>
              </a:defRPr>
            </a:pPr>
            <a:r>
              <a:t>At 300 cycles: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4A3B2A"/>
                </a:solidFill>
                <a:latin typeface="Georgia"/>
              </a:defRPr>
            </a:pPr>
            <a:r>
              <a:t>73% − 58% = 15 points.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4A3B2A"/>
                </a:solidFill>
                <a:latin typeface="Georgia"/>
              </a:defRPr>
            </a:pPr>
            <a:r>
              <a:t>Both began at 100%.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" y="6309360"/>
            <a:ext cx="11000232" cy="0"/>
          </a:xfrm>
          <a:prstGeom prst="line">
            <a:avLst/>
          </a:prstGeom>
          <a:ln w="12700">
            <a:solidFill>
              <a:srgbClr val="D9C8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40080" y="6446520"/>
            <a:ext cx="996696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A3B2A"/>
                </a:solidFill>
                <a:latin typeface="Georgia"/>
              </a:defRPr>
            </a:pPr>
            <a:r>
              <a:t>Synthetic data • all eight supplied durability values retained • value axis starts at zero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27080" y="6428232"/>
            <a:ext cx="594360" cy="2560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A3B2A"/>
                </a:solidFill>
                <a:latin typeface="Georgia"/>
              </a:defRPr>
            </a:pPr>
            <a:r>
              <a:t>04 / 08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100023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45B3A"/>
                </a:solidFill>
                <a:latin typeface="Georgia"/>
              </a:defRPr>
            </a:pPr>
            <a:r>
              <a:t>SUBGROUP ACCOUNTING  / 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11000232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4A3B2A"/>
                </a:solidFill>
                <a:latin typeface="Georgia"/>
              </a:defRPr>
            </a:pPr>
            <a:r>
              <a:t>The subgroup counts reconcile to 144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463040"/>
            <a:ext cx="11000232" cy="0"/>
          </a:xfrm>
          <a:prstGeom prst="line">
            <a:avLst/>
          </a:prstGeom>
          <a:ln w="1905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709928"/>
            <a:ext cx="576072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4A3B2A"/>
                </a:solidFill>
                <a:latin typeface="Georgia"/>
              </a:defRPr>
            </a:pPr>
            <a:r>
              <a:t>Treatment passes by supplied batch label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2304288"/>
          <a:ext cx="57150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</a:tblGrid>
              <a:tr h="640080"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8E7"/>
                          </a:solidFill>
                          <a:latin typeface="Georgia"/>
                        </a:defRPr>
                      </a:pPr>
                      <a:r>
                        <a:t>Batch label</a:t>
                      </a:r>
                    </a:p>
                  </a:txBody>
                  <a:tcPr marL="64008" marR="64008" marT="36576" marB="36576">
                    <a:solidFill>
                      <a:srgbClr val="C45B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8E7"/>
                          </a:solidFill>
                          <a:latin typeface="Georgia"/>
                        </a:defRPr>
                      </a:pPr>
                      <a:r>
                        <a:t>Treatment passes (count)</a:t>
                      </a:r>
                    </a:p>
                  </a:txBody>
                  <a:tcPr marL="64008" marR="64008" marT="36576" marB="36576">
                    <a:solidFill>
                      <a:srgbClr val="C45B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P</a:t>
                      </a:r>
                    </a:p>
                  </a:txBody>
                  <a:tcPr marL="64008" marR="64008" marT="36576" marB="36576">
                    <a:solidFill>
                      <a:srgbClr val="F1E4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48</a:t>
                      </a:r>
                    </a:p>
                  </a:txBody>
                  <a:tcPr marL="64008" marR="64008" marT="36576" marB="36576">
                    <a:solidFill>
                      <a:srgbClr val="F1E4CD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Q</a:t>
                      </a:r>
                    </a:p>
                  </a:txBody>
                  <a:tcPr marL="64008" marR="64008" marT="36576" marB="36576">
                    <a:solidFill>
                      <a:srgbClr val="F1E4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48</a:t>
                      </a:r>
                    </a:p>
                  </a:txBody>
                  <a:tcPr marL="64008" marR="64008" marT="36576" marB="36576">
                    <a:solidFill>
                      <a:srgbClr val="F1E4CD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R</a:t>
                      </a:r>
                    </a:p>
                  </a:txBody>
                  <a:tcPr marL="64008" marR="64008" marT="36576" marB="36576">
                    <a:solidFill>
                      <a:srgbClr val="F1E4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48</a:t>
                      </a:r>
                    </a:p>
                  </a:txBody>
                  <a:tcPr marL="64008" marR="64008" marT="36576" marB="36576">
                    <a:solidFill>
                      <a:srgbClr val="F1E4CD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68680" y="5166360"/>
            <a:ext cx="553212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4A3B2A"/>
                </a:solidFill>
                <a:latin typeface="Georgia"/>
              </a:defRPr>
            </a:pPr>
            <a:r>
              <a:t>48 + 48 + 48 = 144 passes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95160" y="1783080"/>
            <a:ext cx="4389120" cy="4069080"/>
          </a:xfrm>
          <a:prstGeom prst="roundRect">
            <a:avLst/>
          </a:prstGeom>
          <a:solidFill>
            <a:srgbClr val="EAD6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96912" y="2011680"/>
            <a:ext cx="3785615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4A3B2A"/>
                </a:solidFill>
                <a:latin typeface="Georgia"/>
              </a:defRPr>
            </a:pPr>
            <a:r>
              <a:t>Counts do not establish subgroup pass rates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96912" y="3035808"/>
            <a:ext cx="3785615" cy="1463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4A3B2A"/>
                </a:solidFill>
                <a:latin typeface="Georgia"/>
              </a:defRPr>
            </a:pPr>
            <a:r>
              <a:t>Subgroup denominators are not supplied. Equal pass counts cannot establish equal performance across P, Q and 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96912" y="4681728"/>
            <a:ext cx="3785615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C45B3A"/>
                </a:solidFill>
                <a:latin typeface="Georgia"/>
              </a:defRPr>
            </a:pPr>
            <a:r>
              <a:t>These labels do not establish independent-batch replication.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" y="6309360"/>
            <a:ext cx="11000232" cy="0"/>
          </a:xfrm>
          <a:prstGeom prst="line">
            <a:avLst/>
          </a:prstGeom>
          <a:ln w="12700">
            <a:solidFill>
              <a:srgbClr val="D9C8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40080" y="6446520"/>
            <a:ext cx="996696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A3B2A"/>
                </a:solidFill>
                <a:latin typeface="Georgia"/>
              </a:defRPr>
            </a:pPr>
            <a:r>
              <a:t>Synthetic data • supplied labels P / Q / R • overall study scope remains one lab and one batch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27080" y="6428232"/>
            <a:ext cx="594360" cy="2560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A3B2A"/>
                </a:solidFill>
                <a:latin typeface="Georgia"/>
              </a:defRPr>
            </a:pPr>
            <a:r>
              <a:t>05 / 08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100023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45B3A"/>
                </a:solidFill>
                <a:latin typeface="Georgia"/>
              </a:defRPr>
            </a:pPr>
            <a:r>
              <a:t>VALIDITY AUDIT  /  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11000232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4A3B2A"/>
                </a:solidFill>
                <a:latin typeface="Georgia"/>
              </a:defRPr>
            </a:pPr>
            <a:r>
              <a:t>Remove 13 duplicate treatment positives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463040"/>
            <a:ext cx="11000232" cy="0"/>
          </a:xfrm>
          <a:prstGeom prst="line">
            <a:avLst/>
          </a:prstGeom>
          <a:ln w="1905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77240" y="1783080"/>
            <a:ext cx="10607040" cy="1143000"/>
          </a:xfrm>
          <a:prstGeom prst="roundRect">
            <a:avLst/>
          </a:prstGeom>
          <a:solidFill>
            <a:srgbClr val="EAD6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975104"/>
            <a:ext cx="100584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4A3B2A"/>
                </a:solidFill>
                <a:latin typeface="Georgia"/>
              </a:defRPr>
            </a:pPr>
            <a:r>
              <a:t>157 − 13 = 144 treatment passes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505456"/>
            <a:ext cx="100584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A3B2A"/>
                </a:solidFill>
                <a:latin typeface="Georgia"/>
              </a:defRPr>
            </a:pPr>
            <a:r>
              <a:t>Remove duplicate positive records; the correct treatment denominator remains 220.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246120"/>
            <a:ext cx="489204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4A3B2A"/>
                </a:solidFill>
                <a:latin typeface="Georgia"/>
              </a:defRPr>
            </a:pPr>
            <a:r>
              <a:t>Corrected reporting basis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867912"/>
            <a:ext cx="4892040" cy="1920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4A3B2A"/>
                </a:solidFill>
                <a:latin typeface="Georgia"/>
              </a:defRPr>
            </a:pPr>
            <a:r>
              <a:t>Treatment: 144 / 220 = 65.5%.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4A3B2A"/>
                </a:solidFill>
                <a:latin typeface="Georgia"/>
              </a:defRPr>
            </a:pPr>
            <a:r>
              <a:t>Control: 127 / 220 = 57.7%.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4A3B2A"/>
                </a:solidFill>
                <a:latin typeface="Georgia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4A3B2A"/>
                </a:solidFill>
                <a:latin typeface="Georgia"/>
              </a:defRPr>
            </a:pPr>
            <a:r>
              <a:t>Both denominators remain correct. Exclusions were reviewed before final reporting.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80760" y="3246120"/>
            <a:ext cx="0" cy="2560320"/>
          </a:xfrm>
          <a:prstGeom prst="line">
            <a:avLst/>
          </a:prstGeom>
          <a:ln w="12700">
            <a:solidFill>
              <a:srgbClr val="D9C8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446520" y="3246120"/>
            <a:ext cx="48006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4A3B2A"/>
                </a:solidFill>
                <a:latin typeface="Georgia"/>
              </a:defRPr>
            </a:pPr>
            <a:r>
              <a:t>Limits of the 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3867912"/>
            <a:ext cx="4800600" cy="1920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4A3B2A"/>
                </a:solidFill>
                <a:latin typeface="Georgia"/>
              </a:defRPr>
            </a:pPr>
            <a:r>
              <a:t>The corrected counts and percentages reconcile arithmetically.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4A3B2A"/>
                </a:solidFill>
                <a:latin typeface="Georgia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4A3B2A"/>
                </a:solidFill>
                <a:latin typeface="Georgia"/>
              </a:defRPr>
            </a:pPr>
            <a:r>
              <a:t>No statistical significance claim or confidence interval is reported.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94360" y="6309360"/>
            <a:ext cx="11000232" cy="0"/>
          </a:xfrm>
          <a:prstGeom prst="line">
            <a:avLst/>
          </a:prstGeom>
          <a:ln w="12700">
            <a:solidFill>
              <a:srgbClr val="D9C8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0080" y="6446520"/>
            <a:ext cx="996696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A3B2A"/>
                </a:solidFill>
                <a:latin typeface="Georgia"/>
              </a:defRPr>
            </a:pPr>
            <a:r>
              <a:t>Synthetic data • correction removes 13 duplicate positive treatment records • denominators unchanged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27080" y="6428232"/>
            <a:ext cx="594360" cy="2560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A3B2A"/>
                </a:solidFill>
                <a:latin typeface="Georgia"/>
              </a:defRPr>
            </a:pPr>
            <a:r>
              <a:t>06 / 08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100023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45B3A"/>
                </a:solidFill>
                <a:latin typeface="Georgia"/>
              </a:defRPr>
            </a:pPr>
            <a:r>
              <a:t>INTERPRETATION  /  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11000232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4A3B2A"/>
                </a:solidFill>
                <a:latin typeface="Georgia"/>
              </a:defRPr>
            </a:pPr>
            <a:r>
              <a:t>A higher observed rate, within a narrow study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463040"/>
            <a:ext cx="11000232" cy="0"/>
          </a:xfrm>
          <a:prstGeom prst="line">
            <a:avLst/>
          </a:prstGeom>
          <a:ln w="1905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77240" y="1783080"/>
            <a:ext cx="3703320" cy="4096512"/>
          </a:xfrm>
          <a:prstGeom prst="roundRect">
            <a:avLst/>
          </a:prstGeom>
          <a:solidFill>
            <a:srgbClr val="EAD6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2057400"/>
            <a:ext cx="3099816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C45B3A"/>
                </a:solidFill>
                <a:latin typeface="Georgia"/>
              </a:defRPr>
            </a:pPr>
            <a:r>
              <a:t>+7.7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2971800"/>
            <a:ext cx="3099816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4A3B2A"/>
                </a:solidFill>
                <a:latin typeface="Georgia"/>
              </a:defRPr>
            </a:pPr>
            <a:r>
              <a:t>percentage points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3749039"/>
            <a:ext cx="3099816" cy="1051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4A3B2A"/>
                </a:solidFill>
                <a:latin typeface="Georgia"/>
              </a:defRPr>
            </a:pPr>
            <a:r>
              <a:t>Observed treatment advantage in strength-test pass rate.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5010912"/>
            <a:ext cx="3099816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4A3B2A"/>
                </a:solidFill>
                <a:latin typeface="Georgia"/>
              </a:defRPr>
            </a:pPr>
            <a:r>
              <a:t>17 additional passes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4A3B2A"/>
                </a:solidFill>
                <a:latin typeface="Georgia"/>
              </a:defRPr>
            </a:pPr>
            <a:r>
              <a:t>out of 220.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1874519"/>
            <a:ext cx="617220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4A3B2A"/>
                </a:solidFill>
                <a:latin typeface="Georgia"/>
              </a:defRPr>
            </a:pPr>
            <a:r>
              <a:t>The measured sample difference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542032"/>
            <a:ext cx="6172200" cy="1371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4A3B2A"/>
                </a:solidFill>
                <a:latin typeface="Georgia"/>
              </a:defRPr>
            </a:pPr>
            <a:r>
              <a:t>Treatment passed at 65.5%, compared with 57.7% for control. The durability series also shows higher treatment values after cycle 0.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4160520"/>
            <a:ext cx="617220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4A3B2A"/>
                </a:solidFill>
                <a:latin typeface="Georgia"/>
              </a:defRPr>
            </a:pPr>
            <a:r>
              <a:t>The boundary of the claim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4782312"/>
            <a:ext cx="617220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4A3B2A"/>
                </a:solidFill>
                <a:latin typeface="Georgia"/>
              </a:defRPr>
            </a:pPr>
            <a:r>
              <a:t>The study covers one lab and one batch. The corrected sample difference does not establish broad field performance.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94360" y="6309360"/>
            <a:ext cx="11000232" cy="0"/>
          </a:xfrm>
          <a:prstGeom prst="line">
            <a:avLst/>
          </a:prstGeom>
          <a:ln w="12700">
            <a:solidFill>
              <a:srgbClr val="D9C8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40080" y="6446520"/>
            <a:ext cx="996696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A3B2A"/>
                </a:solidFill>
                <a:latin typeface="Georgia"/>
              </a:defRPr>
            </a:pPr>
            <a:r>
              <a:t>Synthetic data • sample difference calculated from exact corrected counts • no significance claim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27080" y="6428232"/>
            <a:ext cx="594360" cy="2560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A3B2A"/>
                </a:solidFill>
                <a:latin typeface="Georgia"/>
              </a:defRPr>
            </a:pPr>
            <a:r>
              <a:t>07 / 08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100023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45B3A"/>
                </a:solidFill>
                <a:latin typeface="Georgia"/>
              </a:defRPr>
            </a:pPr>
            <a:r>
              <a:t>NEXT STEP  /  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11000232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4A3B2A"/>
                </a:solidFill>
                <a:latin typeface="Georgia"/>
              </a:defRPr>
            </a:pPr>
            <a:r>
              <a:t>Replicate before making a deployment claim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463040"/>
            <a:ext cx="11000232" cy="0"/>
          </a:xfrm>
          <a:prstGeom prst="line">
            <a:avLst/>
          </a:prstGeom>
          <a:ln w="1905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77240" y="1783080"/>
            <a:ext cx="3337560" cy="3108960"/>
          </a:xfrm>
          <a:prstGeom prst="roundRect">
            <a:avLst/>
          </a:prstGeom>
          <a:solidFill>
            <a:srgbClr val="F1E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416552" y="1783080"/>
            <a:ext cx="3337560" cy="3108960"/>
          </a:xfrm>
          <a:prstGeom prst="roundRect">
            <a:avLst/>
          </a:prstGeom>
          <a:solidFill>
            <a:srgbClr val="F1E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46720" y="1783080"/>
            <a:ext cx="3337560" cy="3108960"/>
          </a:xfrm>
          <a:prstGeom prst="roundRect">
            <a:avLst/>
          </a:prstGeom>
          <a:solidFill>
            <a:srgbClr val="F1E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1" y="2011680"/>
            <a:ext cx="2825496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4A3B2A"/>
                </a:solidFill>
                <a:latin typeface="Georgia"/>
              </a:defRPr>
            </a:pPr>
            <a:r>
              <a:t>01  Replicate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1" y="2697480"/>
            <a:ext cx="2825496" cy="1874519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4A3B2A"/>
                </a:solidFill>
                <a:latin typeface="Georgia"/>
              </a:defRPr>
            </a:pPr>
            <a:r>
              <a:t>Run the study in 4 independent labs with blinded scoring.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4A3B2A"/>
                </a:solidFill>
                <a:latin typeface="Georgia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4A3B2A"/>
                </a:solidFill>
                <a:latin typeface="Georgia"/>
              </a:defRPr>
            </a:pPr>
            <a:r>
              <a:t>Preserve controls.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72584" y="2011680"/>
            <a:ext cx="2825496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4A3B2A"/>
                </a:solidFill>
                <a:latin typeface="Georgia"/>
              </a:defRPr>
            </a:pPr>
            <a:r>
              <a:t>02  Document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72584" y="2697480"/>
            <a:ext cx="2825496" cy="1874519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4A3B2A"/>
                </a:solidFill>
                <a:latin typeface="Georgia"/>
              </a:defRPr>
            </a:pPr>
            <a:r>
              <a:t>Preregister exclusions.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4A3B2A"/>
                </a:solidFill>
                <a:latin typeface="Georgia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4A3B2A"/>
                </a:solidFill>
                <a:latin typeface="Georgia"/>
              </a:defRPr>
            </a:pPr>
            <a:r>
              <a:t>Record batch conditions.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02752" y="2011680"/>
            <a:ext cx="2825496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4A3B2A"/>
                </a:solidFill>
                <a:latin typeface="Georgia"/>
              </a:defRPr>
            </a:pPr>
            <a:r>
              <a:t>03  Add a batch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2752" y="2697480"/>
            <a:ext cx="2825496" cy="1874519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4A3B2A"/>
                </a:solidFill>
                <a:latin typeface="Georgia"/>
              </a:defRPr>
            </a:pPr>
            <a:r>
              <a:t>A second batch is needed before any deployment claim.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230368"/>
            <a:ext cx="10607040" cy="868680"/>
          </a:xfrm>
          <a:prstGeom prst="roundRect">
            <a:avLst/>
          </a:prstGeom>
          <a:solidFill>
            <a:srgbClr val="EAD6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1" y="5367528"/>
            <a:ext cx="10094976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4A3B2A"/>
                </a:solidFill>
                <a:latin typeface="Georgia"/>
              </a:defRPr>
            </a:pPr>
            <a:r>
              <a:t>Decision: proceed to validation and replication.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4A3B2A"/>
                </a:solidFill>
                <a:latin typeface="Georgia"/>
              </a:defRPr>
            </a:pPr>
            <a:r>
              <a:t>Deployment evidence remains incomplete.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4360" y="6309360"/>
            <a:ext cx="11000232" cy="0"/>
          </a:xfrm>
          <a:prstGeom prst="line">
            <a:avLst/>
          </a:prstGeom>
          <a:ln w="12700">
            <a:solidFill>
              <a:srgbClr val="D9C8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40080" y="6446520"/>
            <a:ext cx="996696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A3B2A"/>
                </a:solidFill>
                <a:latin typeface="Georgia"/>
              </a:defRPr>
            </a:pPr>
            <a:r>
              <a:t>All data are synthetic. Proposed next steps address the limits of this fictional study.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27080" y="6428232"/>
            <a:ext cx="594360" cy="2560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A3B2A"/>
                </a:solidFill>
                <a:latin typeface="Georgia"/>
              </a:defRPr>
            </a:pPr>
            <a:r>
              <a:t>08 / 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