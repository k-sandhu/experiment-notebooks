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($k)</c:v>
                </c:pt>
              </c:strCache>
            </c:strRef>
          </c:tx>
          <c:spPr>
            <a:solidFill>
              <a:srgbClr val="9AA5B1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197</c:v>
                </c:pt>
                <c:pt idx="1">
                  <c:v>343</c:v>
                </c:pt>
                <c:pt idx="2">
                  <c:v>499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72</c:v>
                </c:pt>
                <c:pt idx="1">
                  <c:v>113</c:v>
                </c:pt>
                <c:pt idx="2">
                  <c:v>162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Actual output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860</c:v>
                </c:pt>
                <c:pt idx="1">
                  <c:v>790</c:v>
                </c:pt>
                <c:pt idx="2">
                  <c:v>1190</c:v>
                </c:pt>
                <c:pt idx="3">
                  <c:v>1190</c:v>
                </c:pt>
                <c:pt idx="4">
                  <c:v>1130</c:v>
                </c:pt>
                <c:pt idx="5">
                  <c:v>1170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M1</c:v>
                </c:pt>
                <c:pt idx="1">
                  <c:v>M2</c:v>
                </c:pt>
                <c:pt idx="2">
                  <c:v>M3</c:v>
                </c:pt>
                <c:pt idx="3">
                  <c:v>M4</c:v>
                </c:pt>
                <c:pt idx="4">
                  <c:v>M5</c:v>
                </c:pt>
                <c:pt idx="5">
                  <c:v>M6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1100</c:v>
                </c:pt>
                <c:pt idx="1">
                  <c:v>1100</c:v>
                </c:pt>
                <c:pt idx="2">
                  <c:v>1100</c:v>
                </c:pt>
                <c:pt idx="3">
                  <c:v>1100</c:v>
                </c:pt>
                <c:pt idx="4">
                  <c:v>1100</c:v>
                </c:pt>
                <c:pt idx="5">
                  <c:v>1100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saving ($k/yr)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Downside (80%)</c:v>
                </c:pt>
                <c:pt idx="1">
                  <c:v>Base (100%)</c:v>
                </c:pt>
                <c:pt idx="2">
                  <c:v>Upside (120%)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90.4</c:v>
                </c:pt>
                <c:pt idx="1">
                  <c:v>113</c:v>
                </c:pt>
                <c:pt idx="2">
                  <c:v>135.6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Daily demand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223</c:v>
                </c:pt>
                <c:pt idx="1">
                  <c:v>277</c:v>
                </c:pt>
                <c:pt idx="2">
                  <c:v>319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Daily capacity</c:v>
                </c:pt>
              </c:strCache>
            </c:strRef>
          </c:tx>
          <c:spPr>
            <a:solidFill>
              <a:srgbClr val="B8C2CC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North</c:v>
                </c:pt>
                <c:pt idx="1">
                  <c:v>East</c:v>
                </c:pt>
                <c:pt idx="2">
                  <c:v>West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240</c:v>
                </c:pt>
                <c:pt idx="1">
                  <c:v>310</c:v>
                </c:pt>
                <c:pt idx="2">
                  <c:v>330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CAPITAL ALLOCATION · EQUIPMENT INVESTMENT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333333"/>
                </a:solidFill>
                <a:latin typeface="Arial"/>
              </a:defRPr>
            </a:pPr>
            <a:r>
              <a:t>DECISION: SELECT OPTION B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Option B selected from three reference equipment options (A, B, C). All figures are synthetic.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2670048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2670048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$343k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1188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Investment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One-time capital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2651760"/>
            <a:ext cx="2670048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2651760"/>
            <a:ext cx="2670048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88036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$113k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61188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Annual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Per year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2651760"/>
            <a:ext cx="2670048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2651760"/>
            <a:ext cx="2670048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45936" y="288036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3.0 yrs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5936" y="361188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Simple payback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$343k ÷ $113k/yr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0264" y="2651760"/>
            <a:ext cx="2670048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0264" y="2651760"/>
            <a:ext cx="2670048" cy="54864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53144" y="288036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0055A4"/>
                </a:solidFill>
                <a:latin typeface="Arial"/>
              </a:defRPr>
            </a:pPr>
            <a:r>
              <a:t>−$4k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53144" y="3611880"/>
            <a:ext cx="23774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Three-year net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3 × $113k − $343k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00600"/>
            <a:ext cx="1109167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11064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Context: B is the mid-cost option. Option A has a shorter payback (2.7 yrs) and a positive three-year net (+$19k); Option C has the highest reference uptime (99.9%). Rollout remains conditional on the week-9 gate: measured uptime ≥ 99.6% (B reference: 99.1%), capacity validation at all sites, and completed training and validation.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OPTIONS: COST, SAVING AND UPTIME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B sits mid-range on cost and saving; A pays back fastest; C has the highest reference uptime.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603504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508760"/>
                <a:gridCol w="1508760"/>
                <a:gridCol w="1508760"/>
              </a:tblGrid>
              <a:tr h="5638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A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B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Option C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197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343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499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Annual saving ($k/yr)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162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Reference uptime (%)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99.9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Simple payback (yrs)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Three-year net ($k)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−13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949440" y="1874519"/>
            <a:ext cx="4663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Investment vs annual saving ($k)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949440" y="2286000"/>
          <a:ext cx="46634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48640" y="5577840"/>
            <a:ext cx="1109167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1064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55555"/>
                </a:solidFill>
                <a:latin typeface="Arial"/>
              </a:defRPr>
            </a:pPr>
            <a:r>
              <a:t>Payback = investment ÷ annual saving. Three-year net = 3 × annual saving − investment. Reference options stay unchanged; uptime values are reference figures, not proof of operational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PERFORMANCE: 270 UNITS BELOW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Six-month output reached 6,330 vs a 6,600 target; the gap came from M1 and M2.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749807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Monthly output vs target (units)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86000"/>
          <a:ext cx="7498079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503920" y="1920240"/>
            <a:ext cx="27432" cy="43891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0" y="192024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ACTUAL TOTAL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24028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33333"/>
                </a:solidFill>
                <a:latin typeface="Arial"/>
              </a:defRPr>
            </a:pPr>
            <a:r>
              <a:t>6,330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01752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TARGET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333756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33333"/>
                </a:solidFill>
                <a:latin typeface="Arial"/>
              </a:defRPr>
            </a:pPr>
            <a:r>
              <a:t>6,600 units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4114800"/>
            <a:ext cx="28346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SHORTFALL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443484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55A4"/>
                </a:solidFill>
                <a:latin typeface="Arial"/>
              </a:defRPr>
            </a:pPr>
            <a:r>
              <a:t>−270 units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5029200"/>
            <a:ext cx="28346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−4.1% vs target. M1 (−240) and M2 (−310) fell short; M3–M6 exceeded target by +280 combined.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SCENARIO: OPTION B SAVING SENSITIVITY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Investment held at $343k; annual saving flexed to 80% / 100% / 120% of $113k.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303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Annual saving by scenario ($k/year)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86000"/>
          <a:ext cx="530352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92024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Saving ($k/yr)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Payback (yrs)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3-yr net ($k)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(80%)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90.4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−71.8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(100%)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−4.0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Upside (120%)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135.6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+63.8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309360" y="4389120"/>
            <a:ext cx="530352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4526280"/>
            <a:ext cx="53035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Payback = $343k ÷ saving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Three-year net = 3 × saving − $343k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257800"/>
            <a:ext cx="5303520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Break-even three-year net requires saving of $114.3k/yr ($343k ÷ 3), just above the base case. Only the upside scenario returns a positive three-year net.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CAPACITY: NO SITE DEMAND ABOVE CAPACITY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Demand above capacity: none. West is tightest at 96.7% utilization (11 units/day headroom).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92024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6800"/>
                <a:gridCol w="1066800"/>
                <a:gridCol w="1066800"/>
                <a:gridCol w="1066800"/>
                <a:gridCol w="1066800"/>
                <a:gridCol w="10668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Site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Daily demand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Daily capacity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Headroom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Utilization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Demand &gt; capacity?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North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223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92.9%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East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277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+33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89.4%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319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330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+11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96.7%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" y="4754880"/>
            <a:ext cx="6400800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640080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Headroom = capacity − demand; utilization = demand ÷ capacity (units/day). Current headroom is not a substitute for the capacity validation required at the week-9 gate.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874519"/>
            <a:ext cx="42976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Daily demand vs capacity (units/day)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15200" y="2286000"/>
          <a:ext cx="4297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ROADMAP: 13 WEEKS TO ROLLOUT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Validate and Train run in parallel (weeks 6–8) after Build; both feed the week-9 gate.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3520440"/>
            <a:ext cx="11091672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78608"/>
            <a:ext cx="1600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TECHNICAL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904487"/>
            <a:ext cx="16002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55A4"/>
                </a:solidFill>
                <a:latin typeface="Arial"/>
              </a:defRPr>
            </a:pPr>
            <a:r>
              <a:t>PEOPLE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04872" y="2468880"/>
            <a:ext cx="1379829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2496312"/>
            <a:ext cx="1379829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Design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1–2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39565" y="2468880"/>
            <a:ext cx="2097633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9565" y="2496312"/>
            <a:ext cx="2097633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3–5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92063" y="2468880"/>
            <a:ext cx="2097633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92063" y="2496312"/>
            <a:ext cx="2097633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Validate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92063" y="3794760"/>
            <a:ext cx="2097633" cy="685800"/>
          </a:xfrm>
          <a:prstGeom prst="rect">
            <a:avLst/>
          </a:prstGeom>
          <a:solidFill>
            <a:srgbClr val="6C8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92063" y="3822191"/>
            <a:ext cx="2097633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Train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Wk 6–8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44560" y="2468880"/>
            <a:ext cx="662940" cy="201168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3154680"/>
            <a:ext cx="713232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Gate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Wk 9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2364" y="2468880"/>
            <a:ext cx="2777947" cy="201168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2364" y="3154680"/>
            <a:ext cx="2777947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Rollout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Wk 10–13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760720" y="3154680"/>
            <a:ext cx="0" cy="98298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760720" y="4137660"/>
            <a:ext cx="231343" cy="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40280" y="484632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Wk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484632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Wk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84632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Wk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484632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Wk 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484632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66666"/>
                </a:solidFill>
                <a:latin typeface="Arial"/>
              </a:defRPr>
            </a:pPr>
            <a:r>
              <a:t>Wk 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11091672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Rollout starts only after a GO at the week-9 gate. Validate and Train must both finish in weeks 6–8 for the gate to proceed.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333333"/>
                </a:solidFill>
                <a:latin typeface="Arial"/>
              </a:defRPr>
            </a:pPr>
            <a:r>
              <a:t>GATE: GO ONLY IF ALL THREE CRITERIA PASS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333333"/>
                </a:solidFill>
                <a:latin typeface="Arial"/>
              </a:defRPr>
            </a:pPr>
            <a:r>
              <a:t>Week-9 decision. Any unmet criterion results in HOLD.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5852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73152" cy="1143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1. Uptime ≥ 99.6% (measured)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5486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Option B reference uptime is 99.1%. Reference uptime is not proof of operational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46120"/>
            <a:ext cx="5852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" cy="1143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2. All sites pass capacity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703320"/>
            <a:ext cx="5486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North, East and West each validated; current demand is within capacity at all three.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572000"/>
            <a:ext cx="58521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572000"/>
            <a:ext cx="73152" cy="1143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5486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33333"/>
                </a:solidFill>
                <a:latin typeface="Arial"/>
              </a:defRPr>
            </a:pPr>
            <a:r>
              <a:t>3. Training and validation both finish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29200"/>
            <a:ext cx="548640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Both parallel workstreams (weeks 6–8) complete before the week-9 gate.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0" y="2491740"/>
            <a:ext cx="4572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3817620"/>
            <a:ext cx="4572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5143500"/>
            <a:ext cx="45720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2491740"/>
            <a:ext cx="0" cy="265176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3817620"/>
            <a:ext cx="365760" cy="0"/>
          </a:xfrm>
          <a:prstGeom prst="line">
            <a:avLst/>
          </a:prstGeom>
          <a:ln w="15875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223760" y="3246120"/>
            <a:ext cx="1828800" cy="1143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3474720"/>
            <a:ext cx="182880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ALL THREE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MET?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9052560" y="2926080"/>
            <a:ext cx="457200" cy="73152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052560" y="3977639"/>
            <a:ext cx="457200" cy="731521"/>
          </a:xfrm>
          <a:prstGeom prst="line">
            <a:avLst/>
          </a:prstGeom>
          <a:ln w="19050">
            <a:solidFill>
              <a:srgbClr val="7777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9509760" y="2286000"/>
            <a:ext cx="2130552" cy="128016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377440"/>
            <a:ext cx="194767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YES → GO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Proceed to rollout, weeks 10–13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4069080"/>
            <a:ext cx="2130552" cy="1280160"/>
          </a:xfrm>
          <a:prstGeom prst="rect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4160520"/>
            <a:ext cx="1947672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NO → HOLD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Remediate the unmet criterion, then re-assess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Arial"/>
              </a:defRPr>
            </a:pPr>
            <a:r>
              <a:t>RISK: SUPPLIER DELAY SCORES HIGHEST (4 × 3 = 12)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27432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IMPACT (1–5) ↑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737360"/>
            <a:ext cx="5029200" cy="4023360"/>
          </a:xfrm>
          <a:prstGeom prst="rect">
            <a:avLst/>
          </a:prstGeom>
          <a:solidFill>
            <a:srgbClr val="FFFFFF"/>
          </a:solidFill>
          <a:ln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103120" y="1737360"/>
            <a:ext cx="0" cy="402336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108960" y="1737360"/>
            <a:ext cx="0" cy="402336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0" y="1737360"/>
            <a:ext cx="0" cy="402336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120640" y="1737360"/>
            <a:ext cx="0" cy="402336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2542032"/>
            <a:ext cx="50292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97280" y="3346704"/>
            <a:ext cx="50292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97280" y="4151376"/>
            <a:ext cx="50292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97280" y="4956048"/>
            <a:ext cx="5029200" cy="0"/>
          </a:xfrm>
          <a:prstGeom prst="line">
            <a:avLst/>
          </a:prstGeom>
          <a:ln w="9525">
            <a:solidFill>
              <a:srgbClr val="E0E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41732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788152"/>
            <a:ext cx="3657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21224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16552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11880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807208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2002536"/>
            <a:ext cx="32004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55555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108192"/>
            <a:ext cx="5029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LIKELIHOOD (1–5) 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62272" y="3593592"/>
            <a:ext cx="310896" cy="31089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3931920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Supplier delay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L4 · I3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450592" y="2788920"/>
            <a:ext cx="310896" cy="310896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20240" y="3127248"/>
            <a:ext cx="137160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Training gap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  <a:latin typeface="Arial"/>
              </a:defRPr>
            </a:pPr>
            <a:r>
              <a:t>L2 · I4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766560" y="1737360"/>
          <a:ext cx="4846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9264"/>
                <a:gridCol w="969264"/>
                <a:gridCol w="969264"/>
                <a:gridCol w="969264"/>
                <a:gridCol w="969264"/>
              </a:tblGrid>
              <a:tr h="8534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Risk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Likelihood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Score (L×I)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Mitigation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Supplier delay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Pre-order critical parts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Training gap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Supervised practice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