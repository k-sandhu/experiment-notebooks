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71.4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C6A3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52</c:v>
                </c:pt>
                <c:pt idx="2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SIMULATED MATERIAL ANALYSIS  •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62863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Can Treatment Outperform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810512"/>
            <a:ext cx="74340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C6A3F"/>
                </a:solidFill>
                <a:latin typeface="Georgia"/>
              </a:defRPr>
            </a:pPr>
            <a:r>
              <a:t>A fictional material-screening study of pass rate and durability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2080" y="2423160"/>
            <a:ext cx="176479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234440" y="2743200"/>
            <a:ext cx="9720072" cy="16916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944368"/>
            <a:ext cx="8988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64992"/>
            <a:ext cx="89885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Does the treated material pass the predefined strength test more often than the control — and retain durability over repeated cycles?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663440"/>
            <a:ext cx="4709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00600"/>
            <a:ext cx="42519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✓  Random assignment was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663440"/>
            <a:ext cx="4709160" cy="105156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800600"/>
            <a:ext cx="42519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!  Scope: one lab and one batch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989320"/>
            <a:ext cx="97200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For technical stakeholders assessing the validity and consistency of the simulated outputs.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02  •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62863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A Balanced Two-Group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70683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C6A3F"/>
                </a:solidFill>
                <a:latin typeface="Georgia"/>
              </a:defRPr>
            </a:pPr>
            <a:r>
              <a:t>Equal groups, equal exposure, one predefined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291840" cy="182880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2057400"/>
            <a:ext cx="3291840" cy="1828800"/>
          </a:xfrm>
          <a:prstGeom prst="roundRect">
            <a:avLst/>
          </a:prstGeom>
          <a:solidFill>
            <a:srgbClr val="FD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57400"/>
            <a:ext cx="3291840" cy="182880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440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C6A3F"/>
                </a:solidFill>
                <a:latin typeface="Georgia"/>
              </a:defRPr>
            </a:pPr>
            <a:r>
              <a:t>220 + 220 = 440  •  Denominators are held fixed throughout this report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4526280"/>
          <a:ext cx="1063447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7236"/>
                <a:gridCol w="5317236"/>
              </a:tblGrid>
              <a:tr h="4229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As specified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&amp; equipment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Equal-duration exposure; same test equipment for both groups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Passing the predefined strength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03  •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Treatment Passed More Often: +13.6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(%)  —  predefined strength test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920240"/>
          <a:ext cx="60350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1508760"/>
            <a:ext cx="4233672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64208"/>
            <a:ext cx="3776472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ABSOLUTE DIFFERENCE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71.4% − 57.7% = 13.6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157 − 127 = 30 more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per 220 samples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78040" y="3703320"/>
          <a:ext cx="423367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24"/>
                <a:gridCol w="1411224"/>
                <a:gridCol w="1411224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 / denom.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/ 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 / 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Exact counts: Control 127/220 = 57.7%  •  Treatment 157/220 = 71.4%  •  Did not pass: 93 control, 63 treatment. Denominators fixed at 220.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989320"/>
            <a:ext cx="10634472" cy="45720"/>
          </a:xfrm>
          <a:prstGeom prst="rect">
            <a:avLst/>
          </a:prstGeom>
          <a:solidFill>
            <a:srgbClr val="D9C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12648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Synthetic data. This is an observed sample difference — see Audit (slide 6) before drawing inferences.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04  •  TIMECOURSE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Durability Faded More Slowly With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Durability retained (%) by cycles  —  axis starts at zero in chart data view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874519"/>
          <a:ext cx="6949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3212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Cycles →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1874519"/>
          <a:ext cx="336499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664"/>
                <a:gridCol w="1121664"/>
                <a:gridCol w="1121664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Treat.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4572000"/>
            <a:ext cx="3364992" cy="12344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4709160"/>
            <a:ext cx="2962656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73 − 58 = 15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higher for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C6A3F"/>
                </a:solidFill>
                <a:latin typeface="Georgia"/>
              </a:defRPr>
            </a:pPr>
            <a:r>
              <a:t>All eight values retained: Control 100, 86, 72, 58%  •  Treatment 100, 91, 82, 73%.  Decline 0→300: −42 vs −27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05  •  SUBGROUPS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Batch Labels: Counts, Not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(n passes)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874519"/>
          <a:ext cx="62179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81328"/>
            <a:ext cx="4050791" cy="182880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645920"/>
            <a:ext cx="3593592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READ WITH CARE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These are counts, not subgroup pass rates. Subgroup denominators are not supplied, so no % can be calculated.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520440"/>
            <a:ext cx="4050791" cy="160020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675887"/>
            <a:ext cx="3593592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CHECK THE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52 + 52 + 53 = 157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Matches the treatment total on slide 3.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5349240"/>
          <a:ext cx="106344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894"/>
                <a:gridCol w="2126894"/>
                <a:gridCol w="2126894"/>
                <a:gridCol w="2126894"/>
                <a:gridCol w="212689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06  • 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Audit Pending — Claims Must Wait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4472" cy="123444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7727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STATUS:  The initial extract awaits a duplicate-record audit. Findings are provisional until that audit is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08960"/>
            <a:ext cx="5166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73552"/>
            <a:ext cx="4709160" cy="1965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WHAT IS NOT CLAIMED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✕ 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     (none is supplied or invented)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108960"/>
            <a:ext cx="5166360" cy="228600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273552"/>
            <a:ext cx="4709160" cy="1965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WHAT CAN BE STATED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 The exact counts as extracted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 127/220 vs 157/220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 The arithmetic: +13.6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Stakeholder check: if duplicates are found, counts, denominators and the 13.6-point difference must all be recomputed before any conclusion is retained.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07  •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What the Data Say — and Do Not Say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10634472" cy="141732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858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The observed treatment pass rate is higher by 13.6 percentage points (71.4% vs 57.7%).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5166360" cy="21488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47872"/>
            <a:ext cx="4709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SUPPORTED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measured difference in this sample: 157/220 vs 127/220, with slower durability loss to 300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38328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547872"/>
            <a:ext cx="4709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NOT SUPPORTED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Evidence of broad field performance. One lab, one batch, and an audit still pending limit any wider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760720"/>
            <a:ext cx="92628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Interpretation: promising within this simulated sample — not a deployment finding.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08  •  NEXT STEP  • 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Replicate Before Any Deployment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34472" cy="11430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858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DECISION:  Replicate in 3 independent labs with blinded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 — PRESERVE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Keep controls and the same predefined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2 — PREREGISTER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Preregister exclusions before testing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3 — 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Record batch conditions in full for every lab.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12080"/>
            <a:ext cx="10634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76672"/>
            <a:ext cx="10177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Gate: A second batch is needed before any deployment claim.  •  Complete the duplicate-record audit on the current extract.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All data in this report are synthetic and drawn from one lab and one batch.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