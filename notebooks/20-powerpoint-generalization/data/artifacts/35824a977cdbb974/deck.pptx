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Successful</c:v>
                </c:pt>
                <c:pt idx="1">
                  <c:v>Failed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7820</c:v>
                </c:pt>
                <c:pt idx="1">
                  <c:v>1180</c:v>
                </c:pt>
              </c:numCache>
            </c:numRef>
          </c:val>
        </c:ser>
        <c:dLbls>
          <c:txPr>
            <a:bodyPr/>
            <a:lstStyle/>
            <a:p>
              <a:pPr>
                <a:defRPr sz="17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D7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7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7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86868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01 /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09728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768096"/>
            <a:ext cx="59436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881360" cy="1783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FFFFFF"/>
                </a:solidFill>
                <a:latin typeface="Calibri"/>
              </a:defRPr>
            </a:pPr>
            <a:r>
              <a:t>74 MINUTES.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FFFFFF"/>
                </a:solidFill>
                <a:latin typeface="Calibri"/>
              </a:defRPr>
            </a:pPr>
            <a:r>
              <a:t>RECOVERY VERIFIED.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D700"/>
                </a:solidFill>
                <a:latin typeface="Calibri"/>
              </a:defRPr>
            </a:pPr>
            <a:r>
              <a:t>Fictional service interruption | 09:00–10:14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4251960"/>
            <a:ext cx="1078992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4590288"/>
            <a:ext cx="32918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29200"/>
            <a:ext cx="32918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590288"/>
            <a:ext cx="32918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029200"/>
            <a:ext cx="32918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09:35–09:48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Rollback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32918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029200"/>
            <a:ext cx="32918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10:14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Error rate at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02 /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881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1,180 REQUESTS FAILED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47088"/>
            <a:ext cx="10789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AFB3C7"/>
                </a:solidFill>
                <a:latin typeface="Calibri"/>
              </a:defRPr>
            </a:pPr>
            <a:r>
              <a:t>Incident window: 09:00–10:14 • Counts measure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3749039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D700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3977639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1,180 failed ÷ 9,000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≈ 13.1% window-wide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514600"/>
            <a:ext cx="64922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REQUEST OUTCOMES • NUMBER OF REQUESTS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800600" y="2999232"/>
          <a:ext cx="6720840" cy="23957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5596128"/>
            <a:ext cx="10835640" cy="566928"/>
          </a:xfrm>
          <a:prstGeom prst="rect">
            <a:avLst/>
          </a:prstGeom>
          <a:solidFill>
            <a:srgbClr val="2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5596128"/>
            <a:ext cx="118872" cy="5669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332720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Distinct affected users are unknown. Request counts do not identify affected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03 /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881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FROM DEPLOYMENT TO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789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AFB3C7"/>
                </a:solidFill>
                <a:latin typeface="Calibri"/>
              </a:defRPr>
            </a:pPr>
            <a:r>
              <a:t>74 minutes elapsed • Event positions reflect elapsed time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520440"/>
            <a:ext cx="102870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68680" y="3154680"/>
            <a:ext cx="0" cy="36576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80590" y="3520440"/>
            <a:ext cx="0" cy="64008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31489" y="3154680"/>
            <a:ext cx="0" cy="36576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4202" y="3520440"/>
            <a:ext cx="0" cy="64008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41056" y="3154680"/>
            <a:ext cx="0" cy="36576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155680" y="3520440"/>
            <a:ext cx="0" cy="64008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77240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89150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40049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42762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49616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064240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395728"/>
            <a:ext cx="210312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51960"/>
            <a:ext cx="2011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09:08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First 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2395728"/>
            <a:ext cx="297180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09:17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251960"/>
            <a:ext cx="25603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09:35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Rollback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395728"/>
            <a:ext cx="297180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Rollback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251960"/>
            <a:ext cx="2651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10:14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Error rate returns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to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577840"/>
            <a:ext cx="10835640" cy="502920"/>
          </a:xfrm>
          <a:prstGeom prst="rect">
            <a:avLst/>
          </a:prstGeom>
          <a:solidFill>
            <a:srgbClr val="2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641848"/>
            <a:ext cx="104241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8 min to alert  •  13 min rollback  •  26 min from rollback completion to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04 /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FFFFF"/>
                </a:solidFill>
                <a:latin typeface="Calibri"/>
              </a:defRPr>
            </a:pPr>
            <a:r>
              <a:t>SIX OBSERVATIONS. A CLEAR SURGE.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47672"/>
            <a:ext cx="72237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OBSERVED ERROR RATE (%)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423160"/>
          <a:ext cx="7726679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0" y="2468880"/>
            <a:ext cx="109728" cy="3017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2514600"/>
            <a:ext cx="24688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337560"/>
            <a:ext cx="25603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Highest sampled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rate at 09:30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4645152"/>
            <a:ext cx="25603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FB3C7"/>
                </a:solidFill>
                <a:latin typeface="Calibri"/>
              </a:defRPr>
            </a:pPr>
            <a:r>
              <a:t>10:15 sample is after the 10:14 recovery.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24728"/>
            <a:ext cx="10789920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Sampled rates differ from the window-wide rate: 1,180 ÷ 9,000 ≈ 13.1%.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05 /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OBSERVATIONS ≠ PROVEN CAUSE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94560"/>
            <a:ext cx="5166360" cy="3017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32304"/>
            <a:ext cx="4663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4572000" cy="187451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B0C15"/>
                </a:solidFill>
                <a:latin typeface="Calibri"/>
              </a:defRPr>
            </a:pPr>
            <a:r>
              <a:t>Connection pool saturation after deployment.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B0C15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B0C15"/>
                </a:solidFill>
                <a:latin typeface="Calibri"/>
              </a:defRPr>
            </a:pPr>
            <a:r>
              <a:t>Recovery after rollback.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450592"/>
            <a:ext cx="5349240" cy="2761488"/>
          </a:xfrm>
          <a:prstGeom prst="rect">
            <a:avLst/>
          </a:prstGeom>
          <a:solidFill>
            <a:srgbClr val="2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688336"/>
            <a:ext cx="470916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D700"/>
                </a:solidFill>
                <a:latin typeface="Calibri"/>
              </a:defRPr>
            </a:pPr>
            <a:r>
              <a:t>WORKING 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383280"/>
            <a:ext cx="461772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Calibri"/>
              </a:defRPr>
            </a:pPr>
            <a:r>
              <a:t>Retry amplification under the new configuration.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5532120"/>
            <a:ext cx="123444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48840" y="5404104"/>
            <a:ext cx="9144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 causal load test has not yet been completed.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root-cause hypothesis remains unconfirmed.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06 /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ROLL BACK. THEN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1952"/>
            <a:ext cx="1078992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AFB3C7"/>
                </a:solidFill>
                <a:latin typeface="Calibri"/>
              </a:defRPr>
            </a:pPr>
            <a:r>
              <a:t>Response sequence • Verification follows rollback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3456432"/>
            <a:ext cx="91440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2944368"/>
            <a:ext cx="1965960" cy="1005840"/>
          </a:xfrm>
          <a:prstGeom prst="rect">
            <a:avLst/>
          </a:prstGeom>
          <a:solidFill>
            <a:srgbClr val="24263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98648" y="2944368"/>
            <a:ext cx="1965960" cy="1005840"/>
          </a:xfrm>
          <a:prstGeom prst="rect">
            <a:avLst/>
          </a:prstGeom>
          <a:solidFill>
            <a:srgbClr val="24263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11496" y="2944368"/>
            <a:ext cx="1965960" cy="1005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24344" y="2944368"/>
            <a:ext cx="1965960" cy="1005840"/>
          </a:xfrm>
          <a:prstGeom prst="rect">
            <a:avLst/>
          </a:prstGeom>
          <a:solidFill>
            <a:srgbClr val="24263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37192" y="2944368"/>
            <a:ext cx="1965960" cy="1005840"/>
          </a:xfrm>
          <a:prstGeom prst="rect">
            <a:avLst/>
          </a:prstGeom>
          <a:solidFill>
            <a:srgbClr val="24263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178308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3108960"/>
            <a:ext cx="178308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2936" y="3108960"/>
            <a:ext cx="178308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03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Rollback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5783" y="3108960"/>
            <a:ext cx="178308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Verify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2912" y="3108960"/>
            <a:ext cx="1874519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Retrospective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681728"/>
            <a:ext cx="5166360" cy="1161288"/>
          </a:xfrm>
          <a:prstGeom prst="rect">
            <a:avLst/>
          </a:prstGeom>
          <a:solidFill>
            <a:srgbClr val="2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46634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ON-CALL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Handles rollback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910328"/>
            <a:ext cx="5330952" cy="1161288"/>
          </a:xfrm>
          <a:prstGeom prst="rect">
            <a:avLst/>
          </a:prstGeom>
          <a:solidFill>
            <a:srgbClr val="2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074920"/>
            <a:ext cx="48463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D700"/>
                </a:solidFill>
                <a:latin typeface="Calibri"/>
              </a:defRPr>
            </a:pPr>
            <a:r>
              <a:t>SERVICE OWNER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D700"/>
                </a:solidFill>
                <a:latin typeface="Calibri"/>
              </a:defRPr>
            </a:pPr>
            <a:r>
              <a:t>Authorizes restoration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07 /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TWO PLANNED. ONE COMPLETE.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1952"/>
            <a:ext cx="1078992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AFB3C7"/>
                </a:solidFill>
                <a:latin typeface="Calibri"/>
              </a:defRPr>
            </a:pPr>
            <a:r>
              <a:t>Track the remaining work through delivery and validation.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697480"/>
          <a:ext cx="1083564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10"/>
                <a:gridCol w="2708910"/>
                <a:gridCol w="2708910"/>
                <a:gridCol w="2708910"/>
              </a:tblGrid>
              <a:tr h="704088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By day 12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By day 7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By day 5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5806440"/>
            <a:ext cx="8686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7360" y="5943600"/>
            <a:ext cx="50292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5733288"/>
            <a:ext cx="8961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Recurrence prevention still depends on the planned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08 /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RECOVERED. WORK REMAINS.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31720"/>
            <a:ext cx="658368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14016"/>
            <a:ext cx="566928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286000"/>
            <a:ext cx="9509760" cy="4297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D700"/>
                </a:solidFill>
                <a:latin typeface="Calibri"/>
              </a:defRPr>
            </a:pPr>
            <a:r>
              <a:t>SEPARATE EVIDENCE FROM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761488"/>
            <a:ext cx="95097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Saturation and recovery were observed; retry amplification remains a hypothesis.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39312"/>
            <a:ext cx="658368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21608"/>
            <a:ext cx="566928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593592"/>
            <a:ext cx="9281160" cy="4297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D700"/>
                </a:solidFill>
                <a:latin typeface="Calibri"/>
              </a:defRPr>
            </a:pPr>
            <a:r>
              <a:t>KEEP REQUESTS DISTINCT FROM 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069080"/>
            <a:ext cx="92811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1,180 failed requests. Distinct affected users are unknown.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946904"/>
            <a:ext cx="658368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029200"/>
            <a:ext cx="566928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901184"/>
            <a:ext cx="9052560" cy="4297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VERIFY RECOVERY. FINISH PREVENTION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394960"/>
            <a:ext cx="90525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Recovery is verified. Preventing recurrence still depends on planned retry limits and the causal load test.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