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1220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138.4</c:v>
                </c:pt>
                <c:pt idx="1">
                  <c:v>173</c:v>
                </c:pt>
                <c:pt idx="2">
                  <c:v>207.6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for 3-yr break-even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176</c:v>
                </c:pt>
                <c:pt idx="1">
                  <c:v>176</c:v>
                </c:pt>
                <c:pt idx="2">
                  <c:v>176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</c:v>
                </c:pt>
                <c:pt idx="1">
                  <c:v>294</c:v>
                </c:pt>
                <c:pt idx="2">
                  <c:v>338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capacity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01 /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Recommendation: select Option 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Option C is the only option whose reference uptime (99.9%) clears the 99.6% gate threshold. It pays back in 3.1 years and is $9k short of break-even at three years.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$528k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$173k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3.1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−$9k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Three-year 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1091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Arithmetic: payback = 528 ÷ 173 = 3.05 ≈ 3.1 years   |   three-year net = 3 × 173 − 528 = 519 − 528 = −$9k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Condition: rollout proceeds only on GO at the week-10 gate, which requires ≥ 99.6% operational uptime, all sites passing capacity validation, and finished training and validation. C's 99.9% is reference uptime, which is not proof of operational performance. All data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02 /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C is the only option above the 99.6% uptime threshold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9494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62483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 (selected)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(yrs)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863840" y="1783080"/>
            <a:ext cx="0" cy="1005840"/>
          </a:xfrm>
          <a:prstGeom prst="line">
            <a:avLst/>
          </a:prstGeom>
          <a:ln w="381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46720" y="1737360"/>
            <a:ext cx="359359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A — lowest cost, fastest payback (2.7 yrs), +$23k at three years; but 97.8% uptime is 1.8 pts below the 99.6% threshold.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0" y="3063240"/>
            <a:ext cx="0" cy="1005840"/>
          </a:xfrm>
          <a:prstGeom prst="line">
            <a:avLst/>
          </a:prstGeom>
          <a:ln w="381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46720" y="3017520"/>
            <a:ext cx="359359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B — mid-range cost, break-even at 3.0 years; 99.1% uptime is 0.5 pts below the threshold.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4343400"/>
            <a:ext cx="0" cy="100584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0" y="4297680"/>
            <a:ext cx="359359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C — highest cost and saving; −$9k at three years, but 99.9% reference uptime is 0.3 pts above the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Payback = investment ÷ annual saving (A 214 ÷ 79; B 366 ÷ 122; C 528 ÷ 173). Three-year net = 3 × saving − investment (A 237 − 214; B 366 − 366; C 519 − 528). Reference options stay unchanged.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03 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Output missed target by 720 units (10.9%) over six months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Monthly output vs target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7498079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965960"/>
            <a:ext cx="3227832" cy="96012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1168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5,880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Actual total (units)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3063240"/>
            <a:ext cx="3227832" cy="96012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10896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6,600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61188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Target total (6 × 1,100)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160520"/>
            <a:ext cx="3227832" cy="9601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42062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99"/>
                </a:solidFill>
                <a:latin typeface="Calibri"/>
              </a:defRPr>
            </a:pPr>
            <a:r>
              <a:t>−720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0916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Shortfall (10.9% of target)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303520"/>
            <a:ext cx="322783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M3 (+20), M4 (+120) and M5 (+10) beat target. M1 (−360) and M2 (−320) drive 680 of the 720 gap; M6 is −190.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04 /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Only the upside case breaks even within three years for 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Option C annual saving by scenario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965960"/>
          <a:ext cx="48737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438"/>
                <a:gridCol w="1218438"/>
                <a:gridCol w="1218438"/>
                <a:gridCol w="1218438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138.4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3.82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−112.8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207.6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+94.8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343400"/>
            <a:ext cx="4873752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4389120"/>
            <a:ext cx="46177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Payback = 528 ÷ saving; three-year net = 3 × saving − 528.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Downside: 528 ÷ 138.4 = 3.82 yrs; 415.2 − 528 = −112.8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Base: 528 ÷ 173 = 3.05 yrs; 519 − 528 = −9.0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Upside: 528 ÷ 207.6 = 2.54 yrs; 622.8 − 528 = +94.8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Break-even in 3 yrs needs 528 ÷ 3 = 176 $k/yr; ±20% saving swings net ±$103.8k.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05 /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West demand exceeds capacity by 8 per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6583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Daily demand vs daily capacity by site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capacity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DEMAND ABOVE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00600"/>
            <a:ext cx="73152" cy="12801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63550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West: 338 − 330 = 8 over capacity (2.4%). North headroom is thin at 4 (1.7%). All sites must pass capacity validation before the gate can return 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422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Demand vs capacity (per day)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79" y="1965960"/>
          <a:ext cx="4142232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06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14-week plan: parallel Validate and Train both feed the week-10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1691640"/>
            <a:ext cx="1097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691640"/>
            <a:ext cx="1097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691640"/>
            <a:ext cx="1097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4432" y="169164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1672" cy="1188720"/>
          </a:xfrm>
          <a:prstGeom prst="rect">
            <a:avLst/>
          </a:prstGeom>
          <a:solidFill>
            <a:srgbClr val="222222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91672" cy="1188720"/>
          </a:xfrm>
          <a:prstGeom prst="rect">
            <a:avLst/>
          </a:prstGeom>
          <a:solidFill>
            <a:srgbClr val="222222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23160"/>
            <a:ext cx="1280160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496312"/>
            <a:ext cx="1280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DESIGN wk 1–2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2423160"/>
            <a:ext cx="1938528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2496312"/>
            <a:ext cx="193852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BUILD wk 3–5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23160"/>
            <a:ext cx="1938528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496312"/>
            <a:ext cx="193852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VALIDATE wk 6–8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3886200"/>
            <a:ext cx="1938528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3959352"/>
            <a:ext cx="193852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TRAIN wk 6–8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41264" y="2971800"/>
            <a:ext cx="0" cy="118872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16368" y="2697480"/>
            <a:ext cx="694944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16368" y="4160520"/>
            <a:ext cx="694944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11312" y="2240280"/>
            <a:ext cx="621792" cy="237744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3108960"/>
            <a:ext cx="87782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wk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6256" y="2423160"/>
            <a:ext cx="2596896" cy="2011680"/>
          </a:xfrm>
          <a:prstGeom prst="rect">
            <a:avLst/>
          </a:prstGeom>
          <a:solidFill>
            <a:srgbClr val="2A2A2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6256" y="3108960"/>
            <a:ext cx="259689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11–14 (on GO)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Build (wk 3–5) releases both lanes: Validate and Train run in parallel in weeks 6–8. Both must finish before the week-10 gate; rollout runs weeks 11–14 only after 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07 /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GO requires all three criteria; otherwise HOLD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783080"/>
            <a:ext cx="5120640" cy="10058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1  Operational uptime ≥ 99.6%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754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C reference uptime is 99.9%; it must be proven 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5120640" cy="10058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2  All sites pass capacity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754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West demand 338 exceeds capacity 330 per day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5120640" cy="10058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3  Training and validation both finished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4754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Both scheduled for weeks 6–8, ahead of the week-10 gate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228600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347472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80" y="466344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17920" y="2286000"/>
            <a:ext cx="0" cy="237744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7920" y="347472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66560" y="2697480"/>
            <a:ext cx="2194560" cy="15544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2194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all three met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3474720"/>
            <a:ext cx="365760" cy="0"/>
          </a:xfrm>
          <a:prstGeom prst="line">
            <a:avLst/>
          </a:prstGeom>
          <a:ln w="254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326880" y="2697480"/>
            <a:ext cx="2313432" cy="1554480"/>
          </a:xfrm>
          <a:prstGeom prst="rect">
            <a:avLst/>
          </a:prstGeom>
          <a:solidFill>
            <a:srgbClr val="24242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926080"/>
            <a:ext cx="23134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any criterion unmet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A9A9A"/>
                </a:solidFill>
                <a:latin typeface="Calibri"/>
              </a:defRPr>
            </a:pPr>
            <a:r>
              <a:t>Caveat: reference uptime is not proof of operational performance. The gate must use uptime measured during validation, not supplier reference figures.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08 /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Supplier delay is the larger exposure (score 12 vs 8)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737360"/>
            <a:ext cx="4114800" cy="411480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03120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749039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256032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0160" y="338328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420624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502920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1732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3464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011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62179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0E0E0"/>
                </a:solidFill>
                <a:latin typeface="Calibri"/>
              </a:defRPr>
            </a:pPr>
            <a:r>
              <a:t>LIKELIHOOD (1–5)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1417320"/>
            <a:ext cx="1463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0E0E0"/>
                </a:solidFill>
                <a:latin typeface="Calibri"/>
              </a:defRPr>
            </a:pPr>
            <a:r>
              <a:t>↑ IMPACT (1–5)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3657600"/>
            <a:ext cx="274320" cy="2743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931920"/>
            <a:ext cx="1600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Supplier delay (4,3)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834640"/>
            <a:ext cx="27432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3108960"/>
            <a:ext cx="1600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0E0E0"/>
                </a:solidFill>
                <a:latin typeface="Calibri"/>
              </a:defRPr>
            </a:pPr>
            <a:r>
              <a:t>Training gap (2,4)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035040" y="1737360"/>
          <a:ext cx="56052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54"/>
                <a:gridCol w="1121054"/>
                <a:gridCol w="1121054"/>
                <a:gridCol w="1121054"/>
                <a:gridCol w="1121056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Score (L×I)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