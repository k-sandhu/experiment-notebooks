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Demand in lead time</c:v>
                </c:pt>
                <c:pt idx="1">
                  <c:v>Safety stock</c:v>
                </c:pt>
                <c:pt idx="2">
                  <c:v>Reorder point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22</c:v>
                </c:pt>
                <c:pt idx="2">
                  <c:v>97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Inventory position</c:v>
                </c:pt>
                <c:pt idx="1">
                  <c:v>Reorder point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92</c:v>
                </c:pt>
                <c:pt idx="1">
                  <c:v>97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0" y="411480"/>
            <a:ext cx="816559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STOCKROOM BASICS  •  FOR NEW COORDINATORS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962863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4A3B2A"/>
                </a:solidFill>
                <a:latin typeface="Georgia"/>
              </a:defRPr>
            </a:pPr>
            <a:r>
              <a:t>When Should We Reorder?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874519"/>
            <a:ext cx="7799831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7A5C3E"/>
                </a:solidFill>
                <a:latin typeface="Georgia"/>
              </a:defRPr>
            </a:pPr>
            <a:r>
              <a:t>A simple reorder-point rule you can apply on every shift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94960" y="2514600"/>
            <a:ext cx="1399032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828800" y="2788920"/>
            <a:ext cx="8531352" cy="1325880"/>
          </a:xfrm>
          <a:prstGeom prst="roundRect">
            <a:avLst/>
          </a:prstGeom>
          <a:solidFill>
            <a:srgbClr val="F2E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2926080"/>
            <a:ext cx="7982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LEARNING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3246120"/>
            <a:ext cx="7799831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A3B2A"/>
                </a:solidFill>
                <a:latin typeface="Georgia"/>
              </a:defRPr>
            </a:pPr>
            <a:r>
              <a:t>Teach novice stockroom coordinators a simple reorder-point rule — explain the logic, work through an example, then try a short practice exercise.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480560"/>
            <a:ext cx="3383280" cy="1417320"/>
          </a:xfrm>
          <a:prstGeom prst="roundRect">
            <a:avLst/>
          </a:prstGeom>
          <a:solidFill>
            <a:srgbClr val="FFFDF6"/>
          </a:solidFill>
          <a:ln>
            <a:solidFill>
              <a:srgbClr val="D9C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617720"/>
            <a:ext cx="3017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1 — LEARN THE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983480"/>
            <a:ext cx="29260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Two formulas and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one clear trigger.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4480560"/>
            <a:ext cx="3383280" cy="1417320"/>
          </a:xfrm>
          <a:prstGeom prst="roundRect">
            <a:avLst/>
          </a:prstGeom>
          <a:solidFill>
            <a:srgbClr val="FFFDF6"/>
          </a:solidFill>
          <a:ln>
            <a:solidFill>
              <a:srgbClr val="D9C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4617720"/>
            <a:ext cx="3017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2 — WORK AN 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4983480"/>
            <a:ext cx="29260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Every arithmetic step,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with units labelled.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6" y="4480560"/>
            <a:ext cx="3383280" cy="1417320"/>
          </a:xfrm>
          <a:prstGeom prst="roundRect">
            <a:avLst/>
          </a:prstGeom>
          <a:solidFill>
            <a:srgbClr val="FFFDF6"/>
          </a:solidFill>
          <a:ln>
            <a:solidFill>
              <a:srgbClr val="D9C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4617720"/>
            <a:ext cx="3017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3 — PRACTISE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6" y="4983480"/>
            <a:ext cx="29260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Decide ORDER or WAIT —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answer revealed after.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6263640"/>
            <a:ext cx="85313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5C3E"/>
                </a:solidFill>
                <a:latin typeface="Georgia"/>
              </a:defRPr>
            </a:pPr>
            <a:r>
              <a:t>All data in this guide are synthetic, for training only.   •   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4457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THE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1036015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A3B2A"/>
                </a:solidFill>
                <a:latin typeface="Georgia"/>
              </a:defRPr>
            </a:pPr>
            <a:r>
              <a:t>Two Formulas, One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49240" cy="1783080"/>
          </a:xfrm>
          <a:prstGeom prst="roundRect">
            <a:avLst/>
          </a:prstGeom>
          <a:solidFill>
            <a:srgbClr val="F2E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8920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①  REORDER POINT  —  the trigger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8920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3B2A"/>
                </a:solidFill>
                <a:latin typeface="Georgia"/>
              </a:defRPr>
            </a:pPr>
            <a:r>
              <a:t>Reorder point = daily demand × lead time in days + safety stock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48920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5C3E"/>
                </a:solidFill>
                <a:latin typeface="Georgia"/>
              </a:defRPr>
            </a:pPr>
            <a:r>
              <a:t>Demand expected while we wait, plus a buffer.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08192" y="1554480"/>
            <a:ext cx="5349240" cy="1783080"/>
          </a:xfrm>
          <a:prstGeom prst="roundRect">
            <a:avLst/>
          </a:prstGeom>
          <a:solidFill>
            <a:srgbClr val="F2E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691640"/>
            <a:ext cx="48920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②  INVENTORY POSITION  —  where we 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2057400"/>
            <a:ext cx="48920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3B2A"/>
                </a:solidFill>
                <a:latin typeface="Georgia"/>
              </a:defRPr>
            </a:pPr>
            <a:r>
              <a:t>Inventory position = on-hand + on-order − committed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2743200"/>
            <a:ext cx="48920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5C3E"/>
                </a:solidFill>
                <a:latin typeface="Georgia"/>
              </a:defRPr>
            </a:pPr>
            <a:r>
              <a:t>What we have and have coming, less what is promised.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54480" y="3566160"/>
            <a:ext cx="9079992" cy="96012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3703320"/>
            <a:ext cx="862279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8E7"/>
                </a:solidFill>
                <a:latin typeface="Georgia"/>
              </a:defRPr>
            </a:pPr>
            <a:r>
              <a:t>THE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023360"/>
            <a:ext cx="862279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Georgia"/>
              </a:defRPr>
            </a:pPr>
            <a:r>
              <a:t>Place an order when inventory position ≤ reorder point.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31520" y="4800600"/>
          <a:ext cx="1072591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5304"/>
                <a:gridCol w="3575304"/>
                <a:gridCol w="3575304"/>
              </a:tblGrid>
              <a:tr h="3429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Term</a:t>
                      </a: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Meaning</a:t>
                      </a: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Unit</a:t>
                      </a: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Daily demand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Average units used per day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units / day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Lead time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Days from ordering to arrival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days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Safety stock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Buffer held for uncertainty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0332720" y="6400800"/>
            <a:ext cx="10972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5C3E"/>
                </a:solidFill>
                <a:latin typeface="Georgia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4457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1036015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4A3B2A"/>
                </a:solidFill>
                <a:latin typeface="Georgia"/>
              </a:defRPr>
            </a:pPr>
            <a:r>
              <a:t>Building a Reorder Point of 97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577840" cy="1143000"/>
          </a:xfrm>
          <a:prstGeom prst="roundRect">
            <a:avLst/>
          </a:prstGeom>
          <a:solidFill>
            <a:srgbClr val="FFFDF6"/>
          </a:solidFill>
          <a:ln>
            <a:solidFill>
              <a:srgbClr val="D9C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5120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STEP 1 — Demand during lead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5120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15 units/day × 5 days  =  75 units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80360"/>
            <a:ext cx="5577840" cy="1143000"/>
          </a:xfrm>
          <a:prstGeom prst="roundRect">
            <a:avLst/>
          </a:prstGeom>
          <a:solidFill>
            <a:srgbClr val="FFFDF6"/>
          </a:solidFill>
          <a:ln>
            <a:solidFill>
              <a:srgbClr val="D9C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017520"/>
            <a:ext cx="5120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STEP 2 — Add the safety buffer (once)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37560"/>
            <a:ext cx="5120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75 units + 22 units  =  97 units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5577840" cy="1234440"/>
          </a:xfrm>
          <a:prstGeom prst="roundRect">
            <a:avLst/>
          </a:prstGeom>
          <a:solidFill>
            <a:srgbClr val="F2E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343400"/>
            <a:ext cx="5120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STEP 3 — Name the 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663440"/>
            <a:ext cx="51206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Reorder point = 97 units.  Order when position falls to 97 or below.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554480"/>
            <a:ext cx="47548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What makes up the 97 units?  (units)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675120" y="1920240"/>
          <a:ext cx="47548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31520" y="5715000"/>
            <a:ext cx="107259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5C3E"/>
                </a:solidFill>
                <a:latin typeface="Georgia"/>
              </a:defRPr>
            </a:pPr>
            <a:r>
              <a:t>Check the units:  units/day × days = units.   Safety stock is already in units — add it, do not multiply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00800"/>
            <a:ext cx="10972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5C3E"/>
                </a:solidFill>
                <a:latin typeface="Georgia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4457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INVENTORY  •  SAME ITEM, TODAY'S 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1036015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4A3B2A"/>
                </a:solidFill>
                <a:latin typeface="Georgia"/>
              </a:defRPr>
            </a:pPr>
            <a:r>
              <a:t>Position 92 Is Below 97 — So ORDER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53949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4754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Count</a:t>
                      </a: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On-hand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+ On-order (already coming)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20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− Committed (already promised)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17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= Inventory position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92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069080"/>
            <a:ext cx="53949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89 + 20 − 17 = 92 units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09160"/>
            <a:ext cx="5394960" cy="1234440"/>
          </a:xfrm>
          <a:prstGeom prst="roundRect">
            <a:avLst/>
          </a:prstGeom>
          <a:solidFill>
            <a:srgbClr val="F2E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846320"/>
            <a:ext cx="4937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HOW MUCH TO ORDER?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166360"/>
            <a:ext cx="49377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Target position 197 − position 92 = 105 units to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4937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Position vs. trigger  (units)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492240" y="1920240"/>
          <a:ext cx="493776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492240" y="4846320"/>
            <a:ext cx="4937760" cy="109728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4983480"/>
            <a:ext cx="45720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Georgia"/>
              </a:defRPr>
            </a:pPr>
            <a:r>
              <a:t>DECISION:  ORDER 105 units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Georgia"/>
              </a:defRPr>
            </a:pPr>
            <a:r>
              <a:t>92 ≤ 97 — trigger reached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00800"/>
            <a:ext cx="10972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5C3E"/>
                </a:solidFill>
                <a:latin typeface="Georgia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4457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1036015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A3B2A"/>
                </a:solidFill>
                <a:latin typeface="Georgia"/>
              </a:defRPr>
            </a:pPr>
            <a:r>
              <a:t>The Daily Decision, Step by 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468880" cy="1188720"/>
          </a:xfrm>
          <a:prstGeom prst="roundRect">
            <a:avLst/>
          </a:prstGeom>
          <a:solidFill>
            <a:srgbClr val="F2E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21945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1  READ COUNTS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on-hand, on-order,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committed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08960" y="2331720"/>
            <a:ext cx="502920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611880" y="1737360"/>
            <a:ext cx="2468880" cy="1188720"/>
          </a:xfrm>
          <a:prstGeom prst="roundRect">
            <a:avLst/>
          </a:prstGeom>
          <a:solidFill>
            <a:srgbClr val="F2E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1874519"/>
            <a:ext cx="21945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2  CALCULATE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inventory position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= OH + OO − 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331720"/>
            <a:ext cx="502920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583680" y="1737360"/>
            <a:ext cx="2468880" cy="1188720"/>
          </a:xfrm>
          <a:prstGeom prst="roundRect">
            <a:avLst/>
          </a:prstGeom>
          <a:solidFill>
            <a:srgbClr val="F2E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874519"/>
            <a:ext cx="21945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3  COMPARE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position vs.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reorder point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52560" y="2331720"/>
            <a:ext cx="502920" cy="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555480" y="1737360"/>
            <a:ext cx="1993392" cy="1188720"/>
          </a:xfrm>
          <a:prstGeom prst="round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1965960"/>
            <a:ext cx="181051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8E7"/>
                </a:solidFill>
                <a:latin typeface="Georgia"/>
              </a:defRPr>
            </a:pPr>
            <a:r>
              <a:t>Position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8E7"/>
                </a:solidFill>
                <a:latin typeface="Georgia"/>
              </a:defRPr>
            </a:pPr>
            <a:r>
              <a:t>≤ trigger?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6583680" y="2926080"/>
            <a:ext cx="3383280" cy="86868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881360" y="2926080"/>
            <a:ext cx="0" cy="868680"/>
          </a:xfrm>
          <a:prstGeom prst="line">
            <a:avLst/>
          </a:prstGeom>
          <a:ln w="31750">
            <a:solidFill>
              <a:srgbClr val="7A5C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06240" y="3794760"/>
            <a:ext cx="3108960" cy="109728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3931920"/>
            <a:ext cx="27432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YES → ORDER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up to target position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3794760"/>
            <a:ext cx="2770632" cy="1097280"/>
          </a:xfrm>
          <a:prstGeom prst="roundRect">
            <a:avLst/>
          </a:prstGeom>
          <a:solidFill>
            <a:srgbClr val="FFFDF6"/>
          </a:solidFill>
          <a:ln>
            <a:solidFill>
              <a:srgbClr val="7A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3931920"/>
            <a:ext cx="240487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3B2A"/>
                </a:solidFill>
                <a:latin typeface="Georgia"/>
              </a:defRPr>
            </a:pPr>
            <a:r>
              <a:t>NO → WAIT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3B2A"/>
                </a:solidFill>
                <a:latin typeface="Georgia"/>
              </a:defRPr>
            </a:pPr>
            <a:r>
              <a:t>do not order today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149840" y="4892040"/>
            <a:ext cx="0" cy="731520"/>
          </a:xfrm>
          <a:prstGeom prst="line">
            <a:avLst/>
          </a:prstGeom>
          <a:ln w="25400">
            <a:solidFill>
              <a:srgbClr val="7A5C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874519" y="5623560"/>
            <a:ext cx="8275321" cy="0"/>
          </a:xfrm>
          <a:prstGeom prst="line">
            <a:avLst/>
          </a:prstGeom>
          <a:ln w="25400">
            <a:solidFill>
              <a:srgbClr val="7A5C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874519" y="2926080"/>
            <a:ext cx="0" cy="2697480"/>
          </a:xfrm>
          <a:prstGeom prst="line">
            <a:avLst/>
          </a:prstGeom>
          <a:ln w="25400">
            <a:solidFill>
              <a:srgbClr val="7A5C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108960" y="5715000"/>
            <a:ext cx="5943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5C3E"/>
                </a:solidFill>
                <a:latin typeface="Georgia"/>
              </a:defRPr>
            </a:pPr>
            <a:r>
              <a:t>WAIT returns to the next daily review — read the counts again tomorrow.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400800"/>
            <a:ext cx="10972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5C3E"/>
                </a:solidFill>
                <a:latin typeface="Georgia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4457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PRACTICE  •  YOUR 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1036015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4A3B2A"/>
                </a:solidFill>
                <a:latin typeface="Georgia"/>
              </a:defRPr>
            </a:pPr>
            <a:r>
              <a:t>Order, or Wait?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417320"/>
            <a:ext cx="816559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A5C3E"/>
                </a:solidFill>
                <a:latin typeface="Georgia"/>
              </a:defRPr>
            </a:pPr>
            <a:r>
              <a:t>Apply the rule:  order only when inventory position ≤ reorder point.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103120"/>
            <a:ext cx="4480560" cy="1965960"/>
          </a:xfrm>
          <a:prstGeom prst="roundRect">
            <a:avLst/>
          </a:prstGeom>
          <a:solidFill>
            <a:srgbClr val="F2E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2286000"/>
            <a:ext cx="4023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INVENTORY 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697480"/>
            <a:ext cx="40233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4A3B2A"/>
                </a:solidFill>
                <a:latin typeface="Georgia"/>
              </a:defRPr>
            </a:pPr>
            <a:r>
              <a:t>109 units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566160"/>
            <a:ext cx="4023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5C3E"/>
                </a:solidFill>
                <a:latin typeface="Georgia"/>
              </a:defRPr>
            </a:pPr>
            <a:r>
              <a:t>already calculated for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87568" y="2788920"/>
            <a:ext cx="8229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45B3A"/>
                </a:solidFill>
                <a:latin typeface="Georgia"/>
              </a:defRPr>
            </a:pPr>
            <a:r>
              <a:t>vs.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19672" y="2103120"/>
            <a:ext cx="4480560" cy="1965960"/>
          </a:xfrm>
          <a:prstGeom prst="roundRect">
            <a:avLst/>
          </a:prstGeom>
          <a:solidFill>
            <a:srgbClr val="FFFDF6"/>
          </a:solidFill>
          <a:ln>
            <a:solidFill>
              <a:srgbClr val="D9C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2286000"/>
            <a:ext cx="4023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REORDER POINT (TRIGGER)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2697480"/>
            <a:ext cx="40233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4A3B2A"/>
                </a:solidFill>
                <a:latin typeface="Georgia"/>
              </a:defRPr>
            </a:pPr>
            <a:r>
              <a:t>97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3566160"/>
            <a:ext cx="4023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5C3E"/>
                </a:solidFill>
                <a:latin typeface="Georgia"/>
              </a:defRPr>
            </a:pPr>
            <a:r>
              <a:t>from the worked example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4434840"/>
            <a:ext cx="8531352" cy="1097280"/>
          </a:xfrm>
          <a:prstGeom prst="roundRect">
            <a:avLst/>
          </a:prstGeom>
          <a:solidFill>
            <a:srgbClr val="FFFDF6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57400" y="4572000"/>
            <a:ext cx="807415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Your call:   □  ORDER        □  WAIT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How far is 109 from the trigger — and on which side?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806440"/>
            <a:ext cx="853135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5C3E"/>
                </a:solidFill>
                <a:latin typeface="Georgia"/>
              </a:defRPr>
            </a:pPr>
            <a:r>
              <a:t>Decide before turning the page — the answer is revealed on the next slide.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00800"/>
            <a:ext cx="10972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5C3E"/>
                </a:solidFill>
                <a:latin typeface="Georgia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4457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ANSWER REVEAL  •  THEN: COMMON TRAPS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1036015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4A3B2A"/>
                </a:solidFill>
                <a:latin typeface="Georgia"/>
              </a:defRPr>
            </a:pPr>
            <a:r>
              <a:t>Watch Out for These Three Traps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508760"/>
            <a:ext cx="9994392" cy="1051560"/>
          </a:xfrm>
          <a:prstGeom prst="roundRect">
            <a:avLst/>
          </a:prstGeom>
          <a:solidFill>
            <a:srgbClr val="4A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645920"/>
            <a:ext cx="953719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8E7"/>
                </a:solidFill>
                <a:latin typeface="Georgia"/>
              </a:defRPr>
            </a:pPr>
            <a:r>
              <a:t>PRACTICE ANSWER:  WAIT  —  position 109 is 12 units above the trigger of 97  (109 − 97 = 12).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3520440" cy="2651760"/>
          </a:xfrm>
          <a:prstGeom prst="roundRect">
            <a:avLst/>
          </a:prstGeom>
          <a:solidFill>
            <a:srgbClr val="FFFDF6"/>
          </a:solidFill>
          <a:ln>
            <a:solidFill>
              <a:srgbClr val="D9C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3154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✕  TRAP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31546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3B2A"/>
                </a:solidFill>
                <a:latin typeface="Georgia"/>
              </a:defRPr>
            </a:pPr>
            <a:r>
              <a:t>Comparing on-hand alone with the trigger.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315468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5C3E"/>
                </a:solidFill>
                <a:latin typeface="Georgia"/>
              </a:defRPr>
            </a:pPr>
            <a:r>
              <a:t>Always compare inventory position — on-hand + on-order − committed.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2834640"/>
            <a:ext cx="3520440" cy="2651760"/>
          </a:xfrm>
          <a:prstGeom prst="roundRect">
            <a:avLst/>
          </a:prstGeom>
          <a:solidFill>
            <a:srgbClr val="FFFDF6"/>
          </a:solidFill>
          <a:ln>
            <a:solidFill>
              <a:srgbClr val="D9C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2971800"/>
            <a:ext cx="3154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✕  TRAP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3337560"/>
            <a:ext cx="31546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3B2A"/>
                </a:solidFill>
                <a:latin typeface="Georgia"/>
              </a:defRPr>
            </a:pPr>
            <a:r>
              <a:t>Multiplying safety stock by lead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4297680"/>
            <a:ext cx="315468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5C3E"/>
                </a:solidFill>
                <a:latin typeface="Georgia"/>
              </a:defRPr>
            </a:pPr>
            <a:r>
              <a:t>Safety stock is added once: 75 + 22 = 97 units — not 22 × 5.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36992" y="2834640"/>
            <a:ext cx="3520440" cy="2651760"/>
          </a:xfrm>
          <a:prstGeom prst="roundRect">
            <a:avLst/>
          </a:prstGeom>
          <a:solidFill>
            <a:srgbClr val="FFFDF6"/>
          </a:solidFill>
          <a:ln>
            <a:solidFill>
              <a:srgbClr val="D9C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9872" y="2971800"/>
            <a:ext cx="3154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✕  TRAP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3337560"/>
            <a:ext cx="31546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3B2A"/>
                </a:solidFill>
                <a:latin typeface="Georgia"/>
              </a:defRPr>
            </a:pPr>
            <a:r>
              <a:t>Treating a larger reorder point as the order quantity.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9872" y="4297680"/>
            <a:ext cx="315468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5C3E"/>
                </a:solidFill>
                <a:latin typeface="Georgia"/>
              </a:defRPr>
            </a:pPr>
            <a:r>
              <a:t>The reorder point is only a trigger. Order quantity = target − position.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760720"/>
            <a:ext cx="999439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A larger trigger simply means you order earlier — not that you order more.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6400800"/>
            <a:ext cx="10972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5C3E"/>
                </a:solidFill>
                <a:latin typeface="Georgia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4457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CHECKLIST  •  KEEP AT THE COUNTER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1036015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4A3B2A"/>
                </a:solidFill>
                <a:latin typeface="Georgia"/>
              </a:defRPr>
            </a:pPr>
            <a:r>
              <a:t>Before You Order, Check Four Things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5912" cy="1874519"/>
          </a:xfrm>
          <a:prstGeom prst="roundRect">
            <a:avLst/>
          </a:prstGeom>
          <a:solidFill>
            <a:srgbClr val="F2E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10177272" cy="1600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☐  1. Verify units — demand in units/day, lead time in days, stock in units.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☐  2. Include existing orders — add on-order so you never double-order.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☐  3. Subtract commitments — stock already promised is not available.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☐  4. Check the trigger — order only if inventory position ≤ reorder 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107259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THE NUMBER LINE — WHERE DOES TODAY'S POSITION FALL?  (units)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074920"/>
            <a:ext cx="4617720" cy="50292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5166360"/>
            <a:ext cx="4343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Georgia"/>
              </a:defRPr>
            </a:pPr>
            <a:r>
              <a:t>ORDER ZONE  —  at or below 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5074920"/>
            <a:ext cx="5193792" cy="502920"/>
          </a:xfrm>
          <a:prstGeom prst="roundRect">
            <a:avLst/>
          </a:prstGeom>
          <a:solidFill>
            <a:srgbClr val="FFFDF6"/>
          </a:solidFill>
          <a:ln>
            <a:solidFill>
              <a:srgbClr val="7A5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5166360"/>
            <a:ext cx="49194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A3B2A"/>
                </a:solidFill>
                <a:latin typeface="Georgia"/>
              </a:defRPr>
            </a:pPr>
            <a:r>
              <a:t>WAIT ZONE  —  above 97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97280" y="4709160"/>
            <a:ext cx="9994392" cy="0"/>
          </a:xfrm>
          <a:prstGeom prst="line">
            <a:avLst/>
          </a:prstGeom>
          <a:ln w="381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26280" y="4480560"/>
            <a:ext cx="0" cy="45720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794760" y="4114800"/>
            <a:ext cx="14630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92  ORDER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88152" y="4434840"/>
            <a:ext cx="0" cy="548640"/>
          </a:xfrm>
          <a:prstGeom prst="line">
            <a:avLst/>
          </a:prstGeom>
          <a:ln w="508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56632" y="4114800"/>
            <a:ext cx="14630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A3B2A"/>
                </a:solidFill>
                <a:latin typeface="Georgia"/>
              </a:defRPr>
            </a:pPr>
            <a:r>
              <a:t>97  TRIGGER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23960" y="4480560"/>
            <a:ext cx="0" cy="457200"/>
          </a:xfrm>
          <a:prstGeom prst="line">
            <a:avLst/>
          </a:prstGeom>
          <a:ln w="38100">
            <a:solidFill>
              <a:srgbClr val="7A5C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092440" y="4114800"/>
            <a:ext cx="14630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A5C3E"/>
                </a:solidFill>
                <a:latin typeface="Georgia"/>
              </a:defRPr>
            </a:pPr>
            <a:r>
              <a:t>109  WAIT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06440"/>
            <a:ext cx="1371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5C3E"/>
                </a:solidFill>
                <a:latin typeface="Georgia"/>
              </a:defRPr>
            </a:pPr>
            <a:r>
              <a:t>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77272" y="5806440"/>
            <a:ext cx="12801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5C3E"/>
                </a:solidFill>
                <a:latin typeface="Georgia"/>
              </a:defRPr>
            </a:pPr>
            <a:r>
              <a:t>120 units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6126480"/>
            <a:ext cx="816559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Position ≤ 97 → ORDER up to target.   Position &gt; 97 → WAIT for the next daily review.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6446520"/>
            <a:ext cx="10972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5C3E"/>
                </a:solidFill>
                <a:latin typeface="Georgia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