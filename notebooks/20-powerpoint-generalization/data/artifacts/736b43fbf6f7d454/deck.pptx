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38100">
              <a:solidFill>
                <a:srgbClr val="00B36B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740</c:v>
                </c:pt>
                <c:pt idx="1">
                  <c:v>780</c:v>
                </c:pt>
                <c:pt idx="2">
                  <c:v>1120</c:v>
                </c:pt>
                <c:pt idx="3">
                  <c:v>1220</c:v>
                </c:pt>
                <c:pt idx="4">
                  <c:v>1110</c:v>
                </c:pt>
                <c:pt idx="5">
                  <c:v>910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ln w="38100">
              <a:solidFill>
                <a:srgbClr val="888888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1100</c:v>
                </c:pt>
                <c:pt idx="1">
                  <c:v>1100</c:v>
                </c:pt>
                <c:pt idx="2">
                  <c:v>1100</c:v>
                </c:pt>
                <c:pt idx="3">
                  <c:v>1100</c:v>
                </c:pt>
                <c:pt idx="4">
                  <c:v>1100</c:v>
                </c:pt>
                <c:pt idx="5">
                  <c:v>1100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 ($k/yr)</c:v>
                </c:pt>
              </c:strCache>
            </c:strRef>
          </c:tx>
          <c:spPr>
            <a:solidFill>
              <a:srgbClr val="00B36B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Downside 80%</c:v>
                </c:pt>
                <c:pt idx="1">
                  <c:v>Base 100%</c:v>
                </c:pt>
                <c:pt idx="2">
                  <c:v>Upside 120%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138.4</c:v>
                </c:pt>
                <c:pt idx="1">
                  <c:v>173</c:v>
                </c:pt>
                <c:pt idx="2">
                  <c:v>207.6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E0E0E0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28016" cy="566928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74320"/>
            <a:ext cx="10881360" cy="5669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0E0E0"/>
                </a:solidFill>
                <a:latin typeface="Calibri"/>
              </a:defRPr>
            </a:pPr>
            <a:r>
              <a:t>DECISION  —  SELECT OPTION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881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FF99"/>
                </a:solidFill>
                <a:latin typeface="Calibri"/>
              </a:defRPr>
            </a:pPr>
            <a:r>
              <a:t>Strategic equipment procurement  •  Executive leadership review  •  All data synthetic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80160"/>
            <a:ext cx="11183112" cy="0"/>
          </a:xfrm>
          <a:prstGeom prst="line">
            <a:avLst/>
          </a:prstGeom>
          <a:ln w="317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02920" y="1554480"/>
            <a:ext cx="11183112" cy="1143000"/>
          </a:xfrm>
          <a:prstGeom prst="rect">
            <a:avLst/>
          </a:prstGeom>
          <a:solidFill>
            <a:srgbClr val="003322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64208"/>
            <a:ext cx="106984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E0E0E0"/>
                </a:solidFill>
                <a:latin typeface="Calibri"/>
              </a:defRPr>
            </a:pPr>
            <a:r>
              <a:t>RECOMMENDATION:  Proceed with Option C as the long-term asset strategy — subject to the Week 10 gate on Slide 7.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017520"/>
            <a:ext cx="2651760" cy="1737360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154680"/>
            <a:ext cx="24688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99"/>
                </a:solidFill>
                <a:latin typeface="Calibri"/>
              </a:defRPr>
            </a:pPr>
            <a:r>
              <a:t>$528k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794760"/>
            <a:ext cx="24688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INVESTMENT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Option C, upfront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3017520"/>
            <a:ext cx="2651760" cy="1737360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3154680"/>
            <a:ext cx="24688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99"/>
                </a:solidFill>
                <a:latin typeface="Calibri"/>
              </a:defRPr>
            </a:pPr>
            <a:r>
              <a:t>$173k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3794760"/>
            <a:ext cx="24688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ANNUAL SAVING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per year at base case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017520"/>
            <a:ext cx="2651760" cy="1737360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3154680"/>
            <a:ext cx="24688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99"/>
                </a:solidFill>
                <a:latin typeface="Calibri"/>
              </a:defRPr>
            </a:pPr>
            <a:r>
              <a:t>3.1 yrs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794760"/>
            <a:ext cx="24688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SIMPLE PAYBACK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528 ÷ 173 = 3.05 ≈ 3.1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34272" y="3017520"/>
            <a:ext cx="2651760" cy="1737360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5712" y="3154680"/>
            <a:ext cx="24688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99"/>
                </a:solidFill>
                <a:latin typeface="Calibri"/>
              </a:defRPr>
            </a:pPr>
            <a:r>
              <a:t>−$9k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5712" y="3794760"/>
            <a:ext cx="24688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3-YEAR NET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3 × 173 − 528 = −9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120640"/>
            <a:ext cx="1118311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Why C: maximum scale, $173k/yr saving and 99.9% reference uptime; payback just past 3 years (−$9k at year 3).  Why gated: reference uptime is not proof of operational performance — see Slides 5 and 7 before rollout.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309360"/>
            <a:ext cx="868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FF99"/>
                </a:solidFill>
                <a:latin typeface="Calibri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28016" cy="566928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74320"/>
            <a:ext cx="10881360" cy="5669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OPTIONS  —  A / B / C COMPARED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881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FF99"/>
                </a:solidFill>
                <a:latin typeface="Calibri"/>
              </a:defRPr>
            </a:pPr>
            <a:r>
              <a:t>Reference options stay unchanged  •  Investment and saving in $k  •  Uptime is a reference figure, not operational proof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80160"/>
            <a:ext cx="11183112" cy="0"/>
          </a:xfrm>
          <a:prstGeom prst="line">
            <a:avLst/>
          </a:prstGeom>
          <a:ln w="317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00200"/>
          <a:ext cx="11183112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5778"/>
                <a:gridCol w="2795778"/>
                <a:gridCol w="2795778"/>
                <a:gridCol w="2795778"/>
              </a:tblGrid>
              <a:tr h="4419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marL="64008" marR="64008" marT="36576" marB="36576">
                    <a:solidFill>
                      <a:srgbClr val="0033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Option A</a:t>
                      </a:r>
                    </a:p>
                  </a:txBody>
                  <a:tcPr marL="64008" marR="64008" marT="36576" marB="36576">
                    <a:solidFill>
                      <a:srgbClr val="0033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Option B</a:t>
                      </a:r>
                    </a:p>
                  </a:txBody>
                  <a:tcPr marL="64008" marR="64008" marT="36576" marB="36576">
                    <a:solidFill>
                      <a:srgbClr val="0033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Option C  ★ SELECTED</a:t>
                      </a:r>
                    </a:p>
                  </a:txBody>
                  <a:tcPr marL="64008" marR="64008" marT="36576" marB="36576">
                    <a:solidFill>
                      <a:srgbClr val="003322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Investment ($k)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214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366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528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Annual saving ($k/yr)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79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122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173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Reference uptime (%)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97.8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99.1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99.9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Simple payback (yrs) = Inv ÷ Saving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2.71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3.00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3.05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3-year net ($k) = 3×Saving − Inv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+23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−9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4572000"/>
            <a:ext cx="3611880" cy="1417320"/>
          </a:xfrm>
          <a:prstGeom prst="rect">
            <a:avLst/>
          </a:prstGeom>
          <a:solidFill>
            <a:srgbClr val="262626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681728"/>
            <a:ext cx="3246120" cy="1234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A — LOWEST COST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Fastest payback (2.71 yrs), but lowest saving and 97.8% uptime.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4572000"/>
            <a:ext cx="3611880" cy="1417320"/>
          </a:xfrm>
          <a:prstGeom prst="rect">
            <a:avLst/>
          </a:prstGeom>
          <a:solidFill>
            <a:srgbClr val="262626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4681728"/>
            <a:ext cx="3246120" cy="1234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B — BALANCED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$122k/yr saving at $366k; breaks even at exactly 3.0 years.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74152" y="4572000"/>
            <a:ext cx="3611880" cy="1417320"/>
          </a:xfrm>
          <a:prstGeom prst="rect">
            <a:avLst/>
          </a:prstGeom>
          <a:solidFill>
            <a:srgbClr val="003322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1" y="4681728"/>
            <a:ext cx="3246120" cy="1234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0E0E0"/>
                </a:solidFill>
                <a:latin typeface="Calibri"/>
              </a:defRPr>
            </a:pPr>
            <a:r>
              <a:t>C — MAXIMUM SCALE  ★ SELECTED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0E0E0"/>
                </a:solidFill>
                <a:latin typeface="Calibri"/>
              </a:defRPr>
            </a:pPr>
            <a:r>
              <a:t>Highest saving ($173k/yr) and 99.9% uptime; $528k outlay, −$9k at year 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309360"/>
            <a:ext cx="868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FF99"/>
                </a:solidFill>
                <a:latin typeface="Calibri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28016" cy="566928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74320"/>
            <a:ext cx="10881360" cy="5669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PERFORMANCE  —  OUTPUT vs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881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FF99"/>
                </a:solidFill>
                <a:latin typeface="Calibri"/>
              </a:defRPr>
            </a:pPr>
            <a:r>
              <a:t>Six monthly outputs (units), M1–M6  •  Target 1,100 units/month  •  Both series shown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80160"/>
            <a:ext cx="11183112" cy="0"/>
          </a:xfrm>
          <a:prstGeom prst="line">
            <a:avLst/>
          </a:prstGeom>
          <a:ln w="317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1508760"/>
            <a:ext cx="7680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0E0E0"/>
                </a:solidFill>
                <a:latin typeface="Calibri"/>
              </a:defRPr>
            </a:pPr>
            <a:r>
              <a:t>Monthly output (units) — Actual vs Target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874519"/>
          <a:ext cx="768096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503920" y="1874519"/>
            <a:ext cx="3182112" cy="1234440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1965960"/>
            <a:ext cx="2907792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FF99"/>
                </a:solidFill>
                <a:latin typeface="Calibri"/>
              </a:defRPr>
            </a:pPr>
            <a:r>
              <a:t>ACTUAL TOTAL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FF99"/>
                </a:solidFill>
                <a:latin typeface="Calibri"/>
              </a:defRPr>
            </a:pPr>
            <a:r>
              <a:t>5,880 units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0" y="3291840"/>
            <a:ext cx="3182112" cy="1234440"/>
          </a:xfrm>
          <a:prstGeom prst="rect">
            <a:avLst/>
          </a:prstGeom>
          <a:solidFill>
            <a:srgbClr val="262626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41080" y="3383280"/>
            <a:ext cx="2907792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0E0E0"/>
                </a:solidFill>
                <a:latin typeface="Calibri"/>
              </a:defRPr>
            </a:pPr>
            <a:r>
              <a:t>TARGET TOTAL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0E0E0"/>
                </a:solidFill>
                <a:latin typeface="Calibri"/>
              </a:defRPr>
            </a:pPr>
            <a:r>
              <a:t>6,600 units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4709160"/>
            <a:ext cx="3182112" cy="1188720"/>
          </a:xfrm>
          <a:prstGeom prst="rect">
            <a:avLst/>
          </a:prstGeom>
          <a:solidFill>
            <a:srgbClr val="3A1A1A"/>
          </a:solidFill>
          <a:ln>
            <a:solidFill>
              <a:srgbClr val="FF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1080" y="4800600"/>
            <a:ext cx="2907792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9999"/>
                </a:solidFill>
                <a:latin typeface="Calibri"/>
              </a:defRPr>
            </a:pPr>
            <a:r>
              <a:t>SHORTFALL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9999"/>
                </a:solidFill>
                <a:latin typeface="Calibri"/>
              </a:defRPr>
            </a:pPr>
            <a:r>
              <a:t>720 units  (10.9% below target)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989320"/>
            <a:ext cx="76809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Actual M1–M6: 740, 780, 1,120, 1,220, 1,110, 910.  M3, M4 and M5 met target; the 720-unit gap is the case for new equipment.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309360"/>
            <a:ext cx="868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FF99"/>
                </a:solidFill>
                <a:latin typeface="Calibri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28016" cy="566928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74320"/>
            <a:ext cx="10881360" cy="5669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SCENARIO  —  OPTION C SENSITIVITY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881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FF99"/>
                </a:solidFill>
                <a:latin typeface="Calibri"/>
              </a:defRPr>
            </a:pPr>
            <a:r>
              <a:t>Saving = 80% / 100% / 120% of $173k  •  Payback = Investment ÷ Saving  •  3-yr net = 3×Saving − Investment ($528k)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80160"/>
            <a:ext cx="11183112" cy="0"/>
          </a:xfrm>
          <a:prstGeom prst="line">
            <a:avLst/>
          </a:prstGeom>
          <a:ln w="317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1508760"/>
            <a:ext cx="56692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0E0E0"/>
                </a:solidFill>
                <a:latin typeface="Calibri"/>
              </a:defRPr>
            </a:pPr>
            <a:r>
              <a:t>Annual saving by scenario ($k/year)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874519"/>
          <a:ext cx="566928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46520" y="1874519"/>
          <a:ext cx="523951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9878"/>
                <a:gridCol w="1309878"/>
                <a:gridCol w="1309878"/>
                <a:gridCol w="1309878"/>
              </a:tblGrid>
              <a:tr h="6172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6576" marB="36576">
                    <a:solidFill>
                      <a:srgbClr val="0033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Saving ($k/yr)</a:t>
                      </a:r>
                    </a:p>
                  </a:txBody>
                  <a:tcPr marL="64008" marR="64008" marT="36576" marB="36576">
                    <a:solidFill>
                      <a:srgbClr val="0033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Payback (yrs)</a:t>
                      </a:r>
                    </a:p>
                  </a:txBody>
                  <a:tcPr marL="64008" marR="64008" marT="36576" marB="36576">
                    <a:solidFill>
                      <a:srgbClr val="0033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3-yr net ($k)</a:t>
                      </a:r>
                    </a:p>
                  </a:txBody>
                  <a:tcPr marL="64008" marR="64008" marT="36576" marB="36576">
                    <a:solidFill>
                      <a:srgbClr val="003322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Downside (80%)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138.4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3.82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−112.8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Base (100%)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173.0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3.05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−9.0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Upside (120%)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207.6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2.54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+94.8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46520" y="4572000"/>
            <a:ext cx="5239512" cy="1417320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4681728"/>
            <a:ext cx="4873752" cy="1234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READ-OUT:  Base case is −$9k at year 3 (payback 3.05 yrs ≈ 3.1). A 20% saving shortfall pushes payback to 3.82 yrs (−$112.8k); +20% gives 2.54 yrs (+$94.8k).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309360"/>
            <a:ext cx="868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FF99"/>
                </a:solidFill>
                <a:latin typeface="Calibri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28016" cy="566928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74320"/>
            <a:ext cx="10881360" cy="5669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CAPACITY  —  DEMAND vs CAPACITY BY 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881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FF99"/>
                </a:solidFill>
                <a:latin typeface="Calibri"/>
              </a:defRPr>
            </a:pPr>
            <a:r>
              <a:t>Daily demand and capacity (units/day)  •  All six given cells preserved  •  Demand above capacity flagged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80160"/>
            <a:ext cx="11183112" cy="0"/>
          </a:xfrm>
          <a:prstGeom prst="line">
            <a:avLst/>
          </a:prstGeom>
          <a:ln w="317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45920"/>
          <a:ext cx="11183112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6622"/>
                <a:gridCol w="2236622"/>
                <a:gridCol w="2236622"/>
                <a:gridCol w="2236622"/>
                <a:gridCol w="2236624"/>
              </a:tblGrid>
              <a:tr h="5943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0033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Daily demand</a:t>
                      </a:r>
                    </a:p>
                  </a:txBody>
                  <a:tcPr marL="64008" marR="64008" marT="36576" marB="36576">
                    <a:solidFill>
                      <a:srgbClr val="0033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Capacity</a:t>
                      </a:r>
                    </a:p>
                  </a:txBody>
                  <a:tcPr marL="64008" marR="64008" marT="36576" marB="36576">
                    <a:solidFill>
                      <a:srgbClr val="0033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Headroom (Cap − Demand)</a:t>
                      </a:r>
                    </a:p>
                  </a:txBody>
                  <a:tcPr marL="64008" marR="64008" marT="36576" marB="36576">
                    <a:solidFill>
                      <a:srgbClr val="0033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36576" marB="36576">
                    <a:solidFill>
                      <a:srgbClr val="00332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236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240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+4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OK — tight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294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+16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OK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338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−8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▲ DEMAND ABOVE CAPACITY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4389120"/>
            <a:ext cx="6949440" cy="1600200"/>
          </a:xfrm>
          <a:prstGeom prst="rect">
            <a:avLst/>
          </a:prstGeom>
          <a:solidFill>
            <a:srgbClr val="3A1A1A"/>
          </a:solidFill>
          <a:ln>
            <a:solidFill>
              <a:srgbClr val="FF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26280"/>
            <a:ext cx="649224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9999"/>
                </a:solidFill>
                <a:latin typeface="Calibri"/>
              </a:defRPr>
            </a:pPr>
            <a:r>
              <a:t>WEST IS OVER CAPACITY:  demand 338 &gt; capacity 330 units/day — an 8 units/day deficit that equipment alone must close or demand must be rebalanced.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4389120"/>
            <a:ext cx="4005072" cy="1600200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4526280"/>
            <a:ext cx="3547872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Totals: demand 868 vs capacity 880 units/day (+12 overall) — but capacity is site-bound, so the West gap still blocks the gate.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309360"/>
            <a:ext cx="868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FF99"/>
                </a:solidFill>
                <a:latin typeface="Calibri"/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28016" cy="566928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74320"/>
            <a:ext cx="10881360" cy="5669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ROADMAP  —  14-WEEK DELIVERY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881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FF99"/>
                </a:solidFill>
                <a:latin typeface="Calibri"/>
              </a:defRPr>
            </a:pPr>
            <a:r>
              <a:t>Technical and People lanes  •  Validate and Train run in parallel after Build  •  Both feed the Week 10 gate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80160"/>
            <a:ext cx="11183112" cy="0"/>
          </a:xfrm>
          <a:prstGeom prst="line">
            <a:avLst/>
          </a:prstGeom>
          <a:ln w="317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1600200"/>
            <a:ext cx="1417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TECHNICAL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3246120"/>
            <a:ext cx="11183112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3429000"/>
            <a:ext cx="1417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PEOPLE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57400"/>
            <a:ext cx="1828800" cy="960120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48840"/>
            <a:ext cx="164592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0E0E0"/>
                </a:solidFill>
                <a:latin typeface="Calibri"/>
              </a:defRPr>
            </a:pPr>
            <a:r>
              <a:t>DESIGN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0E0E0"/>
                </a:solidFill>
                <a:latin typeface="Calibri"/>
              </a:defRPr>
            </a:pPr>
            <a:r>
              <a:t>Weeks 1–2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31720" y="2542032"/>
            <a:ext cx="45720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788920" y="2057400"/>
            <a:ext cx="2011680" cy="960120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2148840"/>
            <a:ext cx="182880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0E0E0"/>
                </a:solidFill>
                <a:latin typeface="Calibri"/>
              </a:defRPr>
            </a:pPr>
            <a:r>
              <a:t>BUILD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0E0E0"/>
                </a:solidFill>
                <a:latin typeface="Calibri"/>
              </a:defRPr>
            </a:pPr>
            <a:r>
              <a:t>Weeks 3–5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00600" y="2542032"/>
            <a:ext cx="45720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257800" y="2057400"/>
            <a:ext cx="2194560" cy="960120"/>
          </a:xfrm>
          <a:prstGeom prst="rect">
            <a:avLst/>
          </a:prstGeom>
          <a:solidFill>
            <a:srgbClr val="003322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9240" y="2148840"/>
            <a:ext cx="20116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0E0E0"/>
                </a:solidFill>
                <a:latin typeface="Calibri"/>
              </a:defRPr>
            </a:pPr>
            <a:r>
              <a:t>VALIDATE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0E0E0"/>
                </a:solidFill>
                <a:latin typeface="Calibri"/>
              </a:defRPr>
            </a:pPr>
            <a:r>
              <a:t>Weeks 6–8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794760" y="3017520"/>
            <a:ext cx="0" cy="1353312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794760" y="4370832"/>
            <a:ext cx="146304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257800" y="3886200"/>
            <a:ext cx="2194560" cy="960120"/>
          </a:xfrm>
          <a:prstGeom prst="rect">
            <a:avLst/>
          </a:prstGeom>
          <a:solidFill>
            <a:srgbClr val="003322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49240" y="3977639"/>
            <a:ext cx="20116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0E0E0"/>
                </a:solidFill>
                <a:latin typeface="Calibri"/>
              </a:defRPr>
            </a:pPr>
            <a:r>
              <a:t>TRAIN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0E0E0"/>
                </a:solidFill>
                <a:latin typeface="Calibri"/>
              </a:defRPr>
            </a:pPr>
            <a:r>
              <a:t>Weeks 6–8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452360" y="2542032"/>
            <a:ext cx="68580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138160" y="2542032"/>
            <a:ext cx="0" cy="91440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452360" y="4370832"/>
            <a:ext cx="68580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138160" y="3456432"/>
            <a:ext cx="0" cy="91440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138160" y="2971800"/>
            <a:ext cx="1417320" cy="96012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3063240"/>
            <a:ext cx="12344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1A"/>
                </a:solidFill>
                <a:latin typeface="Calibri"/>
              </a:defRPr>
            </a:pPr>
            <a:r>
              <a:t>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1A"/>
                </a:solidFill>
                <a:latin typeface="Calibri"/>
              </a:defRPr>
            </a:pPr>
            <a:r>
              <a:t>Week 10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555480" y="3456432"/>
            <a:ext cx="41148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9966960" y="2971800"/>
            <a:ext cx="1719072" cy="960120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0" y="3063240"/>
            <a:ext cx="153619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0E0E0"/>
                </a:solidFill>
                <a:latin typeface="Calibri"/>
              </a:defRPr>
            </a:pPr>
            <a:r>
              <a:t>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0E0E0"/>
                </a:solidFill>
                <a:latin typeface="Calibri"/>
              </a:defRPr>
            </a:pPr>
            <a:r>
              <a:t>Weeks 11–14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28016" cy="566928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74320"/>
            <a:ext cx="10881360" cy="5669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GATE  —  WEEK 10 GO / HOLD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881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FF99"/>
                </a:solidFill>
                <a:latin typeface="Calibri"/>
              </a:defRPr>
            </a:pPr>
            <a:r>
              <a:t>All conditions must hold simultaneously  •  Reference uptime is not proof of operational performance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80160"/>
            <a:ext cx="11183112" cy="0"/>
          </a:xfrm>
          <a:prstGeom prst="line">
            <a:avLst/>
          </a:prstGeom>
          <a:ln w="317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00200"/>
          <a:ext cx="1118311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7704"/>
                <a:gridCol w="3727704"/>
                <a:gridCol w="3727704"/>
              </a:tblGrid>
              <a:tr h="5715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marL="64008" marR="64008" marT="36576" marB="36576">
                    <a:solidFill>
                      <a:srgbClr val="0033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GO condition (all required)</a:t>
                      </a:r>
                    </a:p>
                  </a:txBody>
                  <a:tcPr marL="64008" marR="64008" marT="36576" marB="36576">
                    <a:solidFill>
                      <a:srgbClr val="0033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Evidence required at Week 10</a:t>
                      </a:r>
                    </a:p>
                  </a:txBody>
                  <a:tcPr marL="64008" marR="64008" marT="36576" marB="36576">
                    <a:solidFill>
                      <a:srgbClr val="00332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Uptime at least 99.6%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Measured operational uptime — not the 99.9% reference figure for Option C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All sites pass capacity validation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North, East and West validated — West deficit (−8/day) closed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Training AND validation both finish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Train (Wk 6–8) and Validate (Wk 6–8) complete before the gate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4206240"/>
            <a:ext cx="5440680" cy="1554480"/>
          </a:xfrm>
          <a:prstGeom prst="rect">
            <a:avLst/>
          </a:prstGeom>
          <a:solidFill>
            <a:srgbClr val="003322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343400"/>
            <a:ext cx="4983480" cy="1325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FF99"/>
                </a:solidFill>
                <a:latin typeface="Calibri"/>
              </a:defRPr>
            </a:pPr>
            <a:r>
              <a:t>GO  →  ROLLOUT (Weeks 11–14)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FF99"/>
                </a:solidFill>
                <a:latin typeface="Calibri"/>
              </a:defRPr>
            </a:pPr>
            <a:r>
              <a:t>Only if conditions 1 + 2 + 3 are all met.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5352" y="4206240"/>
            <a:ext cx="5440680" cy="1554480"/>
          </a:xfrm>
          <a:prstGeom prst="rect">
            <a:avLst/>
          </a:prstGeom>
          <a:solidFill>
            <a:srgbClr val="3A1A1A"/>
          </a:solidFill>
          <a:ln>
            <a:solidFill>
              <a:srgbClr val="FF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4343400"/>
            <a:ext cx="4983480" cy="1325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9999"/>
                </a:solidFill>
                <a:latin typeface="Calibri"/>
              </a:defRPr>
            </a:pPr>
            <a:r>
              <a:t>HOLD  →  NO 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9999"/>
                </a:solidFill>
                <a:latin typeface="Calibri"/>
              </a:defRPr>
            </a:pPr>
            <a:r>
              <a:t>If any condition fails. Fix, re-validate, re-gate.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943600"/>
            <a:ext cx="111831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Caution: Option C reference uptime (99.9%) exceeds the 99.6% threshold on paper, but reference uptime is not proof — operational measurement during Validate must prove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309360"/>
            <a:ext cx="868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FF99"/>
                </a:solidFill>
                <a:latin typeface="Calibri"/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28016" cy="566928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74320"/>
            <a:ext cx="10881360" cy="5669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RISK  —  LIKELIHOOD ×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881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FF99"/>
                </a:solidFill>
                <a:latin typeface="Calibri"/>
              </a:defRPr>
            </a:pPr>
            <a:r>
              <a:t>Scales 1–5  •  Likelihood on x-axis, Impact on y-axis  •  Score = Likelihood × Impact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80160"/>
            <a:ext cx="11183112" cy="0"/>
          </a:xfrm>
          <a:prstGeom prst="line">
            <a:avLst/>
          </a:prstGeom>
          <a:ln w="317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188720" y="1691640"/>
            <a:ext cx="4572000" cy="3840480"/>
          </a:xfrm>
          <a:prstGeom prst="rect">
            <a:avLst/>
          </a:prstGeom>
          <a:solidFill>
            <a:srgbClr val="222222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2103120" y="1691640"/>
            <a:ext cx="0" cy="384048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017520" y="1691640"/>
            <a:ext cx="0" cy="384048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1691640"/>
            <a:ext cx="0" cy="384048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46320" y="1691640"/>
            <a:ext cx="0" cy="384048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88720" y="2459736"/>
            <a:ext cx="45720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88720" y="3227832"/>
            <a:ext cx="45720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88720" y="3995928"/>
            <a:ext cx="45720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88720" y="4764024"/>
            <a:ext cx="45720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160520" y="3364992"/>
            <a:ext cx="457200" cy="45720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3456432"/>
            <a:ext cx="3657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1A"/>
                </a:solidFill>
                <a:latin typeface="Calibri"/>
              </a:defRPr>
            </a:pPr>
            <a:r>
              <a:t>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31720" y="2596896"/>
            <a:ext cx="457200" cy="4572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77440" y="2688336"/>
            <a:ext cx="3657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1A"/>
                </a:solidFill>
                <a:latin typeface="Calibri"/>
              </a:defRPr>
            </a:pPr>
            <a:r>
              <a:t>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577840"/>
            <a:ext cx="4572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1          2          3          4          5   →  LIKELIHOOD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691640"/>
            <a:ext cx="594360" cy="3840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577840"/>
            <a:ext cx="59436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FF99"/>
                </a:solidFill>
                <a:latin typeface="Calibri"/>
              </a:defRPr>
            </a:pPr>
            <a:r>
              <a:t>IMPACT ↑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400800" y="1691640"/>
          <a:ext cx="528523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308"/>
                <a:gridCol w="1321308"/>
                <a:gridCol w="1321308"/>
                <a:gridCol w="1321308"/>
              </a:tblGrid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0033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L × I</a:t>
                      </a:r>
                    </a:p>
                  </a:txBody>
                  <a:tcPr marL="64008" marR="64008" marT="36576" marB="36576">
                    <a:solidFill>
                      <a:srgbClr val="0033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Score</a:t>
                      </a:r>
                    </a:p>
                  </a:txBody>
                  <a:tcPr marL="64008" marR="64008" marT="36576" marB="36576">
                    <a:solidFill>
                      <a:srgbClr val="0033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Mitigation</a:t>
                      </a:r>
                    </a:p>
                  </a:txBody>
                  <a:tcPr marL="64008" marR="64008" marT="36576" marB="36576">
                    <a:solidFill>
                      <a:srgbClr val="00332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 — Supplier delay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 × 3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Pre-order critical parts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 — Training gap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 × 4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Supervised practice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6400800" y="4160520"/>
            <a:ext cx="5285232" cy="1463040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4297680"/>
            <a:ext cx="4828032" cy="1234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PRIORITY:  Supplier delay (score 12) outranks training gap (8). Pre-ordering critical parts protects the Build window (Wk 3–5); supervised practice protects the gate's training condition.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309360"/>
            <a:ext cx="868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FF99"/>
                </a:solidFill>
                <a:latin typeface="Calibri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