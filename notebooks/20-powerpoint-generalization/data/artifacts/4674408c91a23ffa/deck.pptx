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C45B3A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Lead-time demand</c:v>
                </c:pt>
                <c:pt idx="1">
                  <c:v>Safety stock</c:v>
                </c:pt>
                <c:pt idx="2">
                  <c:v>Reorder point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</c:v>
                </c:pt>
                <c:pt idx="1">
                  <c:v>22</c:v>
                </c:pt>
                <c:pt idx="2">
                  <c:v>97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4A3B2A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4A3B2A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C45B3A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Inventory position</c:v>
                </c:pt>
                <c:pt idx="1">
                  <c:v>Reorder point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92</c:v>
                </c:pt>
                <c:pt idx="1">
                  <c:v>97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4A3B2A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4A3B2A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0879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The Reorder Rule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841248"/>
            <a:ext cx="90799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A6D4B"/>
                </a:solidFill>
                <a:latin typeface="Georgia"/>
              </a:defRPr>
            </a:pPr>
            <a:r>
              <a:t>For novice stockroom staff  •  Learn it  •  Work it  •  Try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41848" y="1261872"/>
            <a:ext cx="914400" cy="54864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6583680" cy="4526280"/>
          </a:xfrm>
          <a:prstGeom prst="roundRect">
            <a:avLst/>
          </a:prstGeom>
          <a:solidFill>
            <a:srgbClr val="FFFDF5"/>
          </a:solidFill>
          <a:ln>
            <a:solidFill>
              <a:srgbClr val="E8D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58521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5B3A"/>
                </a:solidFill>
                <a:latin typeface="Georgia"/>
              </a:defRPr>
            </a:pPr>
            <a:r>
              <a:t>Our learning 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5852160" cy="2103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Teach novice stockroom coordinators one simple reorder-point rule — clearly enough to use on shift, without guessing.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We will explain the logic, work through a full example with units, then give you a short practice exercise with its answer.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074920"/>
            <a:ext cx="58521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By the end, you can answer one question: order now, or wait?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554480"/>
            <a:ext cx="3959352" cy="4526280"/>
          </a:xfrm>
          <a:prstGeom prst="roundRect">
            <a:avLst/>
          </a:prstGeom>
          <a:solidFill>
            <a:srgbClr val="F5E6C8"/>
          </a:solidFill>
          <a:ln>
            <a:solidFill>
              <a:srgbClr val="E8D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783080"/>
            <a:ext cx="322783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3B2A"/>
                </a:solidFill>
                <a:latin typeface="Georgia"/>
              </a:defRPr>
            </a:pPr>
            <a:r>
              <a:t>In this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377440"/>
            <a:ext cx="3227832" cy="3108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1  The rule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2  A worked example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3  A stock check: order?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4  The daily process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5  Practice, pitfalls &amp; checklist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6D4B"/>
                </a:solidFill>
                <a:latin typeface="Georgia"/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0879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A3B2A"/>
                </a:solidFill>
                <a:latin typeface="Georgia"/>
              </a:defRPr>
            </a:pPr>
            <a:r>
              <a:t>The Rule: Two Sums, One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841248"/>
            <a:ext cx="90799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A6D4B"/>
                </a:solidFill>
                <a:latin typeface="Georgia"/>
              </a:defRPr>
            </a:pPr>
            <a:r>
              <a:t>Find the trigger. Find your position. Compare them.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41848" y="1261872"/>
            <a:ext cx="914400" cy="54864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543032" cy="141732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719072"/>
            <a:ext cx="981151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Georgia"/>
              </a:defRPr>
            </a:pPr>
            <a:r>
              <a:t>Reorder point  =  daily demand × lead time in days  +  safety stock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981151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Georgia"/>
              </a:defRPr>
            </a:pPr>
            <a:r>
              <a:t>Inventory position  =  on-hand  +  on-order  −  committed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46120"/>
            <a:ext cx="3392424" cy="1965960"/>
          </a:xfrm>
          <a:prstGeom prst="roundRect">
            <a:avLst/>
          </a:prstGeom>
          <a:solidFill>
            <a:srgbClr val="FFFDF5"/>
          </a:solidFill>
          <a:ln>
            <a:solidFill>
              <a:srgbClr val="E8D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2843784" cy="1600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Lead-time demand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What we expect to use while a new delivery is on its way.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3246120"/>
            <a:ext cx="3392424" cy="1965960"/>
          </a:xfrm>
          <a:prstGeom prst="roundRect">
            <a:avLst/>
          </a:prstGeom>
          <a:solidFill>
            <a:srgbClr val="FFFDF5"/>
          </a:solidFill>
          <a:ln>
            <a:solidFill>
              <a:srgbClr val="E8D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4" y="3429000"/>
            <a:ext cx="2843784" cy="1600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Safety stock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A small cushion, in units, for busy days or late deliveries. Add it once.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73568" y="3246120"/>
            <a:ext cx="3392424" cy="1965960"/>
          </a:xfrm>
          <a:prstGeom prst="roundRect">
            <a:avLst/>
          </a:prstGeom>
          <a:solidFill>
            <a:srgbClr val="F5E6C8"/>
          </a:solidFill>
          <a:ln>
            <a:solidFill>
              <a:srgbClr val="E8D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3429000"/>
            <a:ext cx="2843784" cy="1600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Inventory position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All stock we have or have coming, minus stock already promised.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5440680"/>
            <a:ext cx="7799831" cy="777240"/>
          </a:xfrm>
          <a:prstGeom prst="round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5623560"/>
            <a:ext cx="725119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8E7"/>
                </a:solidFill>
                <a:latin typeface="Georgia"/>
              </a:defRPr>
            </a:pPr>
            <a:r>
              <a:t>Place an order when inventory position  ≤  reorder 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6D4B"/>
                </a:solidFill>
                <a:latin typeface="Georgia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0879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A3B2A"/>
                </a:solidFill>
                <a:latin typeface="Georgia"/>
              </a:defRPr>
            </a:pPr>
            <a:r>
              <a:t>Worked Example: Building the Trigger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841248"/>
            <a:ext cx="90799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A6D4B"/>
                </a:solidFill>
                <a:latin typeface="Georgia"/>
              </a:defRPr>
            </a:pPr>
            <a:r>
              <a:t>Daily demand 15 units  •  Lead time 5 days  •  Safety stock 22 units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41848" y="1261872"/>
            <a:ext cx="914400" cy="54864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760720" cy="4480560"/>
          </a:xfrm>
          <a:prstGeom prst="roundRect">
            <a:avLst/>
          </a:prstGeom>
          <a:solidFill>
            <a:srgbClr val="FFFDF5"/>
          </a:solidFill>
          <a:ln>
            <a:solidFill>
              <a:srgbClr val="E8D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5029200" cy="3931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Step 1 — Lead-time demand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15 units/day × 5 days = 75 units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(The “days” cancel; the answer is in units.)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Step 2 — Add the cushion once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75 units + 22 units = 97 units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Reorder point = 97 units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554480"/>
            <a:ext cx="47548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How 97 units is made up (units)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766560" y="1965960"/>
          <a:ext cx="475488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766560" y="5394960"/>
            <a:ext cx="4754880" cy="640080"/>
          </a:xfrm>
          <a:prstGeom prst="round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5559552"/>
            <a:ext cx="4297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A3B2A"/>
                </a:solidFill>
                <a:latin typeface="Georgia"/>
              </a:defRPr>
            </a:pPr>
            <a:r>
              <a:t>97 is a trigger level — not an order quantity.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6D4B"/>
                </a:solidFill>
                <a:latin typeface="Georgia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0879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A3B2A"/>
                </a:solidFill>
                <a:latin typeface="Georgia"/>
              </a:defRPr>
            </a:pPr>
            <a:r>
              <a:t>Inventory Check: Are We at the Trigger?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841248"/>
            <a:ext cx="90799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A6D4B"/>
                </a:solidFill>
                <a:latin typeface="Georgia"/>
              </a:defRPr>
            </a:pPr>
            <a:r>
              <a:t>Use position — not on-hand alone — for the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41848" y="1261872"/>
            <a:ext cx="914400" cy="54864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82880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45B3A"/>
                </a:solidFill>
                <a:latin typeface="Georgia"/>
              </a:defRPr>
            </a:pPr>
            <a: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95144"/>
            <a:ext cx="182880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ON-HAND (UNITS)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788920"/>
            <a:ext cx="182880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697480" y="1554480"/>
            <a:ext cx="182880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45B3A"/>
                </a:solidFill>
                <a:latin typeface="Georgia"/>
              </a:defRPr>
            </a:pPr>
            <a:r>
              <a:t>+ 20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295144"/>
            <a:ext cx="182880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ON-ORDER (UNITS)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97480" y="2788920"/>
            <a:ext cx="182880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754880" y="1554480"/>
            <a:ext cx="182880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45B3A"/>
                </a:solidFill>
                <a:latin typeface="Georgia"/>
              </a:defRPr>
            </a:pPr>
            <a:r>
              <a:t>− 17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295144"/>
            <a:ext cx="182880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COMMITTED (UNITS)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54880" y="2788920"/>
            <a:ext cx="182880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12280" y="1554480"/>
            <a:ext cx="201168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A3B2A"/>
                </a:solidFill>
                <a:latin typeface="Georgia"/>
              </a:defRPr>
            </a:pPr>
            <a:r>
              <a:t>= 92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295144"/>
            <a:ext cx="201168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INVENTORY POSITION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12280" y="2788920"/>
            <a:ext cx="201168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098280" y="1554480"/>
            <a:ext cx="2450592" cy="123444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755648"/>
            <a:ext cx="199339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ORDER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92 ≤ 97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017520"/>
            <a:ext cx="5120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Position vs. reorder point (units)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640080" y="3429000"/>
          <a:ext cx="5120640" cy="2606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6126480" y="3017520"/>
            <a:ext cx="5422392" cy="3017520"/>
          </a:xfrm>
          <a:prstGeom prst="roundRect">
            <a:avLst/>
          </a:prstGeom>
          <a:solidFill>
            <a:srgbClr val="FFFDF5"/>
          </a:solidFill>
          <a:ln>
            <a:solidFill>
              <a:srgbClr val="E8D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246120"/>
            <a:ext cx="4782312" cy="2560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Conclusion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92 units is below the 97-unit trigger, so ORDER.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How many?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Target position 197 units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− position 92 units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= order quantity 105 units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6D4B"/>
                </a:solidFill>
                <a:latin typeface="Georgia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0879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4A3B2A"/>
                </a:solidFill>
                <a:latin typeface="Georgia"/>
              </a:defRPr>
            </a:pPr>
            <a:r>
              <a:t>The Daily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841248"/>
            <a:ext cx="90799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A6D4B"/>
                </a:solidFill>
                <a:latin typeface="Georgia"/>
              </a:defRPr>
            </a:pPr>
            <a:r>
              <a:t>One connected decision, repeated at every daily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41848" y="1261872"/>
            <a:ext cx="914400" cy="54864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2521458" cy="1463040"/>
          </a:xfrm>
          <a:prstGeom prst="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764792"/>
            <a:ext cx="2375153" cy="13167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Read counts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35857" y="1691640"/>
            <a:ext cx="2521458" cy="1463040"/>
          </a:xfrm>
          <a:prstGeom prst="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09009" y="1764792"/>
            <a:ext cx="2375153" cy="13167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Calculate position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61537" y="2423160"/>
            <a:ext cx="27432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231636" y="1691640"/>
            <a:ext cx="2521458" cy="1463040"/>
          </a:xfrm>
          <a:prstGeom prst="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4788" y="1764792"/>
            <a:ext cx="2375153" cy="13167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Compare with ROP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57316" y="2423160"/>
            <a:ext cx="27432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027413" y="1691640"/>
            <a:ext cx="2521458" cy="1463040"/>
          </a:xfrm>
          <a:prstGeom prst="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00565" y="1764792"/>
            <a:ext cx="2375153" cy="13167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Decide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53093" y="2423160"/>
            <a:ext cx="27432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3291840"/>
            <a:ext cx="1054303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At “Decide”:  position ≤ reorder point  →  ORDER      •      position &gt; reorder point  →  WAIT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77639"/>
            <a:ext cx="5120640" cy="155448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206240"/>
            <a:ext cx="448056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Georgia"/>
              </a:defRPr>
            </a:pPr>
            <a:r>
              <a:t>ORDER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Georgia"/>
              </a:defRPr>
            </a:pPr>
            <a:r>
              <a:t>Place the order to reach the target position.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3977639"/>
            <a:ext cx="5120640" cy="1554480"/>
          </a:xfrm>
          <a:prstGeom prst="roundRect">
            <a:avLst/>
          </a:prstGeom>
          <a:solidFill>
            <a:srgbClr val="FFFDF5"/>
          </a:solidFill>
          <a:ln>
            <a:solidFill>
              <a:srgbClr val="C45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4206240"/>
            <a:ext cx="448056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WAIT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Do not order. Return to the next daily review and read counts again.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78240" y="5532120"/>
            <a:ext cx="0" cy="45720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5989320"/>
            <a:ext cx="6949440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0" y="3154680"/>
            <a:ext cx="0" cy="283464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840480" y="6035040"/>
            <a:ext cx="44805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5B3A"/>
                </a:solidFill>
                <a:latin typeface="Georgia"/>
              </a:defRPr>
            </a:pPr>
            <a:r>
              <a:t>WAIT loops back to tomorrow’s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6D4B"/>
                </a:solidFill>
                <a:latin typeface="Georgia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0879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4A3B2A"/>
                </a:solidFill>
                <a:latin typeface="Georgia"/>
              </a:defRPr>
            </a:pPr>
            <a:r>
              <a:t>Practice: Your Turn to Decide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841248"/>
            <a:ext cx="90799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A6D4B"/>
                </a:solidFill>
                <a:latin typeface="Georgia"/>
              </a:defRPr>
            </a:pPr>
            <a:r>
              <a:t>Work it out before turning the page — the answer follows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41848" y="1261872"/>
            <a:ext cx="914400" cy="54864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63040" y="1600200"/>
            <a:ext cx="9262872" cy="2286000"/>
          </a:xfrm>
          <a:prstGeom prst="roundRect">
            <a:avLst/>
          </a:prstGeom>
          <a:solidFill>
            <a:srgbClr val="FFFDF5"/>
          </a:solidFill>
          <a:ln>
            <a:solidFill>
              <a:srgbClr val="E8D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1874519"/>
            <a:ext cx="3291840" cy="8046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45B3A"/>
                </a:solidFill>
                <a:latin typeface="Georgia"/>
              </a:defRPr>
            </a:pPr>
            <a:r>
              <a:t>109 units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752344"/>
            <a:ext cx="3291840" cy="512063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INVENTORY POSITION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03120" y="3337560"/>
            <a:ext cx="329184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766560" y="1874519"/>
            <a:ext cx="3291840" cy="8046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A3B2A"/>
                </a:solidFill>
                <a:latin typeface="Georgia"/>
              </a:defRPr>
            </a:pPr>
            <a:r>
              <a:t>97 units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752344"/>
            <a:ext cx="3291840" cy="512063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REORDER POINT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766560" y="3337560"/>
            <a:ext cx="329184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920240" y="4069080"/>
            <a:ext cx="834847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A3B2A"/>
                </a:solidFill>
                <a:latin typeface="Georgia"/>
              </a:defRPr>
            </a:pPr>
            <a:r>
              <a:t>Is the position at or below the trigger?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4846320"/>
            <a:ext cx="3200400" cy="914400"/>
          </a:xfrm>
          <a:prstGeom prst="roundRect">
            <a:avLst/>
          </a:prstGeom>
          <a:solidFill>
            <a:srgbClr val="F5E6C8"/>
          </a:solidFill>
          <a:ln>
            <a:solidFill>
              <a:srgbClr val="C45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40" y="5120640"/>
            <a:ext cx="27432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A3B2A"/>
                </a:solidFill>
                <a:latin typeface="Georgia"/>
              </a:defRPr>
            </a:pPr>
            <a:r>
              <a:t>ORDER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11112" y="4846320"/>
            <a:ext cx="3200400" cy="914400"/>
          </a:xfrm>
          <a:prstGeom prst="roundRect">
            <a:avLst/>
          </a:prstGeom>
          <a:solidFill>
            <a:srgbClr val="F5E6C8"/>
          </a:solidFill>
          <a:ln>
            <a:solidFill>
              <a:srgbClr val="C45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9712" y="5120640"/>
            <a:ext cx="27432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A3B2A"/>
                </a:solidFill>
                <a:latin typeface="Georgia"/>
              </a:defRPr>
            </a:pPr>
            <a:r>
              <a:t>WAIT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5989320"/>
            <a:ext cx="65196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A6D4B"/>
                </a:solidFill>
                <a:latin typeface="Georgia"/>
              </a:defRPr>
            </a:pPr>
            <a:r>
              <a:t>Hint: write “109 ○ 97” and choose  ≤  or  &gt;  first.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6D4B"/>
                </a:solidFill>
                <a:latin typeface="Georgia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0879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A3B2A"/>
                </a:solidFill>
                <a:latin typeface="Georgia"/>
              </a:defRPr>
            </a:pPr>
            <a:r>
              <a:t>Answer — and Three Traps to Avoid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841248"/>
            <a:ext cx="90799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A6D4B"/>
                </a:solidFill>
                <a:latin typeface="Georgia"/>
              </a:defRPr>
            </a:pPr>
            <a:r>
              <a:t>First, the practice answer. Then the common misconceptions.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41848" y="1261872"/>
            <a:ext cx="914400" cy="54864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10543032" cy="1143000"/>
          </a:xfrm>
          <a:prstGeom prst="round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91640"/>
            <a:ext cx="981151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8E7"/>
                </a:solidFill>
                <a:latin typeface="Georgia"/>
              </a:defRPr>
            </a:pPr>
            <a:r>
              <a:t>PRACTICE ANSWER:  WAIT  —  109 units is 12 units above the 97-unit trigger (109 − 97 = 12).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926080"/>
            <a:ext cx="3331464" cy="3108960"/>
          </a:xfrm>
          <a:prstGeom prst="rect">
            <a:avLst/>
          </a:prstGeom>
          <a:solidFill>
            <a:srgbClr val="FF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3035808"/>
            <a:ext cx="311200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✕ On-hand alone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657600"/>
            <a:ext cx="3112008" cy="22677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Do not compare on-hand alone with the trigger. Always use on-hand + on-order − committed.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8744" y="2926080"/>
            <a:ext cx="3331464" cy="3108960"/>
          </a:xfrm>
          <a:prstGeom prst="rect">
            <a:avLst/>
          </a:prstGeom>
          <a:solidFill>
            <a:srgbClr val="FF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8472" y="3035808"/>
            <a:ext cx="311200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✕ Safety × lead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8472" y="3657600"/>
            <a:ext cx="3112008" cy="22677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Do not multiply safety stock by lead time. Multiply only daily demand by days; add safety stock once.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34527" y="2926080"/>
            <a:ext cx="3331464" cy="3108960"/>
          </a:xfrm>
          <a:prstGeom prst="rect">
            <a:avLst/>
          </a:prstGeom>
          <a:solidFill>
            <a:srgbClr val="FF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44255" y="3035808"/>
            <a:ext cx="311200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✕ Trigger = quantity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4255" y="3657600"/>
            <a:ext cx="3112008" cy="22677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A larger reorder point is a trigger, not the order quantity. Quantity = target position − current position.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6D4B"/>
                </a:solidFill>
                <a:latin typeface="Georgia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0879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4A3B2A"/>
                </a:solidFill>
                <a:latin typeface="Georgia"/>
              </a:defRPr>
            </a:pPr>
            <a:r>
              <a:t>Before You Order: The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841248"/>
            <a:ext cx="90799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A6D4B"/>
                </a:solidFill>
                <a:latin typeface="Georgia"/>
              </a:defRPr>
            </a:pPr>
            <a:r>
              <a:t>Four checks, then place your position on the 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41848" y="1261872"/>
            <a:ext cx="914400" cy="54864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543032" cy="2148840"/>
          </a:xfrm>
          <a:prstGeom prst="roundRect">
            <a:avLst/>
          </a:prstGeom>
          <a:solidFill>
            <a:srgbClr val="FFFDF5"/>
          </a:solidFill>
          <a:ln>
            <a:solidFill>
              <a:srgbClr val="E8D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755648"/>
            <a:ext cx="9720072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☐  1. Verify units — demand per day, lead time in days, stock in units.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☐  2. Include existing orders — add on-order stock.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☐  3. Subtract commitments — stock already promised does not count.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☐  4. Check the trigger — ORDER only if position ≤ reorder 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31920"/>
            <a:ext cx="1054303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Annotated number line (units) — where does today’s position fall?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617720"/>
            <a:ext cx="4937760" cy="502920"/>
          </a:xfrm>
          <a:prstGeom prst="roundRect">
            <a:avLst/>
          </a:prstGeom>
          <a:solidFill>
            <a:srgbClr val="F3C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0" y="4617720"/>
            <a:ext cx="5239512" cy="502920"/>
          </a:xfrm>
          <a:prstGeom prst="roundRect">
            <a:avLst/>
          </a:prstGeom>
          <a:solidFill>
            <a:srgbClr val="EFE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736592"/>
            <a:ext cx="4572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A3B2A"/>
                </a:solidFill>
                <a:latin typeface="Georgia"/>
              </a:defRPr>
            </a:pPr>
            <a:r>
              <a:t>←  ORDER  (at / below trigger)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4736592"/>
            <a:ext cx="48737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A3B2A"/>
                </a:solidFill>
                <a:latin typeface="Georgia"/>
              </a:defRPr>
            </a:pPr>
            <a:r>
              <a:t>WAIT  (above trigger)  →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05840" y="5532120"/>
            <a:ext cx="10177272" cy="0"/>
          </a:xfrm>
          <a:prstGeom prst="line">
            <a:avLst/>
          </a:prstGeom>
          <a:ln w="3175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74920" y="5349240"/>
            <a:ext cx="0" cy="36576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43600" y="5303520"/>
            <a:ext cx="0" cy="45720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046720" y="5349240"/>
            <a:ext cx="0" cy="365760"/>
          </a:xfrm>
          <a:prstGeom prst="line">
            <a:avLst/>
          </a:prstGeom>
          <a:ln w="3175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251960" y="5806440"/>
            <a:ext cx="16459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92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worked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5806440"/>
            <a:ext cx="16459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97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TRIGGER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5806440"/>
            <a:ext cx="16459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A3B2A"/>
                </a:solidFill>
                <a:latin typeface="Georgia"/>
              </a:defRPr>
            </a:pPr>
            <a:r>
              <a:t>109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A3B2A"/>
                </a:solidFill>
                <a:latin typeface="Georgia"/>
              </a:defRPr>
            </a:pPr>
            <a:r>
              <a:t>practice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6D4B"/>
                </a:solidFill>
                <a:latin typeface="Georgia"/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