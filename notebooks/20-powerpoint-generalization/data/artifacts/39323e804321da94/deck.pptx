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Seats</c:v>
                </c:pt>
              </c:strCache>
            </c:strRef>
          </c:tx>
          <c:spPr>
            <a:solidFill>
              <a:srgbClr val="0055A4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43</c:v>
                </c:pt>
                <c:pt idx="2">
                  <c:v>34</c:v>
                </c:pt>
                <c:pt idx="3">
                  <c:v>49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>
                  <a:solidFill>
                    <a:srgbClr val="333333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33333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333333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Items</c:v>
                </c:pt>
              </c:strCache>
            </c:strRef>
          </c:tx>
          <c:spPr>
            <a:solidFill>
              <a:srgbClr val="0055A4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Repaired</c:v>
                </c:pt>
                <c:pt idx="1">
                  <c:v>Referred</c:v>
                </c:pt>
                <c:pt idx="2">
                  <c:v>Not repairable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</c:v>
                </c:pt>
                <c:pt idx="1">
                  <c:v>24</c:v>
                </c:pt>
                <c:pt idx="2">
                  <c:v>16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>
                  <a:solidFill>
                    <a:srgbClr val="333333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33333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333333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FIX IT TOGETHER: VOLUNTEER WITH US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A fictional neighborhood repair-cafe campaign — all are welcome to take part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713232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33333"/>
                </a:solidFill>
                <a:latin typeface="Arial"/>
              </a:defRPr>
            </a:pPr>
            <a:r>
              <a:t>Neighbours bring one small household item. Volunteers help welcome people, support simple repairs, and keep every session safe and friendly.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0" y="1600200"/>
            <a:ext cx="3429000" cy="10515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1737360"/>
            <a:ext cx="288036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NO EXPERIENCE NEEDED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Training in week 2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880360"/>
            <a:ext cx="353568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2990088"/>
            <a:ext cx="33162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333333"/>
                </a:solidFill>
                <a:latin typeface="Arial"/>
              </a:defRPr>
            </a:pPr>
            <a:r>
              <a:t>WHO CAN TAKE PART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3611880"/>
            <a:ext cx="3316224" cy="12618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Participants with one small item, and volunteers in welcome, repair-support, or safety-check roles.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12920" y="2880360"/>
            <a:ext cx="353568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22648" y="2990088"/>
            <a:ext cx="33162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333333"/>
                </a:solidFill>
                <a:latin typeface="Arial"/>
              </a:defRPr>
            </a:pPr>
            <a:r>
              <a:t>HOW IT RUNS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2648" y="3611880"/>
            <a:ext cx="3316224" cy="12618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Register in week 1, train in week 2, repair together at four 2-hour events in week 5.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2920" y="2880360"/>
            <a:ext cx="353568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32648" y="2990088"/>
            <a:ext cx="33162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333333"/>
                </a:solidFill>
                <a:latin typeface="Arial"/>
              </a:defRPr>
            </a:pPr>
            <a:r>
              <a:t>HOW TO VOLUNTEER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2648" y="3611880"/>
            <a:ext cx="3316224" cy="12618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Choose a role and sign up by the end of week 2. Training and guidance are provided.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02920" y="5303520"/>
            <a:ext cx="11155680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02920" y="5486400"/>
            <a:ext cx="1115568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55A4"/>
                </a:solidFill>
                <a:latin typeface="Arial"/>
              </a:defRPr>
            </a:pPr>
            <a:r>
              <a:t>A welcoming, practical way to help neighbours keep useful things in use — together.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35508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All information in this deck is fictional and illustrative.  •  1  PURPOSE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FOUR SESSIONS, ROOM FOR 176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Session capacity in seats — every session lasts 2 hours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6858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Arial"/>
              </a:defRPr>
            </a:pPr>
            <a:r>
              <a:t>Seats per session (seats)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920240"/>
          <a:ext cx="685800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863840" y="1691640"/>
            <a:ext cx="3749039" cy="62865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176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2377440"/>
            <a:ext cx="3749039" cy="40005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TOTAL SEATS ACROSS 4 SESSIONS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863840" y="2834640"/>
            <a:ext cx="3749040" cy="0"/>
          </a:xfrm>
          <a:prstGeom prst="line">
            <a:avLst/>
          </a:prstGeom>
          <a:ln w="127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863840" y="3063240"/>
            <a:ext cx="1828800" cy="62865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3749039"/>
            <a:ext cx="1828800" cy="40005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SESSIONS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863840" y="4206240"/>
            <a:ext cx="1828800" cy="0"/>
          </a:xfrm>
          <a:prstGeom prst="line">
            <a:avLst/>
          </a:prstGeom>
          <a:ln w="127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784080" y="3063240"/>
            <a:ext cx="1828800" cy="62865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2 hrs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3749039"/>
            <a:ext cx="1828800" cy="40005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EACH SESSION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784080" y="4206240"/>
            <a:ext cx="1828800" cy="0"/>
          </a:xfrm>
          <a:prstGeom prst="line">
            <a:avLst/>
          </a:prstGeom>
          <a:ln w="127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863840" y="4434840"/>
            <a:ext cx="3749039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92440" y="4572000"/>
            <a:ext cx="32918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50 + 43 + 34 + 49 = 176 seats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Average: 44 seats per session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715000"/>
            <a:ext cx="111556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North (50) and West (49) are the largest sessions; South is smallest at 34 seats.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35508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Synthetic data. Walk-ins are welcome within session capacity.  •  2  CAPACITY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40 VOLUNTEERS MAKE IT HAPPEN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Three roles, one team — no specialist qualification is implied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45920"/>
            <a:ext cx="3474720" cy="6537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359152"/>
            <a:ext cx="3474720" cy="41605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VOLUNTEERS NEEDED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2834640"/>
            <a:ext cx="3474719" cy="0"/>
          </a:xfrm>
          <a:prstGeom prst="line">
            <a:avLst/>
          </a:prstGeom>
          <a:ln w="127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343400" y="1645920"/>
            <a:ext cx="3474720" cy="6537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3 hrs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2359152"/>
            <a:ext cx="3474720" cy="41605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PER VOLUNTEER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343400" y="2834640"/>
            <a:ext cx="3474720" cy="0"/>
          </a:xfrm>
          <a:prstGeom prst="line">
            <a:avLst/>
          </a:prstGeom>
          <a:ln w="127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183879" y="1645920"/>
            <a:ext cx="3474720" cy="6537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120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2359152"/>
            <a:ext cx="3474720" cy="41605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VOLUNTEER-HOURS  (40 × 3)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183879" y="2834640"/>
            <a:ext cx="3474721" cy="0"/>
          </a:xfrm>
          <a:prstGeom prst="line">
            <a:avLst/>
          </a:prstGeom>
          <a:ln w="127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02920" y="3108960"/>
            <a:ext cx="353568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3218688"/>
            <a:ext cx="33162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333333"/>
                </a:solidFill>
                <a:latin typeface="Arial"/>
              </a:defRPr>
            </a:pPr>
            <a:r>
              <a:t>1  WELCOME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3840480"/>
            <a:ext cx="3316224" cy="13075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Greet participants, check them in, explain how the session works, and keep the queue friendly.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12920" y="3108960"/>
            <a:ext cx="353568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22648" y="3218688"/>
            <a:ext cx="33162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333333"/>
                </a:solidFill>
                <a:latin typeface="Arial"/>
              </a:defRPr>
            </a:pPr>
            <a:r>
              <a:t>2  REPAIR SUPPORT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22648" y="3840480"/>
            <a:ext cx="3316224" cy="13075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Help assess items, fetch tools and parts, and support simple repairs alongside others.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22920" y="3108960"/>
            <a:ext cx="353568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2648" y="3218688"/>
            <a:ext cx="33162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333333"/>
                </a:solidFill>
                <a:latin typeface="Arial"/>
              </a:defRPr>
            </a:pPr>
            <a:r>
              <a:t>3  SAFETY 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2648" y="3840480"/>
            <a:ext cx="3316224" cy="13075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Keep work areas tidy, check items before and after repair, and flag anything unsure.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486400"/>
            <a:ext cx="111556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623560"/>
            <a:ext cx="106070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33333"/>
                </a:solidFill>
                <a:latin typeface="Arial"/>
              </a:defRPr>
            </a:pPr>
            <a:r>
              <a:t>40 volunteers × 3 hours each = 120 volunteer-hours. Training in week 2 covers every role.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35508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No specialist qualification is implied for any role.  •  3  VOLUNTEERS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A MODEST, CLEAR BUDGET: $3,320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Planned spending by category (USD)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91640"/>
          <a:ext cx="62179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3108960"/>
              </a:tblGrid>
              <a:tr h="54864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Category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Amount (USD)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Materials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$1,340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Venue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$1,000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Outreach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$680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Access support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$300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TOTAL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$3,320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223760" y="1691640"/>
            <a:ext cx="44348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55A4"/>
                </a:solidFill>
                <a:latin typeface="Arial"/>
              </a:defRPr>
            </a:pPr>
            <a:r>
              <a:t>WHERE THE MONEY GOES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0" y="2103120"/>
            <a:ext cx="4434840" cy="1920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Materials are the largest share: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$1,340 ÷ $3,320 = 40.4%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Venue: $1,000 ÷ $3,320 = 30.1%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Outreach: $680 ÷ $3,320 = 20.5%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Access support: $300 ÷ $3,320 = 9.0%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223760" y="4114800"/>
            <a:ext cx="4434840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223760" y="4297680"/>
            <a:ext cx="443484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Access support is budgeted at $300.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Total check: 1,340 + 1,000 + 680 + 300 = $3,320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257800"/>
            <a:ext cx="11155680" cy="7315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394960"/>
            <a:ext cx="106070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About $18.86 per seat  —  $3,320 ÷ 176 seats. Volunteer time keeps costs low.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35508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Synthetic budget. Per-seat figure is illustrative arithmetic.  •  4  BUDGET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SIX WEEKS, STEP BY STEP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From sign-up to follow-up — events take place in week 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2011680" cy="137160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764792"/>
            <a:ext cx="1865376" cy="12252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WK 1: Register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788920" y="1691640"/>
            <a:ext cx="2011680" cy="137160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62072" y="1764792"/>
            <a:ext cx="1865376" cy="12252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WK 2: Training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14600" y="2377440"/>
            <a:ext cx="27432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074920" y="1691640"/>
            <a:ext cx="2011680" cy="137160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48072" y="1764792"/>
            <a:ext cx="1865376" cy="12252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WK 3: Venue set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00600" y="2377440"/>
            <a:ext cx="27432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7360920" y="1691640"/>
            <a:ext cx="2011680" cy="137160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34072" y="1764792"/>
            <a:ext cx="1865376" cy="12252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WK 5: EVENTS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086600" y="2377440"/>
            <a:ext cx="27432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9646920" y="1691640"/>
            <a:ext cx="2011680" cy="137160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20072" y="1764792"/>
            <a:ext cx="1865376" cy="12252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WK 6: Follow-up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372600" y="2377440"/>
            <a:ext cx="27432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02920" y="3383280"/>
            <a:ext cx="353568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" y="3493008"/>
            <a:ext cx="33162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333333"/>
                </a:solidFill>
                <a:latin typeface="Arial"/>
              </a:defRPr>
            </a:pPr>
            <a:r>
              <a:t>WEEKS 1–2  GET READY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4114800"/>
            <a:ext cx="3316224" cy="9875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Registration opens week 1. Volunteers train in week 2 and confirm their role and session.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12920" y="3383280"/>
            <a:ext cx="353568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22648" y="3493008"/>
            <a:ext cx="33162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333333"/>
                </a:solidFill>
                <a:latin typeface="Arial"/>
              </a:defRPr>
            </a:pPr>
            <a:r>
              <a:t>WEEK 3  CONFIRM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22648" y="4114800"/>
            <a:ext cx="3316224" cy="9875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Venue confirmation is completed in week 3. This, with training, unlocks the week 5 events.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22920" y="3383280"/>
            <a:ext cx="353568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32648" y="3493008"/>
            <a:ext cx="33162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333333"/>
                </a:solidFill>
                <a:latin typeface="Arial"/>
              </a:defRPr>
            </a:pPr>
            <a:r>
              <a:t>WEEKS 5–6  REPAIR +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32648" y="4114800"/>
            <a:ext cx="3316224" cy="9875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Four repair events in week 5. Follow-up one week later, in week 6.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486400"/>
            <a:ext cx="111556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596128"/>
            <a:ext cx="106070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55A4"/>
                </a:solidFill>
                <a:latin typeface="Arial"/>
              </a:defRPr>
            </a:pPr>
            <a:r>
              <a:t>DEPENDENCY:  Week 5 events depend on training (week 2) AND venue confirmation (week 3).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35508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Sign-up deadline: end of week 2. Follow-up in week 6, one week after events.  •  5  SCHEDULE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BRING ONE ITEM. WE WILL TRY.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How participation works — and what to expect on the 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353568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801368"/>
            <a:ext cx="33162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333333"/>
                </a:solidFill>
                <a:latin typeface="Arial"/>
              </a:defRPr>
            </a:pPr>
            <a:r>
              <a:t>BRING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423160"/>
            <a:ext cx="3316224" cy="14447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One small household item per participant. Arrive within your 2-hour session and check in at welcome.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2920" y="1691640"/>
            <a:ext cx="353568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2648" y="1801368"/>
            <a:ext cx="33162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333333"/>
                </a:solidFill>
                <a:latin typeface="Arial"/>
              </a:defRPr>
            </a:pPr>
            <a:r>
              <a:t>WHAT TO EXPECT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22648" y="2423160"/>
            <a:ext cx="3316224" cy="14447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Volunteers assess the item with you. Repairs depend on available skills and parts on the day.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22920" y="1691640"/>
            <a:ext cx="353568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32648" y="1801368"/>
            <a:ext cx="33162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333333"/>
                </a:solidFill>
                <a:latin typeface="Arial"/>
              </a:defRPr>
            </a:pPr>
            <a:r>
              <a:t>WALK-INS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32648" y="2423160"/>
            <a:ext cx="3316224" cy="14447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Walk-ins are welcome within session capacity (176 seats in total). Registered places help us plan.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297680"/>
            <a:ext cx="1115568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480560"/>
            <a:ext cx="106070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55A4"/>
                </a:solidFill>
                <a:latin typeface="Arial"/>
              </a:defRPr>
            </a:pPr>
            <a:r>
              <a:t>PLEASE NOTE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846320"/>
            <a:ext cx="106070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There is no guaranteed repair and no safety certification. If an item cannot be fixed here, we will explain why and suggest next steps.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760720"/>
            <a:ext cx="111556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55A4"/>
                </a:solidFill>
                <a:latin typeface="Arial"/>
              </a:defRPr>
            </a:pPr>
            <a:r>
              <a:t>As a volunteer, you help set honest expectations — kindly and clearly.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35508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Repairs depend on skills and parts available.  •  6  PARTICIPATION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IN OUR TRIAL, 60 OF 100 REPAIRED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Last synthetic trial — illustrative results only, not a promise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6858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Arial"/>
              </a:defRPr>
            </a:pPr>
            <a:r>
              <a:t>Synthetic-trial outcomes (items)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920240"/>
          <a:ext cx="685800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863840" y="1691640"/>
            <a:ext cx="3749039" cy="62865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2377440"/>
            <a:ext cx="3749039" cy="40005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ITEMS ASSESSED (SYNTHETIC TRIAL)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863840" y="2834640"/>
            <a:ext cx="3749040" cy="0"/>
          </a:xfrm>
          <a:prstGeom prst="line">
            <a:avLst/>
          </a:prstGeom>
          <a:ln w="127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863840" y="3063240"/>
            <a:ext cx="3749039" cy="62865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60.0%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3749039"/>
            <a:ext cx="3749039" cy="40005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REPAIR SHARE  (60 ÷ 100)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863840" y="4206240"/>
            <a:ext cx="3749040" cy="0"/>
          </a:xfrm>
          <a:prstGeom prst="line">
            <a:avLst/>
          </a:prstGeom>
          <a:ln w="127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7863840" y="4434840"/>
            <a:ext cx="3749039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4572000"/>
            <a:ext cx="32918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60 repaired + 24 referred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+ 16 not repairable = 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715000"/>
            <a:ext cx="111556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Every item was assessed; most were repaired or referred onward (84 of 100).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35508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Synthetic trial only. Future outcomes will vary; no repair is guaranteed.  •  7  OUTCOMES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SIGN UP BY THE END OF WEEK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Join as a participant or volunteer — events are in week 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5440679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801368"/>
            <a:ext cx="5221223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333333"/>
                </a:solidFill>
                <a:latin typeface="Arial"/>
              </a:defRPr>
            </a:pPr>
            <a:r>
              <a:t>AS A VOLUNTEER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423160"/>
            <a:ext cx="5221223" cy="12618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Pick welcome, repair support, or safety check. Give 3 hours; train in week 2; help at a week 5 event.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19" y="1691640"/>
            <a:ext cx="5440679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27647" y="1801368"/>
            <a:ext cx="5221223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333333"/>
                </a:solidFill>
                <a:latin typeface="Arial"/>
              </a:defRPr>
            </a:pPr>
            <a:r>
              <a:t>AS A PARTICIPANT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7647" y="2423160"/>
            <a:ext cx="5221223" cy="12618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Register for North, East, South, or West and bring one small household item to your 2-hour session.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069080"/>
            <a:ext cx="3535680" cy="10515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4142232"/>
            <a:ext cx="3389376" cy="9052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Sign up by end WK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12920" y="4069080"/>
            <a:ext cx="3535680" cy="10515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6072" y="4142232"/>
            <a:ext cx="3389376" cy="9052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Train in WK 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038600" y="4594860"/>
            <a:ext cx="27432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8122920" y="4069080"/>
            <a:ext cx="3535680" cy="10515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6072" y="4142232"/>
            <a:ext cx="3389376" cy="9052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Repair in WK 5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848600" y="4594860"/>
            <a:ext cx="27432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02920" y="5394960"/>
            <a:ext cx="11155680" cy="77724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532120"/>
            <a:ext cx="1060704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TO SIGN UP, CONTACT:  Local organizer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35508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Fictional campaign. Contact shown is a placeholder. Events in week 5.  •  8  CALL TO 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