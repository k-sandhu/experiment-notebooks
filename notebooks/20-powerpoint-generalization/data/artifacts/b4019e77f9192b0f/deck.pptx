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Teams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Sheet1!$A$2:$A$3</c:f>
              <c:strCache>
                <c:ptCount val="2"/>
                <c:pt idx="0">
                  <c:v>Duplicated work</c:v>
                </c:pt>
                <c:pt idx="1">
                  <c:v>No duplication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71</c:v>
                </c:pt>
                <c:pt idx="1">
                  <c:v>49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solidFill>
              <a:srgbClr val="FFD70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Visits</c:v>
                </c:pt>
                <c:pt idx="1">
                  <c:v>Signups</c:v>
                </c:pt>
                <c:pt idx="2">
                  <c:v>Trial starts</c:v>
                </c:pt>
                <c:pt idx="3">
                  <c:v>Paid teams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1400</c:v>
                </c:pt>
                <c:pt idx="1">
                  <c:v>480</c:v>
                </c:pt>
                <c:pt idx="2">
                  <c:v>220</c:v>
                </c:pt>
                <c:pt idx="3">
                  <c:v>100</c:v>
                </c:pt>
              </c:numCache>
            </c:numRef>
          </c:val>
        </c:ser>
        <c:dLbls>
          <c:txPr>
            <a:bodyPr/>
            <a:lstStyle/>
            <a:p>
              <a:pPr>
                <a:defRPr sz="1300">
                  <a:solidFill>
                    <a:srgbClr val="FFFFFF"/>
                  </a:solidFill>
                  <a:latin typeface="Calibri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 val="0.0"/>
        </c:scaling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1300">
                <a:solidFill>
                  <a:srgbClr val="FFFFFF"/>
                </a:solidFill>
                <a:latin typeface="Calibri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FFFFFF"/>
          </a:solidFill>
          <a:latin typeface="Calibri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881360" y="411480"/>
            <a:ext cx="73152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6858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PLANOVA  —  A FICTIONAL TEAM SCHEDULING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685800"/>
            <a:ext cx="22860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FOR PROJECT MANAGERS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1064240" cy="1737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SCHEDULING WITHOUT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THE DUPLICATED WORK.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971800"/>
            <a:ext cx="80467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7CAD6"/>
                </a:solidFill>
                <a:latin typeface="Calibri"/>
              </a:defRPr>
            </a:pPr>
            <a:r>
              <a:t>Import availability once. See conflicts before you approve. Notify the whole team from one shared schedule.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886200"/>
            <a:ext cx="3566160" cy="16002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886200"/>
            <a:ext cx="356616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41148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D700"/>
                </a:solidFill>
                <a:latin typeface="Calibri"/>
              </a:defRPr>
            </a:pPr>
            <a:r>
              <a:t>01  IMPORT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Bring team availability into one calendar — no re-typing.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4069080"/>
            <a:ext cx="3566160" cy="16002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297680" y="4069080"/>
            <a:ext cx="3566160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26280" y="429768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02  FLAG CONFLICTS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470916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Overlapping shifts are surfaced before approval.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3886200"/>
            <a:ext cx="3566160" cy="1600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4114800"/>
            <a:ext cx="31089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03  APPROVE &amp; NOTIFY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526280"/>
            <a:ext cx="31089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Approve once. Everyone gets the same final schedule.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806440"/>
            <a:ext cx="77724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AA0B5"/>
                </a:solidFill>
                <a:latin typeface="Calibri"/>
              </a:defRPr>
            </a:pPr>
            <a:r>
              <a:t>Built for prospective small-team customers  •  See the workflow, plans and launch path inside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95360" y="5806440"/>
            <a:ext cx="301752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All numbers in this deck are synthetic.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02  / 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0972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TEAMS ARE DOING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SCHEDULING TWICE.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377440"/>
            <a:ext cx="4206240" cy="9144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5400" b="1">
                <a:solidFill>
                  <a:srgbClr val="FFD700"/>
                </a:solidFill>
                <a:latin typeface="Calibri"/>
              </a:defRPr>
            </a:pPr>
            <a:r>
              <a:t>71 of 120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337560"/>
            <a:ext cx="420624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FFFFFF"/>
                </a:solidFill>
                <a:latin typeface="Calibri"/>
              </a:defRPr>
            </a:pPr>
            <a:r>
              <a:t>teams in a pilot survey report duplicated scheduling work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4297680"/>
            <a:ext cx="4023360" cy="10515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4434840"/>
            <a:ext cx="356616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71 ÷ 120 = 59.2% report duplication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49 of 120 (40.8%) do not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12080" y="2377440"/>
            <a:ext cx="640080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Pilot survey — teams reporting duplicated scheduling work (n = 120 teams)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5212080" y="2788920"/>
          <a:ext cx="6400800" cy="2560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5212080" y="5394960"/>
            <a:ext cx="64008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Unit: teams.  Value axis starts at zero.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5897880"/>
            <a:ext cx="11091672" cy="50292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6016752"/>
            <a:ext cx="106070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CAVEAT:  Synthetic pilot-survey count only — not a market-size estimate and not a customer testimonial.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03  / 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FLOW. ONE CHECKPOINT.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Nothing is approved while a conflict is unresolved — it loops back to availability review first.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423160"/>
            <a:ext cx="2514600" cy="1325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1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IMPORT AVAILABILITY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63240" y="3090672"/>
            <a:ext cx="5486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11880" y="2423160"/>
            <a:ext cx="2514600" cy="132588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9476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FLAG CONFLICTS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80" y="3090672"/>
            <a:ext cx="54864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6675120" y="2423160"/>
            <a:ext cx="2514600" cy="1325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2606040"/>
            <a:ext cx="2148840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FFFFFF"/>
                </a:solidFill>
                <a:latin typeface="Calibri"/>
              </a:defRPr>
            </a:pPr>
            <a:r>
              <a:t>APPROVE SCHEDULE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189720" y="3090672"/>
            <a:ext cx="502920" cy="0"/>
          </a:xfrm>
          <a:prstGeom prst="line">
            <a:avLst/>
          </a:prstGeom>
          <a:ln w="635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ectangle 14"/>
          <p:cNvSpPr/>
          <p:nvPr/>
        </p:nvSpPr>
        <p:spPr>
          <a:xfrm>
            <a:off x="9692640" y="2423160"/>
            <a:ext cx="1947672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800" y="2606040"/>
            <a:ext cx="1673352" cy="9601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4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NOTIFY TEAM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72200" y="2148840"/>
            <a:ext cx="82296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NO →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11880" y="4160520"/>
            <a:ext cx="2514600" cy="685800"/>
          </a:xfrm>
          <a:prstGeom prst="rect">
            <a:avLst/>
          </a:prstGeom>
          <a:solidFill>
            <a:srgbClr val="0B0C15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49039" y="4315968"/>
            <a:ext cx="224028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CONFLICT FOUND?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864608" y="3749039"/>
            <a:ext cx="0" cy="411481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>
            <a:off x="1810512" y="4498848"/>
            <a:ext cx="1801368" cy="0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810512" y="3794760"/>
            <a:ext cx="0" cy="704088"/>
          </a:xfrm>
          <a:prstGeom prst="line">
            <a:avLst/>
          </a:prstGeom>
          <a:ln w="50800">
            <a:solidFill>
              <a:srgbClr val="FFD7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920240" y="4206240"/>
            <a:ext cx="15544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YES — REVIEW 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206240"/>
            <a:ext cx="521208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NO conflict → proceed to approval (step 3), then notify (step 4).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5349240"/>
            <a:ext cx="11091672" cy="82296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486400"/>
            <a:ext cx="10607040" cy="5486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WHAT YOU SEE:  A shared calendar, highlighted overlaps, an approve action, and a record of who approved — all in sequence.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04  /  PLANS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PICK BY TEAM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Prices are per team per month. Enterprise has no list price — contact sales.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2331720"/>
          <a:ext cx="11091672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72918"/>
                <a:gridCol w="2772918"/>
                <a:gridCol w="2772918"/>
                <a:gridCol w="2772918"/>
              </a:tblGrid>
              <a:tr h="6858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Plan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Price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Team size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0B0C15"/>
                          </a:solidFill>
                          <a:latin typeface="Calibri"/>
                        </a:defRPr>
                      </a:pPr>
                      <a:r>
                        <a:t>Includes</a:t>
                      </a:r>
                    </a:p>
                  </a:txBody>
                  <a:tcPr marL="64008" marR="64008" marT="36576" marB="36576">
                    <a:solidFill>
                      <a:srgbClr val="FFD70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Starter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$23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5 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  ★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$62 / team / month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Up to 40 members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Shared calendar + conflict alerts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Enterprise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0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Contact sales</a:t>
                      </a:r>
                    </a:p>
                  </a:txBody>
                  <a:tcPr marL="64008" marR="64008" marT="36576" marB="36576">
                    <a:solidFill>
                      <a:srgbClr val="171A2B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5349240"/>
            <a:ext cx="713232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5486400"/>
            <a:ext cx="667512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B0C15"/>
                </a:solidFill>
                <a:latin typeface="Calibri"/>
              </a:defRPr>
            </a:pPr>
            <a:r>
              <a:t>PRO = STARTER + CONFLICT ALERTS, FOR TEAMS UP TO 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5394960"/>
            <a:ext cx="3657600" cy="8229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AA0B5"/>
                </a:solidFill>
                <a:latin typeface="Calibri"/>
              </a:defRPr>
            </a:pPr>
            <a:r>
              <a:t>Difference: $62 − $23 = $39 / team / month between Pro and Starter.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32004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05  /  FUNNEL (SYNTHETIC)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800" b="1">
                <a:solidFill>
                  <a:srgbClr val="FFFFFF"/>
                </a:solidFill>
                <a:latin typeface="Calibri"/>
              </a:defRPr>
            </a:pPr>
            <a:r>
              <a:t>FROM VISIT TO PAID TEAM.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69494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FFFF"/>
                </a:solidFill>
                <a:latin typeface="Calibri"/>
              </a:defRPr>
            </a:pPr>
            <a:r>
              <a:t>Funnel stages — exact counts (people / teams per stage label)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548640" y="2286000"/>
          <a:ext cx="6949440" cy="32918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5623560"/>
            <a:ext cx="69494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Counts: 1,400 → 480 → 220 → 100.  Value axis starts at zero.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2286000"/>
            <a:ext cx="3776472" cy="9601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92440" y="2395728"/>
            <a:ext cx="3291840" cy="7315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TRIAL → PAID:  45.5%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100 ÷ 220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63840" y="3429000"/>
            <a:ext cx="3776472" cy="141732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92440" y="3566160"/>
            <a:ext cx="3337560" cy="11430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Visits → signups: 480 ÷ 1,400 = 34.3%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Signups → trials: 220 ÷ 480 = 45.8%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FFFF"/>
                </a:solidFill>
                <a:latin typeface="Calibri"/>
              </a:defRPr>
            </a:pPr>
            <a:r>
              <a:t>Visits → paid: 100 ÷ 1,400 = 7.1%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63840" y="5029200"/>
            <a:ext cx="3776472" cy="9144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5138928"/>
            <a:ext cx="3337560" cy="6858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C7CAD6"/>
                </a:solidFill>
                <a:latin typeface="Calibri"/>
              </a:defRPr>
            </a:pPr>
            <a:r>
              <a:t>Descriptive funnel only. These counts do not imply the product caused the conversions.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172200"/>
            <a:ext cx="1106424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All funnel data are synthetic — not customer results or testimonials.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06  /  BENEFITS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13716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WHAT CHANGES</a:t>
            </a:r>
          </a:p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IN YOUR WEEK.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2651760"/>
            <a:ext cx="3566160" cy="2468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2651760"/>
            <a:ext cx="3566160" cy="9144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88036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D700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4290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LESS MANUAL RE-ENTRY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406908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7CAD6"/>
                </a:solidFill>
                <a:latin typeface="Calibri"/>
              </a:defRPr>
            </a:pPr>
            <a:r>
              <a:t>Availability import reduces manual re-entry of the same availability.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2880360"/>
            <a:ext cx="3566160" cy="24688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306324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0B0C15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361188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0B0C15"/>
                </a:solidFill>
                <a:latin typeface="Calibri"/>
              </a:defRPr>
            </a:pPr>
            <a:r>
              <a:t>CONFLICTS, SURFACED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425196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B0C15"/>
                </a:solidFill>
                <a:latin typeface="Calibri"/>
              </a:defRPr>
            </a:pPr>
            <a:r>
              <a:t>Conflict alerts surface overlapping shifts before approval.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0" y="2651760"/>
            <a:ext cx="3593592" cy="246888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2651760"/>
            <a:ext cx="3593592" cy="914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2880360"/>
            <a:ext cx="3108960" cy="45720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75320" y="3429000"/>
            <a:ext cx="3108960" cy="5943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 CLEAR APPROVAL RECORD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069080"/>
            <a:ext cx="3108960" cy="8686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C7CAD6"/>
                </a:solidFill>
                <a:latin typeface="Calibri"/>
              </a:defRPr>
            </a:pPr>
            <a:r>
              <a:t>Approval history records who approved a schedule.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687568"/>
            <a:ext cx="10607040" cy="4114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HONEST SCOPE:  No quantified time-saving claim is provided — judge the benefit in your own trial.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40080"/>
            <a:ext cx="274320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07  /  LAUNCH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1064240" cy="7772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4000" b="1">
                <a:solidFill>
                  <a:srgbClr val="FFFFFF"/>
                </a:solidFill>
                <a:latin typeface="Calibri"/>
              </a:defRPr>
            </a:pPr>
            <a:r>
              <a:t>SEVEN WEEKS TO LAUNCH.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1106424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C7CAD6"/>
                </a:solidFill>
                <a:latin typeface="Calibri"/>
              </a:defRPr>
            </a:pPr>
            <a:r>
              <a:t>Launch in week 7 depends on BOTH beta feedback AND the security review. Training stays in week 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26080" y="2331720"/>
            <a:ext cx="12435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9663" y="2331720"/>
            <a:ext cx="12435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13248" y="2331720"/>
            <a:ext cx="12435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56832" y="2331720"/>
            <a:ext cx="12435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00416" y="2331720"/>
            <a:ext cx="12435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0" y="2331720"/>
            <a:ext cx="12435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9AA0B5"/>
                </a:solidFill>
                <a:latin typeface="Calibri"/>
              </a:defRPr>
            </a:pPr>
            <a:r>
              <a:t>WEEK 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87584" y="2331720"/>
            <a:ext cx="1243584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D700"/>
                </a:solidFill>
                <a:latin typeface="Calibri"/>
              </a:defRPr>
            </a:pPr>
            <a:r>
              <a:t>WEEK 7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926080" y="2670048"/>
            <a:ext cx="8705088" cy="0"/>
          </a:xfrm>
          <a:prstGeom prst="line">
            <a:avLst/>
          </a:prstGeom>
          <a:ln w="25400">
            <a:solidFill>
              <a:srgbClr val="3A3F5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548640" y="28346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Beta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80" y="2816352"/>
            <a:ext cx="3730752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063240" y="2926080"/>
            <a:ext cx="3383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WEEKS 1–3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35204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Security review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69663" y="3502152"/>
            <a:ext cx="3730752" cy="4572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06824" y="3611880"/>
            <a:ext cx="3383280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B0C15"/>
                </a:solidFill>
                <a:latin typeface="Calibri"/>
              </a:defRPr>
            </a:pPr>
            <a:r>
              <a:t>WEEKS 2–4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2062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FFFF"/>
                </a:solidFill>
                <a:latin typeface="Calibri"/>
              </a:defRPr>
            </a:pPr>
            <a:r>
              <a:t>Support training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00416" y="4187952"/>
            <a:ext cx="1243584" cy="457200"/>
          </a:xfrm>
          <a:prstGeom prst="rect">
            <a:avLst/>
          </a:prstGeom>
          <a:solidFill>
            <a:srgbClr val="3A3F55"/>
          </a:solidFill>
          <a:ln>
            <a:solidFill>
              <a:srgbClr val="9AA0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4297680"/>
            <a:ext cx="113385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FFFFFF"/>
                </a:solidFill>
                <a:latin typeface="Calibri"/>
              </a:defRPr>
            </a:pPr>
            <a:r>
              <a:t>WEEK 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892040"/>
            <a:ext cx="21945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FFD700"/>
                </a:solidFill>
                <a:latin typeface="Calibri"/>
              </a:defRPr>
            </a:pPr>
            <a:r>
              <a:t>Launch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387584" y="4873752"/>
            <a:ext cx="1243584" cy="4572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442448" y="4983480"/>
            <a:ext cx="1133856" cy="2743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B0C15"/>
                </a:solidFill>
                <a:latin typeface="Calibri"/>
              </a:defRPr>
            </a:pPr>
            <a:r>
              <a:t>★ WEEK 7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5623560"/>
            <a:ext cx="11091672" cy="777240"/>
          </a:xfrm>
          <a:prstGeom prst="rect">
            <a:avLst/>
          </a:prstGeom>
          <a:solidFill>
            <a:srgbClr val="171A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760720"/>
            <a:ext cx="10607040" cy="50292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FFD700"/>
                </a:solidFill>
                <a:latin typeface="Calibri"/>
              </a:defRPr>
            </a:pPr>
            <a:r>
              <a:t>DEPENDENCY:  Beta feedback (weeks 1–3)  +  Security review (weeks 2–4)  →  Launch (week 7).  Both are required.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C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332720" y="411480"/>
            <a:ext cx="1280160" cy="128016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0080"/>
            <a:ext cx="11091672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FFD700"/>
                </a:solidFill>
                <a:latin typeface="Calibri"/>
              </a:defRPr>
            </a:pPr>
            <a:r>
              <a:t>08  /  YOUR INVITATION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91672" cy="10058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4800" b="1">
                <a:solidFill>
                  <a:srgbClr val="FFFFFF"/>
                </a:solidFill>
                <a:latin typeface="Calibri"/>
              </a:defRPr>
            </a:pPr>
            <a:r>
              <a:t>TRY PRO FREE FOR 14 DAYS.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2286000"/>
            <a:ext cx="8138160" cy="64008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C7CAD6"/>
                </a:solidFill>
                <a:latin typeface="Calibri"/>
              </a:defRPr>
            </a:pPr>
            <a:r>
              <a:t>Run your next real schedule through import → conflict check → approve → notify.</a:t>
            </a:r>
          </a:p>
        </p:txBody>
      </p:sp>
      <p:sp>
        <p:nvSpPr>
          <p:cNvPr id="7" name="Rectangle 6"/>
          <p:cNvSpPr/>
          <p:nvPr/>
        </p:nvSpPr>
        <p:spPr>
          <a:xfrm>
            <a:off x="2011680" y="3154680"/>
            <a:ext cx="3931920" cy="14173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40280" y="3337560"/>
            <a:ext cx="34747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14-DAY PRO TRIAL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B0C15"/>
                </a:solidFill>
                <a:latin typeface="Calibri"/>
              </a:defRPr>
            </a:pPr>
            <a:r>
              <a:t>No payment required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3337560"/>
            <a:ext cx="3931920" cy="1417320"/>
          </a:xfrm>
          <a:prstGeom prst="rect">
            <a:avLst/>
          </a:prstGeom>
          <a:solidFill>
            <a:srgbClr val="171A2B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3520440"/>
            <a:ext cx="3474720" cy="10515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AFTER THE TRIAL</a:t>
            </a:r>
          </a:p>
          <a:p>
            <a:pPr algn="ctr"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Pro: $62 / team / month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023360" y="4937760"/>
            <a:ext cx="4114800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5120640"/>
            <a:ext cx="3749039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600" b="1">
                <a:solidFill>
                  <a:srgbClr val="0B0C15"/>
                </a:solidFill>
                <a:latin typeface="Calibri"/>
              </a:defRPr>
            </a:pPr>
            <a:r>
              <a:t>START YOUR 14-DAY TRIAL  →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5852160"/>
            <a:ext cx="8138160" cy="36576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FFD700"/>
                </a:solidFill>
                <a:latin typeface="Calibri"/>
              </a:defRPr>
            </a:pPr>
            <a:r>
              <a:t>14 days  •  Pro plan  •  No payment required  •  Then $62/team/month if you continue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6263640"/>
            <a:ext cx="8138160" cy="320040"/>
          </a:xfrm>
          <a:prstGeom prst="rect">
            <a:avLst/>
          </a:prstGeom>
          <a:noFill/>
        </p:spPr>
        <p:txBody>
          <a:bodyPr wrap="square" lIns="32004" rIns="32004" tIns="18288" bIns="18288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AA0B5"/>
                </a:solidFill>
                <a:latin typeface="Calibri"/>
              </a:defRPr>
            </a:pPr>
            <a:r>
              <a:t>Planova is a fictional product. All performance and survey numbers in this deck are synthetic.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Synthetic presentation experiment</dc:title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2013-01-27T09:15:58Z</dcterms:modified>
  <cp:category/>
</cp:coreProperties>
</file>