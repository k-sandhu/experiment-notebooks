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42A5F5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Succeeded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8900</c:v>
                </c:pt>
                <c:pt idx="1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FF7043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68096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263238"/>
                </a:solidFill>
                <a:latin typeface="Arial"/>
              </a:defRPr>
            </a:pPr>
            <a:r>
              <a:t>Review of Simulated Service Disruption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498079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55A64"/>
                </a:solidFill>
                <a:latin typeface="Arial"/>
              </a:defRPr>
            </a:pPr>
            <a:r>
              <a:t>A clear recount for operations managers  •  Process-improvement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594360"/>
            <a:ext cx="27432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77724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INCIDENT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1143000"/>
            <a:ext cx="2286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63238"/>
                </a:solidFill>
                <a:latin typeface="Arial"/>
              </a:defRPr>
            </a:pPr>
            <a:r>
              <a:t>09:00 – 10:06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173736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46E7A"/>
                </a:solidFill>
                <a:latin typeface="Arial"/>
              </a:defRPr>
            </a:pPr>
            <a:r>
              <a:t>66 minutes  •  Fictional scenario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33832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2926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88E5"/>
                </a:solidFill>
                <a:latin typeface="Arial"/>
              </a:defRPr>
            </a:pPr>
            <a:r>
              <a:t>WHAT HAPPENED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2926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Errors rose after a 09:00 deployment and fell after rollback.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154680"/>
            <a:ext cx="3383280" cy="1691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337560"/>
            <a:ext cx="2926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IMPACT IN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749039"/>
            <a:ext cx="2926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1,100 of 10,000 requests failed (11.0%).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880360"/>
            <a:ext cx="3383280" cy="169164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063240"/>
            <a:ext cx="2926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CCBC"/>
                </a:solidFill>
                <a:latin typeface="Arial"/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474720"/>
            <a:ext cx="2926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Error rate returned to baseline by 10:06.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10881360" cy="10515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3327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Decision focus:  Recovery is verified. Preventing recurrence still depends on planned follow-up work — see Actions (slide 7).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D8B"/>
                </a:solidFill>
                <a:latin typeface="Arial"/>
              </a:defRPr>
            </a:pPr>
            <a:r>
              <a:t>All data are synthetic. This is a fictional service incident for review purposes.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68580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Impact: 1 in 9 requests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6858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Incident window 09:00–10:06  •  Unit: requests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02  • 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017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560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88E5"/>
                </a:solidFill>
                <a:latin typeface="Arial"/>
              </a:defRPr>
            </a:pPr>
            <a:r>
              <a:t>TOTAL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5603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10,000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91840"/>
            <a:ext cx="3017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2560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25603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1,100  •  11.0%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3017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029200"/>
            <a:ext cx="2560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SUCCEEDED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394960"/>
            <a:ext cx="25603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3238"/>
                </a:solidFill>
                <a:latin typeface="Arial"/>
              </a:defRPr>
            </a:pPr>
            <a:r>
              <a:t>8,900  •  89.0%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691640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Requests by outcome (count)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206240" y="2103120"/>
          <a:ext cx="44805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06240" y="5486400"/>
            <a:ext cx="44805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46E7A"/>
                </a:solidFill>
                <a:latin typeface="Arial"/>
              </a:defRPr>
            </a:pPr>
            <a:r>
              <a:t>Arithmetic: 1,100 ÷ 10,000 = 11.0%  •  10,000 − 1,100 = 8,900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103120"/>
            <a:ext cx="2514600" cy="32918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331720"/>
            <a:ext cx="2057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65100"/>
                </a:solidFill>
                <a:latin typeface="Arial"/>
              </a:defRPr>
            </a:pPr>
            <a:r>
              <a:t>IMPORTANT CAVEAT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788920"/>
            <a:ext cx="2057400" cy="2286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Counts refer to requests, not distinct users.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Distinct affected users are unknown — do not read 1,100 as 1,100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Timeline: 66 minutes, deployment to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772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09:00 to 10:06  •  Six recorded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03  •  TIMELINE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520440"/>
            <a:ext cx="10561320" cy="0"/>
          </a:xfrm>
          <a:prstGeom prst="line">
            <a:avLst/>
          </a:prstGeom>
          <a:ln w="381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874519"/>
            <a:ext cx="16916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Deployment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25880" y="3017520"/>
            <a:ext cx="0" cy="50292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3931920"/>
            <a:ext cx="16916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40690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09:08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First alert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46120" y="352044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43400" y="1874519"/>
            <a:ext cx="169164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09:17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Investigation starts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66360" y="3017520"/>
            <a:ext cx="0" cy="50292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3931920"/>
            <a:ext cx="1691640" cy="11430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09:35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Rollback begins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86600" y="352044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83879" y="1874519"/>
            <a:ext cx="1691640" cy="114300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116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09:48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Rollback complete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6840" y="3017520"/>
            <a:ext cx="0" cy="50292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058400" y="3931920"/>
            <a:ext cx="1691640" cy="11430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4069080"/>
            <a:ext cx="1417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10:06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Back to baseline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27080" y="3520440"/>
            <a:ext cx="0" cy="411480"/>
          </a:xfrm>
          <a:prstGeom prst="line">
            <a:avLst/>
          </a:prstGeom>
          <a:ln w="19050">
            <a:solidFill>
              <a:srgbClr val="90A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5532120"/>
            <a:ext cx="10881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715000"/>
            <a:ext cx="104241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63238"/>
                </a:solidFill>
                <a:latin typeface="Arial"/>
              </a:defRPr>
            </a:pPr>
            <a:r>
              <a:t>Detection: 8 min  •  Alert to investigation: 9 min  •  Rollback: 13 min (09:35–09:48)  •  Rollback complete to baseline: 18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Error rates peaked at 25% at 09:30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772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Six point-in-time observations  •  Unit: percent of requests erroring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04  • 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Observed error rate (%) by time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011680"/>
          <a:ext cx="75895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503920" y="1828800"/>
            <a:ext cx="30175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2011680"/>
            <a:ext cx="2560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377440"/>
            <a:ext cx="25603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25% at 09:30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+23 pts vs 09:00 (2%)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474720"/>
            <a:ext cx="301752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3657600"/>
            <a:ext cx="2560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RECOVERY IN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023360"/>
            <a:ext cx="25603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4% at 10:00, then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1% at 10:15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5120640"/>
            <a:ext cx="3017520" cy="12344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5303520"/>
            <a:ext cx="25603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63238"/>
                </a:solidFill>
                <a:latin typeface="Arial"/>
              </a:defRPr>
            </a:pPr>
            <a:r>
              <a:t>Do not equate these six observations with the window-wide rate of 11.0%.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46E7A"/>
                </a:solidFill>
                <a:latin typeface="Arial"/>
              </a:defRPr>
            </a:pPr>
            <a:r>
              <a:t>All six observations shown: 2 / 18 / 25 / 14 / 4 / 1 percent at 09:00 / 09:15 / 09:30 / 09:45 / 10:00 / 10:15.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Evidence: what we know — and what we do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Keep observation, hypothesis, and unfinished testing separate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05  • 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6616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897B"/>
                </a:solidFill>
                <a:latin typeface="Arial"/>
              </a:defRPr>
            </a:pPr>
            <a:r>
              <a:t>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3108960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• Connection pool saturation after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• Recovery after rollback, with baseline restored by 10:06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03120"/>
            <a:ext cx="3566160" cy="35661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33172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65100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834640"/>
            <a:ext cx="3108960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Retry amplification under the new configuration.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This is a hypothesis to test — not a confirmed root cause.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783080"/>
            <a:ext cx="3246120" cy="356616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01168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CCBC"/>
                </a:solidFill>
                <a:latin typeface="Arial"/>
              </a:defRPr>
            </a:pPr>
            <a:r>
              <a:t>NOT YET COMPLETED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514600"/>
            <a:ext cx="2788920" cy="2560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Without it, causality remains unproven.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5715000"/>
            <a:ext cx="88696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5897880"/>
            <a:ext cx="8412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63238"/>
                </a:solidFill>
                <a:latin typeface="Arial"/>
              </a:defRPr>
            </a:pPr>
            <a:r>
              <a:t>Conclusion for discussion:  Timing supports the hypothesis, but timing alone does not prove cause.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Response flowed in 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Verification came after rollback — not before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06  • 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9659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Detection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2743200"/>
            <a:ext cx="365760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286000"/>
            <a:ext cx="19659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3238"/>
                </a:solidFill>
                <a:latin typeface="Arial"/>
              </a:defRPr>
            </a:pPr>
            <a:r>
              <a:t>Triage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46320" y="3017520"/>
            <a:ext cx="365760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12080" y="2011680"/>
            <a:ext cx="1965960" cy="146304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240280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Rollback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78040" y="2743200"/>
            <a:ext cx="365760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43800" y="2286000"/>
            <a:ext cx="196596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514600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Verify baseline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09760" y="3017520"/>
            <a:ext cx="365760" cy="0"/>
          </a:xfrm>
          <a:prstGeom prst="line">
            <a:avLst/>
          </a:prstGeom>
          <a:ln w="381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875520" y="2011680"/>
            <a:ext cx="1783080" cy="146304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2240280"/>
            <a:ext cx="150876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Retrospective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60" y="4297680"/>
            <a:ext cx="44805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4526280"/>
            <a:ext cx="4023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88E5"/>
                </a:solidFill>
                <a:latin typeface="Arial"/>
              </a:defRPr>
            </a:pPr>
            <a:r>
              <a:t>ON-CALL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892040"/>
            <a:ext cx="4023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Handles the rollback (step 3).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80560"/>
            <a:ext cx="448056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709160"/>
            <a:ext cx="4023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SERVICE 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074920"/>
            <a:ext cx="4023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Authorizes restoration.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Actions: 1 of 3 complete, 2 still planned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46E7A"/>
                </a:solidFill>
                <a:latin typeface="Arial"/>
              </a:defRPr>
            </a:pPr>
            <a:r>
              <a:t>Planned actions are not complete — deadlines are in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07  •  ACTIONS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78638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7772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26323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778240" y="1783080"/>
            <a:ext cx="2743200" cy="15087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196596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65100"/>
                </a:solidFill>
                <a:latin typeface="Arial"/>
              </a:defRPr>
            </a:pPr>
            <a:r>
              <a:t>EARLIEST DEADLINE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331720"/>
            <a:ext cx="2286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Day 5 — alert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3238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3520440"/>
            <a:ext cx="2743200" cy="1508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3703320"/>
            <a:ext cx="2286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STILL PLANNED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4069080"/>
            <a:ext cx="2286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Load test (Day 7)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Cap retries (Day 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257800"/>
            <a:ext cx="10881360" cy="100584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For managers:  The alert is in place. Proving cause (Day 7) and capping retries (Day 10) remain open.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Lessons to carry into improvement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11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08  •  LESSONS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56616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E88E5"/>
                </a:solidFill>
                <a:latin typeface="Arial"/>
              </a:defRPr>
            </a:pPr>
            <a:r>
              <a:t>LESSON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310896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Separate observed evidence from the root-cause hypothesis.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Saturation and recovery were observed; retry amplification is still to be tested.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91640"/>
            <a:ext cx="356616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92024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7043"/>
                </a:solidFill>
                <a:latin typeface="Arial"/>
              </a:defRPr>
            </a:pPr>
            <a:r>
              <a:t>LESSON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377440"/>
            <a:ext cx="310896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Preserve the distinction between failed requests and affected people.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1,100 failed requests ≠ 1,100 users; distinct users are unknown.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71600"/>
            <a:ext cx="32461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00200"/>
            <a:ext cx="2788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897B"/>
                </a:solidFill>
                <a:latin typeface="Arial"/>
              </a:defRPr>
            </a:pPr>
            <a:r>
              <a:t>LESSON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057400"/>
            <a:ext cx="278892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Recovery is verified; preventing recurrence still depends on planned work.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63238"/>
                </a:solidFill>
                <a:latin typeface="Arial"/>
              </a:defRPr>
            </a:pPr>
            <a:r>
              <a:t>Baseline by 10:06 — Days 7 and 10 still ahead.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937760"/>
            <a:ext cx="9966960" cy="11430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166360"/>
            <a:ext cx="9418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Decision for this review:  Treat the incident as recovered — and the cause as unproven until the Day 7 load test reports.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7D8B"/>
                </a:solidFill>
                <a:latin typeface="Arial"/>
              </a:defRPr>
            </a:pPr>
            <a:r>
              <a:t>All data are synthetic. Window 09:00–10:06 (66 minutes)  •  1,100 of 10,000 requests failed (11.0%).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