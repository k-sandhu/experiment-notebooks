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C45B3A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Inventory position</c:v>
                </c:pt>
                <c:pt idx="1">
                  <c:v>Reorder point</c:v>
                </c:pt>
                <c:pt idx="2">
                  <c:v>Target position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</c:v>
                </c:pt>
                <c:pt idx="1">
                  <c:v>97</c:v>
                </c:pt>
                <c:pt idx="2">
                  <c:v>197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4A3B2A"/>
                  </a:solidFill>
                  <a:latin typeface="Georgi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4A3B2A"/>
                </a:solidFill>
                <a:latin typeface="Georgi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4A3B2A"/>
                </a:solidFill>
                <a:latin typeface="Georgia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303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STOCKROOM TRAINING · REPLENISHMENT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303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4A3B2A"/>
                </a:solidFill>
                <a:latin typeface="Georgia"/>
              </a:defRPr>
            </a:pPr>
            <a:r>
              <a:t>Knowing When to Reorder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8" y="1828800"/>
            <a:ext cx="914400" cy="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737360" y="2011680"/>
            <a:ext cx="871423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Learning goal: apply a simple reorder-point rule on your own shift, and know exactly when to ORDER and when to WAIT.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00400"/>
            <a:ext cx="3291840" cy="269748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383280"/>
            <a:ext cx="28346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C45B3A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931920"/>
            <a:ext cx="28346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A3B2A"/>
                </a:solidFill>
                <a:latin typeface="Georgia"/>
              </a:defRPr>
            </a:pPr>
            <a:r>
              <a:t>Learn the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434840"/>
            <a:ext cx="283464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How the reorder point and inventory position are calculated, and why each part matters.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8556" y="3200400"/>
            <a:ext cx="3291840" cy="269748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7156" y="3383280"/>
            <a:ext cx="28346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C45B3A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7156" y="3931920"/>
            <a:ext cx="28346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A3B2A"/>
                </a:solidFill>
                <a:latin typeface="Georgia"/>
              </a:defRPr>
            </a:pPr>
            <a:r>
              <a:t>Follow an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7156" y="4434840"/>
            <a:ext cx="283464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Step-by-step arithmetic with units, ending in a clear ORDER or WAIT decision.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4152" y="3200400"/>
            <a:ext cx="3291840" cy="269748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3383280"/>
            <a:ext cx="28346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C45B3A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3931920"/>
            <a:ext cx="28346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A3B2A"/>
                </a:solidFill>
                <a:latin typeface="Georgia"/>
              </a:defRPr>
            </a:pPr>
            <a:r>
              <a:t>Practice, then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4434840"/>
            <a:ext cx="283464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A short exercise to try on your own; the answer is revealed on the slide that follows.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172200"/>
            <a:ext cx="1054303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A6650"/>
                </a:solidFill>
                <a:latin typeface="Georgia"/>
              </a:defRPr>
            </a:pPr>
            <a:r>
              <a:t>All numbers in this guide are synthetic training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4303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THE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43032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4A3B2A"/>
                </a:solidFill>
                <a:latin typeface="Georgia"/>
              </a:defRPr>
            </a:pPr>
            <a:r>
              <a:t>Three Lines You Need to Know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8" y="1463040"/>
            <a:ext cx="914400" cy="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822960" y="1828800"/>
            <a:ext cx="10543032" cy="128016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109728" cy="1280160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011680"/>
            <a:ext cx="265176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45B3A"/>
                </a:solidFill>
                <a:latin typeface="Georgia"/>
              </a:defRPr>
            </a:pPr>
            <a:r>
              <a:t>STEP 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45B3A"/>
                </a:solidFill>
                <a:latin typeface="Georgia"/>
              </a:defRPr>
            </a:pPr>
            <a:r>
              <a:t>Reorder point (the trigger)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920240"/>
            <a:ext cx="71323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Reorder point = daily demand × lead time (days) + safety stock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651760"/>
            <a:ext cx="7132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A6650"/>
                </a:solidFill>
                <a:latin typeface="Georgia"/>
              </a:defRPr>
            </a:pPr>
            <a:r>
              <a:t>Covers expected use while you wait for delivery, plus a buffer.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291840"/>
            <a:ext cx="10543032" cy="128016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291840"/>
            <a:ext cx="109728" cy="1280160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474720"/>
            <a:ext cx="265176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45B3A"/>
                </a:solidFill>
                <a:latin typeface="Georgia"/>
              </a:defRPr>
            </a:pPr>
            <a:r>
              <a:t>STEP 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45B3A"/>
                </a:solidFill>
                <a:latin typeface="Georgia"/>
              </a:defRPr>
            </a:pPr>
            <a:r>
              <a:t>Inventory 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383280"/>
            <a:ext cx="71323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Inventory position = on-hand + on-order − committed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4114800"/>
            <a:ext cx="7132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A6650"/>
                </a:solidFill>
                <a:latin typeface="Georgia"/>
              </a:defRPr>
            </a:pPr>
            <a:r>
              <a:t>Count what is on the shelf, add what is coming, subtract what is already promised.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754880"/>
            <a:ext cx="10543032" cy="128016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4754880"/>
            <a:ext cx="109728" cy="1280160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937760"/>
            <a:ext cx="265176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45B3A"/>
                </a:solidFill>
                <a:latin typeface="Georgia"/>
              </a:defRPr>
            </a:pPr>
            <a:r>
              <a:t>STEP 3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45B3A"/>
                </a:solidFill>
                <a:latin typeface="Georgia"/>
              </a:defRPr>
            </a:pPr>
            <a:r>
              <a:t>The decision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4846320"/>
            <a:ext cx="71323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Place an order when inventory position ≤ reorder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5577840"/>
            <a:ext cx="7132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A6650"/>
                </a:solidFill>
                <a:latin typeface="Georgia"/>
              </a:defRPr>
            </a:pPr>
            <a:r>
              <a:t>At or below the trigger → ORDER.  Above the trigger → WAIT.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4303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43032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4A3B2A"/>
                </a:solidFill>
                <a:latin typeface="Georgia"/>
              </a:defRPr>
            </a:pPr>
            <a:r>
              <a:t>Calculating the Reorder Point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8" y="1463040"/>
            <a:ext cx="914400" cy="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822960" y="1828800"/>
            <a:ext cx="3474720" cy="420624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29260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45B3A"/>
                </a:solidFill>
                <a:latin typeface="Georgia"/>
              </a:defRPr>
            </a:pPr>
            <a:r>
              <a:t>The inputs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2926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A6650"/>
                </a:solidFill>
                <a:latin typeface="Georgia"/>
              </a:defRPr>
            </a:pPr>
            <a:r>
              <a:t>Daily demand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88920"/>
            <a:ext cx="29260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15 units per 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29000"/>
            <a:ext cx="2926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A6650"/>
                </a:solidFill>
                <a:latin typeface="Georgia"/>
              </a:defRPr>
            </a:pPr>
            <a:r>
              <a:t>Lead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03320"/>
            <a:ext cx="29260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5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343400"/>
            <a:ext cx="2926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A6650"/>
                </a:solidFill>
                <a:latin typeface="Georgia"/>
              </a:defRPr>
            </a:pPr>
            <a:r>
              <a:t>Safety stock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617720"/>
            <a:ext cx="29260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22 units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303520"/>
            <a:ext cx="29260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45B3A"/>
                </a:solidFill>
                <a:latin typeface="Georgia"/>
              </a:defRPr>
            </a:pPr>
            <a:r>
              <a:t>Unit check: units/day × days = units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663440" y="1828800"/>
          <a:ext cx="6702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4184"/>
                <a:gridCol w="2234184"/>
                <a:gridCol w="2234184"/>
              </a:tblGrid>
              <a:tr h="7086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Step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Arithmetic (with units)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Result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1. Demand during lead time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15 units/day × 5 days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75 units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2. Add safety stock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75 units + 22 units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97 units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3. Name the result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Reorder point (the trigger)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97 units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4663440" y="4937760"/>
            <a:ext cx="6702552" cy="109728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5029200"/>
            <a:ext cx="630936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Georgia"/>
              </a:defRPr>
            </a:pPr>
            <a:r>
              <a:t>Reorder point = 97 units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5532120"/>
            <a:ext cx="63093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8E7"/>
                </a:solidFill>
                <a:latin typeface="Georgia"/>
              </a:defRPr>
            </a:pPr>
            <a:r>
              <a:t>Order when the inventory position falls to 97 units or fewer.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4303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CHECKING INVENTORY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43032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4A3B2A"/>
                </a:solidFill>
                <a:latin typeface="Georgia"/>
              </a:defRPr>
            </a:pPr>
            <a:r>
              <a:t>Position 92 Is Below 97, So ORDER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8" y="1463040"/>
            <a:ext cx="914400" cy="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783080"/>
            <a:ext cx="57607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3B2A"/>
                </a:solidFill>
                <a:latin typeface="Georgia"/>
              </a:defRPr>
            </a:pPr>
            <a:r>
              <a:t>Units: position vs. trigger vs. target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2194560"/>
          <a:ext cx="576072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309360"/>
            <a:ext cx="57607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A6650"/>
                </a:solidFill>
                <a:latin typeface="Georgia"/>
              </a:defRPr>
            </a:pPr>
            <a:r>
              <a:t>On-order (20) and committed (17) stay as recorded; do not reset them.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1783080"/>
            <a:ext cx="4800600" cy="178308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874519"/>
            <a:ext cx="43891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STEP 1 · INVENTORY 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2240280"/>
            <a:ext cx="438912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4A3B2A"/>
                </a:solidFill>
                <a:latin typeface="Georgia"/>
              </a:defRPr>
            </a:pPr>
            <a:r>
              <a:t>89 on-hand + 20 on-order − 17 committed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2926080"/>
            <a:ext cx="43891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4A3B2A"/>
                </a:solidFill>
                <a:latin typeface="Georgia"/>
              </a:defRPr>
            </a:pPr>
            <a:r>
              <a:t>= 92 units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3703320"/>
            <a:ext cx="4800600" cy="105156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60" y="3767328"/>
            <a:ext cx="438912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8E7"/>
                </a:solidFill>
                <a:latin typeface="Georgia"/>
              </a:defRPr>
            </a:pPr>
            <a:r>
              <a:t>STEP 2 · COMPARE WITH TRIGGER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4114800"/>
            <a:ext cx="43891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Georgia"/>
              </a:defRPr>
            </a:pPr>
            <a:r>
              <a:t>92 ≤ 97  →  ORDER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4892040"/>
            <a:ext cx="4800600" cy="141732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60" y="4983480"/>
            <a:ext cx="438912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STEP 3 · ORDER QUANTITY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5321808"/>
            <a:ext cx="43891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4A3B2A"/>
                </a:solidFill>
                <a:latin typeface="Georgia"/>
              </a:defRPr>
            </a:pPr>
            <a:r>
              <a:t>Target 197 − position 92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5733288"/>
            <a:ext cx="43891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3B2A"/>
                </a:solidFill>
                <a:latin typeface="Georgia"/>
              </a:defRPr>
            </a:pPr>
            <a:r>
              <a:t>= 105 units to order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4303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THE DAILY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43032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4A3B2A"/>
                </a:solidFill>
                <a:latin typeface="Georgia"/>
              </a:defRPr>
            </a:pPr>
            <a:r>
              <a:t>One Decision, Every Day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8" y="1463040"/>
            <a:ext cx="914400" cy="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2743200"/>
            <a:ext cx="2286000" cy="109728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816352"/>
            <a:ext cx="201168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1. Read counts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on-hand, on-order, committed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2743200"/>
            <a:ext cx="2286000" cy="109728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2816352"/>
            <a:ext cx="201168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2. Calculate inventory position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on-hand + on-order − committed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743200"/>
            <a:ext cx="2286000" cy="1097280"/>
          </a:xfrm>
          <a:prstGeom prst="roundRect">
            <a:avLst/>
          </a:prstGeom>
          <a:solidFill>
            <a:srgbClr val="F5E6CC"/>
          </a:solidFill>
          <a:ln>
            <a:solidFill>
              <a:srgbClr val="C45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2816352"/>
            <a:ext cx="201168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3. Compare with reorder point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Is position ≤ trigger?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1828800"/>
            <a:ext cx="2377440" cy="100584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72600" y="1901952"/>
            <a:ext cx="210312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Georgia"/>
              </a:defRPr>
            </a:pPr>
            <a:r>
              <a:t>ORDER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Georgia"/>
              </a:defRPr>
            </a:pPr>
            <a:r>
              <a:t>position at/below trigger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3931920"/>
            <a:ext cx="2377440" cy="1005840"/>
          </a:xfrm>
          <a:prstGeom prst="roundRect">
            <a:avLst/>
          </a:prstGeom>
          <a:solidFill>
            <a:srgbClr val="E8DDBF"/>
          </a:solidFill>
          <a:ln>
            <a:solidFill>
              <a:srgbClr val="7A8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600" y="4005072"/>
            <a:ext cx="210312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3B2A"/>
                </a:solidFill>
                <a:latin typeface="Georgia"/>
              </a:defRPr>
            </a:pPr>
            <a:r>
              <a:t>WAIT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3B2A"/>
                </a:solidFill>
                <a:latin typeface="Georgia"/>
              </a:defRPr>
            </a:pPr>
            <a:r>
              <a:t>position above trigger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834640" y="3291840"/>
            <a:ext cx="457200" cy="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577840" y="3291840"/>
            <a:ext cx="457200" cy="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321040" y="3291840"/>
            <a:ext cx="457200" cy="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778240" y="2331720"/>
            <a:ext cx="0" cy="210312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778240" y="2331720"/>
            <a:ext cx="457200" cy="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778240" y="4434840"/>
            <a:ext cx="457200" cy="0"/>
          </a:xfrm>
          <a:prstGeom prst="line">
            <a:avLst/>
          </a:prstGeom>
          <a:ln w="25400">
            <a:solidFill>
              <a:srgbClr val="7A8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863840" y="1920240"/>
            <a:ext cx="914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yes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480560"/>
            <a:ext cx="914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7A8450"/>
                </a:solidFill>
                <a:latin typeface="Georgia"/>
              </a:defRPr>
            </a:pPr>
            <a:r>
              <a:t>no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424160" y="4937760"/>
            <a:ext cx="0" cy="731520"/>
          </a:xfrm>
          <a:prstGeom prst="line">
            <a:avLst/>
          </a:prstGeom>
          <a:ln w="25400">
            <a:solidFill>
              <a:srgbClr val="7A8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691640" y="5669280"/>
            <a:ext cx="8732520" cy="0"/>
          </a:xfrm>
          <a:prstGeom prst="line">
            <a:avLst/>
          </a:prstGeom>
          <a:ln w="25400">
            <a:solidFill>
              <a:srgbClr val="7A8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691640" y="3840480"/>
            <a:ext cx="0" cy="1828800"/>
          </a:xfrm>
          <a:prstGeom prst="line">
            <a:avLst/>
          </a:prstGeom>
          <a:ln w="25400">
            <a:solidFill>
              <a:srgbClr val="7A8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920240" y="5760720"/>
            <a:ext cx="8229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A6650"/>
                </a:solidFill>
                <a:latin typeface="Georgia"/>
              </a:defRPr>
            </a:pPr>
            <a:r>
              <a:t>WAIT returns to the next daily review: start again at step 1 tomorrow.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1783080"/>
            <a:ext cx="685800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Follow the boxes left to right. Only step 3 has a choice.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4303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43032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4A3B2A"/>
                </a:solidFill>
                <a:latin typeface="Georgia"/>
              </a:defRPr>
            </a:pPr>
            <a:r>
              <a:t>Your Turn: ORDER or WAIT?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8" y="1463040"/>
            <a:ext cx="914400" cy="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822960" y="1828800"/>
            <a:ext cx="4937760" cy="192024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43891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A6650"/>
                </a:solidFill>
                <a:latin typeface="Georgia"/>
              </a:defRPr>
            </a:pPr>
            <a:r>
              <a:t>Inventory 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43891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4A3B2A"/>
                </a:solidFill>
                <a:latin typeface="Georgia"/>
              </a:defRPr>
            </a:pPr>
            <a:r>
              <a:t>109 units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931920"/>
            <a:ext cx="4937760" cy="192024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114800"/>
            <a:ext cx="43891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A6650"/>
                </a:solidFill>
                <a:latin typeface="Georgia"/>
              </a:defRPr>
            </a:pPr>
            <a:r>
              <a:t>Reorder point (trigger)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617720"/>
            <a:ext cx="438912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C45B3A"/>
                </a:solidFill>
                <a:latin typeface="Georgia"/>
              </a:defRPr>
            </a:pPr>
            <a:r>
              <a:t>97 units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148072" cy="4023360"/>
          </a:xfrm>
          <a:prstGeom prst="roundRect">
            <a:avLst/>
          </a:prstGeom>
          <a:solidFill>
            <a:srgbClr val="FBEFD9"/>
          </a:solidFill>
          <a:ln>
            <a:solidFill>
              <a:srgbClr val="C45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45720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45B3A"/>
                </a:solidFill>
                <a:latin typeface="Georgia"/>
              </a:defRPr>
            </a:pPr>
            <a:r>
              <a:t>How to decide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560320"/>
            <a:ext cx="4572000" cy="2194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1. Compare the two numbers.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2. Is the inventory position at or below the reorder point?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3. Yes → ORDER.  No → WAIT.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4. Work out the gap in units.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92240" y="4937760"/>
            <a:ext cx="4572000" cy="0"/>
          </a:xfrm>
          <a:prstGeom prst="line">
            <a:avLst/>
          </a:prstGeom>
          <a:ln w="19050">
            <a:solidFill>
              <a:srgbClr val="E3C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92240" y="5074920"/>
            <a:ext cx="45720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My answer: ________   Gap: ____ units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126480"/>
            <a:ext cx="1054303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A6650"/>
                </a:solidFill>
                <a:latin typeface="Georgia"/>
              </a:defRPr>
            </a:pPr>
            <a:r>
              <a:t>The answer is revealed on the next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4303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ANSWER &amp; 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43032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4A3B2A"/>
                </a:solidFill>
                <a:latin typeface="Georgia"/>
              </a:defRPr>
            </a:pPr>
            <a:r>
              <a:t>Practice Answer, Then Three Traps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8" y="1463040"/>
            <a:ext cx="914400" cy="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822960" y="1783080"/>
            <a:ext cx="10543032" cy="1143000"/>
          </a:xfrm>
          <a:prstGeom prst="roundRect">
            <a:avLst/>
          </a:prstGeom>
          <a:solidFill>
            <a:srgbClr val="7A8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57400"/>
            <a:ext cx="31089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Georgia"/>
              </a:defRPr>
            </a:pPr>
            <a:r>
              <a:t>Answer: WAIT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901952"/>
            <a:ext cx="68580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Georgia"/>
              </a:defRPr>
            </a:pPr>
            <a:r>
              <a:t>109 units &gt; 97 units. The position is 109 − 97 = 12 units above the trigger, so no order today.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00400"/>
            <a:ext cx="3291840" cy="310896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337560"/>
            <a:ext cx="28346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MISTAKE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657600"/>
            <a:ext cx="28346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A3B2A"/>
                </a:solidFill>
                <a:latin typeface="Georgia"/>
              </a:defRPr>
            </a:pPr>
            <a:r>
              <a:t>Comparing on-hand alone with the trigger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526280"/>
            <a:ext cx="2834640" cy="1645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Instead, use inventory position: on-hand + on-order − committed. In the example that is 92 units, not 89.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48556" y="3200400"/>
            <a:ext cx="3291840" cy="310896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7156" y="3337560"/>
            <a:ext cx="28346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MISTAKE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7156" y="3657600"/>
            <a:ext cx="28346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A3B2A"/>
                </a:solidFill>
                <a:latin typeface="Georgia"/>
              </a:defRPr>
            </a:pPr>
            <a:r>
              <a:t>Multiplying safety stock by lead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7156" y="4526280"/>
            <a:ext cx="2834640" cy="1645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Only daily demand is multiplied by lead time. Add safety stock once: 15 × 5 + 22 = 97 units.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4152" y="3200400"/>
            <a:ext cx="3291840" cy="310896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3337560"/>
            <a:ext cx="28346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MISTAKE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3657600"/>
            <a:ext cx="28346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A3B2A"/>
                </a:solidFill>
                <a:latin typeface="Georgia"/>
              </a:defRPr>
            </a:pPr>
            <a:r>
              <a:t>Ordering the reorder point amount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4526280"/>
            <a:ext cx="2834640" cy="1645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97 units is a trigger, not the order quantity. Order target − position: 197 − 92 = 105 units.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65760"/>
            <a:ext cx="1054303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43032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4A3B2A"/>
                </a:solidFill>
                <a:latin typeface="Georgia"/>
              </a:defRPr>
            </a:pPr>
            <a:r>
              <a:t>Before You Place an Order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8" y="1463040"/>
            <a:ext cx="914400" cy="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822960" y="1783080"/>
            <a:ext cx="2505456" cy="178308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22402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45B3A"/>
                </a:solidFill>
                <a:latin typeface="Georgia"/>
              </a:defRPr>
            </a:pPr>
            <a:r>
              <a:t>1. Verify units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2240280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Counts and demand in units; lead time in days.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2152" y="1783080"/>
            <a:ext cx="2505456" cy="178308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874519"/>
            <a:ext cx="22402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45B3A"/>
                </a:solidFill>
                <a:latin typeface="Georgia"/>
              </a:defRPr>
            </a:pPr>
            <a:r>
              <a:t>2. Include orders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2331720"/>
            <a:ext cx="2240280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Add on-order stock that is already on its way.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783080"/>
            <a:ext cx="2505456" cy="1783080"/>
          </a:xfrm>
          <a:prstGeom prst="roundRect">
            <a:avLst/>
          </a:prstGeom>
          <a:solidFill>
            <a:srgbClr val="F5E6CC"/>
          </a:solidFill>
          <a:ln>
            <a:solidFill>
              <a:srgbClr val="E3C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874519"/>
            <a:ext cx="22402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45B3A"/>
                </a:solidFill>
                <a:latin typeface="Georgia"/>
              </a:defRPr>
            </a:pPr>
            <a:r>
              <a:t>3. Subtract commitments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2331720"/>
            <a:ext cx="2240280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Remove units already promised to customers or jobs.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0536" y="1783080"/>
            <a:ext cx="2505456" cy="178308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97696" y="1874519"/>
            <a:ext cx="22402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Georgia"/>
              </a:defRPr>
            </a:pPr>
            <a:r>
              <a:t>4. Check the trigger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2331720"/>
            <a:ext cx="2240280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Georgia"/>
              </a:defRPr>
            </a:pPr>
            <a:r>
              <a:t>Position ≤ reorder point → ORDER; otherwise WAIT.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40480"/>
            <a:ext cx="32918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4A3B2A"/>
                </a:solidFill>
                <a:latin typeface="Georgia"/>
              </a:defRPr>
            </a:pPr>
            <a:r>
              <a:t>Where does the position fall? (units)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526280"/>
            <a:ext cx="4389120" cy="594360"/>
          </a:xfrm>
          <a:prstGeom prst="rect">
            <a:avLst/>
          </a:prstGeom>
          <a:solidFill>
            <a:srgbClr val="F2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590288"/>
            <a:ext cx="29260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ORDER zone (≤ 97)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4590288"/>
            <a:ext cx="50292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7A8450"/>
                </a:solidFill>
                <a:latin typeface="Georgia"/>
              </a:defRPr>
            </a:pPr>
            <a:r>
              <a:t>WAIT zone (&gt; 97)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5120640"/>
            <a:ext cx="10332720" cy="0"/>
          </a:xfrm>
          <a:prstGeom prst="line">
            <a:avLst/>
          </a:prstGeom>
          <a:ln w="3175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11480" y="4937760"/>
            <a:ext cx="4572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A6650"/>
                </a:solidFill>
                <a:latin typeface="Georgia"/>
              </a:defRPr>
            </a:pPr>
            <a:r>
              <a:t>80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4937760"/>
            <a:ext cx="5486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A6650"/>
                </a:solidFill>
                <a:latin typeface="Georgia"/>
              </a:defRPr>
            </a:pPr>
            <a:r>
              <a:t>120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303520" y="4343400"/>
            <a:ext cx="0" cy="1097280"/>
          </a:xfrm>
          <a:prstGeom prst="line">
            <a:avLst/>
          </a:prstGeom>
          <a:ln w="381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297680" y="3931920"/>
            <a:ext cx="2011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4A3B2A"/>
                </a:solidFill>
                <a:latin typeface="Georgia"/>
              </a:defRPr>
            </a:pPr>
            <a:r>
              <a:t>Reorder point 97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014215" y="5120640"/>
            <a:ext cx="0" cy="457200"/>
          </a:xfrm>
          <a:prstGeom prst="line">
            <a:avLst/>
          </a:prstGeom>
          <a:ln w="317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008376" y="5596128"/>
            <a:ext cx="201168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92 · example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45B3A"/>
                </a:solidFill>
                <a:latin typeface="Georgia"/>
              </a:defRPr>
            </a:pPr>
            <a:r>
              <a:t>→ ORDER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403336" y="5120640"/>
            <a:ext cx="0" cy="457200"/>
          </a:xfrm>
          <a:prstGeom prst="line">
            <a:avLst/>
          </a:prstGeom>
          <a:ln w="31750">
            <a:solidFill>
              <a:srgbClr val="7A84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397496" y="5596128"/>
            <a:ext cx="201168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7A8450"/>
                </a:solidFill>
                <a:latin typeface="Georgia"/>
              </a:defRPr>
            </a:pPr>
            <a:r>
              <a:t>109 · practice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7A8450"/>
                </a:solidFill>
                <a:latin typeface="Georgia"/>
              </a:defRPr>
            </a:pPr>
            <a:r>
              <a:t>→ WAIT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