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0FF9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 (116/200)</c:v>
                </c:pt>
                <c:pt idx="1">
                  <c:v>Treatment (133/200)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58.0</c:v>
                </c:pt>
                <c:pt idx="1">
                  <c:v>66.5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A0A0A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Does treatment improve pass rate and durability versus control?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Fictional material-screening study | Preliminary results for peer review | All data synthetic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6675120" cy="416052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73152" cy="41605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612648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Compared with control, does the treatment raise the pass rate and preserve durability?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886200"/>
            <a:ext cx="603504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023360"/>
            <a:ext cx="6126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Endpoint 1: pass rate on a predefined strength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6126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Endpoint 2: durability (%) at cycles 0, 100, 200, 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61264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Comparison: treatment group vs control group, 200 samples 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64592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164592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379476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0" y="379476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828800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81635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0" y="3474720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738360" y="1828800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81635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Lab only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38360" y="3474720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89520" y="3977639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96519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Batch only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0" y="5623559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738360" y="3977639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496519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Samples (2 x 200)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38360" y="5623559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971032"/>
            <a:ext cx="932688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Scope caveat: one lab and one batch only, so results describe this sample, not general performance.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5989320"/>
            <a:ext cx="1600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Design: two randomized groups tested under identical conditions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200 samples per group | equal-duration exposure | same test equipment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Equal-duration exposure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74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Same test equipment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60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Predefined strength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46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Exclusion review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92608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DESIGN ELEMENTS BY GROUP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333756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Samples (n)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 duration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Test equipment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Strength test pass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Strength test pass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7635240" y="2926080"/>
            <a:ext cx="4023360" cy="3154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063240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WHAT IS CONTROLLED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52044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Assignment: random, so groups differ only by treatment in expectation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4297680"/>
            <a:ext cx="35661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63840" y="438912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Endpoint: predefined pass/fail strength criterion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63840" y="5166360"/>
            <a:ext cx="35661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63840" y="525780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Exclusions: reviewed before final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Treatment passed 133/200 vs 116/200 for control: +8.5 points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Pass rate on the predefined strength test | denominators fixed at n = 200 per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394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PASS RATE (%), n = 200 PER GROUP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5394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1600200"/>
            <a:ext cx="5394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EXACT COUNTS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201168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Failed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-17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+8.5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63640" y="4297680"/>
            <a:ext cx="5394960" cy="182880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4297680"/>
            <a:ext cx="73152" cy="182880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407408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ARITHMETIC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800600"/>
            <a:ext cx="4937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116 / 200 = 58.0%     133 / 200 = 66.5%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5257800"/>
            <a:ext cx="49377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66.5% - 58.0% = 8.5 percentage points, i.e. 17 more passes on the same n = 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Post-audit counts  |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Durability gap widened from 0 to 15 points by cycle 300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Durability (%) at cycles 0, 100, 200, 300 | all eight measured values shown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DURABILITY (%) BY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160020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VALUES AND GAP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2011680"/>
          <a:ext cx="4023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15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635240" y="4617720"/>
            <a:ext cx="4023360" cy="150876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4617720"/>
            <a:ext cx="73152" cy="15087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4709160"/>
            <a:ext cx="3657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LOSS FROM CYCLE 0 TO 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07492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Control: 100 - 59 = 41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48640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Treatment: 100 - 74 = 26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Treatment passes by label P/Q/R: 44, 44, 45 (total 133)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These are pass counts, not subgroup pass rates | subgroup denominators were not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TREATMENT PASS COUNTS BY BATCH LABEL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011680"/>
          <a:ext cx="6949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60350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Passes (count)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Denominator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303520"/>
            <a:ext cx="6949440" cy="77724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413248"/>
            <a:ext cx="6583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Check: 44 + 44 + 45 = 133 treatment passes; 133 / 200 = 66.5%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600200"/>
            <a:ext cx="3840480" cy="448056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600200"/>
            <a:ext cx="73152" cy="44805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37360"/>
            <a:ext cx="3383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WHY COUNTS, NOT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194560"/>
            <a:ext cx="33832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 rate needs a denominator. Samples tested per label were not supplied.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3474720"/>
            <a:ext cx="33375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440" y="3611880"/>
            <a:ext cx="33832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Similar counts do not imply similar pass rates if label sizes differ.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92440" y="4892040"/>
            <a:ext cx="33375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92440" y="5029200"/>
            <a:ext cx="3383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subgroup comparison is made.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Audit: 11 duplicate positive treatment records removed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Denominators remain correct at n = 200 per group | no significance testing or confidence intervals reported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0972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377440" cy="10972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CORRECTION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737360"/>
            <a:ext cx="8412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Treatment passes: 144 in initial extract - 11 duplicates = 133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12848"/>
            <a:ext cx="8412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 pass rate now 133 / 200 = 66.5%; control unchanged at 116 / 200 = 58.0%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971800"/>
          <a:ext cx="111556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257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Implication for this review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Duplicate-record audit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 duplicate positive treatment records removed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 results use post-audit counts (116/200, 133/200)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Denominators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Remain correct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 = 200 per group, unchanged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 review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further change to counts reported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Statistical significance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p-values are reported or implied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Confidence interval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reported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+8.5 pts is a point estimate only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Interpretation: an 8.5-point sample difference, not field evidence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What this single-lab, single-batch screen can and cannot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383280" cy="329184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926080" cy="95554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+8.5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16935"/>
            <a:ext cx="2926080" cy="6080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Observed pass-rate difference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611879"/>
            <a:ext cx="2926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794760"/>
            <a:ext cx="29260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 66.5% (133/200) vs control 58.0% (116/200)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589020" cy="3291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755648"/>
            <a:ext cx="336956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377440"/>
            <a:ext cx="3369564" cy="2450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In this sample, the treatment pass rate was 8.5 points higher (66.5% vs 58.0%), and durability at cycle 300 was 15 points higher (74% vs 59%).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9579" y="1645920"/>
            <a:ext cx="3589020" cy="3291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9307" y="1755648"/>
            <a:ext cx="336956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Not 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9307" y="2377440"/>
            <a:ext cx="3369564" cy="2450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Broad field performance, statistical significance, or generalization beyond one lab and one batch.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212080"/>
            <a:ext cx="11155680" cy="73152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212080"/>
            <a:ext cx="73152" cy="7315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21808"/>
            <a:ext cx="10698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Reading: same direction on both endpoints in this sample; replication is required before generalizing.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Next step: replicate in 4 independent labs before any deployment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Recommended protocol for confirmation | a second batch is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8686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DECISION: No deployment claim now. Replicate in 4 labs with blinded scoring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2583179" cy="20116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Replicate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474720"/>
            <a:ext cx="2363724" cy="11704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4 independent labs, blinded scoring of the strength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0420" y="2743200"/>
            <a:ext cx="2583179" cy="20116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148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Preserve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148" y="3474720"/>
            <a:ext cx="2363724" cy="11704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Keep a randomized control group in every 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2743200"/>
            <a:ext cx="2583179" cy="20116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7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Preregister exclusions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7" y="3474720"/>
            <a:ext cx="2363724" cy="11704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Fix exclusion rules before data collection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419" y="2743200"/>
            <a:ext cx="2583179" cy="20116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5147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Record batch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5147" y="3474720"/>
            <a:ext cx="2363724" cy="11704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Log conditions for every batch 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Signal to confirm: +8.5 pts pass rate (66.5% vs 58.0%) and +15 pts durability at cycle 300 (74% vs 59%)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440680"/>
            <a:ext cx="11155680" cy="64008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440680"/>
            <a:ext cx="73152" cy="6400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13832"/>
            <a:ext cx="10698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Gate: a second batch must be tested before any deployment claim is made.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