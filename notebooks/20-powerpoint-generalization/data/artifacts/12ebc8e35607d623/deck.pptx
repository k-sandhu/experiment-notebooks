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00FF9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58.0</c:v>
                </c:pt>
                <c:pt idx="1">
                  <c:v>72.0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9A9A9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01  / 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044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A9A9A"/>
                </a:solidFill>
                <a:latin typeface="Calibri"/>
              </a:defRPr>
            </a:pPr>
            <a:r>
              <a:t>SYNTHETIC DATA  •  PRELIMINARY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E0E0E0"/>
                </a:solidFill>
                <a:latin typeface="Calibri"/>
              </a:defRPr>
            </a:pPr>
            <a:r>
              <a:t>Fictional Material Screening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FF99"/>
                </a:solidFill>
                <a:latin typeface="Calibri"/>
              </a:defRPr>
            </a:pPr>
            <a:r>
              <a:t>Does treatment improve pass rate and durability versus control?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468880"/>
            <a:ext cx="11091672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2743200"/>
            <a:ext cx="3566160" cy="21488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3108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vs.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Random assignment used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2743200"/>
            <a:ext cx="3566160" cy="21488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92608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337560"/>
            <a:ext cx="3108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1  Pass rate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2  Durability over cycles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2743200"/>
            <a:ext cx="3566160" cy="21488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92608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SCOPE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337560"/>
            <a:ext cx="3108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One lab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One batch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No broad generalisation yet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66360"/>
            <a:ext cx="11091672" cy="86868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49240"/>
            <a:ext cx="106344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Peer-review goal:  evaluate whether the observed patterns warrant replication — not deployment.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All data are synthetic.  Facts and caveats preserved as supplied.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02  /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Two equal groups, same exposure and equipment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6949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Groups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 and Treatment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Sample size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 samples per group  (400 total)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Assignment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Random assignment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duration, both groups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0" y="1691640"/>
            <a:ext cx="3867912" cy="155448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3410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PRIMARY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341071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0E0E0"/>
                </a:solidFill>
                <a:latin typeface="Calibri"/>
              </a:defRPr>
            </a:pPr>
            <a:r>
              <a:t>Passing the predefined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0E0E0"/>
                </a:solidFill>
                <a:latin typeface="Calibri"/>
              </a:defRPr>
            </a:pPr>
            <a:r>
              <a:t>strength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429000"/>
            <a:ext cx="3867912" cy="155448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3566160"/>
            <a:ext cx="3410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EXCLUSIONS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977639"/>
            <a:ext cx="341071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Reviewed before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final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91672" cy="86868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6344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Interpretation constraint:  one lab, one batch.  Design controls the comparison; it does not establish field generality.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Synthetic data  •  Denominators fixed at n = 200 per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03  /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Treatment pass rate is 14.0 points higher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6217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Pass rate (%)  —  predefined strength test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920240"/>
          <a:ext cx="62179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86600" y="1691640"/>
          <a:ext cx="45537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904"/>
                <a:gridCol w="1517904"/>
                <a:gridCol w="1517904"/>
              </a:tblGrid>
              <a:tr h="5181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 / 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 / 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 / 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72.0%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086600" y="3474720"/>
            <a:ext cx="4553712" cy="173736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3611880"/>
            <a:ext cx="40965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ARITHMETIC  (denominators fixed)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023360"/>
            <a:ext cx="4096512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72.0% − 58.0%  =  +14.0 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144 − 116  =  28 more passes / 200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14.0 ÷ 58.0  =  +24.1% relative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96128"/>
            <a:ext cx="106344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Exact counts shown with the chart.  This is the observed sample difference in this lab and batch.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pp = percentage points  •  n = 200 per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04  /  TIMECOURSE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0E0E0"/>
                </a:solidFill>
                <a:latin typeface="Calibri"/>
              </a:defRPr>
            </a:pPr>
            <a:r>
              <a:t>Durability declines in both groups; treatment stays higher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Durability retained (%)  by cycles  —  all eight values plotted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920240"/>
          <a:ext cx="73152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83879" y="1783080"/>
          <a:ext cx="345643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</a:tblGrid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Treat.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83879" y="4343400"/>
            <a:ext cx="3456432" cy="114300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4480560"/>
            <a:ext cx="3090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Gap at 300 cycles: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74% − 59%  =  +15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Loss from cycle 0 to 300:  control −41 pp  •  treatment −26 pp.  Pattern is consistent at 100, 200 and 300 cycles.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x-axis: cycles  •  y-axis: durability retained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05  /  SUBGROUPS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Batch labels show counts — not pass rates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6583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 passes (count)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Denominator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calculable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calculable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calculable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 (overall)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72.0% overall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06640" y="1737360"/>
            <a:ext cx="4233672" cy="265176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920240"/>
            <a:ext cx="3776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WHY NO RATES?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331720"/>
            <a:ext cx="3776472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 rate needs passes ÷ subgroup 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Subgroup denominators 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not supplied, so P / Q / 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rates cannot be derived.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3566160" cy="123444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Check:  48 + 48 + 48 = 144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✓  Matches treatment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4663440"/>
            <a:ext cx="3566160" cy="12344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4892040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Equal counts ≠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equal subgroup rates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4663440"/>
            <a:ext cx="3566160" cy="12344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4892040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Do not rank P, Q or 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without denominators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Counts are additive to the overall treatment total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06  / 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Audit pending — uncertainty not yet quantified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737360"/>
            <a:ext cx="5440680" cy="201168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983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■ 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983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Initial extract awaits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duplicate-record audit.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Counts may be revised.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737360"/>
            <a:ext cx="5440680" cy="201168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920240"/>
            <a:ext cx="4983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■  STATUS OF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331720"/>
            <a:ext cx="4983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Preliminary screening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results for peer review.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Not a final analysis.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NOT CLAIMED IN THIS DECK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5440680" cy="1325880"/>
          </a:xfrm>
          <a:prstGeom prst="rect">
            <a:avLst/>
          </a:prstGeom>
          <a:solidFill>
            <a:srgbClr val="1A1A1A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49834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✕  Statistical significance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   — not assessed / not claimed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4526280"/>
            <a:ext cx="5440680" cy="1325880"/>
          </a:xfrm>
          <a:prstGeom prst="rect">
            <a:avLst/>
          </a:prstGeom>
          <a:solidFill>
            <a:srgbClr val="1A1A1A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4754880"/>
            <a:ext cx="49834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✕  Confidence interval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   — not invented / not reported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Absence of a claim here is deliberate — it is not evidence for or against significance.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07  / 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0E0E0"/>
                </a:solidFill>
                <a:latin typeface="Calibri"/>
              </a:defRPr>
            </a:pPr>
            <a:r>
              <a:t>A measured sample difference — within narrow scope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691640"/>
            <a:ext cx="5440680" cy="310896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983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WHAT THE DATA 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983480" cy="2240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Pass rate +14.0 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  (72.0% vs. 58.0%; 144 vs. 116 / 200)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Durability higher at every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  post-baseline cycle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Gap at 300 cycles: +15 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691640"/>
            <a:ext cx="5440680" cy="310896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874519"/>
            <a:ext cx="4983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WHAT THEY DO NOT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331720"/>
            <a:ext cx="4983480" cy="2240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Broad field performance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Performance in other labs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  or other batches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A quantified uncertainty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  range (see Audit)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11091672" cy="10058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12080"/>
            <a:ext cx="106344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Conclusion for peers:  the pattern is internally consistent and worth replicating.  It is not, on its own, a deployment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One lab  •  One batch  •  Audit pending  •  Synthetic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SLIDE 08  / 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Replicate before any deployment claim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691640"/>
            <a:ext cx="2651760" cy="23774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9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860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REPLICATE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3 independent labs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Blinded scoring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691640"/>
            <a:ext cx="2651760" cy="23774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828800"/>
            <a:ext cx="2286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9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377440"/>
            <a:ext cx="22860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PRESERVE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Controls 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2651760" cy="23774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2286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9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77440"/>
            <a:ext cx="22860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PREREGISTER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Exclusion rules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before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8552" y="1691640"/>
            <a:ext cx="2651760" cy="2377440"/>
          </a:xfrm>
          <a:prstGeom prst="rect">
            <a:avLst/>
          </a:prstGeom>
          <a:solidFill>
            <a:srgbClr val="24242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828800"/>
            <a:ext cx="2286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9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2377440"/>
            <a:ext cx="22860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RECORD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Batch conditions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for every sample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434840"/>
            <a:ext cx="11091672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8640" y="4709160"/>
            <a:ext cx="11091672" cy="123444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10634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DECISION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34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0E0E0"/>
                </a:solidFill>
                <a:latin typeface="Calibri"/>
              </a:defRPr>
            </a:pPr>
            <a:r>
              <a:t>A second batch is needed before any deployment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All data are synthetic.  Preliminary findings — replication is the next step.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A9A9A"/>
                </a:solidFill>
                <a:latin typeface="Calibr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