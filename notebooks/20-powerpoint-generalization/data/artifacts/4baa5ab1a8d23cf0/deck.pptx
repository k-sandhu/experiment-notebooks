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Seats</c:v>
                </c:pt>
              </c:strCache>
            </c:strRef>
          </c:tx>
          <c:spPr>
            <a:solidFill>
              <a:srgbClr val="52A99C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East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45</c:v>
                </c:pt>
                <c:pt idx="1">
                  <c:v>39</c:v>
                </c:pt>
                <c:pt idx="2">
                  <c:v>31</c:v>
                </c:pt>
                <c:pt idx="3">
                  <c:v>47</c:v>
                </c:pt>
              </c:numCache>
            </c:numRef>
          </c:val>
        </c:ser>
        <c:dLbls>
          <c:txPr>
            <a:bodyPr/>
            <a:lstStyle/>
            <a:p>
              <a:pPr>
                <a:defRPr sz="1600">
                  <a:solidFill>
                    <a:srgbClr val="263238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600">
                <a:solidFill>
                  <a:srgbClr val="263238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600">
                <a:solidFill>
                  <a:srgbClr val="263238"/>
                </a:solidFill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600">
          <a:solidFill>
            <a:srgbClr val="263238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Items</c:v>
                </c:pt>
              </c:strCache>
            </c:strRef>
          </c:tx>
          <c:spPr>
            <a:solidFill>
              <a:srgbClr val="52A99C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Repaired</c:v>
                </c:pt>
                <c:pt idx="1">
                  <c:v>Referred</c:v>
                </c:pt>
                <c:pt idx="2">
                  <c:v>Not repairable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54</c:v>
                </c:pt>
                <c:pt idx="1">
                  <c:v>22</c:v>
                </c:pt>
                <c:pt idx="2">
                  <c:v>14</c:v>
                </c:pt>
              </c:numCache>
            </c:numRef>
          </c:val>
        </c:ser>
        <c:dLbls>
          <c:txPr>
            <a:bodyPr/>
            <a:lstStyle/>
            <a:p>
              <a:pPr>
                <a:defRPr sz="1600">
                  <a:solidFill>
                    <a:srgbClr val="263238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600">
                <a:solidFill>
                  <a:srgbClr val="263238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600">
                <a:solidFill>
                  <a:srgbClr val="263238"/>
                </a:solidFill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600">
          <a:solidFill>
            <a:srgbClr val="263238"/>
          </a:solidFill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896112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52646C"/>
                </a:solidFill>
                <a:latin typeface="Arial"/>
              </a:defRPr>
            </a:pPr>
            <a:r>
              <a:t>NEIGHBORHOOD REPAIR CAFE  /  01 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04672"/>
            <a:ext cx="1088136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263238"/>
                </a:solidFill>
                <a:latin typeface="Arial"/>
              </a:defRPr>
            </a:pPr>
            <a:r>
              <a:t>Bring an item. Share a skill. Meet a neighbor.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581912"/>
            <a:ext cx="2240280" cy="0"/>
          </a:xfrm>
          <a:prstGeom prst="line">
            <a:avLst/>
          </a:prstGeom>
          <a:ln w="5080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566928" y="1901952"/>
            <a:ext cx="6629400" cy="1856231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" y="2112264"/>
            <a:ext cx="6108192" cy="38404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263238"/>
                </a:solidFill>
                <a:latin typeface="Arial"/>
              </a:defRPr>
            </a:pPr>
            <a:r>
              <a:t>A welcoming place to try a repair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" y="2697480"/>
            <a:ext cx="6053328" cy="81381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263238"/>
                </a:solidFill>
                <a:latin typeface="Arial"/>
              </a:defRPr>
            </a:pPr>
            <a:r>
              <a:t>This fictional cafe invites local residents to bring a small household item, explore a possible fix and learn together.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71231" y="2185416"/>
            <a:ext cx="4041648" cy="2286000"/>
          </a:xfrm>
          <a:prstGeom prst="roundRect">
            <a:avLst/>
          </a:prstGeom>
          <a:solidFill>
            <a:srgbClr val="FF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27264" y="2414016"/>
            <a:ext cx="3520440" cy="38404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263238"/>
                </a:solidFill>
                <a:latin typeface="Arial"/>
              </a:defRPr>
            </a:pPr>
            <a:r>
              <a:t>Everyone can take part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27264" y="2962656"/>
            <a:ext cx="3502152" cy="121615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63238"/>
                </a:solidFill>
                <a:latin typeface="Arial"/>
              </a:defRPr>
            </a:pPr>
            <a:r>
              <a:t>Join as a participant or volunteer. Volunteer roles include welcome, repair support and safety check.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105656"/>
            <a:ext cx="6217920" cy="39319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263238"/>
                </a:solidFill>
                <a:latin typeface="Arial"/>
              </a:defRPr>
            </a:pPr>
            <a:r>
              <a:t>The journey to event day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8952" y="4681728"/>
            <a:ext cx="1847088" cy="7498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4855464"/>
            <a:ext cx="1600200" cy="35661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263238"/>
                </a:solidFill>
                <a:latin typeface="Arial"/>
              </a:defRPr>
            </a:pPr>
            <a:r>
              <a:t>Register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06040" y="5056632"/>
            <a:ext cx="338328" cy="0"/>
          </a:xfrm>
          <a:prstGeom prst="line">
            <a:avLst/>
          </a:prstGeom>
          <a:ln w="3810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44368" y="4681728"/>
            <a:ext cx="1847088" cy="7498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54096" y="4855464"/>
            <a:ext cx="1627632" cy="35661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263238"/>
                </a:solidFill>
                <a:latin typeface="Arial"/>
              </a:defRPr>
            </a:pPr>
            <a:r>
              <a:t>Prepare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791456" y="5056632"/>
            <a:ext cx="338328" cy="0"/>
          </a:xfrm>
          <a:prstGeom prst="line">
            <a:avLst/>
          </a:prstGeom>
          <a:ln w="3810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129784" y="4681728"/>
            <a:ext cx="1847088" cy="7498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39512" y="4855464"/>
            <a:ext cx="1627632" cy="35661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263238"/>
                </a:solidFill>
                <a:latin typeface="Arial"/>
              </a:defRPr>
            </a:pPr>
            <a:r>
              <a:t>Repair cafe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27264" y="4892040"/>
            <a:ext cx="3493008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263238"/>
                </a:solidFill>
                <a:latin typeface="Arial"/>
              </a:defRPr>
            </a:pPr>
            <a:r>
              <a:t>To volunteer, contact “Local organizer” by the end of week 2.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5852160"/>
            <a:ext cx="6629400" cy="32918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2646C"/>
                </a:solidFill>
                <a:latin typeface="Arial"/>
              </a:defRPr>
            </a:pPr>
            <a:r>
              <a:t>Registration W1 • Training W2 • Events W4 • Follow-up W5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37376"/>
            <a:ext cx="1088136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46C"/>
                </a:solidFill>
                <a:latin typeface="Arial"/>
              </a:defRPr>
            </a:pPr>
            <a:r>
              <a:t>Fictional campaign • All data are synthetic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91440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52646C"/>
                </a:solidFill>
                <a:latin typeface="Arial"/>
              </a:defRPr>
            </a:pPr>
            <a:r>
              <a:t>NEIGHBORHOOD REPAIR CAFE  /  02 CAPACITY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04672"/>
            <a:ext cx="1088136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263238"/>
                </a:solidFill>
                <a:latin typeface="Arial"/>
              </a:defRPr>
            </a:pPr>
            <a:r>
              <a:t>Four sessions. 162 places to take part.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581912"/>
            <a:ext cx="2240280" cy="0"/>
          </a:xfrm>
          <a:prstGeom prst="line">
            <a:avLst/>
          </a:prstGeom>
          <a:ln w="5080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883664"/>
            <a:ext cx="7132320" cy="35661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263238"/>
                </a:solidFill>
                <a:latin typeface="Arial"/>
              </a:defRPr>
            </a:pPr>
            <a:r>
              <a:t>Available seats by session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58368" y="2432304"/>
          <a:ext cx="7287768" cy="337413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86968" y="5879592"/>
            <a:ext cx="6675120" cy="2560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2646C"/>
                </a:solidFill>
                <a:latin typeface="Arial"/>
              </a:defRPr>
            </a:pPr>
            <a:r>
              <a:t>Unit: seats • 45 + 39 + 31 + 47 = 162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21040" y="2048256"/>
            <a:ext cx="3236976" cy="1700784"/>
          </a:xfrm>
          <a:prstGeom prst="roundRect">
            <a:avLst/>
          </a:prstGeom>
          <a:solidFill>
            <a:srgbClr val="FF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49640" y="2231136"/>
            <a:ext cx="2779776" cy="6766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D8502B"/>
                </a:solidFill>
                <a:latin typeface="Arial"/>
              </a:defRPr>
            </a:pPr>
            <a:r>
              <a:t>162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3054096"/>
            <a:ext cx="2779776" cy="34747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63238"/>
                </a:solidFill>
                <a:latin typeface="Arial"/>
              </a:defRPr>
            </a:pPr>
            <a:r>
              <a:t>total seats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67928" y="4050791"/>
            <a:ext cx="2990088" cy="15727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96528" y="4242816"/>
            <a:ext cx="2532888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263238"/>
                </a:solidFill>
                <a:latin typeface="Arial"/>
              </a:defRPr>
            </a:pPr>
            <a:r>
              <a:t>2 hours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96528" y="4928616"/>
            <a:ext cx="2532888" cy="3749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63238"/>
                </a:solidFill>
                <a:latin typeface="Arial"/>
              </a:defRPr>
            </a:pPr>
            <a:r>
              <a:t>every session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37376"/>
            <a:ext cx="1088136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46C"/>
                </a:solidFill>
                <a:latin typeface="Arial"/>
              </a:defRPr>
            </a:pPr>
            <a:r>
              <a:t>Fictional campaign • All data are synthetic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91440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52646C"/>
                </a:solidFill>
                <a:latin typeface="Arial"/>
              </a:defRPr>
            </a:pPr>
            <a:r>
              <a:t>NEIGHBORHOOD REPAIR CAFE  /  03 VOLUNTEERS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04672"/>
            <a:ext cx="1088136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263238"/>
                </a:solidFill>
                <a:latin typeface="Arial"/>
              </a:defRPr>
            </a:pPr>
            <a:r>
              <a:t>Many ways to lend a hand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581912"/>
            <a:ext cx="2240280" cy="0"/>
          </a:xfrm>
          <a:prstGeom prst="line">
            <a:avLst/>
          </a:prstGeom>
          <a:ln w="5080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12648" y="1938528"/>
            <a:ext cx="3712463" cy="3483864"/>
          </a:xfrm>
          <a:prstGeom prst="roundRect">
            <a:avLst/>
          </a:prstGeom>
          <a:solidFill>
            <a:srgbClr val="FF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2240280"/>
            <a:ext cx="3108960" cy="80467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900" b="1">
                <a:solidFill>
                  <a:srgbClr val="D8502B"/>
                </a:solidFill>
                <a:latin typeface="Arial"/>
              </a:defRPr>
            </a:pPr>
            <a:r>
              <a:t>87 hours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3200400"/>
            <a:ext cx="3026664" cy="70408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263238"/>
                </a:solidFill>
                <a:latin typeface="Arial"/>
              </a:defRPr>
            </a:pPr>
            <a:r>
              <a:t>29 volunteers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263238"/>
                </a:solidFill>
                <a:latin typeface="Arial"/>
              </a:defRPr>
            </a:pPr>
            <a:r>
              <a:t>× 3 hours each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914400" y="4197096"/>
            <a:ext cx="2642616" cy="0"/>
          </a:xfrm>
          <a:prstGeom prst="line">
            <a:avLst/>
          </a:prstGeom>
          <a:ln w="2540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05256" y="4443984"/>
            <a:ext cx="3017520" cy="64922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263238"/>
                </a:solidFill>
                <a:latin typeface="Arial"/>
              </a:defRPr>
            </a:pPr>
            <a:r>
              <a:t>Total planned volunteer time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45736" y="1920240"/>
            <a:ext cx="6656832" cy="106070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1768" y="2075688"/>
            <a:ext cx="1984248" cy="38404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263238"/>
                </a:solidFill>
                <a:latin typeface="Arial"/>
              </a:defRPr>
            </a:pPr>
            <a:r>
              <a:t>Welcome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59752" y="2093976"/>
            <a:ext cx="393192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63238"/>
                </a:solidFill>
                <a:latin typeface="Arial"/>
              </a:defRPr>
            </a:pPr>
            <a:r>
              <a:t>Greet residents and help them get started.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83480" y="3227832"/>
            <a:ext cx="6656832" cy="106070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39512" y="3383280"/>
            <a:ext cx="2029968" cy="63093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263238"/>
                </a:solidFill>
                <a:latin typeface="Arial"/>
              </a:defRPr>
            </a:pPr>
            <a:r>
              <a:t>Repair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263238"/>
                </a:solidFill>
                <a:latin typeface="Arial"/>
              </a:defRPr>
            </a:pPr>
            <a:r>
              <a:t>support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97496" y="3401568"/>
            <a:ext cx="3931920" cy="61264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63238"/>
                </a:solidFill>
                <a:latin typeface="Arial"/>
              </a:defRPr>
            </a:pPr>
            <a:r>
              <a:t>Help explore fixes within available skills and parts.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45736" y="4535424"/>
            <a:ext cx="6656832" cy="106070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01768" y="4709160"/>
            <a:ext cx="2057400" cy="38404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263238"/>
                </a:solidFill>
                <a:latin typeface="Arial"/>
              </a:defRPr>
            </a:pPr>
            <a:r>
              <a:t>Safety check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59752" y="4709160"/>
            <a:ext cx="3931920" cy="62179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63238"/>
                </a:solidFill>
                <a:latin typeface="Arial"/>
              </a:defRPr>
            </a:pPr>
            <a:r>
              <a:t>Help flag concerns; this is not safety certification.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" y="5879592"/>
            <a:ext cx="1058875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2646C"/>
                </a:solidFill>
                <a:latin typeface="Arial"/>
              </a:defRPr>
            </a:pPr>
            <a:r>
              <a:t>These roles do not imply specialist qualifications. Volunteer training is in week 2.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37376"/>
            <a:ext cx="1088136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46C"/>
                </a:solidFill>
                <a:latin typeface="Arial"/>
              </a:defRPr>
            </a:pPr>
            <a:r>
              <a:t>Fictional campaign • All data are synthetic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91440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52646C"/>
                </a:solidFill>
                <a:latin typeface="Arial"/>
              </a:defRPr>
            </a:pPr>
            <a:r>
              <a:t>NEIGHBORHOOD REPAIR CAFE  /  04 BUDGET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04672"/>
            <a:ext cx="1088136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263238"/>
                </a:solidFill>
                <a:latin typeface="Arial"/>
              </a:defRPr>
            </a:pPr>
            <a:r>
              <a:t>A $2,860 budget for the campaign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581912"/>
            <a:ext cx="2240280" cy="0"/>
          </a:xfrm>
          <a:prstGeom prst="line">
            <a:avLst/>
          </a:prstGeom>
          <a:ln w="5080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68096" y="1929384"/>
            <a:ext cx="6949440" cy="35661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263238"/>
                </a:solidFill>
                <a:latin typeface="Arial"/>
              </a:defRPr>
            </a:pPr>
            <a:r>
              <a:t>Planned spending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2487168"/>
          <a:ext cx="676656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3280"/>
                <a:gridCol w="3383280"/>
              </a:tblGrid>
              <a:tr h="548640"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Budget item</a:t>
                      </a:r>
                    </a:p>
                  </a:txBody>
                  <a:tcPr marL="64008" marR="64008" marT="36576" marB="36576">
                    <a:solidFill>
                      <a:srgbClr val="52646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Amount ($)</a:t>
                      </a:r>
                    </a:p>
                  </a:txBody>
                  <a:tcPr marL="64008" marR="64008" marT="36576" marB="36576">
                    <a:solidFill>
                      <a:srgbClr val="52646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Materials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1,270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Venue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950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Outreach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640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Access support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Total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2,860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101583" y="2066543"/>
            <a:ext cx="3456432" cy="2020824"/>
          </a:xfrm>
          <a:prstGeom prst="roundRect">
            <a:avLst/>
          </a:prstGeom>
          <a:solidFill>
            <a:srgbClr val="FF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48472" y="2313432"/>
            <a:ext cx="2953512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D8502B"/>
                </a:solidFill>
                <a:latin typeface="Arial"/>
              </a:defRPr>
            </a:pPr>
            <a:r>
              <a:t>$1,270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48472" y="3099816"/>
            <a:ext cx="2926080" cy="6766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263238"/>
                </a:solidFill>
                <a:latin typeface="Arial"/>
              </a:defRPr>
            </a:pPr>
            <a:r>
              <a:t>Materials are the largest budget item.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57616" y="4489704"/>
            <a:ext cx="2898648" cy="38404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263238"/>
                </a:solidFill>
                <a:latin typeface="Arial"/>
              </a:defRPr>
            </a:pPr>
            <a:r>
              <a:t>The total adds 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57616" y="5047488"/>
            <a:ext cx="2898648" cy="69494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63238"/>
                </a:solidFill>
                <a:latin typeface="Arial"/>
              </a:defRPr>
            </a:pPr>
            <a:r>
              <a:t>$1,270 + $950 + $640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63238"/>
                </a:solidFill>
                <a:latin typeface="Arial"/>
              </a:defRPr>
            </a:pPr>
            <a:r>
              <a:t>+ $0 = $2,860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37376"/>
            <a:ext cx="1088136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46C"/>
                </a:solidFill>
                <a:latin typeface="Arial"/>
              </a:defRPr>
            </a:pPr>
            <a:r>
              <a:t>Fictional campaign • All data are synthetic • Budget amounts shown in dollars ($)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91440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52646C"/>
                </a:solidFill>
                <a:latin typeface="Arial"/>
              </a:defRPr>
            </a:pPr>
            <a:r>
              <a:t>NEIGHBORHOOD REPAIR CAFE  /  05 SCHEDULE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04672"/>
            <a:ext cx="1088136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263238"/>
                </a:solidFill>
                <a:latin typeface="Arial"/>
              </a:defRPr>
            </a:pPr>
            <a:r>
              <a:t>Prepare together, then meet in week 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581912"/>
            <a:ext cx="2240280" cy="0"/>
          </a:xfrm>
          <a:prstGeom prst="line">
            <a:avLst/>
          </a:prstGeom>
          <a:ln w="5080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594360" y="2011680"/>
            <a:ext cx="1874519" cy="163677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2194560"/>
            <a:ext cx="1545336" cy="28346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52646C"/>
                </a:solidFill>
                <a:latin typeface="Arial"/>
              </a:defRPr>
            </a:pPr>
            <a:r>
              <a:t>WEEK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2697480"/>
            <a:ext cx="1545336" cy="70408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263238"/>
                </a:solidFill>
                <a:latin typeface="Arial"/>
              </a:defRPr>
            </a:pPr>
            <a:r>
              <a:t>Registration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263238"/>
                </a:solidFill>
                <a:latin typeface="Arial"/>
              </a:defRPr>
            </a:pPr>
            <a:r>
              <a:t>opens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68880" y="2816352"/>
            <a:ext cx="347472" cy="0"/>
          </a:xfrm>
          <a:prstGeom prst="line">
            <a:avLst/>
          </a:prstGeom>
          <a:ln w="3810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816352" y="2011680"/>
            <a:ext cx="1874519" cy="163677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80944" y="2194560"/>
            <a:ext cx="1545336" cy="28346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52646C"/>
                </a:solidFill>
                <a:latin typeface="Arial"/>
              </a:defRPr>
            </a:pPr>
            <a:r>
              <a:t>WEEK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80944" y="2697480"/>
            <a:ext cx="1545336" cy="70408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263238"/>
                </a:solidFill>
                <a:latin typeface="Arial"/>
              </a:defRPr>
            </a:pPr>
            <a:r>
              <a:t>Volunteer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263238"/>
                </a:solidFill>
                <a:latin typeface="Arial"/>
              </a:defRPr>
            </a:pPr>
            <a:r>
              <a:t>training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690872" y="2816352"/>
            <a:ext cx="347472" cy="0"/>
          </a:xfrm>
          <a:prstGeom prst="line">
            <a:avLst/>
          </a:prstGeom>
          <a:ln w="3810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038344" y="2011680"/>
            <a:ext cx="1874519" cy="163677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02936" y="2194560"/>
            <a:ext cx="1545336" cy="28346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52646C"/>
                </a:solidFill>
                <a:latin typeface="Arial"/>
              </a:defRPr>
            </a:pPr>
            <a:r>
              <a:t>WEEK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02936" y="2697480"/>
            <a:ext cx="1545336" cy="70408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263238"/>
                </a:solidFill>
                <a:latin typeface="Arial"/>
              </a:defRPr>
            </a:pPr>
            <a:r>
              <a:t>Venue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263238"/>
                </a:solidFill>
                <a:latin typeface="Arial"/>
              </a:defRPr>
            </a:pPr>
            <a:r>
              <a:t>confirmation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912864" y="2816352"/>
            <a:ext cx="347472" cy="0"/>
          </a:xfrm>
          <a:prstGeom prst="line">
            <a:avLst/>
          </a:prstGeom>
          <a:ln w="3810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260336" y="1883664"/>
            <a:ext cx="1874519" cy="1892807"/>
          </a:xfrm>
          <a:prstGeom prst="roundRect">
            <a:avLst/>
          </a:prstGeom>
          <a:solidFill>
            <a:srgbClr val="FF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24927" y="2194560"/>
            <a:ext cx="1545336" cy="28346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D8502B"/>
                </a:solidFill>
                <a:latin typeface="Arial"/>
              </a:defRPr>
            </a:pPr>
            <a:r>
              <a:t>WEEK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24927" y="2697480"/>
            <a:ext cx="1545336" cy="70408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263238"/>
                </a:solidFill>
                <a:latin typeface="Arial"/>
              </a:defRPr>
            </a:pPr>
            <a:r>
              <a:t>Repair cafe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263238"/>
                </a:solidFill>
                <a:latin typeface="Arial"/>
              </a:defRPr>
            </a:pPr>
            <a:r>
              <a:t>events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134856" y="2816352"/>
            <a:ext cx="347472" cy="0"/>
          </a:xfrm>
          <a:prstGeom prst="line">
            <a:avLst/>
          </a:prstGeom>
          <a:ln w="3810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482328" y="2011680"/>
            <a:ext cx="2103120" cy="163677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46920" y="2194560"/>
            <a:ext cx="1773936" cy="28346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52646C"/>
                </a:solidFill>
                <a:latin typeface="Arial"/>
              </a:defRPr>
            </a:pPr>
            <a:r>
              <a:t>WEEK 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46920" y="2697480"/>
            <a:ext cx="1773936" cy="70408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263238"/>
                </a:solidFill>
                <a:latin typeface="Arial"/>
              </a:defRPr>
            </a:pPr>
            <a:r>
              <a:t>Follow-up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263238"/>
                </a:solidFill>
                <a:latin typeface="Arial"/>
              </a:defRPr>
            </a:pPr>
            <a:r>
              <a:t>1 week later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14984" y="4379976"/>
            <a:ext cx="10049256" cy="131673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80160" y="4562856"/>
            <a:ext cx="9473184" cy="3749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263238"/>
                </a:solidFill>
                <a:latin typeface="Arial"/>
              </a:defRPr>
            </a:pPr>
            <a:r>
              <a:t>Two requirements before events can go ahead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5120640"/>
            <a:ext cx="9473184" cy="32918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63238"/>
                </a:solidFill>
                <a:latin typeface="Arial"/>
              </a:defRPr>
            </a:pPr>
            <a:r>
              <a:t>Week 2 training completed  AND  venue confirmed in week 3  →  events in week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37376"/>
            <a:ext cx="1088136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46C"/>
                </a:solidFill>
                <a:latin typeface="Arial"/>
              </a:defRPr>
            </a:pPr>
            <a:r>
              <a:t>Fictional campaign • All data are synthetic • Weeks are relative to campaign launch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91440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52646C"/>
                </a:solidFill>
                <a:latin typeface="Arial"/>
              </a:defRPr>
            </a:pPr>
            <a:r>
              <a:t>NEIGHBORHOOD REPAIR CAFE  /  06 PARTICIPATION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04672"/>
            <a:ext cx="1088136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263238"/>
                </a:solidFill>
                <a:latin typeface="Arial"/>
              </a:defRPr>
            </a:pPr>
            <a:r>
              <a:t>Bring one small household item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581912"/>
            <a:ext cx="2240280" cy="0"/>
          </a:xfrm>
          <a:prstGeom prst="line">
            <a:avLst/>
          </a:prstGeom>
          <a:ln w="5080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58368" y="1965960"/>
            <a:ext cx="3675887" cy="3566160"/>
          </a:xfrm>
          <a:prstGeom prst="roundRect">
            <a:avLst/>
          </a:prstGeom>
          <a:solidFill>
            <a:srgbClr val="FF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2240280"/>
            <a:ext cx="3099816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600" b="1">
                <a:solidFill>
                  <a:srgbClr val="D8502B"/>
                </a:solidFill>
                <a:latin typeface="Arial"/>
              </a:defRPr>
            </a:pPr>
            <a:r>
              <a:t>1 item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3300984"/>
            <a:ext cx="3063240" cy="74980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263238"/>
                </a:solidFill>
                <a:latin typeface="Arial"/>
              </a:defRPr>
            </a:pPr>
            <a:r>
              <a:t>A small household item you would like help fixing.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4462272"/>
            <a:ext cx="3063240" cy="70408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263238"/>
                </a:solidFill>
                <a:latin typeface="Arial"/>
              </a:defRPr>
            </a:pPr>
            <a:r>
              <a:t>Come ready to explore what may be possible.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09744" y="2157984"/>
            <a:ext cx="6629400" cy="14356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74920" y="2350008"/>
            <a:ext cx="6080760" cy="38404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263238"/>
                </a:solidFill>
                <a:latin typeface="Arial"/>
              </a:defRPr>
            </a:pPr>
            <a:r>
              <a:t>Walk-ins are welcome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74920" y="2907792"/>
            <a:ext cx="60807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263238"/>
                </a:solidFill>
                <a:latin typeface="Arial"/>
              </a:defRPr>
            </a:pPr>
            <a:r>
              <a:t>Space is limited to each session’s capacity.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56632" y="3922776"/>
            <a:ext cx="6400800" cy="17556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30952" y="4123944"/>
            <a:ext cx="5852160" cy="38404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263238"/>
                </a:solidFill>
                <a:latin typeface="Arial"/>
              </a:defRPr>
            </a:pPr>
            <a:r>
              <a:t>A repair is a possibility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30952" y="4700016"/>
            <a:ext cx="580644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263238"/>
                </a:solidFill>
                <a:latin typeface="Arial"/>
              </a:defRPr>
            </a:pPr>
            <a:r>
              <a:t>Repairs depend on available skills and parts. There is no guaranteed repair or safety certification.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37376"/>
            <a:ext cx="1088136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46C"/>
                </a:solidFill>
                <a:latin typeface="Arial"/>
              </a:defRPr>
            </a:pPr>
            <a:r>
              <a:t>Fictional campaign • All data are synthetic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91440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52646C"/>
                </a:solidFill>
                <a:latin typeface="Arial"/>
              </a:defRPr>
            </a:pPr>
            <a:r>
              <a:t>NEIGHBORHOOD REPAIR CAFE  /  07 OUTCOMES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04672"/>
            <a:ext cx="1088136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263238"/>
                </a:solidFill>
                <a:latin typeface="Arial"/>
              </a:defRPr>
            </a:pPr>
            <a:r>
              <a:t>Last synthetic trial: 54 of 90 items repaired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581912"/>
            <a:ext cx="2240280" cy="0"/>
          </a:xfrm>
          <a:prstGeom prst="line">
            <a:avLst/>
          </a:prstGeom>
          <a:ln w="5080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86384" y="1938528"/>
            <a:ext cx="7031736" cy="35661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263238"/>
                </a:solidFill>
                <a:latin typeface="Arial"/>
              </a:defRPr>
            </a:pPr>
            <a:r>
              <a:t>Last synthetic trial • Outcomes in items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94944" y="2532888"/>
          <a:ext cx="7132320" cy="314553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96112" y="5824728"/>
            <a:ext cx="6766560" cy="32918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2646C"/>
                </a:solidFill>
                <a:latin typeface="Arial"/>
              </a:defRPr>
            </a:pPr>
            <a:r>
              <a:t>54 + 22 + 14 = 90 items assessed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38744" y="2075688"/>
            <a:ext cx="3355848" cy="2167128"/>
          </a:xfrm>
          <a:prstGeom prst="roundRect">
            <a:avLst/>
          </a:prstGeom>
          <a:solidFill>
            <a:srgbClr val="FF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85632" y="2286000"/>
            <a:ext cx="2862072" cy="79552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300" b="1">
                <a:solidFill>
                  <a:srgbClr val="D8502B"/>
                </a:solidFill>
                <a:latin typeface="Arial"/>
              </a:defRPr>
            </a:pPr>
            <a:r>
              <a:t>60.0%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85632" y="3264408"/>
            <a:ext cx="2862072" cy="33832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263238"/>
                </a:solidFill>
                <a:latin typeface="Arial"/>
              </a:defRPr>
            </a:pPr>
            <a:r>
              <a:t>repair share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85632" y="3758184"/>
            <a:ext cx="2862072" cy="26517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  <a:r>
              <a:t>54 ÷ 90 × 100 = 60.0%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13064" y="4663440"/>
            <a:ext cx="2779776" cy="108813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52646C"/>
                </a:solidFill>
                <a:latin typeface="Arial"/>
              </a:defRPr>
            </a:pPr>
            <a:r>
              <a:t>A synthetic example of possible outcomes. Future repairs depend on skills and parts.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37376"/>
            <a:ext cx="1088136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46C"/>
                </a:solidFill>
                <a:latin typeface="Arial"/>
              </a:defRPr>
            </a:pPr>
            <a:r>
              <a:t>Fictional campaign • All data are synthetic • Trial results do not guarantee a repair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91440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52646C"/>
                </a:solidFill>
                <a:latin typeface="Arial"/>
              </a:defRPr>
            </a:pPr>
            <a:r>
              <a:t>NEIGHBORHOOD REPAIR CAFE  /  08 JOIN 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04672"/>
            <a:ext cx="1088136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263238"/>
                </a:solidFill>
                <a:latin typeface="Arial"/>
              </a:defRPr>
            </a:pPr>
            <a:r>
              <a:t>Join us by the end of week 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581912"/>
            <a:ext cx="2240280" cy="0"/>
          </a:xfrm>
          <a:prstGeom prst="line">
            <a:avLst/>
          </a:prstGeom>
          <a:ln w="5080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58368" y="1993392"/>
            <a:ext cx="5102352" cy="197510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2231136"/>
            <a:ext cx="4553712" cy="40233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263238"/>
                </a:solidFill>
                <a:latin typeface="Arial"/>
              </a:defRPr>
            </a:pPr>
            <a:r>
              <a:t>Sign up as a participant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880360"/>
            <a:ext cx="4535424" cy="74066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238"/>
                </a:solidFill>
                <a:latin typeface="Arial"/>
              </a:defRPr>
            </a:pPr>
            <a:r>
              <a:t>Plan to bring one small household item to a week 4 session.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08776" y="2258568"/>
            <a:ext cx="5294376" cy="197510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83096" y="2496312"/>
            <a:ext cx="4745736" cy="40233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263238"/>
                </a:solidFill>
                <a:latin typeface="Arial"/>
              </a:defRPr>
            </a:pPr>
            <a:r>
              <a:t>Sign up as a volunteer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83096" y="3145536"/>
            <a:ext cx="4718304" cy="74066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238"/>
                </a:solidFill>
                <a:latin typeface="Arial"/>
              </a:defRPr>
            </a:pPr>
            <a:r>
              <a:t>Help with welcome, repair support or safety check. Training is in week 2.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33271" y="4608576"/>
            <a:ext cx="10085832" cy="1271016"/>
          </a:xfrm>
          <a:prstGeom prst="roundRect">
            <a:avLst/>
          </a:prstGeom>
          <a:solidFill>
            <a:srgbClr val="FF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25880" y="4809744"/>
            <a:ext cx="5980176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263238"/>
                </a:solidFill>
                <a:latin typeface="Arial"/>
              </a:defRPr>
            </a:pPr>
            <a:r>
              <a:t>Contact: Local organizer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5376672"/>
            <a:ext cx="5980176" cy="26517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2646C"/>
                </a:solidFill>
                <a:latin typeface="Arial"/>
              </a:defRPr>
            </a:pPr>
            <a:r>
              <a:t>Contact placeholder for this fictional campaign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63256" y="4873752"/>
            <a:ext cx="2990088" cy="72237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D8502B"/>
                </a:solidFill>
                <a:latin typeface="Arial"/>
              </a:defRPr>
            </a:pPr>
            <a:r>
              <a:t>Sign up: end of week 2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D8502B"/>
                </a:solidFill>
                <a:latin typeface="Arial"/>
              </a:defRPr>
            </a:pPr>
            <a:r>
              <a:t>Events: week 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37376"/>
            <a:ext cx="1088136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46C"/>
                </a:solidFill>
                <a:latin typeface="Arial"/>
              </a:defRPr>
            </a:pPr>
            <a:r>
              <a:t>Fictional campaign • All data are synthetic • Walk-ins welcome within session capacity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