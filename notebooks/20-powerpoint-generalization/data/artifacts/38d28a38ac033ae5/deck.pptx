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00FF99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 (116/200)</c:v>
                </c:pt>
                <c:pt idx="1">
                  <c:v>Treatment (133/200)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58.0</c:v>
                </c:pt>
                <c:pt idx="1">
                  <c:v>66.5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A0A0A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Cycle 0</c:v>
                </c:pt>
                <c:pt idx="1">
                  <c:v>Cycle 100</c:v>
                </c:pt>
                <c:pt idx="2">
                  <c:v>Cycle 200</c:v>
                </c:pt>
                <c:pt idx="3">
                  <c:v>Cycle 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Cycle 0</c:v>
                </c:pt>
                <c:pt idx="1">
                  <c:v>Cycle 100</c:v>
                </c:pt>
                <c:pt idx="2">
                  <c:v>Cycle 200</c:v>
                </c:pt>
                <c:pt idx="3">
                  <c:v>Cycle 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Does treatment improve pass rate and durability versus control?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Fictional material-screening study | Preliminary results for peer review | All data synthetic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6675120" cy="416052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73152" cy="41605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10512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612648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Compared with control, does the treatment raise the pass rate and preserve durability?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3886200"/>
            <a:ext cx="603504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023360"/>
            <a:ext cx="6126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Endpoint 1: pass rate on a predefined strength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6126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Endpoint 2: durability (%) at cycles 0, 100, 200, 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61264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Comparison: treatment group vs control group, 200 samples each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645920"/>
            <a:ext cx="2057400" cy="2011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0" y="1645920"/>
            <a:ext cx="2057400" cy="2011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3794760"/>
            <a:ext cx="2057400" cy="2011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0" y="3794760"/>
            <a:ext cx="2057400" cy="2011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828800"/>
            <a:ext cx="178308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816352"/>
            <a:ext cx="178308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Random assignment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89520" y="3474720"/>
            <a:ext cx="1783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738360" y="1828800"/>
            <a:ext cx="178308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816352"/>
            <a:ext cx="178308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Lab only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38360" y="3474720"/>
            <a:ext cx="1783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89520" y="3977639"/>
            <a:ext cx="178308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965192"/>
            <a:ext cx="178308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Batch only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89520" y="5623559"/>
            <a:ext cx="1783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738360" y="3977639"/>
            <a:ext cx="178308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4965192"/>
            <a:ext cx="178308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Samples (2 x 200)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38360" y="5623559"/>
            <a:ext cx="1783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02920" y="5989320"/>
            <a:ext cx="11155680" cy="50292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Scope caveat: one lab and one batch only, so results describe this sample, not general performance.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Design: two randomized groups tested under identical conditions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200 samples per group | equal-duration exposure | same test equipment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Random assignment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2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Equal-duration exposure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74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Same test equipment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60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Predefined strength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46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Exclusion review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2926080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DESIGN ELEMENTS BY GROUP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3337560"/>
          <a:ext cx="6766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element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Samples (n)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 duration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Test equipment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Strength test pass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Strength test pass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7635240" y="2926080"/>
            <a:ext cx="4023360" cy="3154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063240"/>
            <a:ext cx="3566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WHAT IS CONTROLLED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520440"/>
            <a:ext cx="35661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Assignment: random, so groups differ only by treatment in expectation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3840" y="4297680"/>
            <a:ext cx="356616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63840" y="4389120"/>
            <a:ext cx="35661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Endpoint: predefined pass/fail strength criterion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63840" y="5166360"/>
            <a:ext cx="356616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63840" y="5257800"/>
            <a:ext cx="35661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Exclusions: reviewed before final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Treatment passed 133/200 vs 116/200 for control: +8.5 points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Pass rate on the predefined strength test | denominators fixed at n = 200 per group | post-audit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394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PASS RATE (%), n = 200 PER GROUP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011680"/>
          <a:ext cx="5394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1600200"/>
            <a:ext cx="5394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EXACT COUNTS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2011680"/>
          <a:ext cx="5394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/>
                <a:gridCol w="1078992"/>
                <a:gridCol w="1078992"/>
                <a:gridCol w="1078992"/>
                <a:gridCol w="1078992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Failed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84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67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+17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-17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+8.5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63640" y="4297680"/>
            <a:ext cx="5394960" cy="182880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4297680"/>
            <a:ext cx="73152" cy="182880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407408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ARITHMETIC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800600"/>
            <a:ext cx="4937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116 / 200 = 58.0%     133 / 200 = 66.5%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5257800"/>
            <a:ext cx="49377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66.5% - 58.0% = 8.5 percentage points, i.e. 17 more passes on the same n = 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Durability gap widened from 0 to 15 points by cycle 300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Durability (%) at cycles 0, 100, 200, 300 | all eight measured values shown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DURABILITY (%) BY CYCLE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011680"/>
          <a:ext cx="67665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35240" y="1600200"/>
            <a:ext cx="4023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VALUES AND GAP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35240" y="2011680"/>
          <a:ext cx="4023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</a:tblGrid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Cycle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15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635240" y="4617720"/>
            <a:ext cx="4023360" cy="150876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4617720"/>
            <a:ext cx="73152" cy="15087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4709160"/>
            <a:ext cx="3657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LOSS FROM CYCLE 0 TO 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507492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Control: 100 - 59 = 41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48640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Treatment: 100 - 74 = 26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Treatment passes by batch label P/Q/R: 44, 44, 45 (total 133)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These are pass counts, not subgroup pass rates | subgroup denominators were not 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TREATMENT PASS COUNTS BY BATCH LABEL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011680"/>
          <a:ext cx="6949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60350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Passes (count)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Denominator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303520"/>
            <a:ext cx="6949440" cy="77724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394960"/>
            <a:ext cx="6583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Check: 44 + 44 + 45 = 133 treatment passes; 133 / 200 = 66.5%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600200"/>
            <a:ext cx="3840480" cy="448056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600200"/>
            <a:ext cx="73152" cy="44805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737360"/>
            <a:ext cx="3383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WHY COUNTS, NOT 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194560"/>
            <a:ext cx="33832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 rate needs a denominator. Samples tested per label were not supplied.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2440" y="3474720"/>
            <a:ext cx="333756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92440" y="3611880"/>
            <a:ext cx="33832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Near-equal counts do not imply near-equal pass rates if label sizes differ.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92440" y="4892040"/>
            <a:ext cx="333756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92440" y="5029200"/>
            <a:ext cx="3383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subgroup comparison is made.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Audit: 11 duplicate positive treatment records removed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Treatment passes corrected from 144 to 133 | denominators unchanged at 200 per group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2651760" cy="123444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7560" y="1645920"/>
            <a:ext cx="2651760" cy="123444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2651760" cy="123444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06840" y="1645920"/>
            <a:ext cx="2651760" cy="123444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377440" cy="57835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A8A8A"/>
                </a:solidFill>
                <a:latin typeface="Calibri"/>
              </a:defRPr>
            </a:pPr>
            <a:r>
              <a:t>144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68296"/>
            <a:ext cx="2377440" cy="36804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Initial treatment passes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788920"/>
            <a:ext cx="237744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74720" y="1737360"/>
            <a:ext cx="2377440" cy="57835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-11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68296"/>
            <a:ext cx="2377440" cy="36804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Duplicate positives removed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74720" y="2788920"/>
            <a:ext cx="237744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1737360"/>
            <a:ext cx="2377440" cy="57835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133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68296"/>
            <a:ext cx="2377440" cy="36804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Audited treatment passes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9360" y="2788920"/>
            <a:ext cx="237744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0" y="1737360"/>
            <a:ext cx="2377440" cy="57835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368296"/>
            <a:ext cx="2377440" cy="36804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Denominator (unchanged)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0" y="2788920"/>
            <a:ext cx="237744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310896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0350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Implication for this review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Duplicate-record audit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 duplicate positive treatment records removed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144 - 11 = 133 passes; rate 72.0% to 66.5%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Denominators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Correct; 200 per group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 rates use fixed n = 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Statistical significance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claimed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 p-values are reported or implied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Confidence interval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reported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+8.5 pts is a point estimate only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Interpretation: a measured 8.5-point sample difference, not field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evidence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What this single-lab, single-batch screen can and cannot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383280" cy="365760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9260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+8.5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9260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Observed pass-rate difference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749039"/>
            <a:ext cx="2926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3977639"/>
            <a:ext cx="29260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Treatment 66.5% (133/200) vs control 58.0% (116/200)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45920"/>
            <a:ext cx="3589020" cy="3657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755648"/>
            <a:ext cx="336956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377440"/>
            <a:ext cx="3369564" cy="2816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In this sample, the treatment pass rate was 8.5 points higher, and durability at cycle 300 was 15 points higher (74% vs 59%).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9579" y="1645920"/>
            <a:ext cx="3589020" cy="3657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9307" y="1755648"/>
            <a:ext cx="336956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Not supported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9307" y="2377440"/>
            <a:ext cx="3369564" cy="2816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Broad field performance, statistical significance, or generalization beyond one lab and one batch.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32120"/>
            <a:ext cx="11155680" cy="59436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96128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Reading: same direction on both endpoints in this sample; replication is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Next step: replicate in 4 independent labs before any deployment claim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Recommended protocol for confirmation | a second batch is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86868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DECISION: No deployment claim now. Replicate with blinded scoring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43200"/>
            <a:ext cx="2583179" cy="2514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852928"/>
            <a:ext cx="23637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Replicate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474720"/>
            <a:ext cx="2363724" cy="1673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4 independent labs, blinded scoring of the strength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0420" y="2743200"/>
            <a:ext cx="2583179" cy="2514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0148" y="2852928"/>
            <a:ext cx="23637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Preserve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148" y="3474720"/>
            <a:ext cx="2363724" cy="1673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Keep a randomized control group in every lab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9" y="2743200"/>
            <a:ext cx="2583179" cy="2514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7" y="2852928"/>
            <a:ext cx="23637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Preregister exclusions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7" y="3474720"/>
            <a:ext cx="2363724" cy="1673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Fix exclusion rules before data collection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419" y="2743200"/>
            <a:ext cx="2583179" cy="2514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5147" y="2852928"/>
            <a:ext cx="23637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Record batch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5147" y="3474720"/>
            <a:ext cx="2363724" cy="1673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Log conditions for every batch tested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486400"/>
            <a:ext cx="73152" cy="64008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59552"/>
            <a:ext cx="10698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Gate: a second batch must be tested before any deployment claim is made.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