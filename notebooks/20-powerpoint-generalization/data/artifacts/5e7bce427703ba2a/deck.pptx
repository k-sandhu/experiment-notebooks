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808080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Lead-time demand</c:v>
                </c:pt>
                <c:pt idx="1">
                  <c:v>Safety stock</c:v>
                </c:pt>
                <c:pt idx="2">
                  <c:v>Reorder point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108</c:v>
                </c:pt>
                <c:pt idx="1">
                  <c:v>26</c:v>
                </c:pt>
                <c:pt idx="2">
                  <c:v>134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000000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808080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On-hand</c:v>
                </c:pt>
                <c:pt idx="1">
                  <c:v>On-order</c:v>
                </c:pt>
                <c:pt idx="2">
                  <c:v>Committed</c:v>
                </c:pt>
                <c:pt idx="3">
                  <c:v>Inventory position</c:v>
                </c:pt>
                <c:pt idx="4">
                  <c:v>Reorder point</c:v>
                </c:pt>
                <c:pt idx="5">
                  <c:v>Target position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126</c:v>
                </c:pt>
                <c:pt idx="1">
                  <c:v>20</c:v>
                </c:pt>
                <c:pt idx="2">
                  <c:v>17</c:v>
                </c:pt>
                <c:pt idx="3">
                  <c:v>129</c:v>
                </c:pt>
                <c:pt idx="4">
                  <c:v>134</c:v>
                </c:pt>
                <c:pt idx="5">
                  <c:v>234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000000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Inventory position</c:v>
                </c:pt>
              </c:strCache>
            </c:strRef>
          </c:tx>
          <c:spPr>
            <a:solidFill>
              <a:srgbClr val="000000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Worked example: ORDER</c:v>
                </c:pt>
                <c:pt idx="1">
                  <c:v>Practice: WAIT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129</c:v>
                </c:pt>
                <c:pt idx="1">
                  <c:v>146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Reorder point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Worked example: ORDER</c:v>
                </c:pt>
                <c:pt idx="1">
                  <c:v>Practice: WAIT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134</c:v>
                </c:pt>
                <c:pt idx="1">
                  <c:v>134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000000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08080"/>
                </a:solidFill>
                <a:latin typeface="Arial"/>
              </a:defRPr>
            </a:pPr>
            <a:r>
              <a:t>01 · LEARNING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0000"/>
                </a:solidFill>
                <a:latin typeface="Arial"/>
              </a:defRPr>
            </a:pPr>
            <a:r>
              <a:t>Inventory Reorder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04040"/>
                </a:solidFill>
                <a:latin typeface="Arial"/>
              </a:defRPr>
            </a:pPr>
            <a:r>
              <a:t>When and how to initiate a reorder: a reorder-point rule for junior warehouse staff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691640"/>
            <a:ext cx="11094415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920240"/>
            <a:ext cx="51206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Learning goal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5120640" cy="1234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Apply a simple reorder-point rule as a stockroom coordinator. We explain the logic, work through one example, then you complete a short practice exercise and check its answer.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749039"/>
            <a:ext cx="5120640" cy="146304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749039"/>
            <a:ext cx="73152" cy="14630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840480"/>
            <a:ext cx="47548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The one decision you will make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206240"/>
            <a:ext cx="475488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0000"/>
                </a:solidFill>
                <a:latin typeface="Arial"/>
              </a:defRPr>
            </a:pPr>
            <a:r>
              <a:t>Every daily review ends in exactly one outcome: ORDER (position at or below the trigger) or WAIT (position above it).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440680"/>
            <a:ext cx="51206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95959"/>
                </a:solidFill>
                <a:latin typeface="Arial"/>
              </a:defRPr>
            </a:pPr>
            <a:r>
              <a:t>All figures in this deck are synthetic and expressed in units, units/day or days.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920240"/>
            <a:ext cx="5470855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Session sequence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172200" y="2377440"/>
          <a:ext cx="5470855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3618"/>
                <a:gridCol w="1823618"/>
                <a:gridCol w="1823619"/>
              </a:tblGrid>
              <a:tr h="5486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Part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Slides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What you do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Logic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Learn the rule and its two formulas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Worked example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3–4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Compute reorder point and inventory position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Process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Follow the daily decision sequence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Practice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6–7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Decide ORDER or WAIT; check the answer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Checklist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Run four checks before ordering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Synthetic data for training  |  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08080"/>
                </a:solidFill>
                <a:latin typeface="Arial"/>
              </a:defRPr>
            </a:pPr>
            <a:r>
              <a:t>02 ·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The rule: two formulas, one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04040"/>
                </a:solidFill>
                <a:latin typeface="Arial"/>
              </a:defRPr>
            </a:pPr>
            <a:r>
              <a:t>Compute the trigger, compute what you effectively have, then compare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691640"/>
            <a:ext cx="11094415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48640" y="1920240"/>
            <a:ext cx="5394960" cy="109728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5029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95959"/>
                </a:solidFill>
                <a:latin typeface="Arial"/>
              </a:defRPr>
            </a:pPr>
            <a:r>
              <a:t>FORMULA 1 · TRIGGER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50292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Reorder point = daily demand × lead time (days) + safety stock</a:t>
            </a:r>
          </a:p>
        </p:txBody>
      </p:sp>
      <p:sp>
        <p:nvSpPr>
          <p:cNvPr id="9" name="Rectangle 8"/>
          <p:cNvSpPr/>
          <p:nvPr/>
        </p:nvSpPr>
        <p:spPr>
          <a:xfrm>
            <a:off x="6248095" y="1920240"/>
            <a:ext cx="5394960" cy="109728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0975" y="1965960"/>
            <a:ext cx="5029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95959"/>
                </a:solidFill>
                <a:latin typeface="Arial"/>
              </a:defRPr>
            </a:pPr>
            <a:r>
              <a:t>FORMULA 2 · WHAT YOU EFFECTIVELY HAVE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0975" y="2240280"/>
            <a:ext cx="50292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Inventory position = on-hand + on-order − committed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246120"/>
            <a:ext cx="11094415" cy="7772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91840"/>
            <a:ext cx="10728655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DECISION: place an order when inventory position ≤ reorder point. Otherwise, wait.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48640" y="4251960"/>
          <a:ext cx="11094415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2743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Term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Meaning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Unit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Role in formula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Daily demand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Average units used per day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units/day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× lead time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Lead time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Days from order to receipt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days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× daily demand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Safety stock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Buffer for demand or delay swings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 added once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On-hand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Units physically in stock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 add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On-order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Ordered, not yet received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 add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Committed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Promised, not yet shipped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− subtract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Synthetic data for training  |  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08080"/>
                </a:solidFill>
                <a:latin typeface="Arial"/>
              </a:defRPr>
            </a:pPr>
            <a:r>
              <a:t>03 · WORKED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Worked example: the reorder point is 134 units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04040"/>
                </a:solidFill>
                <a:latin typeface="Arial"/>
              </a:defRPr>
            </a:pPr>
            <a:r>
              <a:t>18 units/day × 6 days + 26 units = 134 units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691640"/>
            <a:ext cx="11094415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48640" y="1920240"/>
            <a:ext cx="2011680" cy="9144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18288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t>18 units/day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1828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04040"/>
                </a:solidFill>
                <a:latin typeface="Arial"/>
              </a:defRPr>
            </a:pPr>
            <a:r>
              <a:t>Daily demand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1920240"/>
            <a:ext cx="2011680" cy="9144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1965960"/>
            <a:ext cx="18288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t>6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423160"/>
            <a:ext cx="1828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04040"/>
                </a:solidFill>
                <a:latin typeface="Arial"/>
              </a:defRPr>
            </a:pPr>
            <a:r>
              <a:t>Lead 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1920240"/>
            <a:ext cx="2011680" cy="9144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1965960"/>
            <a:ext cx="18288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t>26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423160"/>
            <a:ext cx="1828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04040"/>
                </a:solidFill>
                <a:latin typeface="Arial"/>
              </a:defRPr>
            </a:pPr>
            <a:r>
              <a:t>Safety stock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48640" y="3063240"/>
          <a:ext cx="65836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Step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Arithmetic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Result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1. Lead-time demand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18 units/day × 6 days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108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2. Add safety stock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108 units + 26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134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3. Reorder point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Trigger level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134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Unit check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units/day × days =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548640" y="5532120"/>
            <a:ext cx="6583680" cy="64008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577840"/>
            <a:ext cx="630936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Safety stock is added once, after the multiplication. Result: trigger = 134 units.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1920240"/>
            <a:ext cx="4053535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Building the trigger (units)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7589520" y="2286000"/>
          <a:ext cx="4053535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Synthetic data for training  |  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08080"/>
                </a:solidFill>
                <a:latin typeface="Arial"/>
              </a:defRPr>
            </a:pPr>
            <a:r>
              <a:t>04 · INVENTORY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Position 129 is below the trigger 134: ORDER 105 units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04040"/>
                </a:solidFill>
                <a:latin typeface="Arial"/>
              </a:defRPr>
            </a:pPr>
            <a:r>
              <a:t>Count on-order stock and subtract committed units before comparing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691640"/>
            <a:ext cx="11094415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920240"/>
          <a:ext cx="60350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Component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Value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Operation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On-hand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126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Start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On-order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20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 add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Committed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17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− subtract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Inventory position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129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126 + 20 − 17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4434840"/>
            <a:ext cx="6035040" cy="7772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566928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129 ≤ 134 → ORDER (5 units below the trigger)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394960"/>
            <a:ext cx="6035040" cy="77724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440680"/>
            <a:ext cx="566928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Order quantity = target position − inventory position = 234 − 129 = 105 units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920240"/>
            <a:ext cx="4693615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Quantities compared (units)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949440" y="2286000"/>
          <a:ext cx="4693615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Synthetic data for training  |  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08080"/>
                </a:solidFill>
                <a:latin typeface="Arial"/>
              </a:defRPr>
            </a:pPr>
            <a:r>
              <a:t>05 ·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The daily decision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04040"/>
                </a:solidFill>
                <a:latin typeface="Arial"/>
              </a:defRPr>
            </a:pPr>
            <a:r>
              <a:t>Read → calculate → compare → ORDER or WAIT; WAIT returns to the next daily review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691640"/>
            <a:ext cx="11094415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48640" y="2286000"/>
            <a:ext cx="2286000" cy="1143000"/>
          </a:xfrm>
          <a:prstGeom prst="rect">
            <a:avLst/>
          </a:prstGeom>
          <a:solidFill>
            <a:srgbClr val="EDEDED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210312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1  Read counts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On-hand 126, on-order 20, committed 17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2286000"/>
            <a:ext cx="2286000" cy="1143000"/>
          </a:xfrm>
          <a:prstGeom prst="rect">
            <a:avLst/>
          </a:prstGeom>
          <a:solidFill>
            <a:srgbClr val="EDEDED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2331720"/>
            <a:ext cx="210312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2  Calculate position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126 + 20 − 17 = 129 units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2286000"/>
            <a:ext cx="2286000" cy="1143000"/>
          </a:xfrm>
          <a:prstGeom prst="rect">
            <a:avLst/>
          </a:prstGeom>
          <a:solidFill>
            <a:srgbClr val="EDEDED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2331720"/>
            <a:ext cx="210312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3  Compare with reorder point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Is 129 ≤ 134?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06840" y="1783080"/>
            <a:ext cx="2636215" cy="1143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1828800"/>
            <a:ext cx="2453335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ORDER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At or below 134. Order 234 − 129 = 105 units.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06840" y="3657600"/>
            <a:ext cx="2636215" cy="1143000"/>
          </a:xfrm>
          <a:prstGeom prst="rect">
            <a:avLst/>
          </a:prstGeom>
          <a:solidFill>
            <a:srgbClr val="D9D9D9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3703320"/>
            <a:ext cx="2453335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WAIT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Above 134. No order; re-check at the next daily review.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834640" y="2857500"/>
            <a:ext cx="4572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577840" y="2857500"/>
            <a:ext cx="4572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321040" y="2857500"/>
            <a:ext cx="36576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686800" y="2354580"/>
            <a:ext cx="0" cy="187452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686800" y="2354580"/>
            <a:ext cx="32004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686800" y="4229100"/>
            <a:ext cx="32004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323576" y="4800600"/>
            <a:ext cx="0" cy="32004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691640" y="5120640"/>
            <a:ext cx="8631936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691640" y="3429000"/>
            <a:ext cx="0" cy="169164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223760" y="1874519"/>
            <a:ext cx="13716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Yes: ≤ 134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3611880"/>
            <a:ext cx="13716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No: &gt; 134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212080"/>
            <a:ext cx="83210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04040"/>
                </a:solidFill>
                <a:latin typeface="Arial"/>
              </a:defRPr>
            </a:pPr>
            <a:r>
              <a:t>WAIT loop: return to step 1 at the next daily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Synthetic data for training  |  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08080"/>
                </a:solidFill>
                <a:latin typeface="Arial"/>
              </a:defRPr>
            </a:pPr>
            <a:r>
              <a:t>06 ·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Practice: ORDER or WAIT?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04040"/>
                </a:solidFill>
                <a:latin typeface="Arial"/>
              </a:defRPr>
            </a:pPr>
            <a:r>
              <a:t>Use the comparison from slide 2; the answer is revealed on the next slide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691640"/>
            <a:ext cx="11094415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48640" y="1920240"/>
            <a:ext cx="3474720" cy="118872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320040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146 units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06040"/>
            <a:ext cx="3200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04040"/>
                </a:solidFill>
                <a:latin typeface="Arial"/>
              </a:defRPr>
            </a:pPr>
            <a:r>
              <a:t>Inventory position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920240"/>
            <a:ext cx="3474720" cy="118872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965960"/>
            <a:ext cx="320040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134 units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606040"/>
            <a:ext cx="3200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04040"/>
                </a:solidFill>
                <a:latin typeface="Arial"/>
              </a:defRPr>
            </a:pPr>
            <a:r>
              <a:t>Reorder point (trigger)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920240"/>
            <a:ext cx="3596335" cy="11887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1965960"/>
            <a:ext cx="3322015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Rule reminder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Arial"/>
              </a:defRPr>
            </a:pPr>
            <a:r>
              <a:t>ORDER only when inventory position ≤ reorder point.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48640" y="3383280"/>
          <a:ext cx="1109441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Step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Your work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Unit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1. Compare position with trigger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146  ?  134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2. Gap (position − trigger)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________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3. Decision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ORDER  /  WAIT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548640" y="5440680"/>
            <a:ext cx="11094415" cy="73152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486400"/>
            <a:ext cx="10728655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Your task: write the gap in units and circle ORDER or WAIT. Answer revealed on slide 7.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Synthetic data for training  |  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08080"/>
                </a:solidFill>
                <a:latin typeface="Arial"/>
              </a:defRPr>
            </a:pPr>
            <a:r>
              <a:t>07 · ANSWER AND MISCONCEPTIONS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Answer: WAIT. Then avoid three common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04040"/>
                </a:solidFill>
                <a:latin typeface="Arial"/>
              </a:defRPr>
            </a:pPr>
            <a:r>
              <a:t>Each error changes the comparison or the quantity ordered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691640"/>
            <a:ext cx="11094415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48640" y="1920240"/>
            <a:ext cx="11094415" cy="9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10728655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Practice answer: WAIT. 146 − 134 = 12 units above the trigger, so no order today; re-check at the next daily review.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3063240"/>
          <a:ext cx="70408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6960"/>
                <a:gridCol w="2346960"/>
                <a:gridCol w="2346960"/>
              </a:tblGrid>
              <a:tr h="7772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Misconception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Why it is wrong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Correct practice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Comparing on-hand alone with the trigger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Ignores stock on order and units already committed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Compare inventory position: 126 + 20 − 17 = 129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Multiplying safety stock by lead time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Inflates the buffer: 26 × 6 = 156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Add safety stock once: 18 × 6 + 26 = 134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Treating a larger reorder point as the order size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134 is a trigger, not an order quantity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Order target − position: 234 − 129 = 105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863840" y="3063240"/>
            <a:ext cx="3779215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Position vs. trigger (units)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863840" y="3429000"/>
          <a:ext cx="3779215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Synthetic data for training  |  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08080"/>
                </a:solidFill>
                <a:latin typeface="Arial"/>
              </a:defRPr>
            </a:pPr>
            <a:r>
              <a:t>08 ·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Before ordering: four checks, in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04040"/>
                </a:solidFill>
                <a:latin typeface="Arial"/>
              </a:defRPr>
            </a:pPr>
            <a:r>
              <a:t>Verify units, include existing orders, subtract commitments, then check the trigger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691640"/>
            <a:ext cx="11094415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920240"/>
          <a:ext cx="1109441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43891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Check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Question to ask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Example (slides 3–4)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1. Verify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Demand in units/day, lead time in days?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18 units/day × 6 days = 108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2. Include existing orders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Did I add on-order stock?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126 + 20 = 146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3. Subtract commitments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Did I subtract committed units?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146 − 17 = 129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4. Check the trigger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Is position ≤ reorder point?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129 ≤ 134 → ORDER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251960"/>
            <a:ext cx="11094415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Number line: where each inventory position falls (units)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5074920"/>
            <a:ext cx="5872276" cy="36576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914400" y="5257800"/>
            <a:ext cx="10362895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14400" y="5166360"/>
            <a:ext cx="0" cy="18288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369003" y="5166360"/>
            <a:ext cx="0" cy="18288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823606" y="5166360"/>
            <a:ext cx="0" cy="18288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277295" y="5166360"/>
            <a:ext cx="0" cy="18288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7200" y="5440680"/>
            <a:ext cx="914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95959"/>
                </a:solidFill>
                <a:latin typeface="Arial"/>
              </a:defRPr>
            </a:pPr>
            <a: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11803" y="5440680"/>
            <a:ext cx="914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95959"/>
                </a:solidFill>
                <a:latin typeface="Arial"/>
              </a:defRPr>
            </a:pPr>
            <a:r>
              <a:t>120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6406" y="5440680"/>
            <a:ext cx="914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95959"/>
                </a:solidFill>
                <a:latin typeface="Arial"/>
              </a:defRPr>
            </a:pPr>
            <a:r>
              <a:t>140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5440680"/>
            <a:ext cx="914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95959"/>
                </a:solidFill>
                <a:latin typeface="Arial"/>
              </a:defRPr>
            </a:pPr>
            <a:r>
              <a:t>160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786676" y="4709160"/>
            <a:ext cx="0" cy="960120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872276" y="5715000"/>
            <a:ext cx="18288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Trigger 134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23483" y="4892040"/>
            <a:ext cx="0" cy="365760"/>
          </a:xfrm>
          <a:prstGeom prst="line">
            <a:avLst/>
          </a:prstGeom>
          <a:ln w="254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840480" y="4617720"/>
            <a:ext cx="2011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Example 129 → ORDER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859621" y="4892040"/>
            <a:ext cx="0" cy="365760"/>
          </a:xfrm>
          <a:prstGeom prst="line">
            <a:avLst/>
          </a:prstGeom>
          <a:ln w="254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915400" y="4617720"/>
            <a:ext cx="2286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Practice 146 → WAIT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897880"/>
            <a:ext cx="3657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04040"/>
                </a:solidFill>
                <a:latin typeface="Arial"/>
              </a:defRPr>
            </a:pPr>
            <a:r>
              <a:t>ORDER zone: at or below 134 (shaded)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76895" y="5897880"/>
            <a:ext cx="3200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04040"/>
                </a:solidFill>
                <a:latin typeface="Arial"/>
              </a:defRPr>
            </a:pPr>
            <a:r>
              <a:t>WAIT zone: above 134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Synthetic data for training  |  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