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output</c:v>
                </c:pt>
              </c:strCache>
            </c:strRef>
          </c:tx>
          <c:spPr>
            <a:ln w="38100">
              <a:solidFill>
                <a:srgbClr val="009E6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740</c:v>
                </c:pt>
                <c:pt idx="1">
                  <c:v>780</c:v>
                </c:pt>
                <c:pt idx="2">
                  <c:v>1120</c:v>
                </c:pt>
                <c:pt idx="3">
                  <c:v>1220</c:v>
                </c:pt>
                <c:pt idx="4">
                  <c:v>1110</c:v>
                </c:pt>
                <c:pt idx="5">
                  <c:v>910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38100">
              <a:solidFill>
                <a:srgbClr val="FF5252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($k)</c:v>
                </c:pt>
              </c:strCache>
            </c:strRef>
          </c:tx>
          <c:spPr>
            <a:ln w="38100">
              <a:solidFill>
                <a:srgbClr val="009E60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Downside</c:v>
                </c:pt>
                <c:pt idx="1">
                  <c:v>Base</c:v>
                </c:pt>
                <c:pt idx="2">
                  <c:v>Upside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138.4</c:v>
                </c:pt>
                <c:pt idx="1">
                  <c:v>173</c:v>
                </c:pt>
                <c:pt idx="2">
                  <c:v>207.6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01  • 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92608"/>
            <a:ext cx="21305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EXECUTIVE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E0E0E0"/>
                </a:solidFill>
                <a:latin typeface="Calibri"/>
              </a:defRPr>
            </a:pPr>
            <a:r>
              <a:t>Select option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36192"/>
            <a:ext cx="1109167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Strategic equipment procurement  —  the recommended path and its headline economics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084831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2395728"/>
            <a:ext cx="2633472" cy="1810512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78608"/>
            <a:ext cx="2267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INVESTMENT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22677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0E0E0"/>
                </a:solidFill>
                <a:latin typeface="Calibri"/>
              </a:defRPr>
            </a:pPr>
            <a:r>
              <a:t>$528k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39312"/>
            <a:ext cx="22677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upfront capital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2" y="2395728"/>
            <a:ext cx="2633472" cy="1810512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2578608"/>
            <a:ext cx="2267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ANNUAL SAVING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926080"/>
            <a:ext cx="22677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0E0E0"/>
                </a:solidFill>
                <a:latin typeface="Calibri"/>
              </a:defRPr>
            </a:pPr>
            <a:r>
              <a:t>$173k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639312"/>
            <a:ext cx="22677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per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2395728"/>
            <a:ext cx="2633472" cy="1810512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578608"/>
            <a:ext cx="2267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SIMPLE PAYBACK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926080"/>
            <a:ext cx="22677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3.1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639312"/>
            <a:ext cx="22677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528 ÷ 173 = 3.05 ≈ 3.1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7696" y="2395728"/>
            <a:ext cx="2642616" cy="181051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6" y="2578608"/>
            <a:ext cx="22768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THREE-YEAR 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926080"/>
            <a:ext cx="2276856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A1A1A"/>
                </a:solidFill>
                <a:latin typeface="Calibri"/>
              </a:defRPr>
            </a:pPr>
            <a:r>
              <a:t>−$9k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3639312"/>
            <a:ext cx="227685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3 × 173 − 528 = −9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617720"/>
            <a:ext cx="11091672" cy="868680"/>
          </a:xfrm>
          <a:prstGeom prst="rect">
            <a:avLst/>
          </a:prstGeom>
          <a:solidFill>
            <a:srgbClr val="20202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73168"/>
            <a:ext cx="106344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Decision:  proceed with option C — subject to the Week-10 gate on slide 7.  Break-even falls just beyond year 3 on base-case savings.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All data are synthetic.  Amounts in $k unless stated otherwise.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02  • 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Three paths — option C selected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Option C carries the highest investment, annual saving and reference uptime of the three paths.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55648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B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C  —  SELECTED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214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366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528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Annual saving ($k / year)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173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Uptime (%) — reference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Simple payback (years) = investment ÷ saving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3.1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Three-year net ($k) = 3 × saving − investment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+23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−9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983480"/>
            <a:ext cx="3547872" cy="105156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31821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A: lowest cost, fastest payback — lowest reference uptime (97.8%).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4983480"/>
            <a:ext cx="3547872" cy="105156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5120640"/>
            <a:ext cx="31821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B: mid-point on every metric. Breaks even exactly at year 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4983480"/>
            <a:ext cx="3547872" cy="10515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5120640"/>
            <a:ext cx="31821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C — SELECTED: highest saving ($173k/yr) and reference uptime (99.9%).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Reference options stay unchanged.  Payback and three-year net are computed from the figures above.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474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03  • 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Output trails target by 720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Six months of output against a flat 1,100-unit monthly target.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55648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01952"/>
            <a:ext cx="6858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Monthly output vs target (units)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267712"/>
          <a:ext cx="685800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0" y="2267712"/>
            <a:ext cx="3867912" cy="987552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377440"/>
            <a:ext cx="350215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ACTUAL 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5,880 units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401568"/>
            <a:ext cx="3867912" cy="987552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511296"/>
            <a:ext cx="350215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TARGET 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6,600 units  (6 × 1,100)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535424"/>
            <a:ext cx="3867912" cy="9875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4645152"/>
            <a:ext cx="350215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SHORTFALL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720 units  •  89.1% of target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solidFill>
            <a:srgbClr val="20202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33872"/>
            <a:ext cx="106344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M3 (1,120), M4 (1,220) and M5 (1,110) met the 1,100-unit target.  Shortfall = 6,600 − 5,880 = 720 units.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Units: equipment output per month.  All data are synthetic.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04  • 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Option C: base case just short at year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Sensitivity of the $173k annual saving at 80% / 100% / 120%  —  investment held at $528k.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55648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01952"/>
            <a:ext cx="5394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Annual saving by scenario ($k / year)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267712"/>
          <a:ext cx="53949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267712"/>
          <a:ext cx="53309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738"/>
                <a:gridCol w="1332738"/>
                <a:gridCol w="1332738"/>
                <a:gridCol w="133273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Payback (yrs)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Downside (80%)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138.4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3.82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−112.8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Base (100%)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173.0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3.05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−9.0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Upside (120%)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207.6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2.54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+94.8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309360" y="4480560"/>
            <a:ext cx="5330952" cy="82296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590288"/>
            <a:ext cx="496519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Payback = 528 ÷ saving      •      Three-year net = 3 × saving − 528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532120"/>
            <a:ext cx="11091672" cy="685800"/>
          </a:xfrm>
          <a:prstGeom prst="rect">
            <a:avLst/>
          </a:prstGeom>
          <a:solidFill>
            <a:srgbClr val="20202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641848"/>
            <a:ext cx="1063447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Reading:  at 80% of expected saving the 3-year net is −$112.8k (payback 3.82 yrs); at base case −$9.0k (3.05 yrs); at 120% it is +$94.8k (2.54 yrs).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Scenarios are 80% / 100% / 120% of $173k.  All data are synthetic.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05  • 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West is above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Daily demand against installed capacity by site.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55648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74980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/>
                <a:gridCol w="1249679"/>
                <a:gridCol w="1249679"/>
                <a:gridCol w="1249679"/>
                <a:gridCol w="1249679"/>
                <a:gridCol w="1249684"/>
              </a:tblGrid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Demand / day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Capacity / day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Headroom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Utilization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236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98.3%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294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94.8%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102.4%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ABOVE CAPACITY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321040" y="1965960"/>
            <a:ext cx="3319272" cy="2377440"/>
          </a:xfrm>
          <a:prstGeom prst="rect">
            <a:avLst/>
          </a:prstGeom>
          <a:solidFill>
            <a:srgbClr val="262626"/>
          </a:solidFill>
          <a:ln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148840"/>
            <a:ext cx="2953512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⚠  WEST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Demand exceeds capacity by 8 per day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338 − 330 =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17720"/>
            <a:ext cx="5440680" cy="105156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5074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Network total: demand 868 vs capacity 880 / day (+12) — the total masks the West constraint.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4617720"/>
            <a:ext cx="5440680" cy="105156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754880"/>
            <a:ext cx="5074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Headroom = capacity − demand.  Utilization = demand ÷ capacity.  North has only 4 / day spare.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Units: units per day.  All data are synthetic.  West must be resolved before capacity validation can pass (slide 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06  •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14-week roadmap, gate at week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Technical and People lanes run in parallel after Build.  Both Validate and Train feed the gate.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55648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20240" y="1901952"/>
            <a:ext cx="9409176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Week 1                                                              Week 10  =  GATE                                     Week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87168"/>
            <a:ext cx="12801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58768"/>
            <a:ext cx="12801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PEOPLE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331720"/>
            <a:ext cx="1344168" cy="86868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487168"/>
            <a:ext cx="1161288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Wk 1–2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2331720"/>
            <a:ext cx="2020824" cy="86868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2487168"/>
            <a:ext cx="1837943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Wk 3–5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85232" y="2331720"/>
            <a:ext cx="2011680" cy="86868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6672" y="2487168"/>
            <a:ext cx="18288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Wk 6–8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85232" y="3703320"/>
            <a:ext cx="2011680" cy="86868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6672" y="3858768"/>
            <a:ext cx="18288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Wk 6–8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73568" y="2331720"/>
            <a:ext cx="667512" cy="224028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82712" y="2971800"/>
            <a:ext cx="649224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Wk 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1080" y="2331720"/>
            <a:ext cx="2688336" cy="86868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2487168"/>
            <a:ext cx="250545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Wk 11–14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96912" y="2761488"/>
            <a:ext cx="676656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296912" y="4133087"/>
            <a:ext cx="676656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285232" y="3200400"/>
            <a:ext cx="0" cy="50292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48640" y="5074920"/>
            <a:ext cx="11091672" cy="777240"/>
          </a:xfrm>
          <a:prstGeom prst="rect">
            <a:avLst/>
          </a:prstGeom>
          <a:solidFill>
            <a:srgbClr val="20202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93792"/>
            <a:ext cx="106344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Sequence:  Design → Build → (Validate ∥ Train, weeks 6–8) → Gate (week 10) → Rollout (weeks 11–14).  No rollout before the gate decision.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Bars are positioned to week scale (weeks 1–14).  All data are synthetic.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07  • 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GO only if every criterion passes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Week-10 gate criteria — all three must be met.  Otherwise the decision is HOLD.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55648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2057400"/>
            <a:ext cx="6217920" cy="91440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5760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1  •  Uptime at least 99.6%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Measured operational uptime — threshold: ≥ 99.6%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6217920" cy="91440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5760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2  •  All sites pass capacity validation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North, East and West — no site above capacity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51960"/>
            <a:ext cx="6217920" cy="91440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5760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3  •  Training AND validation both finish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Both parallel tracks complete (weeks 6–8)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66560" y="3566160"/>
            <a:ext cx="822960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589520" y="2057400"/>
            <a:ext cx="4050791" cy="141732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240280"/>
            <a:ext cx="368503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Calibri"/>
              </a:defRPr>
            </a:pPr>
            <a:r>
              <a:t>GO  →  Rollout (Wk 11–14)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Calibri"/>
              </a:defRPr>
            </a:pPr>
            <a:r>
              <a:t>only if 1 AND 2 AND 3 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3703320"/>
            <a:ext cx="4050791" cy="1463040"/>
          </a:xfrm>
          <a:prstGeom prst="rect">
            <a:avLst/>
          </a:prstGeom>
          <a:solidFill>
            <a:srgbClr val="262626"/>
          </a:solidFill>
          <a:ln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13632"/>
            <a:ext cx="368503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HOLD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if any criterion fails or is unproven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solidFill>
            <a:srgbClr val="20202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50408"/>
            <a:ext cx="106344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Caveat:  reference uptime is not proof of operational performance.  Option C's 99.9% reference figure does not by itself establish the ≥ 99.6% gate — measured evidence is required.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Gate at week 10, before rollout weeks 11–14.  All data are synthetic.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08  • 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Two risks, mitigations assigned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Likelihood (x) and impact (y), each scored 1–5.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55648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54480" y="1874519"/>
            <a:ext cx="44805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Impact ↑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194560"/>
            <a:ext cx="4480560" cy="3566160"/>
          </a:xfrm>
          <a:prstGeom prst="rect">
            <a:avLst/>
          </a:prstGeom>
          <a:solidFill>
            <a:srgbClr val="20202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450592" y="2194560"/>
            <a:ext cx="0" cy="3566160"/>
          </a:xfrm>
          <a:prstGeom prst="line">
            <a:avLst/>
          </a:prstGeom>
          <a:ln w="9525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46704" y="2194560"/>
            <a:ext cx="0" cy="3566160"/>
          </a:xfrm>
          <a:prstGeom prst="line">
            <a:avLst/>
          </a:prstGeom>
          <a:ln w="9525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42816" y="2194560"/>
            <a:ext cx="0" cy="3566160"/>
          </a:xfrm>
          <a:prstGeom prst="line">
            <a:avLst/>
          </a:prstGeom>
          <a:ln w="9525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38928" y="2194560"/>
            <a:ext cx="0" cy="3566160"/>
          </a:xfrm>
          <a:prstGeom prst="line">
            <a:avLst/>
          </a:prstGeom>
          <a:ln w="9525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54480" y="2907792"/>
            <a:ext cx="4480560" cy="0"/>
          </a:xfrm>
          <a:prstGeom prst="line">
            <a:avLst/>
          </a:prstGeom>
          <a:ln w="9525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554480" y="3621024"/>
            <a:ext cx="4480560" cy="0"/>
          </a:xfrm>
          <a:prstGeom prst="line">
            <a:avLst/>
          </a:prstGeom>
          <a:ln w="9525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554480" y="4334256"/>
            <a:ext cx="4480560" cy="0"/>
          </a:xfrm>
          <a:prstGeom prst="line">
            <a:avLst/>
          </a:prstGeom>
          <a:ln w="9525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54480" y="5047488"/>
            <a:ext cx="4480560" cy="0"/>
          </a:xfrm>
          <a:prstGeom prst="line">
            <a:avLst/>
          </a:prstGeom>
          <a:ln w="9525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53712" y="3840480"/>
            <a:ext cx="365760" cy="3657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904487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1488" y="3127248"/>
            <a:ext cx="365760" cy="3657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1488" y="3191256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833872"/>
            <a:ext cx="44805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1            2            3            4            5     Likelihood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240280"/>
            <a:ext cx="457200" cy="3474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1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92240" y="2194560"/>
          <a:ext cx="514807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614"/>
                <a:gridCol w="1029614"/>
                <a:gridCol w="1029614"/>
                <a:gridCol w="1029614"/>
                <a:gridCol w="1029616"/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 × I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 — Supplier delay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Pre-order critical parts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 — Training gap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Supervised practice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6492240" y="4343400"/>
            <a:ext cx="5148072" cy="141732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480560"/>
            <a:ext cx="4782312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Priority:  Supplier delay scores highest (4 × 3 = 12) — act first with pre-orders.  Training gap (2 × 4 = 8) is lower-likelihood but higher impact if it occurs.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L = likelihood (1–5), I = impact (1–5), plotted at (L, I):  S = (4, 3),  T = (2, 4).  All data are synthetic.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