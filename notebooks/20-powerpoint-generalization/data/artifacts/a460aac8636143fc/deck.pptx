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THE STOCKROOM FIELD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59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4A3B2A"/>
                </a:solidFill>
                <a:latin typeface="Georgia"/>
              </a:defRPr>
            </a:pPr>
            <a:r>
              <a:t>Know when it is time to reorder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737360"/>
            <a:ext cx="93543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A simple rule for new stockroom coordinators—one you can apply during every shift.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88920"/>
            <a:ext cx="10543032" cy="237744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090672"/>
            <a:ext cx="2834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01  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30752"/>
            <a:ext cx="28346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Learn the trigger and the stock measure to compare with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090672"/>
            <a:ext cx="2834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02  Work it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730752"/>
            <a:ext cx="28346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Follow one item from daily demand to the quantity to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090672"/>
            <a:ext cx="3200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03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730752"/>
            <a:ext cx="28346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Make a reorder decision, then check your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468112"/>
            <a:ext cx="99212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Your goal: calculate the position, check the trigger,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choose ORDER or WAIT.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6455664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All data are synthetic.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37376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THE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Calculate two numbers. Compare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43032" cy="123444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84248"/>
            <a:ext cx="2057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1. Set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reorder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984248"/>
            <a:ext cx="7635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A3B2A"/>
                </a:solidFill>
                <a:latin typeface="Georgia"/>
              </a:defRPr>
            </a:pPr>
            <a:r>
              <a:t>Reorder point = daily demand × lead time in days + safety stock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9966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Demand during the wait uses stock. Safety stock adds a buffer.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The result is an ordering trigger in units.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31920"/>
            <a:ext cx="10543032" cy="105156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087368"/>
            <a:ext cx="2057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2. Find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4087368"/>
            <a:ext cx="7635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Inventory position = on-hand + on-order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− committed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285232"/>
            <a:ext cx="10543032" cy="8686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431536"/>
            <a:ext cx="9966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8E7"/>
                </a:solidFill>
                <a:latin typeface="Georgia"/>
              </a:defRPr>
            </a:pPr>
            <a:r>
              <a:t>ORDER when inventory position ≤ reorder point.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8E7"/>
                </a:solidFill>
                <a:latin typeface="Georgia"/>
              </a:defRPr>
            </a:pPr>
            <a:r>
              <a:t>Otherwise, WAIT.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6455664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≤ means less than or equal to.  •  All data are synthetic.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37376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WORKED EXAMPLE  /  THE TRIGGER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Build the reorder point, step by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3246120" cy="11430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2788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DAILY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2788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19 units/day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1416" y="1783080"/>
            <a:ext cx="3246120" cy="11430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1920240"/>
            <a:ext cx="2788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LEAD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331720"/>
            <a:ext cx="2788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5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783080"/>
            <a:ext cx="3246120" cy="11430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920240"/>
            <a:ext cx="2788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SAFETY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331720"/>
            <a:ext cx="2788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28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29000"/>
            <a:ext cx="6400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C45B3A"/>
                </a:solidFill>
                <a:latin typeface="Georgia"/>
              </a:defRPr>
            </a:pPr>
            <a:r>
              <a:t>STEP 1  Cover demand during the lead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6400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A3B2A"/>
                </a:solidFill>
                <a:latin typeface="Georgia"/>
              </a:defRPr>
            </a:pPr>
            <a:r>
              <a:t>19 units/day × 5 days = 95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6400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C45B3A"/>
                </a:solidFill>
                <a:latin typeface="Georgia"/>
              </a:defRPr>
            </a:pPr>
            <a:r>
              <a:t>STEP 2  Add the safety stock once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66360"/>
            <a:ext cx="6400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A3B2A"/>
                </a:solidFill>
                <a:latin typeface="Georgia"/>
              </a:defRPr>
            </a:pPr>
            <a:r>
              <a:t>95 units + 28 units = 123 units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383280"/>
            <a:ext cx="3593592" cy="251460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639312"/>
            <a:ext cx="3017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8E7"/>
                </a:solidFill>
                <a:latin typeface="Georgia"/>
              </a:defRPr>
            </a:pPr>
            <a:r>
              <a:t>REORDER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206240"/>
            <a:ext cx="30175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FFF8E7"/>
                </a:solidFill>
                <a:latin typeface="Georgia"/>
              </a:defRPr>
            </a:pPr>
            <a:r>
              <a:t>123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074920"/>
            <a:ext cx="30175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8E7"/>
                </a:solidFill>
                <a:latin typeface="Georgia"/>
              </a:defRPr>
            </a:pPr>
            <a:r>
              <a:t>This is the trigger for ordering.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6455664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All data are synthetic.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37376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WORKED EXAMPLE  /  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4A3B2A"/>
                </a:solidFill>
                <a:latin typeface="Georgia"/>
              </a:defRPr>
            </a:pPr>
            <a:r>
              <a:t>Use the full inventory position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783080"/>
          <a:ext cx="47091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</a:tblGrid>
              <a:tr h="58293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Stock measure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115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20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4389120"/>
            <a:ext cx="47091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Include the 20 units already ordered; subtract the 17 units committed.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40680"/>
            <a:ext cx="47091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C45B3A"/>
                </a:solidFill>
                <a:latin typeface="Georgia"/>
              </a:defRPr>
            </a:pPr>
            <a:r>
              <a:t>123 units is the trigger.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C45B3A"/>
                </a:solidFill>
                <a:latin typeface="Georgia"/>
              </a:defRPr>
            </a:pPr>
            <a:r>
              <a:t>105 units is the order quantity.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783080"/>
            <a:ext cx="5330952" cy="233172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993392"/>
            <a:ext cx="47823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INVENTORY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578608"/>
            <a:ext cx="478231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A3B2A"/>
                </a:solidFill>
                <a:latin typeface="Georgia"/>
              </a:defRPr>
            </a:pPr>
            <a:r>
              <a:t>115 + 20 − 17 = 118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291840"/>
            <a:ext cx="478231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45B3A"/>
                </a:solidFill>
                <a:latin typeface="Georgia"/>
              </a:defRPr>
            </a:pPr>
            <a:r>
              <a:t>118 &lt; 123 units →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4389120"/>
            <a:ext cx="5330952" cy="1691640"/>
          </a:xfrm>
          <a:prstGeom prst="roundRect">
            <a:avLst/>
          </a:prstGeom>
          <a:solidFill>
            <a:srgbClr val="E9D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553712"/>
            <a:ext cx="47823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TARGET POSITION: 223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074920"/>
            <a:ext cx="47823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223 − 118 = 105 units to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623560"/>
            <a:ext cx="47823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Check: 118 + 105 = 223 units.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6455664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All counts and calculations are in units.  •  All data are synthetic.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37376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THE DAILY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Follow the decision from counts to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788920" cy="13716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993392"/>
            <a:ext cx="2386584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1. Read counts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On-hand, on-order,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committed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03320" y="2514600"/>
            <a:ext cx="54864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51960" y="1828800"/>
            <a:ext cx="3383280" cy="13716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993392"/>
            <a:ext cx="2962656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2. Calculate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On-hand + on-order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− committed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35240" y="2514600"/>
            <a:ext cx="64008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75320" y="1828800"/>
            <a:ext cx="3136392" cy="1371600"/>
          </a:xfrm>
          <a:prstGeom prst="roundRect">
            <a:avLst/>
          </a:prstGeom>
          <a:solidFill>
            <a:srgbClr val="E9D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993392"/>
            <a:ext cx="2715768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3. Compare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Position with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reorder point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848088" y="3200400"/>
            <a:ext cx="0" cy="36576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3566160"/>
            <a:ext cx="3904488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3566160"/>
            <a:ext cx="0" cy="91440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48088" y="3566160"/>
            <a:ext cx="0" cy="91440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251960" y="3776472"/>
            <a:ext cx="3383280" cy="4572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3822191"/>
            <a:ext cx="3291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At or below the trigger (≤)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3776472"/>
            <a:ext cx="3136392" cy="4572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3822191"/>
            <a:ext cx="299008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Above the trigger (&gt;)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4480560"/>
            <a:ext cx="3383280" cy="114300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4645152"/>
            <a:ext cx="29260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8E7"/>
                </a:solidFill>
                <a:latin typeface="Georgia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8E7"/>
                </a:solidFill>
                <a:latin typeface="Georgia"/>
              </a:defRPr>
            </a:pPr>
            <a:r>
              <a:t>Use the target to size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480560"/>
            <a:ext cx="3136392" cy="11430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4645152"/>
            <a:ext cx="267919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Review again next day.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48088" y="5623560"/>
            <a:ext cx="0" cy="411480"/>
          </a:xfrm>
          <a:prstGeom prst="line">
            <a:avLst/>
          </a:prstGeom>
          <a:ln w="19050">
            <a:solidFill>
              <a:srgbClr val="766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304288" y="6035040"/>
            <a:ext cx="7543800" cy="0"/>
          </a:xfrm>
          <a:prstGeom prst="line">
            <a:avLst/>
          </a:prstGeom>
          <a:ln w="19050">
            <a:solidFill>
              <a:srgbClr val="766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304288" y="3200400"/>
            <a:ext cx="0" cy="2834640"/>
          </a:xfrm>
          <a:prstGeom prst="line">
            <a:avLst/>
          </a:prstGeom>
          <a:ln w="19050">
            <a:solidFill>
              <a:srgbClr val="766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097280" y="4160520"/>
            <a:ext cx="2423160" cy="109728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4251960"/>
            <a:ext cx="2276856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76644E"/>
                </a:solidFill>
                <a:latin typeface="Georgia"/>
              </a:defRPr>
            </a:pPr>
            <a:r>
              <a:t>Return to step 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76644E"/>
                </a:solidFill>
                <a:latin typeface="Georgia"/>
              </a:defRPr>
            </a:pPr>
            <a:r>
              <a:t>at the next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76644E"/>
                </a:solidFill>
                <a:latin typeface="Georgia"/>
              </a:defRPr>
            </a:pPr>
            <a:r>
              <a:t>daily review.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55664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All data are synthetic.                                                           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4A3B2A"/>
                </a:solidFill>
                <a:latin typeface="Georgia"/>
              </a:defRPr>
            </a:pPr>
            <a:r>
              <a:t>Would you order today?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19072"/>
            <a:ext cx="981151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The inventory position has already been calculated.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Use it to make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697480"/>
            <a:ext cx="4663440" cy="164592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2926080"/>
            <a:ext cx="4023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INVENTORY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429000"/>
            <a:ext cx="4023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4A3B2A"/>
                </a:solidFill>
                <a:latin typeface="Georgia"/>
              </a:defRPr>
            </a:pPr>
            <a:r>
              <a:t>135 units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2697480"/>
            <a:ext cx="4663440" cy="164592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2926080"/>
            <a:ext cx="4023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REORDER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2" y="3429000"/>
            <a:ext cx="4023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4A3B2A"/>
                </a:solidFill>
                <a:latin typeface="Georgia"/>
              </a:defRPr>
            </a:pPr>
            <a:r>
              <a:t>123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81728"/>
            <a:ext cx="98115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A3B2A"/>
                </a:solidFill>
                <a:latin typeface="Georgia"/>
              </a:defRPr>
            </a:pPr>
            <a:r>
              <a:t>1. Choose ORDER or WAIT.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03520"/>
            <a:ext cx="98115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2. Explain your choice using the difference in units.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879592"/>
            <a:ext cx="98115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C45B3A"/>
                </a:solidFill>
                <a:latin typeface="Georgia"/>
              </a:defRPr>
            </a:pPr>
            <a:r>
              <a:t>Pause here. The answer is on the next slide.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455664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Practice exercise  •  All data are synthetic.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37376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PRACTICE ANSWER  /  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WAIT: the position is above the trigger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91640"/>
            <a:ext cx="10451592" cy="10972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990295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8E7"/>
                </a:solidFill>
                <a:latin typeface="Georgia"/>
              </a:defRPr>
            </a:pPr>
            <a:r>
              <a:t>135 − 123 = 12 units above the trigger.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8E7"/>
                </a:solidFill>
                <a:latin typeface="Georgia"/>
              </a:defRPr>
            </a:pPr>
            <a:r>
              <a:t>WAIT; review again next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63240"/>
            <a:ext cx="102687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5B3A"/>
                </a:solidFill>
                <a:latin typeface="Georgia"/>
              </a:defRPr>
            </a:pPr>
            <a:r>
              <a:t>Keep these three distinctions clear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57600"/>
            <a:ext cx="3264408" cy="242316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2807208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Use the full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81728"/>
            <a:ext cx="2807208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Do not compare on-hand alone. Add on-order and subtract committed units.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3657600"/>
            <a:ext cx="3264408" cy="242316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3840480"/>
            <a:ext cx="2807208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Add safety stock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once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4681728"/>
            <a:ext cx="2807208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Do not multiply safety stock by lead time. Multiply daily demand by days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3657600"/>
            <a:ext cx="3264408" cy="242316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840480"/>
            <a:ext cx="2807208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Separate when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and how much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681728"/>
            <a:ext cx="2807208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A larger reorder point is still a trigger. It does not tell you the order quantity.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6455664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All data are synthetic.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37376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KEEP THIS CHECKLIST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Before you place an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4297680" cy="43434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3749039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5B3A"/>
                </a:solidFill>
                <a:latin typeface="Georgia"/>
              </a:defRPr>
            </a:pPr>
            <a:r>
              <a:t>1. Verify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87752"/>
            <a:ext cx="3749039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Use units/day × days,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then add units.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37560"/>
            <a:ext cx="3749039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2. Include existing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41648"/>
            <a:ext cx="3749039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3. Subtract commitments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45736"/>
            <a:ext cx="3749039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4. Check the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94960"/>
            <a:ext cx="3749039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Position ≤ reorder point?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ORDER. Otherwise, WAIT.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901952"/>
            <a:ext cx="57150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Read the decision on a number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606040"/>
            <a:ext cx="57150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Compare inventory position with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123-unit trigger from our example.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0720" y="3840480"/>
            <a:ext cx="4048963" cy="0"/>
          </a:xfrm>
          <a:prstGeom prst="line">
            <a:avLst/>
          </a:prstGeom>
          <a:ln w="508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809683" y="3840480"/>
            <a:ext cx="1217981" cy="0"/>
          </a:xfrm>
          <a:prstGeom prst="line">
            <a:avLst/>
          </a:prstGeom>
          <a:ln w="38100">
            <a:solidFill>
              <a:srgbClr val="766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3712463"/>
            <a:ext cx="0" cy="265176"/>
          </a:xfrm>
          <a:prstGeom prst="line">
            <a:avLst/>
          </a:prstGeom>
          <a:ln w="1905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09683" y="3520440"/>
            <a:ext cx="0" cy="54864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027664" y="3712463"/>
            <a:ext cx="0" cy="265176"/>
          </a:xfrm>
          <a:prstGeom prst="line">
            <a:avLst/>
          </a:prstGeom>
          <a:ln w="1905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40680" y="416052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4160520"/>
            <a:ext cx="13533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45B3A"/>
                </a:solidFill>
                <a:latin typeface="Georgia"/>
              </a:defRPr>
            </a:pPr>
            <a:r>
              <a:t>123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45B3A"/>
                </a:solidFill>
                <a:latin typeface="Georgia"/>
              </a:defRPr>
            </a:pPr>
            <a:r>
              <a:t>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70464" y="4160520"/>
            <a:ext cx="914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160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5074920"/>
            <a:ext cx="34747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5B3A"/>
                </a:solidFill>
                <a:latin typeface="Georgia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5B3A"/>
                </a:solidFill>
                <a:latin typeface="Georgia"/>
              </a:defRPr>
            </a:pPr>
            <a:r>
              <a:t>At or below 123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5074920"/>
            <a:ext cx="1965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Above 123 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5925312"/>
            <a:ext cx="5715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6644E"/>
                </a:solidFill>
                <a:latin typeface="Georgia"/>
              </a:defRPr>
            </a:pPr>
            <a:r>
              <a:t>Number line shows inventory position in units.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6455664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Repeat the check at each daily review.  •  All data are synthetic.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37376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