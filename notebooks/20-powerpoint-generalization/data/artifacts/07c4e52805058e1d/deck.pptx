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66.5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6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B8B8B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FICTIONAL MATERIAL SCREENING  /  PRELIMINARY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01  / 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83080"/>
            <a:ext cx="11183112" cy="14173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75104"/>
            <a:ext cx="10652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How does treatment compare with control on pass rate and durability?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5440680" cy="20574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30752"/>
            <a:ext cx="49834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93776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Treatment versus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Random assignment was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520440"/>
            <a:ext cx="5486400" cy="20574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730752"/>
            <a:ext cx="50292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STUDY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4251960"/>
            <a:ext cx="498348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One lab. One batch.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Scope limits generalization.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79592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Purpose: enable peer evaluation of the methodology and observed patterns.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Preliminary screening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METHOD  / 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02  / 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10512"/>
          <a:ext cx="1118311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65151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Assigned samples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681728"/>
            <a:ext cx="6793992" cy="132588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6336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PREDEFINED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94376"/>
            <a:ext cx="6336792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Passing the predefined strength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4681728"/>
            <a:ext cx="4142232" cy="132588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846320"/>
            <a:ext cx="36850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REPORTING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266944"/>
            <a:ext cx="3685032" cy="630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Exclusions reviewed before final reporting.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Random assignment; 400 samples across two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ENDPOINT  /  CORRECTED PASS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03  /  Treatment pass rate is 8.5 points higher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764792"/>
            <a:ext cx="56692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Observed pass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221992"/>
          <a:ext cx="5806440" cy="32735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05272"/>
            <a:ext cx="580644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Two study groups; the connecting line does not represent time.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810512"/>
          <a:ext cx="5102352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</a:tblGrid>
              <a:tr h="694943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 / 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94943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9494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0" y="4160520"/>
            <a:ext cx="5102352" cy="19202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4343400"/>
            <a:ext cx="4645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FIXED DENOMINATORS: 200 PER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800600"/>
            <a:ext cx="464515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0E0E0"/>
                </a:solidFill>
                <a:latin typeface="Calibri"/>
              </a:defRPr>
            </a:pPr>
            <a:r>
              <a:t>66.5% − 58.0% = 8.5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0E0E0"/>
                </a:solidFill>
                <a:latin typeface="Calibri"/>
              </a:defRPr>
            </a:pPr>
            <a:r>
              <a:t>133 − 116 = 17 more passes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pp = percentage points; duplicate correction detailed on slide 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DURABILITY  /  REPEATED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04  /  Durability declines in both groups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746504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Durability (%) by exposure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76272"/>
          <a:ext cx="6858000" cy="3858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70632" y="6044184"/>
            <a:ext cx="2286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Exposure cycles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810512"/>
          <a:ext cx="4050791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63"/>
                <a:gridCol w="1350263"/>
                <a:gridCol w="1350265"/>
              </a:tblGrid>
              <a:tr h="55778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4846320"/>
            <a:ext cx="4050791" cy="1252728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010912"/>
            <a:ext cx="35935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AT 300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449824"/>
            <a:ext cx="359359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74% − 59% = 15 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All eight reported durability values retained; pp = percentage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SUBGROUPS  /  COUNTS REQUIRE DENOMINATORS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E0E0E0"/>
                </a:solidFill>
                <a:latin typeface="Calibri"/>
              </a:defRPr>
            </a:pPr>
            <a:r>
              <a:t>05  /  Pass counts do not establish subgroup rates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10512"/>
          <a:ext cx="6537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/>
                <a:gridCol w="3268980"/>
              </a:tblGrid>
              <a:tr h="68580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Reported 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810512"/>
            <a:ext cx="4370832" cy="34290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2088" y="2029968"/>
            <a:ext cx="38770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COUNTS, NOT PASS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2670048"/>
            <a:ext cx="3877056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Subgroup denominators are not supplied.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These counts cannot be used to calculate or compare subgroup pass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32120"/>
            <a:ext cx="11183112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44 + 44 + 45 = 133 treatment passes, matching the corrected treatment total.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 / Q / R are supplied labels; they do not establish independent batch replication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DATA AUDIT  /  DUPLICATE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06  /  Remove 11 duplicate positive records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10512"/>
            <a:ext cx="11183112" cy="109728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20824"/>
            <a:ext cx="10671048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Treatment positives: 144 − 11 = 133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Denominators remain correct: 200 samples per group.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182112"/>
          <a:ext cx="1118311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556"/>
                <a:gridCol w="5591556"/>
              </a:tblGrid>
              <a:tr h="52120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item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Correction / reporting rule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 pass rate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 / 200 × 100 = 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result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 = 58.0%; unchanged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inference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significance claim; no confidence interval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4360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Use the corrected counts throughout; the pass-rate difference is 66.5% − 58.0% = 8.5 pp.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Corrected descriptive findings; fixed denominators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INTERPRETATION  /  OBSERVATION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07  /  A measured sample difference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10512"/>
            <a:ext cx="3794760" cy="35204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66543"/>
            <a:ext cx="3246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OBSERVED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3246120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FF99"/>
                </a:solidFill>
                <a:latin typeface="Calibri"/>
              </a:defRPr>
            </a:pPr>
            <a:r>
              <a:t>+8.5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3246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percentage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52544"/>
            <a:ext cx="32461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66.5%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58.0%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10512"/>
            <a:ext cx="7114032" cy="35204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066543"/>
            <a:ext cx="6565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WHAT THE FINDINGS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60904"/>
            <a:ext cx="6565392" cy="9784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The treatment pass rate was higher in the measured sample.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840480"/>
            <a:ext cx="6565392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0" y="4105656"/>
            <a:ext cx="6565392" cy="9692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This sample difference is not evidence of broad field performance. The study covers one lab and one batch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32704"/>
            <a:ext cx="111831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Durability was also higher for treatment at 100, 200 and 300 cycles; both groups began at 100%.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Corrected descriptive findings; no statistical significance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NEXT STEP  /  INDEPENDENT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08  /  Replicate before making deployment claims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10512"/>
            <a:ext cx="2788920" cy="3502152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12264"/>
            <a:ext cx="2276856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00FF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218688"/>
            <a:ext cx="2276856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E0E0E0"/>
                </a:solidFill>
                <a:latin typeface="Calibri"/>
              </a:defRPr>
            </a:pPr>
            <a:r>
              <a:t>independent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E0E0E0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517136"/>
            <a:ext cx="2276856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Blinded scoring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6160" y="1810512"/>
          <a:ext cx="8119872" cy="350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4059936"/>
              </a:tblGrid>
              <a:tr h="70043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Replication requirement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Preserve controls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Maintain the comparison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Preregister 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Set exclusion rules in advance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Record batch conditions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Support assessment of batch effects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04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Include a second batch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Needed before any deployment claim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577840"/>
            <a:ext cx="11183112" cy="5943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696712"/>
            <a:ext cx="10762488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Decision: replicate in 4 labs; a second batch is needed before any deployment claim.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Proposed next study: 4 independent labs, blinded scoring, additional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