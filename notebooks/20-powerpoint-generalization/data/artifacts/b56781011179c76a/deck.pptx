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1220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B8B8B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138.4</c:v>
                </c:pt>
                <c:pt idx="1">
                  <c:v>173</c:v>
                </c:pt>
                <c:pt idx="2">
                  <c:v>207.6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STRATEGIC EQUIPMENT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0E0E0"/>
                </a:solidFill>
                <a:latin typeface="Calibri"/>
              </a:defRPr>
            </a:pPr>
            <a:r>
              <a:t>Select option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11247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Choose C as the investment path; release rollout only after operational gates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2743200" cy="150876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0128" y="2514600"/>
            <a:ext cx="2743200" cy="15087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63056" y="2514600"/>
            <a:ext cx="2743200" cy="15087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15984" y="2514600"/>
            <a:ext cx="2715768" cy="15087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377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$528k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6974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154680"/>
            <a:ext cx="2377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$173k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6974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3154680"/>
            <a:ext cx="23774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FF99"/>
                </a:solidFill>
                <a:latin typeface="Calibri"/>
              </a:defRPr>
            </a:pPr>
            <a:r>
              <a:t>3.1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697480"/>
            <a:ext cx="235000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THREE-YEAR 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3154680"/>
            <a:ext cx="2350008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−$9k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645152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BASE-CASE ARITHMETIC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20640"/>
            <a:ext cx="55778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Payback: 528 ÷ 173 ≈ 3.1 years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Three-year net: 3 × 173 − 528 = −$9k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45152"/>
            <a:ext cx="52852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RELEASE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20640"/>
            <a:ext cx="528523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Uptime ≥99.6%, every site passes capacity validation, and training and validation finish.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19088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Simple, undiscounted financial metrics  |  Reference uptime does not prove operational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PROCUREMENT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E0E0E0"/>
                </a:solidFill>
                <a:latin typeface="Calibri"/>
              </a:defRPr>
            </a:pPr>
            <a:r>
              <a:t>C offers the highest saving and reference uptime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81912"/>
            <a:ext cx="11247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C also requires the most capital. Reference options remain unchanged.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1127455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53721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Reference 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 • SELECT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($k/year)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709160"/>
          <a:ext cx="1127455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114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Derived metric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(years)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A: lowest capital and shortest payback. B: intermediate capital and saving. C: three-year net of −$9k.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Payback = investment ÷ annual saving; three-year net = 3 × annual saving − investment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OPERATING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Output is 720 units below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E0E0E0"/>
                </a:solidFill>
                <a:latin typeface="Calibri"/>
              </a:defRPr>
            </a:pPr>
            <a:r>
              <a:t>Monthly output versus target • units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2103120"/>
          <a:ext cx="74066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623560"/>
          <a:ext cx="740664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091"/>
                <a:gridCol w="1058091"/>
                <a:gridCol w="1058091"/>
                <a:gridCol w="1058091"/>
                <a:gridCol w="1058091"/>
                <a:gridCol w="1058091"/>
                <a:gridCol w="1058094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M1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M2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M3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M4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M5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M6</a:t>
                      </a:r>
                    </a:p>
                  </a:txBody>
                  <a:tcPr marL="64008" marR="64008" marT="36576" marB="36576">
                    <a:solidFill>
                      <a:srgbClr val="3535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Actual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1120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1110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910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75320" y="2103120"/>
            <a:ext cx="3456432" cy="416052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304288"/>
            <a:ext cx="29992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SIX-MONTH TOTALS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788920"/>
            <a:ext cx="29992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Actual     5,880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0E0E0"/>
                </a:solidFill>
                <a:latin typeface="Calibri"/>
              </a:defRPr>
            </a:pPr>
            <a:r>
              <a:t>Target     6,600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03920" y="3785615"/>
            <a:ext cx="299923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03920" y="4023360"/>
            <a:ext cx="299923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89.1% achieved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99"/>
                </a:solidFill>
                <a:latin typeface="Calibri"/>
              </a:defRPr>
            </a:pPr>
            <a:r>
              <a:t>10.9% below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5029200"/>
            <a:ext cx="299923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M3, M4 and M5 exceeded 1,100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Shortfall: 6,600 − 5,880 = 720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Both series shown on a zero-based value axis  |  Target: 1,100 units each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OPTION C • FINANCIAL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Base case falls $9k short at three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A ±20% saving change moves the three-year net by ±$103.8k.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99"/>
                </a:solidFill>
                <a:latin typeface="Calibri"/>
              </a:defRPr>
            </a:pPr>
            <a:r>
              <a:t>Annual saving • $k/year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697480"/>
          <a:ext cx="484632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23560" y="2240280"/>
          <a:ext cx="610819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048"/>
                <a:gridCol w="1527048"/>
                <a:gridCol w="1527048"/>
                <a:gridCol w="1527048"/>
              </a:tblGrid>
              <a:tr h="8572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 / factor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(years)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3-year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/ 80%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138.4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3.82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−112.8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/ 100%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173.0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−9.0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/ 120%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207.6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94.8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79592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Fixed investment: $528k  |  Payback = 528 ÷ saving  |  Three-year net = 3 × saving − 528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Saving factors apply to the $173k/year base case  |  Simple, undiscounted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SITE CAPACITY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E0E0E0"/>
                </a:solidFill>
                <a:latin typeface="Calibri"/>
              </a:defRPr>
            </a:pPr>
            <a:r>
              <a:t>West demand exceeds capacity by 8/day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Aggregate spare capacity does not establish that every site can meet its demand.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1127455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2"/>
              </a:tblGrid>
              <a:tr h="6629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capacity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 (units/day)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ABOVE CAPACITY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349240"/>
            <a:ext cx="6903720" cy="822960"/>
          </a:xfrm>
          <a:prstGeom prst="rect">
            <a:avLst/>
          </a:prstGeom>
          <a:solidFill>
            <a:srgbClr val="252525"/>
          </a:solidFill>
          <a:ln>
            <a:solidFill>
              <a:srgbClr val="45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04688"/>
            <a:ext cx="6537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0E0E0"/>
                </a:solidFill>
                <a:latin typeface="Calibri"/>
              </a:defRPr>
            </a:pPr>
            <a:r>
              <a:t>Total: 868 demand vs 880 capacity = +12 units/day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5349240"/>
            <a:ext cx="4142232" cy="8229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5504688"/>
            <a:ext cx="377647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A1A1A"/>
                </a:solidFill>
                <a:latin typeface="Calibri"/>
              </a:defRPr>
            </a:pPr>
            <a:r>
              <a:t>Resolve West before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Headroom = capacity − demand  |  All sites must pass capacity validation at the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E0E0E0"/>
                </a:solidFill>
                <a:latin typeface="Calibri"/>
              </a:defRPr>
            </a:pPr>
            <a:r>
              <a:t>Run validation and training in 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Both streams start after Build and must finish before the week 10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960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9601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3108960"/>
            <a:ext cx="41148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3108960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3108960"/>
            <a:ext cx="0" cy="150876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46320" y="4617720"/>
            <a:ext cx="2743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3108960"/>
            <a:ext cx="9601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4617720"/>
            <a:ext cx="96012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0" y="3840480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08760" y="2606040"/>
            <a:ext cx="13716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606040"/>
            <a:ext cx="13716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606040"/>
            <a:ext cx="22860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114800"/>
            <a:ext cx="2286000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2606040"/>
            <a:ext cx="1234440" cy="25146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0" y="3337560"/>
            <a:ext cx="1673352" cy="100584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2743200"/>
            <a:ext cx="1188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Weeks 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743200"/>
            <a:ext cx="1188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Weeks 3–5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743200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251960"/>
            <a:ext cx="1920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91840"/>
            <a:ext cx="10515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GO / 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456432"/>
            <a:ext cx="14904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0E0E0"/>
                </a:solidFill>
                <a:latin typeface="Calibri"/>
              </a:defRPr>
            </a:pPr>
            <a:r>
              <a:t>Weeks 11–14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596128"/>
            <a:ext cx="102229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Dependencies: Design → Build → Validate + Train → Gate → Rollout, subject to GO.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plan  |  Straight connectors show dependencies; activity boxes are not a proportional time 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WEEK 10 • RELEASE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E0E0E0"/>
                </a:solidFill>
                <a:latin typeface="Calibri"/>
              </a:defRPr>
            </a:pPr>
            <a:r>
              <a:t>GO requires every condition to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0E0E0"/>
                </a:solidFill>
                <a:latin typeface="Calibri"/>
              </a:defRPr>
            </a:pPr>
            <a:r>
              <a:t>Otherwise HOLD. Selecting C does not authorize rollout.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377440"/>
          <a:ext cx="7635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7620"/>
                <a:gridCol w="3817620"/>
              </a:tblGrid>
              <a:tr h="658368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Required condition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Evidence needed at the gate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Operational uptime ≥99.6%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Measured operational performance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Passing results for North, East and West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Validation finishes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Completed validation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finishes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Completed training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2377440"/>
            <a:ext cx="3319272" cy="12801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2606040"/>
            <a:ext cx="2953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A1A1A"/>
                </a:solidFill>
                <a:latin typeface="Calibri"/>
              </a:defRPr>
            </a:pPr>
            <a:r>
              <a:t>ALL PASS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A1A1A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3931920"/>
            <a:ext cx="3319272" cy="1737360"/>
          </a:xfrm>
          <a:prstGeom prst="rect">
            <a:avLst/>
          </a:prstGeom>
          <a:solidFill>
            <a:srgbClr val="252525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4251960"/>
            <a:ext cx="29535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FF99"/>
                </a:solidFill>
                <a:latin typeface="Calibri"/>
              </a:defRPr>
            </a:pPr>
            <a:r>
              <a:t>ANY CONDITION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FF99"/>
                </a:solidFill>
                <a:latin typeface="Calibri"/>
              </a:defRPr>
            </a:pPr>
            <a:r>
              <a:t>NOT MET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FF99"/>
                </a:solidFill>
                <a:latin typeface="Calibri"/>
              </a:defRPr>
            </a:pPr>
            <a:r>
              <a:t>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C reference uptime: 99.9% versus a 99.6% gate. Reference uptime is not proof of operational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Gate logic: uptime AND all sites pass AND validation complete AND training complete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966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PROCUREMENT RISK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E0E0E0"/>
                </a:solidFill>
                <a:latin typeface="Calibri"/>
              </a:defRPr>
            </a:pPr>
            <a:r>
              <a:t>Control supplier timing and training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E0E0E0"/>
                </a:solidFill>
                <a:latin typeface="Calibri"/>
              </a:defRPr>
            </a:pPr>
            <a:r>
              <a:t>Supplier delay has the higher likelihood; training gap has the higher impact.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166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IMPACT ↑ 1–5   /   LIKELIHOOD → 1–5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61488"/>
          <a:ext cx="51663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060"/>
                <a:gridCol w="861060"/>
                <a:gridCol w="861060"/>
                <a:gridCol w="861060"/>
                <a:gridCol w="861060"/>
                <a:gridCol w="861060"/>
              </a:tblGrid>
              <a:tr h="4800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 / 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2240280"/>
            <a:ext cx="5788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MITIGATION REGISTER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0" y="2761488"/>
          <a:ext cx="57881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84"/>
                <a:gridCol w="1929384"/>
                <a:gridCol w="1929384"/>
              </a:tblGrid>
              <a:tr h="96012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 / key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Likelihood / impact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Supplier delay / 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/ 3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 / T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/ 4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457200" y="5897880"/>
            <a:ext cx="11274552" cy="0"/>
          </a:xfrm>
          <a:prstGeom prst="line">
            <a:avLst/>
          </a:prstGeom>
          <a:ln w="12700">
            <a:solidFill>
              <a:srgbClr val="454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035040"/>
            <a:ext cx="112471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Decision: select C, apply the mitigations, and retain the week 10 GO / HOLD gate.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11247120" cy="210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8B8B8"/>
                </a:solidFill>
                <a:latin typeface="Calibri"/>
              </a:defRPr>
            </a:pPr>
            <a:r>
              <a:t>Synthetic data  |  Matrix coordinates: x = likelihood, y = impact; both axes span 1–5  |  S = supplier delay; T = training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