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72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7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7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B0B0B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MATERIAL SCREENING / PRELIMINARY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01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24128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Does treatment improve material performance?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07899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0E0E0"/>
                </a:solidFill>
                <a:latin typeface="Calibri"/>
              </a:defRPr>
            </a:pPr>
            <a:r>
              <a:t>Compare treatment with control on strength-test pass rate and durability across repeated cycles.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62072"/>
            <a:ext cx="5394960" cy="1874519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72384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PRIMARY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4800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Pass the predefined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862072"/>
            <a:ext cx="5422392" cy="1874519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072384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DURABILITY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611880"/>
            <a:ext cx="4800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Durability (%) over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0–300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84064"/>
            <a:ext cx="11091672" cy="9601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76088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Random assignment was used. Scope is limited to one lab and one batch.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DESIGN /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02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Two groups. Matched test conditions.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3246120" cy="362102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88336"/>
            <a:ext cx="2788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E0E0E0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47872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samples total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233672"/>
            <a:ext cx="278892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480560"/>
            <a:ext cx="2788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200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200 treatment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0" y="1847088"/>
          <a:ext cx="752551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756"/>
                <a:gridCol w="3762756"/>
              </a:tblGrid>
              <a:tr h="724204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Reported condition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2420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 in both groups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72420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72420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72420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705856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Reporting basis: retain a denominator of 200 samples for each group.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RESULTS / STRENGTH-TEST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03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Treatment pass rate is higher by 14.0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PASS RATE (%) / GROUP COMPARISON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49424"/>
          <a:ext cx="60807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95160" y="1801368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EXACT COUNTS / FIXED DENOMINATORS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95160" y="2249424"/>
          <a:ext cx="46451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384"/>
                <a:gridCol w="1548384"/>
                <a:gridCol w="1548384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 / 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 / 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95160" y="4553712"/>
            <a:ext cx="46451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28 more passing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144 − 116 =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13832"/>
            <a:ext cx="11091672" cy="585216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14416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72.0% − 58.0% = 14.0 percentage points  |  Denominator: 200 per group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  /  CONNECTING LINE COMPARES GROUPS; IT IS NOT A TIME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TIMECOURSE / DURABILITY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04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Durability declines in both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7406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DURABILITY (%) BY EXPOSURE CYCLES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130552"/>
          <a:ext cx="7543800" cy="27523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66760" y="2130552"/>
            <a:ext cx="3273552" cy="275234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340864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AT 300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843784"/>
            <a:ext cx="283464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FF99"/>
                </a:solidFill>
                <a:latin typeface="Calibri"/>
              </a:defRPr>
            </a:pPr>
            <a:r>
              <a:t>+15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3648456"/>
            <a:ext cx="283464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74% − 59% = 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Treatment retains higher durability.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5138928"/>
          <a:ext cx="11091672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31089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(%)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 (%)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SUBGROUPS / REPORTED LABELS P, Q AND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05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Equal pass counts do not establish equal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65376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TREATMENT / PASSING SAMPLES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53949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92531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count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92531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92531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92531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92532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63640" y="2377440"/>
            <a:ext cx="5376672" cy="2962656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606040"/>
            <a:ext cx="4919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DENOMINATORS NOT SUPPLIED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182112"/>
            <a:ext cx="48920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These are counts,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not subgroup pass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443984"/>
            <a:ext cx="4892040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A rate requires the total number tested within each label.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96128"/>
            <a:ext cx="11064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Count reconciliation: 48 + 48 + 48 = 144 treatment passes.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AUDIT / PRELIMINARY REPORTING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06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Duplicate-record audit is still pending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01952"/>
            <a:ext cx="11091672" cy="804672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93976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Initial extract awaits duplicate-record audit; findings remain preliminary.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08376"/>
          <a:ext cx="110916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8293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Review item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 / implication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 review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Pending for the initial extract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inference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significance claim or confidence interval reported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14416"/>
            <a:ext cx="11064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Peer evaluation should distinguish reported arithmetic from unresolved data quality.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INTERPRETATION / EVIDENCE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07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E0E0E0"/>
                </a:solidFill>
                <a:latin typeface="Calibri"/>
              </a:defRPr>
            </a:pPr>
            <a:r>
              <a:t>A measured sample difference with limited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3218688" cy="3529584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2761488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OBSERVED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07208"/>
            <a:ext cx="2761488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00FF99"/>
                </a:solidFill>
                <a:latin typeface="Calibri"/>
              </a:defRPr>
            </a:pPr>
            <a:r>
              <a:t>+14.0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21608"/>
            <a:ext cx="27614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percentage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in pass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90872"/>
            <a:ext cx="2761488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72.0% − 58.0%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7368" y="1947672"/>
            <a:ext cx="7552944" cy="160934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148840"/>
            <a:ext cx="7095744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SUPPORTED BY THE REPORTED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670048"/>
            <a:ext cx="7095744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Treatment has a higher observed pass rate and higher durability at cycles 100, 200 and 300.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3822191"/>
            <a:ext cx="7552944" cy="165506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4023360"/>
            <a:ext cx="7095744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LIMITS ON GENERALIZATION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544568"/>
            <a:ext cx="7095744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One lab, one batch and a pending duplicate audit do not establish broad field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8"/>
            <a:ext cx="1106424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The observed pattern supports replication before any deployment claim.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NEXT STEP / REPLICATION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08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Replicate in 3 independent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Use blinded scoring to evaluate whether the observed pattern reproduces.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32888"/>
          <a:ext cx="110916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2669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Replication requirement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Preserve controls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Maintain the treatment–control comparison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Preregister exclusions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Define exclusion rules before evaluation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Record batch conditions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Document conditions for peer review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6696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 blinded scoring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Limit scoring bias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58968"/>
            <a:ext cx="11091672" cy="69494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605272"/>
            <a:ext cx="10652760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A1A1A"/>
                </a:solidFill>
                <a:latin typeface="Calibri"/>
              </a:defRPr>
            </a:pPr>
            <a:r>
              <a:t>A second batch is needed before any deployment claim.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