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Failed</c:v>
                </c:pt>
                <c:pt idx="1">
                  <c:v>Succeeded</c:v>
                </c:pt>
                <c:pt idx="2">
                  <c:v>Requests in window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1180</c:v>
                </c:pt>
                <c:pt idx="1">
                  <c:v>7820</c:v>
                </c:pt>
                <c:pt idx="2">
                  <c:v>9000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(%)</c:v>
                </c:pt>
              </c:strCache>
            </c:strRef>
          </c:tx>
          <c:spPr>
            <a:ln w="38100">
              <a:solidFill>
                <a:srgbClr val="FFD70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09:00</c:v>
                </c:pt>
                <c:pt idx="1">
                  <c:v>09:15</c:v>
                </c:pt>
                <c:pt idx="2">
                  <c:v>09:30</c:v>
                </c:pt>
                <c:pt idx="3">
                  <c:v>09:45</c:v>
                </c:pt>
                <c:pt idx="4">
                  <c:v>10:00</c:v>
                </c:pt>
                <c:pt idx="5">
                  <c:v>10:15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18</c:v>
                </c:pt>
                <c:pt idx="2">
                  <c:v>25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4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548640"/>
            <a:ext cx="2103120" cy="2011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896112"/>
            <a:ext cx="1371600" cy="2011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0" y="1243584"/>
            <a:ext cx="822960" cy="2011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48640"/>
            <a:ext cx="7772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01  SUMMARY  |  FICTIONAL INCIDENT  |  SYNTHETIC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8778240" cy="2194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FFFFF"/>
                </a:solidFill>
                <a:latin typeface="Calibri"/>
              </a:defRPr>
            </a:pPr>
            <a:r>
              <a:t>Service interruption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FFFFF"/>
                </a:solidFill>
                <a:latin typeface="Calibri"/>
              </a:defRPr>
            </a:pPr>
            <a:r>
              <a:t>09:00–10:14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A9ADC1"/>
                </a:solidFill>
                <a:latin typeface="Calibri"/>
              </a:defRPr>
            </a:pPr>
            <a:r>
              <a:t>Errors rose after the 09:00 deployment; rollback restored the baseline error rate by 10:14.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23774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74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23774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Incident window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5440680"/>
            <a:ext cx="237744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520440" y="4069080"/>
            <a:ext cx="23774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9,000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4892040"/>
            <a:ext cx="23774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Requests in the window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20440" y="5440680"/>
            <a:ext cx="237744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17920" y="4069080"/>
            <a:ext cx="23774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1,180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892040"/>
            <a:ext cx="23774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Failed requests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7920" y="5440680"/>
            <a:ext cx="237744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915400" y="4069080"/>
            <a:ext cx="23774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13.1%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4892040"/>
            <a:ext cx="23774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Of requests failed (1,180 ÷ 9,000)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15400" y="5440680"/>
            <a:ext cx="237744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22960" y="5852160"/>
            <a:ext cx="10789920" cy="640080"/>
          </a:xfrm>
          <a:prstGeom prst="rect">
            <a:avLst/>
          </a:prstGeom>
          <a:solidFill>
            <a:srgbClr val="16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5852160"/>
            <a:ext cx="109728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916168"/>
            <a:ext cx="10424160" cy="5120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Status: recovery verified  |  preventing recurrence still depends on 2 planned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02 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1,180 of 9,000 requests failed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72768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766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9ADC1"/>
                </a:solidFill>
                <a:latin typeface="Calibri"/>
              </a:defRPr>
            </a:pPr>
            <a:r>
              <a:t>Request counts in the incident window, 09:00–10:14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286000"/>
          <a:ext cx="676656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760720"/>
            <a:ext cx="6766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9ADC1"/>
                </a:solidFill>
                <a:latin typeface="Calibri"/>
              </a:defRPr>
            </a:pPr>
            <a:r>
              <a:t>Succeeded = 9,000 − 1,180 = 7,820 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828800"/>
            <a:ext cx="38404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FD700"/>
                </a:solidFill>
                <a:latin typeface="Calibri"/>
              </a:defRPr>
            </a:pPr>
            <a:r>
              <a:t>13.1%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017520"/>
            <a:ext cx="3840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of requests failed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429000"/>
            <a:ext cx="3840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9ADC1"/>
                </a:solidFill>
                <a:latin typeface="Calibri"/>
              </a:defRPr>
            </a:pPr>
            <a:r>
              <a:t>1,180 ÷ 9,000 = 13.1%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4114800"/>
            <a:ext cx="3840480" cy="1828800"/>
          </a:xfrm>
          <a:prstGeom prst="rect">
            <a:avLst/>
          </a:prstGeom>
          <a:solidFill>
            <a:srgbClr val="161827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4114800"/>
            <a:ext cx="128016" cy="1828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206240"/>
            <a:ext cx="3474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CAVEAT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572000"/>
            <a:ext cx="347472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Counts are requests, not users. Distinct affected users are unknown.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03 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74 minutes from deployment to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72768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731520" y="3931920"/>
            <a:ext cx="10698480" cy="0"/>
          </a:xfrm>
          <a:prstGeom prst="line">
            <a:avLst/>
          </a:prstGeom>
          <a:ln w="762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76656" y="3474720"/>
            <a:ext cx="109728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4630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14630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33372" y="3931920"/>
            <a:ext cx="109728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3836" y="4480560"/>
            <a:ext cx="1828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" y="4937760"/>
            <a:ext cx="18288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First alert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34563" y="3474720"/>
            <a:ext cx="109728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76856" y="2331720"/>
            <a:ext cx="1828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5416" y="2788920"/>
            <a:ext cx="2011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Investigation starts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36945" y="3931920"/>
            <a:ext cx="109728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3752" y="4480560"/>
            <a:ext cx="1828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4937760"/>
            <a:ext cx="18288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Rollback begins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16037" y="3474720"/>
            <a:ext cx="109728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57416" y="2331720"/>
            <a:ext cx="1828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7416" y="2788920"/>
            <a:ext cx="18288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Rollback complete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375136" y="3931920"/>
            <a:ext cx="109728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4480560"/>
            <a:ext cx="21031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10:14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937760"/>
            <a:ext cx="2103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Error rate back at baseline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52160"/>
            <a:ext cx="11064240" cy="685800"/>
          </a:xfrm>
          <a:prstGeom prst="rect">
            <a:avLst/>
          </a:prstGeom>
          <a:solidFill>
            <a:srgbClr val="16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852160"/>
            <a:ext cx="109728" cy="685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943600"/>
            <a:ext cx="106984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Deploy → alert 8 min  |  alert → rollback start 27 min  |  rollback 13 min  |  rollback complete → baseline 26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04  ERROR RATES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Sampled error rate peaked at 25% at 09:30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72768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9ADC1"/>
                </a:solidFill>
                <a:latin typeface="Calibri"/>
              </a:defRPr>
            </a:pPr>
            <a:r>
              <a:t>Error rate (% of requests) at each of six sample times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286000"/>
          <a:ext cx="7498079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503920" y="1920240"/>
            <a:ext cx="31089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688336"/>
            <a:ext cx="31089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Peak sample, 09:30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03920" y="3200400"/>
            <a:ext cx="310896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503920" y="3383280"/>
            <a:ext cx="31089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4151376"/>
            <a:ext cx="31089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Last sample, 10:15 (after the 10:14 window close)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03920" y="4663440"/>
            <a:ext cx="310896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503920" y="4892040"/>
            <a:ext cx="3108960" cy="1325880"/>
          </a:xfrm>
          <a:prstGeom prst="rect">
            <a:avLst/>
          </a:prstGeom>
          <a:solidFill>
            <a:srgbClr val="161827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4956048"/>
            <a:ext cx="2880360" cy="12070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Point-in-time samples, not the window-wide rate: 13.1% = 1,180 ÷ 9,000 requests.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05 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Observed is not proven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72768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20440" cy="3566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31089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OBSERVED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108960" cy="2834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0C15"/>
                </a:solidFill>
                <a:latin typeface="Calibri"/>
              </a:defRPr>
            </a:pPr>
            <a:r>
              <a:t>Connection pool saturation after the deployment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0C15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0C15"/>
                </a:solidFill>
                <a:latin typeface="Calibri"/>
              </a:defRPr>
            </a:pPr>
            <a:r>
              <a:t>Recovery after the rollback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69080" y="3840480"/>
            <a:ext cx="274320" cy="0"/>
          </a:xfrm>
          <a:prstGeom prst="line">
            <a:avLst/>
          </a:prstGeom>
          <a:ln w="762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343400" y="2194560"/>
            <a:ext cx="3520440" cy="3566160"/>
          </a:xfrm>
          <a:prstGeom prst="rect">
            <a:avLst/>
          </a:prstGeom>
          <a:solidFill>
            <a:srgbClr val="161827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331720"/>
            <a:ext cx="31089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WORKING HYPOTHESIS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3108960" cy="2834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Retry amplification under the new configuration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Plausible, not confirmed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3840" y="4114800"/>
            <a:ext cx="274320" cy="0"/>
          </a:xfrm>
          <a:prstGeom prst="line">
            <a:avLst/>
          </a:prstGeom>
          <a:ln w="762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138160" y="2468880"/>
            <a:ext cx="3520440" cy="3566160"/>
          </a:xfrm>
          <a:prstGeom prst="rect">
            <a:avLst/>
          </a:prstGeom>
          <a:solidFill>
            <a:srgbClr val="161827"/>
          </a:solidFill>
          <a:ln>
            <a:solidFill>
              <a:srgbClr val="5A5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606040"/>
            <a:ext cx="31089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9ADC1"/>
                </a:solidFill>
                <a:latin typeface="Calibri"/>
              </a:defRPr>
            </a:pPr>
            <a:r>
              <a:t>NOT YET 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108960"/>
            <a:ext cx="3108960" cy="2834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Causal load test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Needed to confirm or reject the hypothesis (Owner B, by day 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Conclusion: the link to deployment and rollback is observed; the root cause is not yet established.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06 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Roll back first, then verify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72768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993392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176272"/>
            <a:ext cx="1847088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B0C15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6352" y="2103120"/>
            <a:ext cx="1993392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9504" y="2176272"/>
            <a:ext cx="1847088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B0C15"/>
                </a:solidFill>
                <a:latin typeface="Calibri"/>
              </a:defRPr>
            </a:pPr>
            <a:r>
              <a:t>Triage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42032" y="2697479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084064" y="2103120"/>
            <a:ext cx="1993392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57216" y="2176272"/>
            <a:ext cx="1847088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B0C15"/>
                </a:solidFill>
                <a:latin typeface="Calibri"/>
              </a:defRPr>
            </a:pPr>
            <a:r>
              <a:t>Rollback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09744" y="2697479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351775" y="2103120"/>
            <a:ext cx="1993392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4927" y="2176272"/>
            <a:ext cx="1847088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B0C15"/>
                </a:solidFill>
                <a:latin typeface="Calibri"/>
              </a:defRPr>
            </a:pPr>
            <a:r>
              <a:t>Verify baseline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77455" y="2697479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19488" y="2103120"/>
            <a:ext cx="1993392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176272"/>
            <a:ext cx="1847088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B0C15"/>
                </a:solidFill>
                <a:latin typeface="Calibri"/>
              </a:defRPr>
            </a:pPr>
            <a:r>
              <a:t>Retrospective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45167" y="2697479"/>
            <a:ext cx="274321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3520440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D700"/>
                </a:solidFill>
                <a:latin typeface="Calibri"/>
              </a:defRPr>
            </a:pPr>
            <a:r>
              <a:t>09:08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31920"/>
            <a:ext cx="2011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First alert fires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3520440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D700"/>
                </a:solidFill>
                <a:latin typeface="Calibri"/>
              </a:defRPr>
            </a:pPr>
            <a:r>
              <a:t>09:17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928" y="3931920"/>
            <a:ext cx="2011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Investigation starts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3520440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D700"/>
                </a:solidFill>
                <a:latin typeface="Calibri"/>
              </a:defRPr>
            </a:pPr>
            <a:r>
              <a:t>09:35–09:48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3931920"/>
            <a:ext cx="2011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Rollback executed (13 min)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7768" y="3520440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D700"/>
                </a:solidFill>
                <a:latin typeface="Calibri"/>
              </a:defRPr>
            </a:pPr>
            <a:r>
              <a:t>10:14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7768" y="3931920"/>
            <a:ext cx="2011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Error rate confirmed at 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616" y="3520440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D700"/>
                </a:solidFill>
                <a:latin typeface="Calibri"/>
              </a:defRPr>
            </a:pPr>
            <a:r>
              <a:t>After recovery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31920"/>
            <a:ext cx="2011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Review and follow-up actions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937760"/>
            <a:ext cx="5394960" cy="1188720"/>
          </a:xfrm>
          <a:prstGeom prst="rect">
            <a:avLst/>
          </a:prstGeom>
          <a:solidFill>
            <a:srgbClr val="16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937760"/>
            <a:ext cx="128016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029200"/>
            <a:ext cx="4937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ON-CALL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440680"/>
            <a:ext cx="49377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Handles the rollback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937760"/>
            <a:ext cx="5394960" cy="1188720"/>
          </a:xfrm>
          <a:prstGeom prst="rect">
            <a:avLst/>
          </a:prstGeom>
          <a:solidFill>
            <a:srgbClr val="16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937760"/>
            <a:ext cx="128016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5029200"/>
            <a:ext cx="4937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SERVICE OWNER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5440680"/>
            <a:ext cx="49377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Authorizes restoration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9ADC1"/>
                </a:solidFill>
                <a:latin typeface="Calibri"/>
              </a:defRPr>
            </a:pPr>
            <a:r>
              <a:t>Verification comes after rollback: baseline can only be confirmed once the rollback is complete (26 min later, at 10:14).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07 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1 of 3 actions complete; 2 still planned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72768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11680"/>
          <a:ext cx="78638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7315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Deadline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C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Add saturation alert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5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B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causal load test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7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A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 retries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12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120640"/>
            <a:ext cx="78638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9ADC1"/>
                </a:solidFill>
                <a:latin typeface="Calibri"/>
              </a:defRPr>
            </a:pPr>
            <a:r>
              <a:t>Sorted by deadline. The load test (day 7) checks the retry-amplification hypothesis; the retry cap (day 12) targets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011680"/>
            <a:ext cx="26517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779776"/>
            <a:ext cx="26517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Complete: saturation alert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61120" y="3291840"/>
            <a:ext cx="265176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1120" y="3566160"/>
            <a:ext cx="26517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4334256"/>
            <a:ext cx="26517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Planned: load test, retry cap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961120" y="4846320"/>
            <a:ext cx="265176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961120" y="5120640"/>
            <a:ext cx="26517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92640" y="5349240"/>
            <a:ext cx="192024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08  LESSONS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Three lessons to carry forward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72768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128016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1887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D7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011680"/>
            <a:ext cx="9418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Separate observed evidence from the hypothesis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487168"/>
            <a:ext cx="94183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9ADC1"/>
                </a:solidFill>
                <a:latin typeface="Calibri"/>
              </a:defRPr>
            </a:pPr>
            <a:r>
              <a:t>Pool saturation and recovery after rollback are observed; retry amplification stays unproven until the causal load test runs.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429000"/>
            <a:ext cx="128016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429000"/>
            <a:ext cx="11887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D7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429000"/>
            <a:ext cx="90525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Failed requests are not affected people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904487"/>
            <a:ext cx="90525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9ADC1"/>
                </a:solidFill>
                <a:latin typeface="Calibri"/>
              </a:defRPr>
            </a:pPr>
            <a:r>
              <a:t>1,180 of 9,000 requests failed (13.1%). The number of distinct affected users is unknown.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4846320"/>
            <a:ext cx="128016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4846320"/>
            <a:ext cx="11887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D7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846320"/>
            <a:ext cx="8686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Recovered is not the same as prevented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321808"/>
            <a:ext cx="86868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9ADC1"/>
                </a:solidFill>
                <a:latin typeface="Calibri"/>
              </a:defRPr>
            </a:pPr>
            <a:r>
              <a:t>Baseline was verified at 10:14. Preventing recurrence depends on the planned load test (day 7) and retry cap (day 12).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6355080"/>
            <a:ext cx="210312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