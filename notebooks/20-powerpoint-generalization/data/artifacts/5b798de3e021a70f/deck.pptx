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</c:v>
                </c:pt>
                <c:pt idx="1">
                  <c:v>780</c:v>
                </c:pt>
                <c:pt idx="2">
                  <c:v>1120</c:v>
                </c:pt>
                <c:pt idx="3">
                  <c:v>1030</c:v>
                </c:pt>
                <c:pt idx="4">
                  <c:v>1110</c:v>
                </c:pt>
                <c:pt idx="5">
                  <c:v>910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8100">
              <a:solidFill>
                <a:srgbClr val="B8B8B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5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5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97.6</c:v>
                </c:pt>
                <c:pt idx="1">
                  <c:v>122</c:v>
                </c:pt>
                <c:pt idx="2">
                  <c:v>146.4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5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5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STRATEGIC EQUIPMENT PROCUREMENT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01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0E0E0"/>
                </a:solidFill>
                <a:latin typeface="Calibri"/>
              </a:defRPr>
            </a:pPr>
            <a:r>
              <a:t>Select option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81912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Choose B as the investment path; release rollout only after operational gates pass.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2743200" cy="150876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10128" y="2514600"/>
            <a:ext cx="2743200" cy="1508760"/>
          </a:xfrm>
          <a:prstGeom prst="rect">
            <a:avLst/>
          </a:prstGeom>
          <a:solidFill>
            <a:srgbClr val="252525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63056" y="2514600"/>
            <a:ext cx="2743200" cy="1508760"/>
          </a:xfrm>
          <a:prstGeom prst="rect">
            <a:avLst/>
          </a:prstGeom>
          <a:solidFill>
            <a:srgbClr val="252525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15984" y="2514600"/>
            <a:ext cx="2715768" cy="1508760"/>
          </a:xfrm>
          <a:prstGeom prst="rect">
            <a:avLst/>
          </a:prstGeom>
          <a:solidFill>
            <a:srgbClr val="252525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377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23774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$366k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697480"/>
            <a:ext cx="2377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ANNUAL SAVING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154680"/>
            <a:ext cx="23774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$122k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697480"/>
            <a:ext cx="2377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SIMPLE PAYBACK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3154680"/>
            <a:ext cx="23774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FF99"/>
                </a:solidFill>
                <a:latin typeface="Calibri"/>
              </a:defRPr>
            </a:pPr>
            <a:r>
              <a:t>3.0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4" y="2697480"/>
            <a:ext cx="235000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THREE-YEAR 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3154680"/>
            <a:ext cx="235000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$0k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645152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BASE-CASE ARITHMETIC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20640"/>
            <a:ext cx="5303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Payback: 366 ÷ 122 = 3.0 years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Three-year net: 3 × 122 − 366 = $0k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45152"/>
            <a:ext cx="52852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RELEASE 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120640"/>
            <a:ext cx="528523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Uptime ≥99.6%, every site passes capacity validation, and training and validation finish.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19088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Simple, undiscounted financial metrics  |  Reference uptime does not prove operational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PROCUREMENT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02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E0E0E0"/>
                </a:solidFill>
                <a:latin typeface="Calibri"/>
              </a:defRPr>
            </a:pPr>
            <a:r>
              <a:t>B is the middle investment pathway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81912"/>
            <a:ext cx="11247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Reference options remain unchanged; derived metrics make the trade-offs explicit.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377440"/>
          <a:ext cx="1127455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3721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Reference metric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B • SELECT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366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528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Annual saving ($k/year)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709160"/>
          <a:ext cx="1127455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Derived metric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Option B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Option C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Simple payback (years)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2.71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3.05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Three-year net ($k)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A: lowest capital and shortest payback. C: highest saving and reference uptime. B: intermediate capital and saving.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Payback = investment ÷ annual saving; three-year net = 3 × annual saving − investment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OPERATING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03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E0E0E0"/>
                </a:solidFill>
                <a:latin typeface="Calibri"/>
              </a:defRPr>
            </a:pPr>
            <a:r>
              <a:t>Output is 910 units below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Monthly output versus target • units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103120"/>
          <a:ext cx="74066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75320" y="2103120"/>
            <a:ext cx="3456432" cy="3840480"/>
          </a:xfrm>
          <a:prstGeom prst="rect">
            <a:avLst/>
          </a:prstGeom>
          <a:solidFill>
            <a:srgbClr val="252525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304288"/>
            <a:ext cx="29992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SIX-MONTH TOTALS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788920"/>
            <a:ext cx="299923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Actual     5,690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Target     6,600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20" y="3785615"/>
            <a:ext cx="299923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03920" y="4023360"/>
            <a:ext cx="299923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86.2% achieved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13.8% below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5047488"/>
            <a:ext cx="2999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Only M3 and M5 exceeded 1,100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Shortfall = 6,600 − 5,690 = 910 units. Monthly performance remains variable.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Both series shown on a zero-based value axis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OPTION B • FINANCIAL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04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E0E0E0"/>
                </a:solidFill>
                <a:latin typeface="Calibri"/>
              </a:defRPr>
            </a:pPr>
            <a:r>
              <a:t>Base case breaks even at three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A ±20% saving change moves the three-year net by ±$73.2k.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846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FF99"/>
                </a:solidFill>
                <a:latin typeface="Calibri"/>
              </a:defRPr>
            </a:pPr>
            <a:r>
              <a:t>Annual saving • $k/year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697480"/>
          <a:ext cx="484632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23560" y="2240280"/>
          <a:ext cx="610819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048"/>
                <a:gridCol w="1527048"/>
                <a:gridCol w="1527048"/>
                <a:gridCol w="1527048"/>
              </a:tblGrid>
              <a:tr h="85725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Scenario / saving factor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Payback (years)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3-year net ($k)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Downside / 80%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97.6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3.75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−73.2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Base / 100%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122.0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Upside / 120%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146.4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2.50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73.2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79592"/>
            <a:ext cx="11247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Fixed investment: $366k  |  Payback = 366 ÷ saving  |  Three-year net = 3 × saving − 366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Saving factors apply to the $122k/year base case  |  Simple, undiscounted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SITE CAPACITY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05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E0E0E0"/>
                </a:solidFill>
                <a:latin typeface="Calibri"/>
              </a:defRPr>
            </a:pPr>
            <a:r>
              <a:t>West demand exceeds capacity by 8/day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Aggregate spare capacity does not establish that every site can meet its demand.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377440"/>
          <a:ext cx="1127455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2"/>
              </a:tblGrid>
              <a:tr h="66294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demand 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capacity 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Headroom 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check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236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+4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294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+16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338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−8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ABOVE CAPACITY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49240"/>
            <a:ext cx="6903720" cy="822960"/>
          </a:xfrm>
          <a:prstGeom prst="rect">
            <a:avLst/>
          </a:prstGeom>
          <a:solidFill>
            <a:srgbClr val="252525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504688"/>
            <a:ext cx="65379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0E0E0"/>
                </a:solidFill>
                <a:latin typeface="Calibri"/>
              </a:defRPr>
            </a:pPr>
            <a:r>
              <a:t>Total: 868 demand vs 880 capacity = +12 units/day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5349240"/>
            <a:ext cx="4142232" cy="8229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5504688"/>
            <a:ext cx="3776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A1A1A"/>
                </a:solidFill>
                <a:latin typeface="Calibri"/>
              </a:defRPr>
            </a:pPr>
            <a:r>
              <a:t>Resolve West before 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Headroom = capacity − demand  |  All sites must pass capacity validation at the gate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06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E0E0E0"/>
                </a:solidFill>
                <a:latin typeface="Calibri"/>
              </a:defRPr>
            </a:pPr>
            <a:r>
              <a:t>Run validation and training in parallel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Both streams start after Build and must finish before the week 9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9601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9601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3108960"/>
            <a:ext cx="41148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63440" y="3108960"/>
            <a:ext cx="4572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46320" y="3108960"/>
            <a:ext cx="0" cy="150876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46320" y="4617720"/>
            <a:ext cx="2743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06640" y="3108960"/>
            <a:ext cx="9601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06640" y="4617720"/>
            <a:ext cx="9601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01200" y="3840480"/>
            <a:ext cx="4572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508760" y="2606040"/>
            <a:ext cx="1371600" cy="100584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2606040"/>
            <a:ext cx="1371600" cy="100584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2606040"/>
            <a:ext cx="2286000" cy="100584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4114800"/>
            <a:ext cx="2286000" cy="100584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2606040"/>
            <a:ext cx="1234440" cy="251460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0" y="3337560"/>
            <a:ext cx="1673352" cy="100584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2743200"/>
            <a:ext cx="11887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Weeks 1–2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743200"/>
            <a:ext cx="11887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Weeks 3–5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743200"/>
            <a:ext cx="1920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Weeks 6–8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251960"/>
            <a:ext cx="1920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Weeks 6–8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291840"/>
            <a:ext cx="10515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Week 9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GO / 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456432"/>
            <a:ext cx="14904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Weeks 10–13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596128"/>
            <a:ext cx="102229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Dependencies: Design → Build → Validate + Train → Gate → Rollout, subject to GO.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plan  |  Straight connectors show dependencies; activity boxes are not a proportional time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WEEK 9 • RELEASE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07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E0E0E0"/>
                </a:solidFill>
                <a:latin typeface="Calibri"/>
              </a:defRPr>
            </a:pPr>
            <a:r>
              <a:t>GO requires every condition to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Otherwise HOLD. Selecting B does not authorize rollout.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377440"/>
          <a:ext cx="7635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7620"/>
                <a:gridCol w="3817620"/>
              </a:tblGrid>
              <a:tr h="658368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Required condition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Evidence needed at the gate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Operational uptime ≥99.6%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Measured operational performance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 sites pass capacity validation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Passing results for North, East and West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Validation finishes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Completed validation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finishes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Completed training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0" y="2377440"/>
            <a:ext cx="3319272" cy="12801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2606040"/>
            <a:ext cx="29535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A1A1A"/>
                </a:solidFill>
                <a:latin typeface="Calibri"/>
              </a:defRPr>
            </a:pPr>
            <a:r>
              <a:t>ALL PASS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A1A1A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931920"/>
            <a:ext cx="3319272" cy="173736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4251960"/>
            <a:ext cx="295351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FF99"/>
                </a:solidFill>
                <a:latin typeface="Calibri"/>
              </a:defRPr>
            </a:pPr>
            <a:r>
              <a:t>ANY CONDITION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FF99"/>
                </a:solidFill>
                <a:latin typeface="Calibri"/>
              </a:defRPr>
            </a:pPr>
            <a:r>
              <a:t>NOT MET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FF99"/>
                </a:solidFill>
                <a:latin typeface="Calibri"/>
              </a:defRPr>
            </a:pPr>
            <a:r>
              <a:t>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B reference uptime: 99.1% versus a 99.6% gate. Reference uptime is not proof of operational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Gate logic: uptime AND all sites pass AND validation complete AND training complete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PROCUREMENT RISK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08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E0E0E0"/>
                </a:solidFill>
                <a:latin typeface="Calibri"/>
              </a:defRPr>
            </a:pPr>
            <a:r>
              <a:t>Control supplier timing and training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Supplier delay has the higher likelihood; training gap has the higher impact.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5166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IMPACT ↑ 1–5   /   LIKELIHOOD → 1–5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761488"/>
          <a:ext cx="51663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060"/>
                <a:gridCol w="861060"/>
                <a:gridCol w="861060"/>
                <a:gridCol w="861060"/>
                <a:gridCol w="861060"/>
                <a:gridCol w="861060"/>
              </a:tblGrid>
              <a:tr h="5410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Impact ↓ / L →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2240280"/>
            <a:ext cx="57881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MITIGATION REGISTER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0" y="2761488"/>
          <a:ext cx="57881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384"/>
                <a:gridCol w="1929384"/>
                <a:gridCol w="1929384"/>
              </a:tblGrid>
              <a:tr h="10820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Risk / matrix key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Likelihood / impact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10820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Supplier delay / S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/ 3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10820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gap / T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 / 4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Decision: select B, apply the mitigations, and retain the week 9 GO / HOLD 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124712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Matrix coordinates: x = likelihood, y = impact; both axes span 1–5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