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Seats</c:v>
                </c:pt>
              </c:strCache>
            </c:strRef>
          </c:tx>
          <c:spPr>
            <a:solidFill>
              <a:srgbClr val="FF7043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39</c:v>
                </c:pt>
                <c:pt idx="2">
                  <c:v>31</c:v>
                </c:pt>
                <c:pt idx="3">
                  <c:v>47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FF7043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Materials</c:v>
                </c:pt>
                <c:pt idx="1">
                  <c:v>Venue</c:v>
                </c:pt>
                <c:pt idx="2">
                  <c:v>Outreach</c:v>
                </c:pt>
                <c:pt idx="3">
                  <c:v>Access support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1270</c:v>
                </c:pt>
                <c:pt idx="1">
                  <c:v>950</c:v>
                </c:pt>
                <c:pt idx="2">
                  <c:v>640</c:v>
                </c:pt>
                <c:pt idx="3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FF7043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Repaired</c:v>
                </c:pt>
                <c:pt idx="1">
                  <c:v>Referred</c:v>
                </c:pt>
                <c:pt idx="2">
                  <c:v>Not repairable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</c:v>
                </c:pt>
                <c:pt idx="1">
                  <c:v>22</c:v>
                </c:pt>
                <c:pt idx="2">
                  <c:v>14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4206240" cy="384048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21207"/>
            <a:ext cx="420624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F360C"/>
                </a:solidFill>
                <a:latin typeface="Arial"/>
              </a:defRPr>
            </a:pPr>
            <a:r>
              <a:t>Fictional neighborhood repair-cafe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498079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263238"/>
                </a:solidFill>
                <a:latin typeface="Arial"/>
              </a:defRPr>
            </a:pPr>
            <a:r>
              <a:t>Bring it, fix it —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13232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55A64"/>
                </a:solidFill>
                <a:latin typeface="Arial"/>
              </a:defRPr>
            </a:pPr>
            <a:r>
              <a:t>You are warmly invited to our repair cafe: bring a small household item, learn alongside neighbors, or lend a hand as a volunteer.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0" y="640080"/>
            <a:ext cx="2743200" cy="20116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777240"/>
            <a:ext cx="25603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4 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417320"/>
            <a:ext cx="2560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162 seats · 2 hours 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920240"/>
            <a:ext cx="2560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Events in week 4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0" y="4480560"/>
            <a:ext cx="320040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818120" y="4480560"/>
            <a:ext cx="320040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1520" y="3246120"/>
            <a:ext cx="338328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3474720"/>
            <a:ext cx="502920" cy="50292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520440"/>
            <a:ext cx="502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493008"/>
            <a:ext cx="23774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Who can take part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160520"/>
            <a:ext cx="301752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55A64"/>
                </a:solidFill>
                <a:latin typeface="Arial"/>
              </a:defRPr>
            </a:pPr>
            <a:r>
              <a:t>Local residents of any skill level. Bring an item, watch and learn, or help a neighbor.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566160"/>
            <a:ext cx="338328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09160" y="3794760"/>
            <a:ext cx="502920" cy="50292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3840480"/>
            <a:ext cx="502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3813048"/>
            <a:ext cx="23774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Event sequence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480560"/>
            <a:ext cx="301752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55A64"/>
                </a:solidFill>
                <a:latin typeface="Arial"/>
              </a:defRPr>
            </a:pPr>
            <a:r>
              <a:t>Registration wk 1 → training wk 2 → venue confirmed wk 3 → events wk 4 → follow-up wk 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246120"/>
            <a:ext cx="338328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0" y="3474720"/>
            <a:ext cx="502920" cy="50292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3520440"/>
            <a:ext cx="502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493008"/>
            <a:ext cx="23774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How to volunteer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160520"/>
            <a:ext cx="301752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55A64"/>
                </a:solidFill>
                <a:latin typeface="Arial"/>
              </a:defRPr>
            </a:pPr>
            <a:r>
              <a:t>Sign up by the end of week 2, join training, then take a 3-hour shift: welcome, repair support or safety check.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309360"/>
            <a:ext cx="10789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07D8B"/>
                </a:solidFill>
                <a:latin typeface="Arial"/>
              </a:defRPr>
            </a:pPr>
            <a:r>
              <a:t>All figures in this deck are synthetic and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162 seats across four 2-hour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55A64"/>
                </a:solidFill>
                <a:latin typeface="Arial"/>
              </a:defRPr>
            </a:pPr>
            <a:r>
              <a:t>West and North offer the most room; South is the smallest session.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7223760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6675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Seats per session (count)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2240280"/>
          <a:ext cx="67665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783080"/>
            <a:ext cx="3383280" cy="141732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874519"/>
            <a:ext cx="3108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162 seats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560320"/>
            <a:ext cx="31089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45 + 39 + 31 + 47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921240" y="3200400"/>
            <a:ext cx="0" cy="32004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03920" y="3520440"/>
            <a:ext cx="31089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3611880"/>
            <a:ext cx="28346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Largest: West, 47 seats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Smallest: South, 31 seats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921240" y="4800600"/>
            <a:ext cx="0" cy="27432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0" y="5074920"/>
            <a:ext cx="338328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5166360"/>
            <a:ext cx="31089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Every session lasts 2 hours: 4 × 2 = 8 session-hours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29 volunteers give 87 volunteer-hours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789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55A64"/>
                </a:solidFill>
                <a:latin typeface="Arial"/>
              </a:defRPr>
            </a:pPr>
            <a:r>
              <a:t>Three friendly roles keep each session running smoothly.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29260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9260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7043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29260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55A64"/>
                </a:solidFill>
                <a:latin typeface="Arial"/>
              </a:defRPr>
            </a:pPr>
            <a:r>
              <a:t>volunteers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240280"/>
            <a:ext cx="548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63238"/>
                </a:solidFill>
                <a:latin typeface="Arial"/>
              </a:defRPr>
            </a:pPr>
            <a:r>
              <a:t>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057400"/>
            <a:ext cx="29260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148840"/>
            <a:ext cx="29260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7043"/>
                </a:solidFill>
                <a:latin typeface="Arial"/>
              </a:defRPr>
            </a:pPr>
            <a:r>
              <a:t>3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926080"/>
            <a:ext cx="29260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55A64"/>
                </a:solidFill>
                <a:latin typeface="Arial"/>
              </a:defRPr>
            </a:pPr>
            <a:r>
              <a:t>each volunteer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240280"/>
            <a:ext cx="548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63238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291840" cy="146304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920240"/>
            <a:ext cx="32918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Arial"/>
              </a:defRPr>
            </a:pPr>
            <a:r>
              <a:t>87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697480"/>
            <a:ext cx="32918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volunteer-hours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71600" y="3977639"/>
            <a:ext cx="9418320" cy="0"/>
          </a:xfrm>
          <a:prstGeom prst="line">
            <a:avLst/>
          </a:prstGeom>
          <a:ln w="25400">
            <a:solidFill>
              <a:srgbClr val="FFA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2960" y="4206240"/>
            <a:ext cx="32004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97680"/>
            <a:ext cx="2834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Welcome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754880"/>
            <a:ext cx="28346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55A64"/>
                </a:solidFill>
                <a:latin typeface="Arial"/>
              </a:defRPr>
            </a:pPr>
            <a:r>
              <a:t>Greet neighbors, log items and guide them to a table.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4434840"/>
            <a:ext cx="32004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4526280"/>
            <a:ext cx="2834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Repair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983480"/>
            <a:ext cx="28346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55A64"/>
                </a:solidFill>
                <a:latin typeface="Arial"/>
              </a:defRPr>
            </a:pPr>
            <a:r>
              <a:t>Work alongside owners as they try a fix together.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206240"/>
            <a:ext cx="32004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4297680"/>
            <a:ext cx="2834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Safety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754880"/>
            <a:ext cx="28346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55A64"/>
                </a:solidFill>
                <a:latin typeface="Arial"/>
              </a:defRPr>
            </a:pPr>
            <a:r>
              <a:t>Look over items and workspaces before and after.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126480"/>
            <a:ext cx="10607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D8B"/>
                </a:solidFill>
                <a:latin typeface="Arial"/>
              </a:defRPr>
            </a:pPr>
            <a:r>
              <a:t>No specialist qualification is implied by any role.  ·  About 5.6 seats per volunteer (162 ÷ 29).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A $2,860 budget, led by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789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55A64"/>
                </a:solidFill>
                <a:latin typeface="Arial"/>
              </a:defRPr>
            </a:pPr>
            <a:r>
              <a:t>Materials are 44.4% of spending; access support is $0 in this plan.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83080"/>
          <a:ext cx="58521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5943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Budget line</a:t>
                      </a:r>
                    </a:p>
                  </a:txBody>
                  <a:tcPr marL="64008" marR="64008" marT="36576" marB="36576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Amount (USD)</a:t>
                      </a:r>
                    </a:p>
                  </a:txBody>
                  <a:tcPr marL="64008" marR="64008" marT="36576" marB="36576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Share</a:t>
                      </a:r>
                    </a:p>
                  </a:txBody>
                  <a:tcPr marL="64008" marR="64008" marT="36576" marB="36576">
                    <a:solidFill>
                      <a:srgbClr val="FF704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Materials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$1,270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44.4%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Venue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$950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33.2%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Outreach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$640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22.4%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Access support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0.0%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$2,860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040880" y="1783080"/>
            <a:ext cx="448056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69480" y="1874519"/>
            <a:ext cx="4023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Amount by line (USD)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178040" y="2286000"/>
          <a:ext cx="4206240" cy="2971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669280"/>
            <a:ext cx="10789920" cy="777240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4241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3238"/>
                </a:solidFill>
                <a:latin typeface="Arial"/>
              </a:defRPr>
            </a:pPr>
            <a:r>
              <a:t>1,270 + 950 + 640 + 0 = $2,860  ·  about $17.65 per seat (2,860 ÷ 162)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Five weeks from sign-up to follow-up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6035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55A64"/>
                </a:solidFill>
                <a:latin typeface="Arial"/>
              </a:defRPr>
            </a:pPr>
            <a:r>
              <a:t>Events in week 4 need two things ready first.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3291840"/>
            <a:ext cx="10058400" cy="0"/>
          </a:xfrm>
          <a:prstGeom prst="line">
            <a:avLst/>
          </a:prstGeom>
          <a:ln w="3810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234440" y="3063240"/>
            <a:ext cx="457200" cy="457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9000" y="3063240"/>
            <a:ext cx="457200" cy="457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23560" y="3063240"/>
            <a:ext cx="457200" cy="457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18120" y="3063240"/>
            <a:ext cx="457200" cy="45720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12680" y="3063240"/>
            <a:ext cx="457200" cy="457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3657600" y="2011680"/>
            <a:ext cx="3291840" cy="105156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5852160" y="2468880"/>
            <a:ext cx="1097280" cy="59436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046720" y="2743200"/>
            <a:ext cx="0" cy="32004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949440" y="1600200"/>
            <a:ext cx="2377440" cy="114300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1664208"/>
            <a:ext cx="21945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Week 4: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103120"/>
            <a:ext cx="21945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Training AND venue confirmed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2011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1828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7043"/>
                </a:solidFill>
                <a:latin typeface="Arial"/>
              </a:defRPr>
            </a:pPr>
            <a:r>
              <a:t>Week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34840"/>
            <a:ext cx="18288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Registration opens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4160520"/>
            <a:ext cx="2011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4251960"/>
            <a:ext cx="1828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7043"/>
                </a:solidFill>
                <a:latin typeface="Arial"/>
              </a:defRPr>
            </a:pPr>
            <a:r>
              <a:t>Week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663440"/>
            <a:ext cx="18288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Volunteer training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3931920"/>
            <a:ext cx="2011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4023360"/>
            <a:ext cx="1828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7043"/>
                </a:solidFill>
                <a:latin typeface="Arial"/>
              </a:defRPr>
            </a:pPr>
            <a:r>
              <a:t>Week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434840"/>
            <a:ext cx="18288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Venue confirmation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3931920"/>
            <a:ext cx="219456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4023360"/>
            <a:ext cx="2011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7043"/>
                </a:solidFill>
                <a:latin typeface="Arial"/>
              </a:defRPr>
            </a:pPr>
            <a:r>
              <a:t>Week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434840"/>
            <a:ext cx="2011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Follow-up, one week after events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760720"/>
            <a:ext cx="10698480" cy="685800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852160"/>
            <a:ext cx="103327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Dependency: events (week 4) go ahead once training (week 2) AND venue confirmation (week 3) are both done.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Taking part is simple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789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55A64"/>
                </a:solidFill>
                <a:latin typeface="Arial"/>
              </a:defRPr>
            </a:pPr>
            <a:r>
              <a:t>Come with one small item and an open mind — we'll try it together.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7315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704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92608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3238"/>
                </a:solidFill>
                <a:latin typeface="Arial"/>
              </a:defRPr>
            </a:pPr>
            <a:r>
              <a:t>Pick a session: North, East, South or West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23360" y="2880360"/>
            <a:ext cx="365760" cy="22860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89120" y="2103120"/>
            <a:ext cx="32918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7315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704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34640"/>
            <a:ext cx="292608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3238"/>
                </a:solidFill>
                <a:latin typeface="Arial"/>
              </a:defRPr>
            </a:pPr>
            <a:r>
              <a:t>Bring one small household item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7680960" y="2880360"/>
            <a:ext cx="365760" cy="22860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46720" y="1828800"/>
            <a:ext cx="338328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7315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704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560320"/>
            <a:ext cx="301752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3238"/>
                </a:solidFill>
                <a:latin typeface="Arial"/>
              </a:defRPr>
            </a:pPr>
            <a:r>
              <a:t>Work on it alongside a volunteer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4937760" cy="173736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663440"/>
            <a:ext cx="44805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Walk-ins welcome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166360"/>
            <a:ext cx="448056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Within session capacity: 31 to 47 seats per session, 162 in total.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4434840"/>
            <a:ext cx="53035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7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526280"/>
            <a:ext cx="4846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BF360C"/>
                </a:solidFill>
                <a:latin typeface="Arial"/>
              </a:defRPr>
            </a:pPr>
            <a:r>
              <a:t>Please keep in mind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983480"/>
            <a:ext cx="4846320" cy="1325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• Repairs depend on available skills and parts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• No repair is guaranteed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• No safety certification is provided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2926080" cy="384048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292608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F360C"/>
                </a:solidFill>
                <a:latin typeface="Arial"/>
              </a:defRPr>
            </a:pPr>
            <a:r>
              <a:t>Last synthetic trial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60.0% of assessed items were repaired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789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55A64"/>
                </a:solidFill>
                <a:latin typeface="Arial"/>
              </a:defRPr>
            </a:pPr>
            <a:r>
              <a:t>Synthetic trial: 90 items assessed; most left fixed, and others got a next step.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694944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6492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Items by outcome (count, synthetic trial)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2606040"/>
          <a:ext cx="658368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955279" y="2103120"/>
            <a:ext cx="3566160" cy="15544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2194560"/>
            <a:ext cx="32918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Arial"/>
              </a:defRPr>
            </a:pPr>
            <a:r>
              <a:t>60.0%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971800"/>
            <a:ext cx="32918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repaired: 54 ÷ 90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3886200"/>
            <a:ext cx="333756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977639"/>
            <a:ext cx="310896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Referred: 22 (24.4%)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Not repairable: 14 (15.6%)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5440680"/>
            <a:ext cx="356616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5532120"/>
            <a:ext cx="32918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Check: 54 + 22 + 14 = 90 items assessed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7043"/>
                </a:solidFill>
                <a:latin typeface="Arial"/>
              </a:defRPr>
            </a:pPr>
            <a:r>
              <a:t>Join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263238"/>
                </a:solidFill>
                <a:latin typeface="Arial"/>
              </a:defRPr>
            </a:pPr>
            <a:r>
              <a:t>Sign up by the end of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55A64"/>
                </a:solidFill>
                <a:latin typeface="Arial"/>
              </a:defRPr>
            </a:pPr>
            <a:r>
              <a:t>Events run in week 4 — choose the way you'd like to take part.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420624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880360"/>
            <a:ext cx="36576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63238"/>
                </a:solidFill>
                <a:latin typeface="Arial"/>
              </a:defRPr>
            </a:pPr>
            <a:r>
              <a:t>As a participant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74720"/>
            <a:ext cx="36576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55A64"/>
                </a:solidFill>
                <a:latin typeface="Arial"/>
              </a:defRPr>
            </a:pPr>
            <a:r>
              <a:t>Reserve a seat in one of four 2-hour sessions and bring one small household item.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3063240"/>
            <a:ext cx="420624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3200400"/>
            <a:ext cx="36576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63238"/>
                </a:solidFill>
                <a:latin typeface="Arial"/>
              </a:defRPr>
            </a:pPr>
            <a:r>
              <a:t>As a volunteer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3794760"/>
            <a:ext cx="36576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55A64"/>
                </a:solidFill>
                <a:latin typeface="Arial"/>
              </a:defRPr>
            </a:pPr>
            <a:r>
              <a:t>Train in week 2, then give a 3-hour shift in welcome, repair support or safety check.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37760" y="4023360"/>
            <a:ext cx="365760" cy="18288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09760" y="4206240"/>
            <a:ext cx="365760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875520" y="2743200"/>
            <a:ext cx="1737360" cy="29260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21240" y="3108960"/>
            <a:ext cx="1645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3611880"/>
            <a:ext cx="16459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Week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4526280"/>
            <a:ext cx="16459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Sign-up closes end of week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760720"/>
            <a:ext cx="8778240" cy="731520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870448"/>
            <a:ext cx="84124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Contact: Local organizer  ·  details shared by the organizer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