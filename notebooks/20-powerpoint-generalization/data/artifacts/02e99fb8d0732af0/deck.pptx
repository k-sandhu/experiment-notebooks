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Component</c:v>
                </c:pt>
              </c:strCache>
            </c:strRef>
          </c:tx>
          <c:spPr>
            <a:solidFill>
              <a:srgbClr val="40404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Lead-time demand</c:v>
                </c:pt>
                <c:pt idx="1">
                  <c:v>Safety stock</c:v>
                </c:pt>
                <c:pt idx="2">
                  <c:v>Reorder point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132</c:v>
                </c:pt>
                <c:pt idx="1">
                  <c:v>32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(trigger)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Lead-time demand</c:v>
                </c:pt>
                <c:pt idx="1">
                  <c:v>Safety stock</c:v>
                </c:pt>
                <c:pt idx="2">
                  <c:v>Reorder point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164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Component</c:v>
                </c:pt>
              </c:strCache>
            </c:strRef>
          </c:tx>
          <c:spPr>
            <a:solidFill>
              <a:srgbClr val="80808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On-hand</c:v>
                </c:pt>
                <c:pt idx="1">
                  <c:v>On-order</c:v>
                </c:pt>
                <c:pt idx="2">
                  <c:v>Committed</c:v>
                </c:pt>
                <c:pt idx="3">
                  <c:v>Position</c:v>
                </c:pt>
                <c:pt idx="4">
                  <c:v>ROP</c:v>
                </c:pt>
                <c:pt idx="5">
                  <c:v>Target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156</c:v>
                </c:pt>
                <c:pt idx="1">
                  <c:v>20</c:v>
                </c:pt>
                <c:pt idx="2">
                  <c:v>17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Result / level</c:v>
                </c:pt>
              </c:strCache>
            </c:strRef>
          </c:tx>
          <c:spPr>
            <a:solidFill>
              <a:srgbClr val="00000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On-hand</c:v>
                </c:pt>
                <c:pt idx="1">
                  <c:v>On-order</c:v>
                </c:pt>
                <c:pt idx="2">
                  <c:v>Committed</c:v>
                </c:pt>
                <c:pt idx="3">
                  <c:v>Position</c:v>
                </c:pt>
                <c:pt idx="4">
                  <c:v>ROP</c:v>
                </c:pt>
                <c:pt idx="5">
                  <c:v>Target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159</c:v>
                </c:pt>
                <c:pt idx="4">
                  <c:v>164</c:v>
                </c:pt>
                <c:pt idx="5">
                  <c:v>264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Position</c:v>
                </c:pt>
              </c:strCache>
            </c:strRef>
          </c:tx>
          <c:spPr>
            <a:solidFill>
              <a:srgbClr val="0000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Inventory position</c:v>
                </c:pt>
                <c:pt idx="1">
                  <c:v>Reorder point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176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Reorder point</c:v>
                </c:pt>
              </c:strCache>
            </c:strRef>
          </c:tx>
          <c:spPr>
            <a:solidFill>
              <a:srgbClr val="BFBFBF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Inventory position</c:v>
                </c:pt>
                <c:pt idx="1">
                  <c:v>Reorder point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164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INVENTORY REORDER PROTOCOL  •  FOR JUNIOR TEAM MEMBERS  •  1 / 8 — LEARNING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0000"/>
                </a:solidFill>
                <a:latin typeface="Arial"/>
              </a:defRPr>
            </a:pPr>
            <a:r>
              <a:t>When and how to initiate a reorder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04040"/>
                </a:solidFill>
                <a:latin typeface="Arial"/>
              </a:defRPr>
            </a:pPr>
            <a:r>
              <a:t>A simple reorder-point rule for novice stockroom coordinators — logic, worked example, and practice.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11274552" cy="105156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0908792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LEARNING GOAL:  Teach novice stockroom coordinators a simple reorder-point rule. Explain the logic, work through an example, then offer a short practice exercise with its answer.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108960"/>
          <a:ext cx="5532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</a:tblGrid>
              <a:tr h="43891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By the end, you will be able to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Calculate a reorder point (units)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Calculate inventory position (units)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Decide: ORDER or WAIT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Avoid three common errors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99632" y="3108960"/>
          <a:ext cx="5532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Slide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Content in sequence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Rule — two formulas, one decision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3–4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Worked example, then live inventory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Process — connected decision flow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6–7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Practice, then answer + misconceptions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Checklist + annotated number line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486400"/>
            <a:ext cx="11274552" cy="5943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577840"/>
            <a:ext cx="1090879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DECISION TO MAKE EASY TO FIND:  Compare inventory position with the reorder point — every day, in the same units.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All data are synthetic. All quantities are in units unless labelled otherwise.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2 / 8 —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The rule: two formulas, one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532120" cy="1234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51663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①  REORDER POINT (units)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= daily demand × lead time in days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   + safety stock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417320"/>
            <a:ext cx="5532120" cy="1234440"/>
          </a:xfrm>
          <a:prstGeom prst="rect">
            <a:avLst/>
          </a:prstGeom>
          <a:solidFill>
            <a:srgbClr val="F2F2F2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508760"/>
            <a:ext cx="51663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②  INVENTORY POSITION (units)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t>= on-hand + on-order − committed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834640"/>
          <a:ext cx="5532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Meaning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Unit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Average use per day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 / day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Lead time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 until replenishment arrives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days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Safety stock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Buffer held for variability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Committed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Already promised to orders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99632" y="2834640"/>
          <a:ext cx="5532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Comparison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Decision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Next step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≤ 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Place an order now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&gt; 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WAIT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Review again tomorrow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= reorder point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“At” counts as trigger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Use same units both sides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440680"/>
            <a:ext cx="1090879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0000"/>
                </a:solidFill>
                <a:latin typeface="Arial"/>
              </a:defRPr>
            </a:pPr>
            <a:r>
              <a:t>③  DECISION:  Place an order when inventory position is less than or equal to (≤) the reorder point.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Logic: lead-time demand covers use while waiting; safety stock is the buffer added once — not multiplied by lead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3 / 8 —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Worked example: reorder point = 164 units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5852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41801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Step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Arithmetic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Given: daily demand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22 units / day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Given: lead time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 days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Given: safety stock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32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A. Lead-time demand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22 × 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132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B. Add safety stock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132 + 32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164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∴ Reorder point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22×6 + 32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164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37960" y="1463040"/>
            <a:ext cx="519379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Components of the reorder point (units)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37960" y="1783080"/>
          <a:ext cx="5193792" cy="2606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4572000"/>
            <a:ext cx="11274552" cy="96012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1090879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READ THE UNITS:  (22 units/day × 6 days) = 132 units  →  the “days” cancel.   Then 132 units + 32 units = 164 units.   Safety stock is already in units, so it is added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715000"/>
            <a:ext cx="112745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04040"/>
                </a:solidFill>
                <a:latin typeface="Arial"/>
              </a:defRPr>
            </a:pPr>
            <a:r>
              <a:t>164 units is the trigger level for the next slide — it is not, by itself, the quantity to order.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Check: 22 × 6 = 132;  132 + 32 = 164.  •  Value axis starts at zero.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4 / 8 — INVENTORY  •  DECISION: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77724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Position 159 ≤ 164 — so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89720" y="777240"/>
            <a:ext cx="2542032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81160" y="868680"/>
            <a:ext cx="23591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● ORDER NOW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58521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43107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Item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 (units)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Running total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On-hand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 On-order (already coming)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+ 20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− Committed (promised)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− 17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159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= Inventory position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156+20−17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159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Compare: reorder point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159 ≤ 164 ✓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3107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Target position → order qty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264 → 264−159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105 to order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1463040"/>
            <a:ext cx="519379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Components vs. result and trigger (units)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537960" y="1783080"/>
          <a:ext cx="5193792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663440"/>
            <a:ext cx="11274552" cy="914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1090879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CONCLUSION:  Position (159 units) is 5 units below the reorder point (164 units) → ORDER.   To reach target position 264 units:  264 − 159 = 105 units to order.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112745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04040"/>
                </a:solidFill>
                <a:latin typeface="Arial"/>
              </a:defRPr>
            </a:pPr>
            <a:r>
              <a:t>Preserve both adjustments: on-order (+20) raises the position; committed (−17) lowers it. On-hand alone (156) would misstate the position.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Arithmetic check: 156 + 20 = 176;  176 − 17 = 159;  164 − 159 = 5;  264 − 159 = 105.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5 / 8 —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Process: a connected daily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468880" cy="1005840"/>
          </a:xfrm>
          <a:prstGeom prst="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2286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1. READ COUNTS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on-hand, on-order,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committed (units)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2148840"/>
            <a:ext cx="5943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520440" y="1645920"/>
            <a:ext cx="2468880" cy="1005840"/>
          </a:xfrm>
          <a:prstGeom prst="rect">
            <a:avLst/>
          </a:prstGeom>
          <a:solidFill>
            <a:srgbClr val="F2F2F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737360"/>
            <a:ext cx="2286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2. CALCULATE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inventory position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= OH + OO − 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89320" y="2148840"/>
            <a:ext cx="5943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83680" y="1645920"/>
            <a:ext cx="2468880" cy="1005840"/>
          </a:xfrm>
          <a:prstGeom prst="rect">
            <a:avLst/>
          </a:prstGeom>
          <a:solidFill>
            <a:srgbClr val="D9D9D9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737360"/>
            <a:ext cx="2286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3. COMPARE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Position ≤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reorder point?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52560" y="1920240"/>
            <a:ext cx="594360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646920" y="1508760"/>
            <a:ext cx="2084831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38360" y="1627632"/>
            <a:ext cx="190195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YES → ORDER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52560" y="2423160"/>
            <a:ext cx="594360" cy="0"/>
          </a:xfrm>
          <a:prstGeom prst="line">
            <a:avLst/>
          </a:prstGeom>
          <a:ln w="285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646920" y="2514600"/>
            <a:ext cx="2084831" cy="822960"/>
          </a:xfrm>
          <a:prstGeom prst="rect">
            <a:avLst/>
          </a:prstGeom>
          <a:solidFill>
            <a:srgbClr val="FFFFFF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2633472"/>
            <a:ext cx="190195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NO → WAIT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689336" y="3337560"/>
            <a:ext cx="0" cy="640079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691640" y="3977639"/>
            <a:ext cx="8997696" cy="0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691640" y="2651760"/>
            <a:ext cx="0" cy="1325879"/>
          </a:xfrm>
          <a:prstGeom prst="line">
            <a:avLst/>
          </a:prstGeom>
          <a:ln w="1905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520440" y="4023360"/>
            <a:ext cx="51663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04040"/>
                </a:solidFill>
                <a:latin typeface="Arial"/>
              </a:defRPr>
            </a:pPr>
            <a:r>
              <a:t>WAIT branch ↩ returns to the next daily review (step 1)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4526280"/>
          <a:ext cx="1127455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Branch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Condition (units)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Example from this deck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≤ reorder point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to target position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159 ≤ 164 → order 105 (slide 4)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WAIT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Position &gt; reorder point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 order; review tomorrow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See practice — slide 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57200" y="608076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Repeat daily. The comparison — not the calendar alone — triggers the order.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6 / 8 — PRACTICE  •  ANSWER ON NEXT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Practice: order or wait?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4552" cy="685800"/>
          </a:xfrm>
          <a:prstGeom prst="rect">
            <a:avLst/>
          </a:prstGeom>
          <a:solidFill>
            <a:srgbClr val="F2F2F2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1090879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✎  Work it out before turning the page. Write the gap and circle your decision.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286000"/>
          <a:ext cx="58521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720"/>
                <a:gridCol w="1950720"/>
                <a:gridCol w="1950720"/>
              </a:tblGrid>
              <a:tr h="4754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Given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Value (units)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Your working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Inventory position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Reorder point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164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Gap = position − ROP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176 − 164 = ?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______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Is position ≤ ROP?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176 ≤ 164 ?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Yes / No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2286000"/>
            <a:ext cx="519379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0000"/>
                </a:solidFill>
                <a:latin typeface="Arial"/>
              </a:defRPr>
            </a:pPr>
            <a:r>
              <a:t>Given values only (units) — decide from the rule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537960" y="2606040"/>
          <a:ext cx="5193792" cy="2057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892040"/>
            <a:ext cx="58521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5486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MY DECISION:   ☐ ORDER      ☐ WAIT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Because: __________________________________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4892040"/>
            <a:ext cx="5193792" cy="914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5029200"/>
            <a:ext cx="482803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HINT: Use the decision rule from slide 2.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0000"/>
                </a:solidFill>
                <a:latin typeface="Arial"/>
              </a:defRPr>
            </a:pPr>
            <a:r>
              <a:t>“At or below” triggers an order.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08080"/>
                </a:solidFill>
                <a:latin typeface="Arial"/>
              </a:defRPr>
            </a:pPr>
            <a:r>
              <a:t>Do not look ahead yet — the answer and reasoning are revealed first on the next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7 / 8 — MISCONCEPTIONS  •  PRACTICE ANSWER REVEALED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74552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PRACTICE ANSWER:  WAIT  —  Position 176 units is 12 units above the reorder point (176 − 164 = 12), so 176 &gt; 164. No order; review tomorrow.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Three misconceptions to unlearn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468880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7086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✗ Misconception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Why it fails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✓ Correct practice</a:t>
                      </a:r>
                    </a:p>
                  </a:txBody>
                  <a:tcPr marL="64008" marR="64008" marT="36576" marB="36576">
                    <a:solidFill>
                      <a:srgbClr val="404040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on-hand alone with the trigger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Ignores +20 on-order and −17 committed (slide 4)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Compare inventory position: OH + OO − C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Multiply safety stock by lead time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Safety stock is already in units; 32×6 overstates it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 safety stock once: 132 + 32 = 164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Treat a larger reorder point as the order quantity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ROP is a trigger level, not how much to buy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qty = target − position (264−159 = 105)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486400"/>
            <a:ext cx="11274552" cy="640080"/>
          </a:xfrm>
          <a:prstGeom prst="rect">
            <a:avLst/>
          </a:prstGeom>
          <a:solidFill>
            <a:srgbClr val="F2F2F2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596128"/>
            <a:ext cx="10908792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0000"/>
                </a:solidFill>
                <a:latin typeface="Arial"/>
              </a:defRPr>
            </a:pPr>
            <a:r>
              <a:t>SELF-CHECK:  If your practice answer was ORDER, re-check the direction of “≤” — above the trigger means WAIT.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08080"/>
                </a:solidFill>
                <a:latin typeface="Arial"/>
              </a:defRPr>
            </a:pPr>
            <a:r>
              <a:t>All values in units. ROP = reorder point; OH = on-hand; OO = on-order; C = committed.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4552" cy="731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8 / 8 —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4552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0000"/>
                </a:solidFill>
                <a:latin typeface="Arial"/>
              </a:defRPr>
            </a:pPr>
            <a:r>
              <a:t>Before ordering: run this checklist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74552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206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☐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Check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How to verify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Example (units)</a:t>
                      </a:r>
                    </a:p>
                  </a:txBody>
                  <a:tcPr marL="64008" marR="64008" marT="36576" marB="36576">
                    <a:solidFill>
                      <a:srgbClr val="00000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☐ 1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Verify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Demand/day × days = units; all else in units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22/day × 6 days = 132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☐ 2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Include existing orders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Add on-order to on-hand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156 + 20 = 176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☐ 3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Subtract commitments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Subtract committed from that total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176 − 17 = 159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☐ 4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Check the trigger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ORDER if position ≤ ROP; else WAIT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159 ≤ 164 → ORDER 105</a:t>
                      </a:r>
                    </a:p>
                  </a:txBody>
                  <a:tcPr marL="64008" marR="64008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703320"/>
            <a:ext cx="112745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0000"/>
                </a:solidFill>
                <a:latin typeface="Arial"/>
              </a:defRPr>
            </a:pPr>
            <a:r>
              <a:t>Annotated number line (units) — where the trigger sits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434840"/>
            <a:ext cx="6528816" cy="29260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51775" y="4434840"/>
            <a:ext cx="3986784" cy="29260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6528816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  <a:latin typeface="Arial"/>
              </a:defRPr>
            </a:pPr>
            <a:r>
              <a:t>ORDER ZONE: position ≤ 164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775" y="4480560"/>
            <a:ext cx="3986784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WAIT ZONE: position &gt; 164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4983480"/>
            <a:ext cx="10515600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" y="4846320"/>
            <a:ext cx="0" cy="274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159752" y="4846320"/>
            <a:ext cx="0" cy="274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51775" y="4773168"/>
            <a:ext cx="0" cy="420624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836408" y="4846320"/>
            <a:ext cx="0" cy="274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338560" y="4846320"/>
            <a:ext cx="0" cy="274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5193792"/>
            <a:ext cx="6400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5193792"/>
            <a:ext cx="1463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159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Slide 4 →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742432"/>
            <a:ext cx="13716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164 = ROP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0000"/>
                </a:solidFill>
                <a:latin typeface="Arial"/>
              </a:defRPr>
            </a:pPr>
            <a:r>
              <a:t>(trigger)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5193792"/>
            <a:ext cx="1463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04040"/>
                </a:solidFill>
                <a:latin typeface="Arial"/>
              </a:defRPr>
            </a:pPr>
            <a:r>
              <a:t>176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04040"/>
                </a:solidFill>
                <a:latin typeface="Arial"/>
              </a:defRPr>
            </a:pPr>
            <a:r>
              <a:t>Practice → WAIT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5193792"/>
            <a:ext cx="13716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04040"/>
                </a:solidFill>
                <a:latin typeface="Arial"/>
              </a:defRPr>
            </a:pPr>
            <a:r>
              <a:t>264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404040"/>
                </a:solidFill>
                <a:latin typeface="Arial"/>
              </a:defRPr>
            </a:pPr>
            <a:r>
              <a:t>Target position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55080"/>
            <a:ext cx="112745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808080"/>
                </a:solidFill>
                <a:latin typeface="Arial"/>
              </a:defRPr>
            </a:pPr>
            <a:r>
              <a:t>Takeaway: verify units → include orders → subtract commitments → check the trigger. Repeat at the next daily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