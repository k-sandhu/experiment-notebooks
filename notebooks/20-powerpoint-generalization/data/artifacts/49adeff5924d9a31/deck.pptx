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Scenario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needed for 3-yr payback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122</c:v>
                </c:pt>
                <c:pt idx="1">
                  <c:v>122</c:v>
                </c:pt>
                <c:pt idx="2">
                  <c:v>122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EQUIPMENT PROCUREMENT · DECISION FOR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58521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Select Option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6692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$366k investment returns $122k per year: simple payback 3.0 years, break-even at year 3.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2788920"/>
            <a:ext cx="56692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92608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WHY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566928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Between A ($214k) and C ($528k) on cost; $162k less than 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99.1% reference uptime: +1.3 pts over A (97.8%)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Conditional: week-9 gate needs ≥99.6% measured uptime, so B must prove it in operation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West site demand is 8 units/day above capacity; fix before the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9144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75120" y="9144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11887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(one-time)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9144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281160" y="9144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4040" y="11887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$122k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9659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(per year)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9718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675120" y="29718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0" y="3246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3.0 yrs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233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366 ÷ 122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2971800"/>
            <a:ext cx="2423160" cy="1874519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281160" y="2971800"/>
            <a:ext cx="242316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64040" y="3246120"/>
            <a:ext cx="2057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023360"/>
            <a:ext cx="2057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3 × 122 − 366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035040"/>
            <a:ext cx="11201400" cy="0"/>
          </a:xfrm>
          <a:prstGeom prst="line">
            <a:avLst/>
          </a:prstGeom>
          <a:ln w="127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All data synthetic. Approval starts the 13-week roadmap; rollout proceeds only on a GO at the week-9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Option B balances cost, payback and uptime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Three procurement paths · reference figures unchanged · $k unless stated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7589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 ·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Payback (yrs) = inv ÷ saving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3-yr net ($k) = 3 × saving − inv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≥ 99.6% gate?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4297680" y="1645920"/>
            <a:ext cx="189738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297680" y="5486400"/>
            <a:ext cx="1897380" cy="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1645920"/>
            <a:ext cx="0" cy="384048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95060" y="1645920"/>
            <a:ext cx="0" cy="384048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412480" y="1645920"/>
            <a:ext cx="3291840" cy="384048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78308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READING THE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194560"/>
            <a:ext cx="2971800" cy="3200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A: lowest cost and fastest payback, but weakest uptime (97.8%).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C: highest uptime (99.9%), but $528k and −$9k net after 3 years.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B: $162k below C, +1.3 pts uptime over A, and breaks even in year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Reference uptime is not proof of operational performance. Only C's reference figure clears the 99.6% gate threshold; B must demonstrate ≥99.6% measured uptime during validation (see gate).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Output ran 910 units (13.8%) below target over M1–M6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Monthly output vs 1,100-unit monthly target · current performance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Units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38160" y="1600200"/>
          <a:ext cx="3566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−360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−320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1,030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1,100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−190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5,690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6,600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5029200"/>
            <a:ext cx="3566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Shortfall: 910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5486400"/>
            <a:ext cx="3566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6,600 − 5,690 = 910 (13.8% of target). Target met only in M3 and M5; M1–M2 account for 680 of the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Three-year result hinges on the full $122k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Option B saving at 80% / 100% / 120% of $122k per year · investment $366k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630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0A0A0"/>
                </a:solidFill>
                <a:latin typeface="Calibri"/>
              </a:defRPr>
            </a:pPr>
            <a:r>
              <a:t>Annual saving, $k per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60350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178308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931920"/>
            <a:ext cx="47548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Payback = 366 ÷ saving;  3-yr net = 3 × saving − 366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Downside: 366 ÷ 97.6 = 3.75 yrs;  292.8 − 366 = −73.2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Base: 366 ÷ 122 = 3.00 yrs;  366 − 366 =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Upside: 366 ÷ 146.4 = 2.50 yrs;  439.2 − 366 = +73.2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5303520"/>
            <a:ext cx="4754880" cy="86868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5349240"/>
            <a:ext cx="45262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Each ±20% swing in saving moves the 3-yr net by ±$73.2k. Track realised saving monthly from rollout.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West demand exceeds capacity by 8 units/day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Daily demand vs capacity by site · units per day · headroom = capacity − demand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DEMAND 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868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880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Net surplus masks West gap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502920" y="3291840"/>
            <a:ext cx="11155680" cy="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3840480"/>
            <a:ext cx="11155680" cy="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" y="3291840"/>
            <a:ext cx="0" cy="54864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58600" y="3291840"/>
            <a:ext cx="0" cy="548640"/>
          </a:xfrm>
          <a:prstGeom prst="line">
            <a:avLst/>
          </a:prstGeom>
          <a:ln w="31750">
            <a:solidFill>
              <a:srgbClr val="FF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North +4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1.7% headroom on 240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East +16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5.2% headroom on 310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617720"/>
            <a:ext cx="3566160" cy="1371600"/>
          </a:xfrm>
          <a:prstGeom prst="rect">
            <a:avLst/>
          </a:prstGeom>
          <a:solidFill>
            <a:srgbClr val="242424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70916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5C5C"/>
                </a:solidFill>
                <a:latin typeface="Calibri"/>
              </a:defRPr>
            </a:pPr>
            <a:r>
              <a:t>West −8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39496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Demand 2.4% above 330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Gate requires all sites to pass capacity validation: close West's 8 units/day gap (uplift, or evaluate shifting load to East's 16 spare) before week 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13-week roadmap with a single go/no-go gate in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Technical and People lanes · Validate and Train run in parallel after Build and both feed the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0" y="1691640"/>
          <a:ext cx="95097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W13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468880"/>
            <a:ext cx="1600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600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291840"/>
            <a:ext cx="11201400" cy="0"/>
          </a:xfrm>
          <a:prstGeom prst="line">
            <a:avLst/>
          </a:prstGeom>
          <a:ln w="127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286000" y="2468880"/>
            <a:ext cx="1280160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468880"/>
            <a:ext cx="1280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468880"/>
            <a:ext cx="2011680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468880"/>
            <a:ext cx="2011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468880"/>
            <a:ext cx="2011680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2011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566160"/>
            <a:ext cx="2011680" cy="5486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566160"/>
            <a:ext cx="2011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548640" cy="16459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80"/>
            <a:ext cx="548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W9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468880"/>
            <a:ext cx="2788920" cy="16459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926080"/>
            <a:ext cx="2788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W10–13 · all sites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2743200"/>
            <a:ext cx="182879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60720" y="2743200"/>
            <a:ext cx="18288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52160" y="2743200"/>
            <a:ext cx="0" cy="109728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52160" y="3840480"/>
            <a:ext cx="914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55279" y="2743200"/>
            <a:ext cx="182881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79" y="3840480"/>
            <a:ext cx="182881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0" y="3291840"/>
            <a:ext cx="18288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57200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Critical path: Design (2 wks) → Build (3) → Validate + Train in parallel (3) → Gate (1) → Rollout (4) = 13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Validate and Train both start when Build ends (W5) and must both finish by W8; a slip in either holds the gate. Supplier delay is the main threat to Build (see risk).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Week-9 gate: GO only if all three conditions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B0"/>
                </a:solidFill>
                <a:latin typeface="Calibri"/>
              </a:defRPr>
            </a:pPr>
            <a:r>
              <a:t>Every condition must pass; any single failure means HOLD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7160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4592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· Measured uptime ≥ 99.6%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Option B reference is 99.1%; reference uptime is not proof, so it must be measured in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 · All sites pass capacity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Today West fails: demand 338 vs capacity 330 units/day (−8)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5486400" cy="1143000"/>
          </a:xfrm>
          <a:prstGeom prst="rect">
            <a:avLst/>
          </a:prstGeom>
          <a:solidFill>
            <a:srgbClr val="242424"/>
          </a:solidFill>
          <a:ln>
            <a:solidFill>
              <a:srgbClr val="3D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120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 · Training and validation both finish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Both run weeks 6–8 after Build; the gate sits in week 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21742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54330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69180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217420"/>
            <a:ext cx="0" cy="265176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3543300"/>
            <a:ext cx="36576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0" y="2994660"/>
            <a:ext cx="1554480" cy="109728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154680"/>
            <a:ext cx="1554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ALL THREE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MET?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3543300"/>
            <a:ext cx="36576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2377440"/>
            <a:ext cx="0" cy="228600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98280" y="1645920"/>
            <a:ext cx="2606040" cy="14630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874519"/>
            <a:ext cx="24231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YES →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Proceed to rollout, weeks 10–13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78240" y="2377440"/>
            <a:ext cx="3200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098280" y="3931920"/>
            <a:ext cx="2606040" cy="146304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160520"/>
            <a:ext cx="24231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NO → 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Fix any unmet condition, re-test, re-gate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0" y="4663440"/>
            <a:ext cx="32004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FF99"/>
                </a:solidFill>
                <a:latin typeface="Calibri"/>
              </a:defRPr>
            </a:pPr>
            <a:r>
              <a:t>Reference uptime is not proof of operational performance: the 99.6% test uses measured uptime from validation, not the 99.1% reference 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Supplier delay is the top risk: pre-order critical parts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88720"/>
            <a:ext cx="1120140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3716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↑ IMPACT (1–5)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737360"/>
            <a:ext cx="4572000" cy="4114800"/>
          </a:xfrm>
          <a:prstGeom prst="rect">
            <a:avLst/>
          </a:prstGeom>
          <a:solidFill>
            <a:srgbClr val="22222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1031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319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46320" y="1737360"/>
            <a:ext cx="0" cy="411480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256032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338328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420624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5029200"/>
            <a:ext cx="457200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98424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016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5312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3657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897880"/>
            <a:ext cx="9144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179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LIKELIHOOD (1–5)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3429000"/>
            <a:ext cx="822960" cy="731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3520440"/>
            <a:ext cx="822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Supplier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2606040"/>
            <a:ext cx="822960" cy="7315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2697480"/>
            <a:ext cx="822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gap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737360"/>
          <a:ext cx="5394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10287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(L, I)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Score = L × I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 (L4, I3)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 to protect Build (W3–5)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 (L2, I4)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× 4 = 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 during Train (W6–8)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 &gt; 8: act on supplier delay first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gap: lower likelihood, higher impact (4)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