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Lead-time demand (units)</c:v>
                </c:pt>
              </c:strCache>
            </c:strRef>
          </c:tx>
          <c:spPr>
            <a:ln w="38100">
              <a:solidFill>
                <a:srgbClr val="A6A6A6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  <c:pt idx="5">
                  <c:v>Day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</c:v>
                </c:pt>
                <c:pt idx="1">
                  <c:v>44</c:v>
                </c:pt>
                <c:pt idx="2">
                  <c:v>66</c:v>
                </c:pt>
                <c:pt idx="3">
                  <c:v>88</c:v>
                </c:pt>
                <c:pt idx="4">
                  <c:v>110</c:v>
                </c:pt>
                <c:pt idx="5">
                  <c:v>132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Demand + safety stock (units)</c:v>
                </c:pt>
              </c:strCache>
            </c:strRef>
          </c:tx>
          <c:spPr>
            <a:ln w="38100">
              <a:solidFill>
                <a:srgbClr val="00000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  <c:pt idx="5">
                  <c:v>Day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54</c:v>
                </c:pt>
                <c:pt idx="1">
                  <c:v>76</c:v>
                </c:pt>
                <c:pt idx="2">
                  <c:v>98</c:v>
                </c:pt>
                <c:pt idx="3">
                  <c:v>120</c:v>
                </c:pt>
                <c:pt idx="4">
                  <c:v>142</c:v>
                </c:pt>
                <c:pt idx="5">
                  <c:v>164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 order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Inventory position</c:v>
                </c:pt>
                <c:pt idx="1">
                  <c:v>Reorder point</c:v>
                </c:pt>
                <c:pt idx="2">
                  <c:v>Target position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159</c:v>
                </c:pt>
                <c:pt idx="1">
                  <c:v>164</c:v>
                </c:pt>
                <c:pt idx="2">
                  <c:v>264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placing 105-unit order</c:v>
                </c:pt>
              </c:strCache>
            </c:strRef>
          </c:tx>
          <c:spPr>
            <a:solidFill>
              <a:srgbClr val="40404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Inventory position</c:v>
                </c:pt>
                <c:pt idx="1">
                  <c:v>Reorder point</c:v>
                </c:pt>
                <c:pt idx="2">
                  <c:v>Target position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264</c:v>
                </c:pt>
                <c:pt idx="1">
                  <c:v>164</c:v>
                </c:pt>
                <c:pt idx="2">
                  <c:v>264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 position</c:v>
                </c:pt>
              </c:strCache>
            </c:strRef>
          </c:tx>
          <c:spPr>
            <a:solidFill>
              <a:srgbClr val="40404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Worked example (ORDER)</c:v>
                </c:pt>
                <c:pt idx="1">
                  <c:v>Practice (WAIT)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159</c:v>
                </c:pt>
                <c:pt idx="1">
                  <c:v>176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Reorder point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Worked example (ORDER)</c:v>
                </c:pt>
                <c:pt idx="1">
                  <c:v>Practice (WAIT)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164</c:v>
                </c:pt>
                <c:pt idx="1">
                  <c:v>164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Inventory Reorder Protocol: when and how to reorder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Learning goal for junior stockroom coordinators | All data are synthetic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5120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08080"/>
                </a:solidFill>
                <a:latin typeface="Arial"/>
              </a:defRPr>
            </a:pPr>
            <a:r>
              <a:t>LEARNING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512064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Apply one simple reorder-point rule to decide, every day, whether to place a restocking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20440"/>
            <a:ext cx="51206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We explain the logic, work through one example, then give a short practice exercise. The answer is revealed on the slide after the exercise.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983480"/>
            <a:ext cx="512064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4983480"/>
            <a:ext cx="73152" cy="1234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480060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Outcome: from three counts (on-hand, on-order, committed) and one trigger, you can state ORDER or WAIT and show the arithmetic.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2200" y="1600200"/>
          <a:ext cx="551383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944"/>
                <a:gridCol w="1837944"/>
                <a:gridCol w="1837944"/>
              </a:tblGrid>
              <a:tr h="57721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Slide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Topic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you will do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Rule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Learn the two formulas and the trigger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Worked example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Calculate a reorder point with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Compute inventory position; decide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Process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Follow the daily decision loop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Practice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Decide ORDER or WAIT yourself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Misconceptions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Check the answer; avoid three errors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Checklist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Verify before ordering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The rule: compare inventory position with the reorder point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Two formulas and one decision, applied at every daily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667512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6309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08080"/>
                </a:solidFill>
                <a:latin typeface="Arial"/>
              </a:defRPr>
            </a:pPr>
            <a:r>
              <a:t>1   REORDER POINT (the trigger)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6309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Reorder point = daily demand × lead time (days) + safety stock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971800"/>
            <a:ext cx="667512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6309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08080"/>
                </a:solidFill>
                <a:latin typeface="Arial"/>
              </a:defRPr>
            </a:pPr>
            <a:r>
              <a:t>2   INVENTORY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6309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Inventory position = on-hand + on-order − committed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343400"/>
            <a:ext cx="6675120" cy="12344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343400"/>
            <a:ext cx="73152" cy="1234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434840"/>
            <a:ext cx="6309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04040"/>
                </a:solidFill>
                <a:latin typeface="Arial"/>
              </a:defRPr>
            </a:pPr>
            <a:r>
              <a:t>3  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754880"/>
            <a:ext cx="6309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If inventory position ≤ reorder point → ORDER.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Otherwise → WAIT.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715000"/>
            <a:ext cx="66751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04040"/>
                </a:solidFill>
                <a:latin typeface="Arial"/>
              </a:defRPr>
            </a:pPr>
            <a:r>
              <a:t>Units: demand in units/day, lead time in days, all stock in units. Convert everything to units before comparing.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452360" y="1600200"/>
          <a:ext cx="423367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836"/>
                <a:gridCol w="2116836"/>
              </a:tblGrid>
              <a:tr h="65967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Meaning (unit)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Average units used per day (units/day)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Lead 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 from placing an order to receipt (days)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Buffer for demand or delay surprises (units)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 physically in the stockroom (units)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 ordered, not yet received (units)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5967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 promised to jobs, not yet issued (units)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Worked example: the reorder point is 164 units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22 units/day × 6 days = 132 units of lead-time demand; + 32 units safety stock = 164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2606040" cy="5532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22 units/day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03704"/>
            <a:ext cx="2606040" cy="3520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Daily demand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2606040"/>
            <a:ext cx="260604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61334" y="1600200"/>
            <a:ext cx="2606040" cy="5532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6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1334" y="2203704"/>
            <a:ext cx="2606040" cy="3520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Lead time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61334" y="2606040"/>
            <a:ext cx="260604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19748" y="1600200"/>
            <a:ext cx="2606040" cy="5532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08080"/>
                </a:solidFill>
                <a:latin typeface="Arial"/>
              </a:defRPr>
            </a:pPr>
            <a:r>
              <a:t>32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9748" y="2203704"/>
            <a:ext cx="2606040" cy="3520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Safety stock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19748" y="2606040"/>
            <a:ext cx="260604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78163" y="1600200"/>
            <a:ext cx="2606040" cy="5532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164 units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8163" y="2203704"/>
            <a:ext cx="2606040" cy="3520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Reorder point (result)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78163" y="2606040"/>
            <a:ext cx="260604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2834640"/>
          <a:ext cx="603504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508760"/>
                <a:gridCol w="1508760"/>
                <a:gridCol w="1508760"/>
              </a:tblGrid>
              <a:tr h="67437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Calculation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 logic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  Lead-time demand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22 units/day × 6 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132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 cancel, leaving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  Add 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132 units + 32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164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 + units =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 Set the trigger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164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inventory position with 164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903720" y="2834640"/>
            <a:ext cx="47823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Cumulative units needed over the 6-day lead time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903720" y="3154680"/>
          <a:ext cx="4782312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Rectangle 19"/>
          <p:cNvSpPr/>
          <p:nvPr/>
        </p:nvSpPr>
        <p:spPr>
          <a:xfrm>
            <a:off x="502920" y="5715000"/>
            <a:ext cx="11183112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715000"/>
            <a:ext cx="73152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8813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Result: when inventory position falls to 164 units or fewer, place an order.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Position 159 ≤ trigger 164: ORDER 105 units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On-order and committed units stay in the calculation; on-hand alone is never compared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56692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Line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Arithmetic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 (in stockroom)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 (not yet received)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− (promised to jobs)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156 + 20 − 17 = 159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trigger: 159 ≤ 164 → 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Target position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264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up to this level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quantity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264 − 159 = 105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37960" y="1600200"/>
            <a:ext cx="51480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Inventory position vs. trigger and target (units)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37960" y="1920240"/>
          <a:ext cx="5148072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486400"/>
            <a:ext cx="11183112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32120"/>
            <a:ext cx="107899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DECISION: 159 ≤ 164 → ORDER. Order quantity = 264 − 159 = 105 units. Keep on-order (20) and committed (17) in the position.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Daily process: read, calculate, compare, then ORDER or WAIT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The WAIT branch loops back to the next daily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03120"/>
            <a:ext cx="2377440" cy="109728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21945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Read counts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80360" y="2651760"/>
            <a:ext cx="3657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246120" y="2103120"/>
            <a:ext cx="2377440" cy="109728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194560"/>
            <a:ext cx="21945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Calculate inventory position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23560" y="2651760"/>
            <a:ext cx="3657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989320" y="2103120"/>
            <a:ext cx="2377440" cy="1097280"/>
          </a:xfrm>
          <a:prstGeom prst="rect">
            <a:avLst/>
          </a:prstGeom>
          <a:solidFill>
            <a:srgbClr val="BFBFB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2194560"/>
            <a:ext cx="21945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Compare with reorder point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366760" y="2057400"/>
            <a:ext cx="548640" cy="5943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366760" y="2651760"/>
            <a:ext cx="548640" cy="12344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915400" y="1600200"/>
            <a:ext cx="277063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645920"/>
            <a:ext cx="258775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ORDER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position ≤ reorder point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3429000"/>
            <a:ext cx="2770632" cy="914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3474720"/>
            <a:ext cx="258775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WAIT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position &gt; reorder point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300716" y="4343400"/>
            <a:ext cx="0" cy="457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691640" y="4800600"/>
            <a:ext cx="8609076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91640" y="3200400"/>
            <a:ext cx="0" cy="1600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200400" y="4434840"/>
            <a:ext cx="4572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08080"/>
                </a:solidFill>
                <a:latin typeface="Arial"/>
              </a:defRPr>
            </a:pPr>
            <a:r>
              <a:t>WAIT returns to the next daily review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5120640"/>
          <a:ext cx="1118311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778"/>
                <a:gridCol w="2795778"/>
                <a:gridCol w="2795778"/>
                <a:gridCol w="2795778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  Read counts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  Calculate position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  Compare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On-hand, on-order, committed (units)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 + on-order − committed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Is position ≤ reorder point?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Yes: ORDER up to target. No: WAIT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Practice: should you ORDER or WAIT?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Work it out on paper first; the answer is revealed on the next slide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51206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Given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176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164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Rule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if position ≤ 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72200" y="1600200"/>
          <a:ext cx="551383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6916"/>
                <a:gridCol w="2756916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Your work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  Compare position with trigger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176  ____  164   (≤ or &gt;)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  Difference from trigger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176 − 164 = ____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 Decision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 /  WAIT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480560"/>
            <a:ext cx="11183112" cy="1737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480560"/>
            <a:ext cx="73152" cy="173736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789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08080"/>
                </a:solidFill>
                <a:latin typeface="Arial"/>
              </a:defRPr>
            </a:pPr>
            <a:r>
              <a:t>HINTS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78992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Use inventory position, not on-hand.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Write ≤ or &gt; between the two numbers before deciding.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If the position is above the trigger, state how many units above.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Practice answer: WAIT. Then avoid three common errors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176 &gt; 164: the position is 12 units above the trigger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11183112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89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ANSWER: WAIT. 176 &gt; 164, and 176 − 164 = 12 units above the reorder point. Re-check at the next daily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97480"/>
            <a:ext cx="44805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Position vs. reorder point (units)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3017520"/>
          <a:ext cx="448056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49240" y="2697480"/>
          <a:ext cx="633679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264"/>
                <a:gridCol w="2112264"/>
                <a:gridCol w="2112264"/>
              </a:tblGrid>
              <a:tr h="88011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Misconception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Why it is wrong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 this instead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8801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on-hand alone with the trigger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Ignores units on order and units already 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inventory position = on-hand + on-order − 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8801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Multiply safety stock by lead 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Safety stock is a fixed buffer in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 it once: demand × lead time + 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8801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Treat a larger reorder point as the order quantity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The reorder point is a trigger, not the order quantity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quantity = target − position (264 − 159 = 105)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Checklist before ordering: verify, include, subtract, then check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Number line of the example: position 159 sits in the ORDER zone; order up to 264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40840" cy="27432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12408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ORDER 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2468880"/>
            <a:ext cx="21945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WAIT zone (above 164)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2743200"/>
            <a:ext cx="1063447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" y="2670048"/>
            <a:ext cx="0" cy="146304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436315" y="2670048"/>
            <a:ext cx="0" cy="146304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4476" y="2670048"/>
            <a:ext cx="0" cy="146304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53551" y="2670048"/>
            <a:ext cx="0" cy="146304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411712" y="2670048"/>
            <a:ext cx="0" cy="146304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2816352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08080"/>
                </a:solidFill>
                <a:latin typeface="Arial"/>
              </a:defRPr>
            </a:pPr>
            <a:r>
              <a:t>150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0555" y="2816352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08080"/>
                </a:solidFill>
                <a:latin typeface="Arial"/>
              </a:defRPr>
            </a:pPr>
            <a:r>
              <a:t>180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28716" y="2816352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08080"/>
                </a:solidFill>
                <a:latin typeface="Arial"/>
              </a:defRPr>
            </a:pPr>
            <a:r>
              <a:t>210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7791" y="2816352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08080"/>
                </a:solidFill>
                <a:latin typeface="Arial"/>
              </a:defRPr>
            </a:pPr>
            <a:r>
              <a:t>240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4512" y="2816352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08080"/>
                </a:solidFill>
                <a:latin typeface="Arial"/>
              </a:defRPr>
            </a:pPr>
            <a:r>
              <a:t>270 units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18080" y="2377440"/>
            <a:ext cx="0" cy="36576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95120" y="1965960"/>
            <a:ext cx="1645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Reorder point 164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880445" y="2377440"/>
            <a:ext cx="0" cy="36576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057485" y="1965960"/>
            <a:ext cx="1645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Target position 264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574596" y="2743200"/>
            <a:ext cx="0" cy="41148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88796" y="3154680"/>
            <a:ext cx="13716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Example 159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→ ORDER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081528" y="2743200"/>
            <a:ext cx="0" cy="411480"/>
          </a:xfrm>
          <a:prstGeom prst="line">
            <a:avLst/>
          </a:prstGeom>
          <a:ln w="317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395728" y="3154680"/>
            <a:ext cx="13716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04040"/>
                </a:solidFill>
                <a:latin typeface="Arial"/>
              </a:defRPr>
            </a:pPr>
            <a:r>
              <a:t>Practice 176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04040"/>
                </a:solidFill>
                <a:latin typeface="Arial"/>
              </a:defRPr>
            </a:pPr>
            <a:r>
              <a:t>→ WAIT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574596" y="3840480"/>
            <a:ext cx="9305849" cy="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489704" y="3886200"/>
            <a:ext cx="3474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Order quantity 105 = 264 − 159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02920" y="4343400"/>
          <a:ext cx="11183112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704"/>
                <a:gridCol w="3727704"/>
                <a:gridCol w="3727704"/>
              </a:tblGrid>
              <a:tr h="374903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Check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to do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Example arithmetic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  Verify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All stock in units; demand in units/day; lead time in 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22 units/day × 6 days = 132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  Include existing orders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 on-order units to on-hand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156 + 20 = 176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 Subtract commitments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Subtract committed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176 − 17 = 159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  Check the trigger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only if position ≤ 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159 ≤ 164 → ORDER 105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