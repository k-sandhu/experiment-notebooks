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57.72727272727273</c:v>
                </c:pt>
                <c:pt idx="1">
                  <c:v>65.45454545454545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B735B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 count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</c:v>
                </c:pt>
                <c:pt idx="1">
                  <c:v>Q</c:v>
                </c:pt>
                <c:pt idx="2">
                  <c:v>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48</c:v>
                </c:pt>
                <c:pt idx="2">
                  <c:v>48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Does treatment improve performance?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21808" y="1673352"/>
            <a:ext cx="1545336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2057400"/>
            <a:ext cx="6675120" cy="347472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THE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608076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4A3B2A"/>
                </a:solidFill>
                <a:latin typeface="Georgia"/>
              </a:defRPr>
            </a:pPr>
            <a:r>
              <a:t>Compare treatment with control on strength-test pass rate and durability across repeated cycles.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526280"/>
            <a:ext cx="60807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Fictional material screening with random assignment.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423160"/>
            <a:ext cx="3429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BOUNDARY OF THE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971800"/>
            <a:ext cx="34290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One lab.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One batch.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297680"/>
            <a:ext cx="34290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Random assignment supports the comparison; the setting limits its reach.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Technical review of simulated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A balanced, controlled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56231"/>
            <a:ext cx="5166360" cy="137160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5352" y="1856231"/>
            <a:ext cx="5166360" cy="1371600"/>
          </a:xfrm>
          <a:prstGeom prst="roundRect">
            <a:avLst/>
          </a:prstGeom>
          <a:solidFill>
            <a:srgbClr val="F1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29968"/>
            <a:ext cx="4526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735B"/>
                </a:solidFill>
                <a:latin typeface="Georgia"/>
              </a:defRPr>
            </a:pPr>
            <a: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41448"/>
            <a:ext cx="45262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9672" y="2029968"/>
            <a:ext cx="4526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441448"/>
            <a:ext cx="45262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PROCEDURE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96512"/>
            <a:ext cx="489204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Randomly assign samples to two groups.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Use equal-duration exposure and the same test equipment.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584448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ENDPOINT &amp;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096512"/>
            <a:ext cx="489204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Endpoint: passing the predefined strength test.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Exclusions were reviewed before final reporting.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10378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Total sample size: 220 + 220 = 440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One lab and one batch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Treatment leads by 7.7 percentage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55648"/>
            <a:ext cx="6537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Strength-test pass rate (%)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240280"/>
          <a:ext cx="662940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856231"/>
            <a:ext cx="3593592" cy="36118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103120"/>
            <a:ext cx="3044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CORRECTED 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651760"/>
            <a:ext cx="304495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127 / 220 = 57.7%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703320"/>
            <a:ext cx="304495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144 / 220 = 65.5%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800600"/>
            <a:ext cx="304495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17 more passes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50992"/>
            <a:ext cx="104698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Difference = (144 − 127) / 220 × 100 = 7.7 percentage points.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6327648"/>
            <a:ext cx="97383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35B"/>
                </a:solidFill>
                <a:latin typeface="Georgia"/>
              </a:defRPr>
            </a:pPr>
            <a:r>
              <a:t>Synthetic data • Denominators fixed at 220; percentages and difference rounded separately.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TIMECOURSE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Durability declines in both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7406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Durability (%) by exposure cycles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029968"/>
          <a:ext cx="74523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5074920"/>
          <a:ext cx="72694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896"/>
                <a:gridCol w="1453896"/>
                <a:gridCol w="1453896"/>
                <a:gridCol w="1453896"/>
                <a:gridCol w="1453896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 (%)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(%)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2057400"/>
            <a:ext cx="2862072" cy="370332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2331720"/>
            <a:ext cx="236829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AT 300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880360"/>
            <a:ext cx="236829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73% 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58%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4206240"/>
            <a:ext cx="2368296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Gap: 15 percentage points.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Both begin at 100%.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All eight supplied durability values are retained.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SUBGROUPS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Equal counts do not establish equal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73936"/>
            <a:ext cx="6446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Treatment passes by supplied batch label (samples)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267712"/>
          <a:ext cx="64922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847088"/>
            <a:ext cx="3730752" cy="3803904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121408"/>
            <a:ext cx="3182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COUNTS, NOT PASS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706624"/>
            <a:ext cx="3182112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Subgroup denominators are not supplied. A pass rate for P, Q or R cannot be calculated.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370832"/>
            <a:ext cx="318211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48 + 48 + 48 = 144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Matches corrected treatment passes.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35B"/>
                </a:solidFill>
                <a:latin typeface="Georgia"/>
              </a:defRPr>
            </a:pPr>
            <a:r>
              <a:t>Synthetic data • P/Q/R are supplied labels; independent-batch replication is not established.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Remove 13 duplicate positive treatment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10512"/>
            <a:ext cx="10634472" cy="960120"/>
          </a:xfrm>
          <a:prstGeom prst="roundRect">
            <a:avLst/>
          </a:prstGeom>
          <a:solidFill>
            <a:srgbClr val="F1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39112"/>
            <a:ext cx="1008583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Corrected treatment passes: 157 − 13 = 144. Denominators remain 220 per group.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3108960"/>
          <a:ext cx="65836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</a:tblGrid>
              <a:tr h="53949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Consistency check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Corrected result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Group denominators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 control; 220 treatment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pass rate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 / 220 = 65.5%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Pass-count difference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144 − 127 = 17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label totals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 + 48 + 48 = 144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3136392"/>
            <a:ext cx="3383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LIMIT OF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703320"/>
            <a:ext cx="3383280" cy="1783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Statistical significance is not established here.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No confidence interval is supplied.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35B"/>
                </a:solidFill>
                <a:latin typeface="Georgia"/>
              </a:defRPr>
            </a:pPr>
            <a:r>
              <a:t>All data are synthetic • Corrected results exclude the 13 duplicate positive treatment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A sample advantage with a limited reach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40480" cy="3611880"/>
          </a:xfrm>
          <a:prstGeom prst="roundRect">
            <a:avLst/>
          </a:prstGeom>
          <a:solidFill>
            <a:srgbClr val="F1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267712"/>
            <a:ext cx="323697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OBSERVED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816352"/>
            <a:ext cx="323697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C45B3A"/>
                </a:solidFill>
                <a:latin typeface="Georgia"/>
              </a:defRPr>
            </a:pPr>
            <a:r>
              <a:t>+7.7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886200"/>
            <a:ext cx="3236976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percentage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572000"/>
            <a:ext cx="323697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Treatment minus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After duplicate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103120"/>
            <a:ext cx="5943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WHAT THE OUTPUTS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660904"/>
            <a:ext cx="59436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The treatment pass rate is higher in this simulated sample. Durability is also higher at 100, 200 and 300 cycles.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6360" y="4041648"/>
            <a:ext cx="5943600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66360" y="4297680"/>
            <a:ext cx="59436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This is a measured sample difference, not evidence of broad field performance. The study still covers only one lab and one batch.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Findings describe the supplied simulated study.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Replicate before making a deployment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3337560" cy="31546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25696" y="1874519"/>
            <a:ext cx="3337560" cy="31546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4152" y="1874519"/>
            <a:ext cx="3337560" cy="31546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01  /  REPLICATE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27889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Run the comparison in 4 independent labs with blinded scoring.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14884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02  /  STANDARDIZE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743200"/>
            <a:ext cx="27889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Preserve controls and preregister exclusions.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14884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03  / 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743200"/>
            <a:ext cx="27889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Record batch conditions and include a second batch.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349240"/>
            <a:ext cx="10634472" cy="5943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449824"/>
            <a:ext cx="10140696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8E7"/>
                </a:solidFill>
                <a:latin typeface="Georgia"/>
              </a:defRPr>
            </a:pPr>
            <a:r>
              <a:t>A second batch is needed before any deployment claim.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Recommended decision: proceed to replication.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