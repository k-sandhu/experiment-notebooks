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Control</c:v>
                </c:pt>
              </c:strCache>
            </c:strRef>
          </c:tx>
          <c:spPr>
            <a:solidFill>
              <a:srgbClr val="9C8B74"/>
            </a:solidFill>
            <a:ln>
              <a:noFill/>
            </a:ln>
          </c:spPr>
          <c:cat>
            <c:strRef>
              <c:f>Sheet1!$A$2:$A$2</c:f>
              <c:strCache>
                <c:ptCount val="1"/>
                <c:pt idx="0">
                  <c:v>Passed strength test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57.7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Treatment</c:v>
                </c:pt>
              </c:strCache>
            </c:strRef>
          </c:tx>
          <c:spPr>
            <a:solidFill>
              <a:srgbClr val="C45B3A"/>
            </a:solidFill>
            <a:ln>
              <a:noFill/>
            </a:ln>
          </c:spPr>
          <c:cat>
            <c:strRef>
              <c:f>Sheet1!$A$2:$A$2</c:f>
              <c:strCache>
                <c:ptCount val="1"/>
                <c:pt idx="0">
                  <c:v>Passed strength test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71.4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4A3B2A"/>
                  </a:solidFill>
                  <a:latin typeface="Georgi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4A3B2A"/>
                </a:solidFill>
                <a:latin typeface="Georgi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4A3B2A"/>
                </a:solidFill>
                <a:latin typeface="Georgia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400">
          <a:solidFill>
            <a:srgbClr val="4A3B2A"/>
          </a:solidFill>
          <a:latin typeface="Georgia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Control</c:v>
                </c:pt>
              </c:strCache>
            </c:strRef>
          </c:tx>
          <c:spPr>
            <a:ln w="38100">
              <a:solidFill>
                <a:srgbClr val="9C8B74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0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86</c:v>
                </c:pt>
                <c:pt idx="2">
                  <c:v>72</c:v>
                </c:pt>
                <c:pt idx="3">
                  <c:v>58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Treatment</c:v>
                </c:pt>
              </c:strCache>
            </c:strRef>
          </c:tx>
          <c:spPr>
            <a:ln w="38100">
              <a:solidFill>
                <a:srgbClr val="C45B3A"/>
              </a:solidFill>
            </a:ln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0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91</c:v>
                </c:pt>
                <c:pt idx="2">
                  <c:v>82</c:v>
                </c:pt>
                <c:pt idx="3">
                  <c:v>73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1400">
                  <a:solidFill>
                    <a:srgbClr val="4A3B2A"/>
                  </a:solidFill>
                  <a:latin typeface="Georgia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4A3B2A"/>
                </a:solidFill>
                <a:latin typeface="Georgia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4A3B2A"/>
                </a:solidFill>
                <a:latin typeface="Georgia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400">
          <a:solidFill>
            <a:srgbClr val="4A3B2A"/>
          </a:solidFill>
          <a:latin typeface="Georgia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Treatment passes (count)</c:v>
                </c:pt>
              </c:strCache>
            </c:strRef>
          </c:tx>
          <c:spPr>
            <a:solidFill>
              <a:srgbClr val="C45B3A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Batch P</c:v>
                </c:pt>
                <c:pt idx="1">
                  <c:v>Batch Q</c:v>
                </c:pt>
                <c:pt idx="2">
                  <c:v>Batch 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52</c:v>
                </c:pt>
                <c:pt idx="1">
                  <c:v>52</c:v>
                </c:pt>
                <c:pt idx="2">
                  <c:v>53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4A3B2A"/>
                  </a:solidFill>
                  <a:latin typeface="Georgi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4A3B2A"/>
                </a:solidFill>
                <a:latin typeface="Georgi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4A3B2A"/>
                </a:solidFill>
                <a:latin typeface="Georgia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4A3B2A"/>
          </a:solidFill>
          <a:latin typeface="Georgia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"/>
            <a:ext cx="10725912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45B3A"/>
                </a:solidFill>
                <a:latin typeface="Georgia"/>
              </a:defRPr>
            </a:pPr>
            <a:r>
              <a:t>01 ·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59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4A3B2A"/>
                </a:solidFill>
                <a:latin typeface="Georgia"/>
              </a:defRPr>
            </a:pPr>
            <a:r>
              <a:t>Does the treatment beat control on pass rate and durability?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7259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A6650"/>
                </a:solidFill>
                <a:latin typeface="Georgia"/>
              </a:defRPr>
            </a:pPr>
            <a:r>
              <a:t>Fictional material-screening study · all data are synthetic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184648" y="1572768"/>
            <a:ext cx="1828800" cy="0"/>
          </a:xfrm>
          <a:prstGeom prst="line">
            <a:avLst/>
          </a:prstGeom>
          <a:ln w="254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22960" y="1920240"/>
            <a:ext cx="0" cy="2194560"/>
          </a:xfrm>
          <a:prstGeom prst="line">
            <a:avLst/>
          </a:prstGeom>
          <a:ln w="381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51560" y="1874519"/>
            <a:ext cx="58521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C45B3A"/>
                </a:solidFill>
                <a:latin typeface="Georgia"/>
              </a:defRPr>
            </a:pPr>
            <a:r>
              <a:t>The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286000"/>
            <a:ext cx="5852160" cy="1828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4A3B2A"/>
                </a:solidFill>
                <a:latin typeface="Georgia"/>
              </a:defRPr>
            </a:pPr>
            <a:r>
              <a:t>Compared with control, does the treatment raise the share of samples that pass the strength test, and does it hold up better across exposure cycles?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434840"/>
            <a:ext cx="5852160" cy="1463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E4C38"/>
                </a:solidFill>
                <a:latin typeface="Georgia"/>
              </a:defRPr>
            </a:pPr>
            <a:r>
              <a:t>Samples were randomly assigned to treatment or control. Pass rate is the share passing a predefined strength test; durability is the % retained at cycles 0, 100, 200 and 300.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874519"/>
            <a:ext cx="4023360" cy="4069080"/>
          </a:xfrm>
          <a:prstGeom prst="roundRect">
            <a:avLst/>
          </a:prstGeom>
          <a:solidFill>
            <a:srgbClr val="F3E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2057400"/>
            <a:ext cx="34747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4A3B2A"/>
                </a:solidFill>
                <a:latin typeface="Georgia"/>
              </a:defRPr>
            </a:pPr>
            <a:r>
              <a:t>Scope at a glance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680960" y="2560320"/>
            <a:ext cx="3474720" cy="0"/>
          </a:xfrm>
          <a:prstGeom prst="line">
            <a:avLst/>
          </a:prstGeom>
          <a:ln w="127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680960" y="2697480"/>
            <a:ext cx="16459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7A6650"/>
                </a:solidFill>
                <a:latin typeface="Georgia"/>
              </a:defRPr>
            </a:pPr>
            <a:r>
              <a:t>Assignment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2697480"/>
            <a:ext cx="1828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3B2A"/>
                </a:solidFill>
                <a:latin typeface="Georgia"/>
              </a:defRPr>
            </a:pPr>
            <a:r>
              <a:t>Random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3200400"/>
            <a:ext cx="16459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7A6650"/>
                </a:solidFill>
                <a:latin typeface="Georgia"/>
              </a:defRPr>
            </a:pPr>
            <a:r>
              <a:t>Labs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200400"/>
            <a:ext cx="1828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3B2A"/>
                </a:solidFill>
                <a:latin typeface="Georgia"/>
              </a:defRPr>
            </a:pPr>
            <a:r>
              <a:t>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3703320"/>
            <a:ext cx="16459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7A6650"/>
                </a:solidFill>
                <a:latin typeface="Georgia"/>
              </a:defRPr>
            </a:pPr>
            <a:r>
              <a:t>Batches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3703320"/>
            <a:ext cx="1828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3B2A"/>
                </a:solidFill>
                <a:latin typeface="Georgia"/>
              </a:defRPr>
            </a:pPr>
            <a:r>
              <a:t>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206240"/>
            <a:ext cx="16459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7A6650"/>
                </a:solidFill>
                <a:latin typeface="Georgia"/>
              </a:defRPr>
            </a:pPr>
            <a:r>
              <a:t>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4206240"/>
            <a:ext cx="1828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3B2A"/>
                </a:solidFill>
                <a:latin typeface="Georgia"/>
              </a:defRPr>
            </a:pPr>
            <a:r>
              <a:t>Synthetic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4800600"/>
            <a:ext cx="347472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45B3A"/>
                </a:solidFill>
                <a:latin typeface="Georgia"/>
              </a:defRPr>
            </a:pPr>
            <a:r>
              <a:t>One lab and one batch limit how far any result can generalize.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6650"/>
                </a:solidFill>
                <a:latin typeface="Georgia"/>
              </a:defRPr>
            </a:pPr>
            <a:r>
              <a:t>Synthetic data · fictional study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6400800"/>
            <a:ext cx="1856231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6650"/>
                </a:solidFill>
                <a:latin typeface="Georgia"/>
              </a:defRPr>
            </a:pPr>
            <a: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"/>
            <a:ext cx="10725912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45B3A"/>
                </a:solidFill>
                <a:latin typeface="Georgia"/>
              </a:defRPr>
            </a:pPr>
            <a:r>
              <a:t>02 ·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59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4A3B2A"/>
                </a:solidFill>
                <a:latin typeface="Georgia"/>
              </a:defRPr>
            </a:pPr>
            <a:r>
              <a:t>Two matched arms, one predefined endpoint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7259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A6650"/>
                </a:solidFill>
                <a:latin typeface="Georgia"/>
              </a:defRPr>
            </a:pPr>
            <a:r>
              <a:t>220 samples per group · equal exposure · same test equipment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184648" y="1572768"/>
            <a:ext cx="1828800" cy="0"/>
          </a:xfrm>
          <a:prstGeom prst="line">
            <a:avLst/>
          </a:prstGeom>
          <a:ln w="254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822960" y="1828800"/>
            <a:ext cx="1889150" cy="960120"/>
          </a:xfrm>
          <a:prstGeom prst="rect">
            <a:avLst/>
          </a:prstGeom>
          <a:solidFill>
            <a:srgbClr val="F3E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901952"/>
            <a:ext cx="1742846" cy="8138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Random assignment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986430" y="1828800"/>
            <a:ext cx="1889150" cy="960120"/>
          </a:xfrm>
          <a:prstGeom prst="rect">
            <a:avLst/>
          </a:prstGeom>
          <a:solidFill>
            <a:srgbClr val="F3E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9582" y="1901952"/>
            <a:ext cx="1742846" cy="8138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220 per group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12110" y="2308860"/>
            <a:ext cx="274320" cy="0"/>
          </a:xfrm>
          <a:prstGeom prst="line">
            <a:avLst/>
          </a:prstGeom>
          <a:ln w="2540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149900" y="1828800"/>
            <a:ext cx="1889150" cy="960120"/>
          </a:xfrm>
          <a:prstGeom prst="rect">
            <a:avLst/>
          </a:prstGeom>
          <a:solidFill>
            <a:srgbClr val="F3E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23052" y="1901952"/>
            <a:ext cx="1742846" cy="8138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Equal exposure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75580" y="2308860"/>
            <a:ext cx="274320" cy="0"/>
          </a:xfrm>
          <a:prstGeom prst="line">
            <a:avLst/>
          </a:prstGeom>
          <a:ln w="2540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313371" y="1828800"/>
            <a:ext cx="1889150" cy="960120"/>
          </a:xfrm>
          <a:prstGeom prst="rect">
            <a:avLst/>
          </a:prstGeom>
          <a:solidFill>
            <a:srgbClr val="F3E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86523" y="1901952"/>
            <a:ext cx="1742846" cy="8138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Same equipment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039051" y="2308860"/>
            <a:ext cx="274320" cy="0"/>
          </a:xfrm>
          <a:prstGeom prst="line">
            <a:avLst/>
          </a:prstGeom>
          <a:ln w="2540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476841" y="1828800"/>
            <a:ext cx="1889150" cy="960120"/>
          </a:xfrm>
          <a:prstGeom prst="rect">
            <a:avLst/>
          </a:prstGeom>
          <a:solidFill>
            <a:srgbClr val="F3E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49993" y="1901952"/>
            <a:ext cx="1742846" cy="81381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4A3B2A"/>
                </a:solidFill>
                <a:latin typeface="Georgia"/>
              </a:defRPr>
            </a:pPr>
            <a:r>
              <a:t>Strength-test pass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202521" y="2308860"/>
            <a:ext cx="274320" cy="0"/>
          </a:xfrm>
          <a:prstGeom prst="line">
            <a:avLst/>
          </a:prstGeom>
          <a:ln w="25400">
            <a:solidFill>
              <a:srgbClr val="4A3B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822960" y="3154680"/>
          <a:ext cx="67665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520"/>
                <a:gridCol w="2255520"/>
                <a:gridCol w="2255520"/>
              </a:tblGrid>
              <a:tr h="4876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8E7"/>
                          </a:solidFill>
                          <a:latin typeface="Georgia"/>
                        </a:defRPr>
                      </a:pPr>
                      <a:r>
                        <a:t>Design element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8E7"/>
                          </a:solidFill>
                          <a:latin typeface="Georgia"/>
                        </a:defRPr>
                      </a:pPr>
                      <a:r>
                        <a:t>Control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8E7"/>
                          </a:solidFill>
                          <a:latin typeface="Georgia"/>
                        </a:defRPr>
                      </a:pPr>
                      <a:r>
                        <a:t>Treatment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Samples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220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220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Exposure duration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Equal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Equal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Test equipment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Shared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Shared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Endpoint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Strength-test pass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Strength-test pass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Exclusions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Reviewed pre-report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Reviewed pre-report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7955279" y="3154680"/>
            <a:ext cx="3410712" cy="2926080"/>
          </a:xfrm>
          <a:prstGeom prst="roundRect">
            <a:avLst/>
          </a:prstGeom>
          <a:solidFill>
            <a:srgbClr val="F3E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79" y="3337560"/>
            <a:ext cx="29718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4A3B2A"/>
                </a:solidFill>
                <a:latin typeface="Georgia"/>
              </a:defRPr>
            </a:pPr>
            <a:r>
              <a:t>Why it matters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183879" y="3794760"/>
            <a:ext cx="1143001" cy="0"/>
          </a:xfrm>
          <a:prstGeom prst="line">
            <a:avLst/>
          </a:prstGeom>
          <a:ln w="1905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183879" y="3931920"/>
            <a:ext cx="2971800" cy="2011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Arms share duration, equipment and endpoint, so assignment is the planned difference. Exclusions were reviewed before final reporting.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6650"/>
                </a:solidFill>
                <a:latin typeface="Georgia"/>
              </a:defRPr>
            </a:pPr>
            <a:r>
              <a:t>Synthetic data · fictional study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400800"/>
            <a:ext cx="1856231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6650"/>
                </a:solidFill>
                <a:latin typeface="Georgia"/>
              </a:defRPr>
            </a:pPr>
            <a: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"/>
            <a:ext cx="10725912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45B3A"/>
                </a:solidFill>
                <a:latin typeface="Georgia"/>
              </a:defRPr>
            </a:pPr>
            <a:r>
              <a:t>03 ·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59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4A3B2A"/>
                </a:solidFill>
                <a:latin typeface="Georgia"/>
              </a:defRPr>
            </a:pPr>
            <a:r>
              <a:t>Treatment passed 13.6 points more often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7259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A6650"/>
                </a:solidFill>
                <a:latin typeface="Georgia"/>
              </a:defRPr>
            </a:pPr>
            <a:r>
              <a:t>Fixed denominators: 220 samples in each arm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184648" y="1572768"/>
            <a:ext cx="1828800" cy="0"/>
          </a:xfrm>
          <a:prstGeom prst="line">
            <a:avLst/>
          </a:prstGeom>
          <a:ln w="254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737360"/>
            <a:ext cx="57607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A3B2A"/>
                </a:solidFill>
                <a:latin typeface="Georgia"/>
              </a:defRPr>
            </a:pPr>
            <a:r>
              <a:t>Pass rate by arm, % of 220 samples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31520" y="2103120"/>
          <a:ext cx="576072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0" y="1783080"/>
          <a:ext cx="45720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143000"/>
                <a:gridCol w="1143000"/>
                <a:gridCol w="1143000"/>
              </a:tblGrid>
              <a:tr h="4343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8E7"/>
                          </a:solidFill>
                          <a:latin typeface="Georgia"/>
                        </a:defRPr>
                      </a:pPr>
                      <a:r>
                        <a:t>Arm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8E7"/>
                          </a:solidFill>
                          <a:latin typeface="Georgia"/>
                        </a:defRPr>
                      </a:pPr>
                      <a:r>
                        <a:t>Passed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8E7"/>
                          </a:solidFill>
                          <a:latin typeface="Georgia"/>
                        </a:defRPr>
                      </a:pPr>
                      <a:r>
                        <a:t>Samples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8E7"/>
                          </a:solidFill>
                          <a:latin typeface="Georgia"/>
                        </a:defRPr>
                      </a:pPr>
                      <a:r>
                        <a:t>Pass rate</a:t>
                      </a:r>
                    </a:p>
                  </a:txBody>
                  <a:tcPr marL="64008" marR="64008" marT="36576" marB="36576">
                    <a:solidFill>
                      <a:srgbClr val="C45B3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Control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127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220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57.7%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Treatment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157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220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71.4%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Difference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+30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+13.6 pp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0" y="3749039"/>
            <a:ext cx="2148840" cy="7040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C45B3A"/>
                </a:solidFill>
                <a:latin typeface="Georgia"/>
              </a:defRPr>
            </a:pPr>
            <a:r>
              <a:t>+13.6 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4517136"/>
            <a:ext cx="2148840" cy="4480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absolute difference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0" y="5029200"/>
            <a:ext cx="2148840" cy="0"/>
          </a:xfrm>
          <a:prstGeom prst="line">
            <a:avLst/>
          </a:prstGeom>
          <a:ln w="127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281160" y="3749039"/>
            <a:ext cx="2148840" cy="7040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9C8B74"/>
                </a:solidFill>
                <a:latin typeface="Georgia"/>
              </a:defRPr>
            </a:pPr>
            <a:r>
              <a:t>+30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1160" y="4517136"/>
            <a:ext cx="2148840" cy="448055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more passes of 220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281160" y="5029200"/>
            <a:ext cx="2148840" cy="0"/>
          </a:xfrm>
          <a:prstGeom prst="line">
            <a:avLst/>
          </a:prstGeom>
          <a:ln w="127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858000" y="5257800"/>
            <a:ext cx="4572000" cy="868680"/>
          </a:xfrm>
          <a:prstGeom prst="roundRect">
            <a:avLst/>
          </a:prstGeom>
          <a:solidFill>
            <a:srgbClr val="F3E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0" y="5303520"/>
            <a:ext cx="42062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71.4% − 57.7% = 13.6 pp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A3B2A"/>
                </a:solidFill>
                <a:latin typeface="Georgia"/>
              </a:defRPr>
            </a:pPr>
            <a:r>
              <a:t>(157 − 127) / 220 = 30 / 220 = 13.6%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6650"/>
                </a:solidFill>
                <a:latin typeface="Georgia"/>
              </a:defRPr>
            </a:pPr>
            <a:r>
              <a:t>Synthetic data · fictional study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400800"/>
            <a:ext cx="1856231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6650"/>
                </a:solidFill>
                <a:latin typeface="Georgia"/>
              </a:defRPr>
            </a:pPr>
            <a: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"/>
            <a:ext cx="10725912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45B3A"/>
                </a:solidFill>
                <a:latin typeface="Georgia"/>
              </a:defRPr>
            </a:pPr>
            <a:r>
              <a:t>04 · TIMECOURSE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59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4A3B2A"/>
                </a:solidFill>
                <a:latin typeface="Georgia"/>
              </a:defRPr>
            </a:pPr>
            <a:r>
              <a:t>Durability gap widens with every 100 cycles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7259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A6650"/>
                </a:solidFill>
                <a:latin typeface="Georgia"/>
              </a:defRPr>
            </a:pPr>
            <a:r>
              <a:t>Durability retained (%) at exposure cycles 0, 100, 200 and 300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184648" y="1572768"/>
            <a:ext cx="1828800" cy="0"/>
          </a:xfrm>
          <a:prstGeom prst="line">
            <a:avLst/>
          </a:prstGeom>
          <a:ln w="254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737360"/>
            <a:ext cx="71323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A3B2A"/>
                </a:solidFill>
                <a:latin typeface="Georgia"/>
              </a:defRPr>
            </a:pPr>
            <a:r>
              <a:t>Durability retained, % by exposure cycle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31520" y="2103120"/>
          <a:ext cx="7132320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897880"/>
            <a:ext cx="71323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A6650"/>
                </a:solidFill>
                <a:latin typeface="Georgia"/>
              </a:defRPr>
            </a:pPr>
            <a:r>
              <a:t>Exposure cycles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783080"/>
            <a:ext cx="3108960" cy="6537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9C8B74"/>
                </a:solidFill>
                <a:latin typeface="Georgia"/>
              </a:defRPr>
            </a:pPr>
            <a:r>
              <a:t>−42 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496312"/>
            <a:ext cx="3108960" cy="41605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Control, 100% → 58%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321040" y="2971800"/>
            <a:ext cx="3108960" cy="0"/>
          </a:xfrm>
          <a:prstGeom prst="line">
            <a:avLst/>
          </a:prstGeom>
          <a:ln w="127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321040" y="3108960"/>
            <a:ext cx="3108960" cy="6537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C45B3A"/>
                </a:solidFill>
                <a:latin typeface="Georgia"/>
              </a:defRPr>
            </a:pPr>
            <a:r>
              <a:t>−27 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822191"/>
            <a:ext cx="3108960" cy="416051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Treatment, 100% → 73%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321040" y="4297680"/>
            <a:ext cx="3108960" cy="0"/>
          </a:xfrm>
          <a:prstGeom prst="line">
            <a:avLst/>
          </a:prstGeom>
          <a:ln w="127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321040" y="4480560"/>
            <a:ext cx="3108960" cy="1691640"/>
          </a:xfrm>
          <a:prstGeom prst="roundRect">
            <a:avLst/>
          </a:prstGeom>
          <a:solidFill>
            <a:srgbClr val="F3E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4572000"/>
            <a:ext cx="27432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3B2A"/>
                </a:solidFill>
                <a:latin typeface="Georgia"/>
              </a:defRPr>
            </a:pPr>
            <a:r>
              <a:t>Gap: treatment −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4983480"/>
            <a:ext cx="2743200" cy="1143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0 → 5 → 10 → 15 pts at cycles 0, 100, 200, 300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6650"/>
                </a:solidFill>
                <a:latin typeface="Georgia"/>
              </a:defRPr>
            </a:pPr>
            <a:r>
              <a:t>Synthetic data · fictional study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400800"/>
            <a:ext cx="1856231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6650"/>
                </a:solidFill>
                <a:latin typeface="Georgia"/>
              </a:defRPr>
            </a:pPr>
            <a: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"/>
            <a:ext cx="10725912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45B3A"/>
                </a:solidFill>
                <a:latin typeface="Georgia"/>
              </a:defRPr>
            </a:pPr>
            <a:r>
              <a:t>05 · SUBGROUPS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59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4A3B2A"/>
                </a:solidFill>
                <a:latin typeface="Georgia"/>
              </a:defRPr>
            </a:pPr>
            <a:r>
              <a:t>Treatment passes split evenly across labels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7259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A6650"/>
                </a:solidFill>
                <a:latin typeface="Georgia"/>
              </a:defRPr>
            </a:pPr>
            <a:r>
              <a:t>Counts of passing treatment samples by batch label P, Q, 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184648" y="1572768"/>
            <a:ext cx="1828800" cy="0"/>
          </a:xfrm>
          <a:prstGeom prst="line">
            <a:avLst/>
          </a:prstGeom>
          <a:ln w="254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1737360"/>
            <a:ext cx="6126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A3B2A"/>
                </a:solidFill>
                <a:latin typeface="Georgia"/>
              </a:defRPr>
            </a:pPr>
            <a:r>
              <a:t>Treatment pass counts by batch label (samples)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31520" y="2103120"/>
          <a:ext cx="612648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0" y="1783080"/>
            <a:ext cx="4114800" cy="2057400"/>
          </a:xfrm>
          <a:prstGeom prst="roundRect">
            <a:avLst/>
          </a:prstGeom>
          <a:solidFill>
            <a:srgbClr val="F3E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43800" y="1920240"/>
            <a:ext cx="36576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45B3A"/>
                </a:solidFill>
                <a:latin typeface="Georgia"/>
              </a:defRPr>
            </a:pPr>
            <a:r>
              <a:t>Counts, not rates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2377440"/>
            <a:ext cx="365760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Subgroup denominators were not supplied, so a pass rate for P, Q or R cannot be computed or compared.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4023360"/>
            <a:ext cx="4114800" cy="914400"/>
          </a:xfrm>
          <a:prstGeom prst="roundRect">
            <a:avLst/>
          </a:prstGeom>
          <a:solidFill>
            <a:srgbClr val="F7EBD3"/>
          </a:solidFill>
          <a:ln>
            <a:solidFill>
              <a:srgbClr val="C45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4069080"/>
            <a:ext cx="36576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3B2A"/>
                </a:solidFill>
                <a:latin typeface="Georgia"/>
              </a:defRPr>
            </a:pPr>
            <a:r>
              <a:t>52 + 52 + 53 = 157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4A3B2A"/>
                </a:solidFill>
                <a:latin typeface="Georgia"/>
              </a:defRPr>
            </a:pPr>
            <a:r>
              <a:t>= total treatment passes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5120640"/>
            <a:ext cx="411480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E4C38"/>
                </a:solidFill>
                <a:latin typeface="Georgia"/>
              </a:defRPr>
            </a:pPr>
            <a:r>
              <a:t>Consistency check: the study is described as one batch; reconcile the P/Q/R labels during the audit.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6650"/>
                </a:solidFill>
                <a:latin typeface="Georgia"/>
              </a:defRPr>
            </a:pPr>
            <a:r>
              <a:t>Synthetic data · fictional study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400800"/>
            <a:ext cx="1856231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6650"/>
                </a:solidFill>
                <a:latin typeface="Georgia"/>
              </a:defRPr>
            </a:pPr>
            <a: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"/>
            <a:ext cx="10725912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45B3A"/>
                </a:solidFill>
                <a:latin typeface="Georgia"/>
              </a:defRPr>
            </a:pPr>
            <a:r>
              <a:t>06 ·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59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4A3B2A"/>
                </a:solidFill>
                <a:latin typeface="Georgia"/>
              </a:defRPr>
            </a:pPr>
            <a:r>
              <a:t>Figures come from an unaudited initial extract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7259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A6650"/>
                </a:solidFill>
                <a:latin typeface="Georgia"/>
              </a:defRPr>
            </a:pPr>
            <a:r>
              <a:t>What is established, pending, and deliberately not claimed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184648" y="1572768"/>
            <a:ext cx="1828800" cy="0"/>
          </a:xfrm>
          <a:prstGeom prst="line">
            <a:avLst/>
          </a:prstGeom>
          <a:ln w="254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22960" y="1828800"/>
            <a:ext cx="3840480" cy="4297680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32918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3E3C7"/>
                </a:solidFill>
                <a:latin typeface="Georgia"/>
              </a:defRPr>
            </a:pPr>
            <a:r>
              <a:t>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329184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8E7"/>
                </a:solidFill>
                <a:latin typeface="Georgia"/>
              </a:defRPr>
            </a:pPr>
            <a:r>
              <a:t>Initial extract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97280" y="3383280"/>
            <a:ext cx="1280160" cy="0"/>
          </a:xfrm>
          <a:prstGeom prst="line">
            <a:avLst/>
          </a:prstGeom>
          <a:ln w="19050">
            <a:solidFill>
              <a:srgbClr val="FFF8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97280" y="3566160"/>
            <a:ext cx="3291840" cy="2377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F8E7"/>
                </a:solidFill>
                <a:latin typeface="Georgia"/>
              </a:defRPr>
            </a:pPr>
            <a:r>
              <a:t>Duplicate-record audit is pending. Counts and rates in this deck may change once it is complete.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0" y="1828800"/>
          <a:ext cx="6336792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8396"/>
                <a:gridCol w="3168396"/>
              </a:tblGrid>
              <a:tr h="7162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8E7"/>
                          </a:solidFill>
                          <a:latin typeface="Georgia"/>
                        </a:defRPr>
                      </a:pPr>
                      <a:r>
                        <a:t>Item</a:t>
                      </a:r>
                    </a:p>
                  </a:txBody>
                  <a:tcPr marL="64008" marR="64008" marT="36576" marB="36576">
                    <a:solidFill>
                      <a:srgbClr val="4A3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8E7"/>
                          </a:solidFill>
                          <a:latin typeface="Georgia"/>
                        </a:defRPr>
                      </a:pPr>
                      <a:r>
                        <a:t>Status</a:t>
                      </a:r>
                    </a:p>
                  </a:txBody>
                  <a:tcPr marL="64008" marR="64008" marT="36576" marB="36576">
                    <a:solidFill>
                      <a:srgbClr val="4A3B2A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Pass counts (127, 157 of 220)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Initial extract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Duplicate-record audit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Pending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Exclusions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Reviewed before final reporting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Statistical significance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Not claimed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Confidence interval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4A3B2A"/>
                          </a:solidFill>
                          <a:latin typeface="Georgia"/>
                        </a:defRPr>
                      </a:pPr>
                      <a:r>
                        <a:t>Not reported</a:t>
                      </a:r>
                    </a:p>
                  </a:txBody>
                  <a:tcPr marL="64008" marR="64008" marT="36576" marB="36576">
                    <a:solidFill>
                      <a:srgbClr val="FBF1DC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6650"/>
                </a:solidFill>
                <a:latin typeface="Georgia"/>
              </a:defRPr>
            </a:pPr>
            <a:r>
              <a:t>Synthetic data · fictional study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00800"/>
            <a:ext cx="1856231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6650"/>
                </a:solidFill>
                <a:latin typeface="Georgia"/>
              </a:defRPr>
            </a:pPr>
            <a: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"/>
            <a:ext cx="10725912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45B3A"/>
                </a:solidFill>
                <a:latin typeface="Georgia"/>
              </a:defRPr>
            </a:pPr>
            <a:r>
              <a:t>07 ·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59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4A3B2A"/>
                </a:solidFill>
                <a:latin typeface="Georgia"/>
              </a:defRPr>
            </a:pPr>
            <a:r>
              <a:t>A measured sample difference, not field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7259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A6650"/>
                </a:solidFill>
                <a:latin typeface="Georgia"/>
              </a:defRPr>
            </a:pPr>
            <a:r>
              <a:t>Reading the results within the study's limits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184648" y="1572768"/>
            <a:ext cx="1828800" cy="0"/>
          </a:xfrm>
          <a:prstGeom prst="line">
            <a:avLst/>
          </a:prstGeom>
          <a:ln w="254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22960" y="1783080"/>
            <a:ext cx="10543032" cy="1143000"/>
          </a:xfrm>
          <a:prstGeom prst="roundRect">
            <a:avLst/>
          </a:prstGeom>
          <a:solidFill>
            <a:srgbClr val="F3E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74519"/>
            <a:ext cx="9994392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4A3B2A"/>
                </a:solidFill>
                <a:latin typeface="Georgia"/>
              </a:defRPr>
            </a:pPr>
            <a:r>
              <a:t>The observed treatment pass rate is higher by 13.6 points (71.4% vs 57.7%). This is a measured sample difference, not evidence of broad field performance.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200400"/>
            <a:ext cx="5120640" cy="2926080"/>
          </a:xfrm>
          <a:prstGeom prst="roundRect">
            <a:avLst/>
          </a:prstGeom>
          <a:solidFill>
            <a:srgbClr val="F7EB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1097280" y="3794760"/>
            <a:ext cx="1097280" cy="0"/>
          </a:xfrm>
          <a:prstGeom prst="line">
            <a:avLst/>
          </a:prstGeom>
          <a:ln w="25400">
            <a:solidFill>
              <a:srgbClr val="7A8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97280" y="3337560"/>
            <a:ext cx="45720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4A3B2A"/>
                </a:solidFill>
                <a:latin typeface="Georgia"/>
              </a:defRPr>
            </a:pPr>
            <a:r>
              <a:t>Supported by this sample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931920"/>
            <a:ext cx="4572000" cy="2103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• Pass rate 71.4% vs 57.7% (157 vs 127 of 220)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• Durability 73% vs 58% retained at cycle 300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• Random assignment within one lab and one batch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3200400"/>
            <a:ext cx="5120640" cy="2926080"/>
          </a:xfrm>
          <a:prstGeom prst="roundRect">
            <a:avLst/>
          </a:prstGeom>
          <a:solidFill>
            <a:srgbClr val="F7EB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6519672" y="3794760"/>
            <a:ext cx="1097280" cy="0"/>
          </a:xfrm>
          <a:prstGeom prst="line">
            <a:avLst/>
          </a:prstGeom>
          <a:ln w="254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19672" y="3337560"/>
            <a:ext cx="45720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4A3B2A"/>
                </a:solidFill>
                <a:latin typeface="Georgia"/>
              </a:defRPr>
            </a:pPr>
            <a:r>
              <a:t>Not supported yet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3931920"/>
            <a:ext cx="4572000" cy="2103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• Broad field performance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• Statistical significance or a confidence interval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• Results beyond one lab and one batch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4A3B2A"/>
                </a:solidFill>
                <a:latin typeface="Georgia"/>
              </a:defRPr>
            </a:pPr>
            <a:r>
              <a:t>• Final figures before the duplicate audit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6650"/>
                </a:solidFill>
                <a:latin typeface="Georgia"/>
              </a:defRPr>
            </a:pPr>
            <a:r>
              <a:t>Synthetic data · fictional study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400800"/>
            <a:ext cx="1856231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6650"/>
                </a:solidFill>
                <a:latin typeface="Georgia"/>
              </a:defRPr>
            </a:pPr>
            <a: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"/>
            <a:ext cx="10725912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45B3A"/>
                </a:solidFill>
                <a:latin typeface="Georgia"/>
              </a:defRPr>
            </a:pPr>
            <a:r>
              <a:t>08 · 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591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4A3B2A"/>
                </a:solidFill>
                <a:latin typeface="Georgia"/>
              </a:defRPr>
            </a:pPr>
            <a:r>
              <a:t>Replicate before any deployment claim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7259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A6650"/>
                </a:solidFill>
                <a:latin typeface="Georgia"/>
              </a:defRPr>
            </a:pPr>
            <a:r>
              <a:t>Three independent labs, blinded scoring, and a second batch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184648" y="1572768"/>
            <a:ext cx="1828800" cy="0"/>
          </a:xfrm>
          <a:prstGeom prst="line">
            <a:avLst/>
          </a:prstGeom>
          <a:ln w="25400">
            <a:solidFill>
              <a:srgbClr val="C45B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22960" y="1783080"/>
            <a:ext cx="10543032" cy="1005840"/>
          </a:xfrm>
          <a:prstGeom prst="roundRect">
            <a:avLst/>
          </a:prstGeom>
          <a:solidFill>
            <a:srgbClr val="C45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74519"/>
            <a:ext cx="999439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8E7"/>
                </a:solidFill>
                <a:latin typeface="Georgia"/>
              </a:defRPr>
            </a:pPr>
            <a:r>
              <a:t>Decision: make no deployment claim now. Replicate in 3 independent labs with blinded scoring.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017520"/>
            <a:ext cx="2430018" cy="2331720"/>
          </a:xfrm>
          <a:prstGeom prst="rect">
            <a:avLst/>
          </a:prstGeom>
          <a:solidFill>
            <a:srgbClr val="F3E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3127248"/>
            <a:ext cx="2210561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Replicate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749039"/>
            <a:ext cx="2210561" cy="1490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3 independent labs with blinded scoring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7297" y="3017520"/>
            <a:ext cx="2430018" cy="2331720"/>
          </a:xfrm>
          <a:prstGeom prst="rect">
            <a:avLst/>
          </a:prstGeom>
          <a:solidFill>
            <a:srgbClr val="F3E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7025" y="3127248"/>
            <a:ext cx="2210561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7025" y="3749039"/>
            <a:ext cx="2210561" cy="1490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Preserve a control arm in every run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1636" y="3017520"/>
            <a:ext cx="2430018" cy="2331720"/>
          </a:xfrm>
          <a:prstGeom prst="rect">
            <a:avLst/>
          </a:prstGeom>
          <a:solidFill>
            <a:srgbClr val="F3E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1364" y="3127248"/>
            <a:ext cx="2210561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Exclusions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1364" y="3749039"/>
            <a:ext cx="2210561" cy="1490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Preregister exclusion rules in advance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35974" y="3017520"/>
            <a:ext cx="2430018" cy="2331720"/>
          </a:xfrm>
          <a:prstGeom prst="rect">
            <a:avLst/>
          </a:prstGeom>
          <a:solidFill>
            <a:srgbClr val="F3E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5701" y="3127248"/>
            <a:ext cx="2210561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4A3B2A"/>
                </a:solidFill>
                <a:latin typeface="Georgia"/>
              </a:defRPr>
            </a:pPr>
            <a:r>
              <a:t>Batches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5701" y="3749039"/>
            <a:ext cx="2210561" cy="149047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4A3B2A"/>
                </a:solidFill>
                <a:latin typeface="Georgia"/>
              </a:defRPr>
            </a:pPr>
            <a:r>
              <a:t>Record batch conditions for every sample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532120"/>
            <a:ext cx="10543032" cy="685800"/>
          </a:xfrm>
          <a:prstGeom prst="roundRect">
            <a:avLst/>
          </a:prstGeom>
          <a:solidFill>
            <a:srgbClr val="F7EBD3"/>
          </a:solidFill>
          <a:ln>
            <a:solidFill>
              <a:srgbClr val="C45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577840"/>
            <a:ext cx="9994392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C45B3A"/>
                </a:solidFill>
                <a:latin typeface="Georgia"/>
              </a:defRPr>
            </a:pPr>
            <a:r>
              <a:t>Gate: a second batch is needed before any deployment claim.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6650"/>
                </a:solidFill>
                <a:latin typeface="Georgia"/>
              </a:defRPr>
            </a:pPr>
            <a:r>
              <a:t>Synthetic data · fictional study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6400800"/>
            <a:ext cx="1856231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A6650"/>
                </a:solidFill>
                <a:latin typeface="Georgia"/>
              </a:defRPr>
            </a:pPr>
            <a: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