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0FF9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(116/200)</c:v>
                </c:pt>
                <c:pt idx="1">
                  <c:v>Treatment (144/200)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58.0</c:v>
                </c:pt>
                <c:pt idx="1">
                  <c:v>72.0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A0A0A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87</c:v>
                </c:pt>
                <c:pt idx="2">
                  <c:v>73</c:v>
                </c:pt>
                <c:pt idx="3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Cycle 0</c:v>
                </c:pt>
                <c:pt idx="1">
                  <c:v>Cycle 100</c:v>
                </c:pt>
                <c:pt idx="2">
                  <c:v>Cycle 200</c:v>
                </c:pt>
                <c:pt idx="3">
                  <c:v>Cycle 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92</c:v>
                </c:pt>
                <c:pt idx="2">
                  <c:v>83</c:v>
                </c:pt>
                <c:pt idx="3">
                  <c:v>74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Does treatment improve pass rate and durability versus control?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Fictional material-screening study | Preliminary results for peer review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6675120" cy="416052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73152" cy="41605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1264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Compared with control, does the treatment raise the pass rate and preserve durability?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886200"/>
            <a:ext cx="603504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40233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1: pass rate on a predefined strength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6126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Endpoint 2: durability (%) at cycles 0, 100, 200,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61264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Comparison: treatment group vs control group, 200 samples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64592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3794760"/>
            <a:ext cx="2057400" cy="2011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8952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738360" y="1828800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81635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Lab only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38360" y="3474720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8952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Batch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738360" y="3977639"/>
            <a:ext cx="178308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965192"/>
            <a:ext cx="178308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Samples (2 x 200)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38360" y="5623559"/>
            <a:ext cx="1783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5989320"/>
            <a:ext cx="11155680" cy="50292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Scope caveat: one lab and one batch only, so results describe this sample, not general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Design: two randomized groups tested under identical conditions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200 samples per group | equal-duration exposure | same test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Random assignment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Equal-duration exposure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Same test equipment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Predefined strength test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9601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Exclusion review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171700"/>
            <a:ext cx="274320" cy="0"/>
          </a:xfrm>
          <a:prstGeom prst="line">
            <a:avLst/>
          </a:prstGeom>
          <a:ln w="25400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292608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DESIGN ELEMENTS BY GROUP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333756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Samples (n)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Strength test pass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7635240" y="2926080"/>
            <a:ext cx="4023360" cy="315468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06324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WHAT IS CONTROLLED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Assignment: random, so groups differ only by treatment in expectation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429768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0" y="438912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Endpoint: predefined pass/fail strength criterion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63840" y="5166360"/>
            <a:ext cx="35661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863840" y="5257800"/>
            <a:ext cx="35661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Exclusions: reviewed before final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passed 144/200 vs 116/200 for control: +14.0 points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Pass rate on the predefined strength test | denominators fixed at n = 200 per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PASS RATE (%), n = 200 PER GROUP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EXACT COUNTS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201168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58.0%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-28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+14.0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63640" y="4297680"/>
            <a:ext cx="5394960" cy="18288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297680"/>
            <a:ext cx="73152" cy="18288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407408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ARITHMETIC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800600"/>
            <a:ext cx="4937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116 / 200 = 58.0%     144 / 200 = 72.0%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257800"/>
            <a:ext cx="49377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72.0% - 58.0% = 14.0 percentage points, i.e. 28 more passes on the same n =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Durability gap widened from 0 to 15 points by cycle 300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Durability (%) at cycles 0, 100, 200, 300 | all eight measured values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766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DURABILITY (%) BY CYCLE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16002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VALUES AND GAP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35240" y="2011680"/>
          <a:ext cx="4023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47548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92%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83%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10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59%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74%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15 pts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4617720"/>
            <a:ext cx="4023360" cy="15087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4617720"/>
            <a:ext cx="73152" cy="15087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70916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LOSS FROM CYCLE 0 TO 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507492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Control: 100 - 59 = 41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48640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Treatment: 100 - 74 = 26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Treatment passes split evenly across labels P/Q/R: 48 each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These are pass counts, not subgroup pass rates | subgroup denominators were not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TREATMENT PASS COUNTS BY BATCH LABEL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11680"/>
          <a:ext cx="6949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60350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Batch label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Passes (count)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Denominator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Q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supplied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computable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72.0%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303520"/>
            <a:ext cx="6949440" cy="777240"/>
          </a:xfrm>
          <a:prstGeom prst="rect">
            <a:avLst/>
          </a:prstGeom>
          <a:solidFill>
            <a:srgbClr val="2222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94960"/>
            <a:ext cx="6583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Check: 48 + 48 + 48 = 144 treatment passes; 144 / 200 = 72.0%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600200"/>
            <a:ext cx="3840480" cy="448056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600200"/>
            <a:ext cx="73152" cy="44805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WHY COUNTS, NOT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9456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A rate needs a denominator. Samples tested per label were not supplied.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92440" y="347472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440" y="3611880"/>
            <a:ext cx="33832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Equal counts do not imply equal pass rates if label sizes differ.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4892040"/>
            <a:ext cx="333756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92440" y="5029200"/>
            <a:ext cx="33832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 subgroup comparison is made.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Audit status: results come from an initial, unaudited extract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Duplicate-record audit pending | no significance testing or confidence intervals reported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82296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2377440" cy="8229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22860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PRELIMINARY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783080"/>
            <a:ext cx="8412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All counts and rates may change once the duplicate-record audit is complete.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7432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Implication for this review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Counts (116/200, 144/200) are provisional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Exclusion review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Denominators held fixed at 200 per group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 p-values are reported or implied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+14.0 pts is a point estimate only</a:t>
                      </a:r>
                    </a:p>
                  </a:txBody>
                  <a:tcPr marL="64008" marR="64008" marT="36576" marB="36576">
                    <a:solidFill>
                      <a:srgbClr val="22222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Interpretation: a measured 14.0-point sample difference, not field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evidence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What this single-lab, single-batch screen can and cannot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3383280" cy="36576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9260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+14.0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9260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Observed pass-rate difference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749039"/>
            <a:ext cx="2926080" cy="0"/>
          </a:xfrm>
          <a:prstGeom prst="line">
            <a:avLst/>
          </a:prstGeom>
          <a:ln w="127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977639"/>
            <a:ext cx="29260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Treatment 72.0% (144/200) vs control 58.0% (116/200)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45920"/>
            <a:ext cx="3589020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2377440"/>
            <a:ext cx="3369564" cy="2816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In this sample, the treatment pass rate was 14.0 points higher, and durability at cycle 300 was 15 points higher (74% vs 59%).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9579" y="1645920"/>
            <a:ext cx="3589020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307" y="1755648"/>
            <a:ext cx="336956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Not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307" y="2377440"/>
            <a:ext cx="3369564" cy="2816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Broad field performance, statistical significance, or generalization beyond one lab and one batch.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596128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Reading: a consistent direction across both endpoints, pending audit and replication.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Next step: replicate in 3 independent labs before any deployment claim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Recommended protocol for confirmation | a second batch is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8686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6984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DECISION: No deployment claim now. Replicate with blinded scoring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Replicate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3 independent labs, blinded scoring of the strength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0420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8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Preserve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8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Keep a randomized control group in every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Preregister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7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Fix exclusion rules before data collection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419" y="2743200"/>
            <a:ext cx="2583179" cy="2514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5147" y="2852928"/>
            <a:ext cx="23637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E0E0E0"/>
                </a:solidFill>
                <a:latin typeface="Calibri"/>
              </a:defRPr>
            </a:pPr>
            <a:r>
              <a:t>Record batch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5147" y="3474720"/>
            <a:ext cx="2363724" cy="1673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Log conditions for every batch tested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486400"/>
            <a:ext cx="73152" cy="6400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59552"/>
            <a:ext cx="106984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Gate: a second batch must be tested before any deployment claim is made.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A8A8A"/>
                </a:solidFill>
                <a:latin typeface="Calibri"/>
              </a:defRPr>
            </a:pPr>
            <a:r>
              <a:t>Synthetic data  |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