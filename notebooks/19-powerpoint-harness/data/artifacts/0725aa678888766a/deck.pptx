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1180</c:v>
                </c:pt>
                <c:pt idx="1">
                  <c:v>730</c:v>
                </c:pt>
                <c:pt idx="2">
                  <c:v>1210</c:v>
                </c:pt>
                <c:pt idx="3">
                  <c:v>1190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B3BAC5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1270</c:v>
                </c:pt>
                <c:pt idx="1">
                  <c:v>830</c:v>
                </c:pt>
                <c:pt idx="2">
                  <c:v>1240</c:v>
                </c:pt>
                <c:pt idx="3">
                  <c:v>1220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3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Arial"/>
              </a:defRPr>
            </a:pPr>
            <a:r>
              <a:t>ASTER COLD-CHAIN  |  REGIONAL DISTRIBUTION CAPACITY  |  OPERATIONS COMMITTEE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6424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D"/>
                </a:solidFill>
                <a:latin typeface="Arial"/>
              </a:defRPr>
            </a:pPr>
            <a:r>
              <a:t>Approve a staged pilot: a 260k investment returns 120k a year and pays back in 2.2 years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920240"/>
            <a:ext cx="11091672" cy="0"/>
          </a:xfrm>
          <a:prstGeom prst="line">
            <a:avLst/>
          </a:prstGeom>
          <a:ln w="12700">
            <a:solidFill>
              <a:srgbClr val="D0D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48640" y="2286000"/>
            <a:ext cx="4937760" cy="3840480"/>
          </a:xfrm>
          <a:prstGeom prst="roundRect">
            <a:avLst/>
          </a:prstGeom>
          <a:solidFill>
            <a:srgbClr val="E6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109728" cy="384048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43891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7F86"/>
                </a:solidFill>
                <a:latin typeface="Arial"/>
              </a:defRPr>
            </a:pPr>
            <a: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26080"/>
            <a:ext cx="438912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72B4D"/>
                </a:solidFill>
                <a:latin typeface="Arial"/>
              </a:defRPr>
            </a:pPr>
            <a:r>
              <a:t>Approve a staged 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4389120" cy="2011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Start with a limited pilot, verify results, then decide on wider rollout. Actual shipments ran below target in every quarter, so added capacity is worth testing before scaling.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2286000"/>
            <a:ext cx="18288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2468880"/>
            <a:ext cx="16459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Investment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2926080"/>
            <a:ext cx="164592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172B4D"/>
                </a:solidFill>
                <a:latin typeface="Arial"/>
              </a:defRPr>
            </a:pPr>
            <a:r>
              <a:t>260k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3749039"/>
            <a:ext cx="16459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E6C84"/>
                </a:solidFill>
                <a:latin typeface="Arial"/>
              </a:defRPr>
            </a:pPr>
            <a:r>
              <a:t>one-time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2286000"/>
            <a:ext cx="18288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19288" y="2468880"/>
            <a:ext cx="16459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Annual saving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19288" y="2926080"/>
            <a:ext cx="164592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172B4D"/>
                </a:solidFill>
                <a:latin typeface="Arial"/>
              </a:defRPr>
            </a:pPr>
            <a:r>
              <a:t>120k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19288" y="3749039"/>
            <a:ext cx="16459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E6C84"/>
                </a:solidFill>
                <a:latin typeface="Arial"/>
              </a:defRPr>
            </a:pPr>
            <a:r>
              <a:t>per year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902952" y="2286000"/>
            <a:ext cx="1737360" cy="219456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48672" y="2468880"/>
            <a:ext cx="16459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Arial"/>
              </a:defRPr>
            </a:pPr>
            <a:r>
              <a:t>Simple payback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48672" y="2926080"/>
            <a:ext cx="164592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Arial"/>
              </a:defRPr>
            </a:pPr>
            <a:r>
              <a:t>2.2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48672" y="3749039"/>
            <a:ext cx="16459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Arial"/>
              </a:defRPr>
            </a:pPr>
            <a:r>
              <a:t>years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0" y="4754880"/>
            <a:ext cx="5696712" cy="1371600"/>
          </a:xfrm>
          <a:prstGeom prst="round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72200" y="4892040"/>
            <a:ext cx="53035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7F86"/>
                </a:solidFill>
                <a:latin typeface="Arial"/>
              </a:defRPr>
            </a:pPr>
            <a:r>
              <a:t>How payback is calculated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5303520"/>
            <a:ext cx="530352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Simple payback = investment / annual saving = 260k / 120k = 2.17, rounded to 2.2 years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E6C84"/>
                </a:solidFill>
                <a:latin typeface="Arial"/>
              </a:defRPr>
            </a:pPr>
            <a:r>
              <a:t>Synthetic values for a fictional decision brief. Financial figures in thousands (k).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Arial"/>
              </a:defRPr>
            </a:pPr>
            <a:r>
              <a:t>PERFORMANCE VS TARGET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6424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72B4D"/>
                </a:solidFill>
                <a:latin typeface="Arial"/>
              </a:defRPr>
            </a:pPr>
            <a:r>
              <a:t>Shipments missed target in all four quarters; the gap narrowed from 100 in Q2 to 30 in Q3 and Q4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7498079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72B4D"/>
                </a:solidFill>
                <a:latin typeface="Arial"/>
              </a:defRPr>
            </a:pPr>
            <a:r>
              <a:t>Actual vs target shipments by quarter (shipments)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2331720"/>
          <a:ext cx="7498079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503920" y="1920240"/>
            <a:ext cx="3136392" cy="4526280"/>
          </a:xfrm>
          <a:prstGeom prst="round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32520" y="2103120"/>
            <a:ext cx="27432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7F86"/>
                </a:solidFill>
                <a:latin typeface="Arial"/>
              </a:defRPr>
            </a:pPr>
            <a:r>
              <a:t>Gap to target (shipments)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2606040"/>
            <a:ext cx="10972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E6C84"/>
                </a:solidFill>
                <a:latin typeface="Arial"/>
              </a:defRPr>
            </a:pPr>
            <a:r>
              <a:t>Q1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2606040"/>
            <a:ext cx="14630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-90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3108960"/>
            <a:ext cx="10972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E6C84"/>
                </a:solidFill>
                <a:latin typeface="Arial"/>
              </a:defRPr>
            </a:pPr>
            <a: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3108960"/>
            <a:ext cx="14630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-100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3611880"/>
            <a:ext cx="10972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E6C84"/>
                </a:solidFill>
                <a:latin typeface="Arial"/>
              </a:defRPr>
            </a:pPr>
            <a:r>
              <a:t>Q3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3611880"/>
            <a:ext cx="14630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-30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4114800"/>
            <a:ext cx="10972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E6C84"/>
                </a:solidFill>
                <a:latin typeface="Arial"/>
              </a:defRPr>
            </a:pPr>
            <a:r>
              <a:t>Q4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0" y="4114800"/>
            <a:ext cx="14630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-30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732520" y="4663440"/>
            <a:ext cx="2697480" cy="0"/>
          </a:xfrm>
          <a:prstGeom prst="line">
            <a:avLst/>
          </a:prstGeom>
          <a:ln w="12700">
            <a:solidFill>
              <a:srgbClr val="C1C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732520" y="4754880"/>
            <a:ext cx="128016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Full year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4754880"/>
            <a:ext cx="14630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7F86"/>
                </a:solidFill>
                <a:latin typeface="Arial"/>
              </a:defRPr>
            </a:pPr>
            <a:r>
              <a:t>-250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5303520"/>
            <a:ext cx="274320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E6C84"/>
                </a:solidFill>
                <a:latin typeface="Arial"/>
              </a:defRPr>
            </a:pPr>
            <a:r>
              <a:t>4,310 actual vs 4,560 target shipments (94.5% of target)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Arial"/>
              </a:defRPr>
            </a:pPr>
            <a:r>
              <a:t>SITE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6424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72B4D"/>
                </a:solidFill>
                <a:latin typeface="Arial"/>
              </a:defRPr>
            </a:pPr>
            <a:r>
              <a:t>South leads with 390 shipments and 97% on time, but each site carries a distinct risk to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67665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72B4D"/>
                </a:solidFill>
                <a:latin typeface="Arial"/>
              </a:defRPr>
            </a:pPr>
            <a:r>
              <a:t>Site performance (volume in shipments)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377440"/>
          <a:ext cx="67665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1691640"/>
                <a:gridCol w="1691640"/>
                <a:gridCol w="1691640"/>
              </a:tblGrid>
              <a:tr h="73152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Site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Volume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On time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Risk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North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350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93%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Staffing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Central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250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91%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Hardware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South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390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97%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Training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486400"/>
            <a:ext cx="676656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Central has the lowest volume (250) and on-time rate (91%); North sits in between at 350 and 93%.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920240"/>
            <a:ext cx="3776472" cy="429768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63840" y="1920240"/>
            <a:ext cx="109728" cy="4297680"/>
          </a:xfrm>
          <a:prstGeom prst="rect">
            <a:avLst/>
          </a:prstGeom>
          <a:solidFill>
            <a:srgbClr val="C2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79" y="2148840"/>
            <a:ext cx="32918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25100"/>
                </a:solidFill>
                <a:latin typeface="Arial"/>
              </a:defRPr>
            </a:pPr>
            <a:r>
              <a:t>KEY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2606040"/>
            <a:ext cx="329184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2B4D"/>
                </a:solidFill>
                <a:latin typeface="Arial"/>
              </a:defRPr>
            </a:pPr>
            <a:r>
              <a:t>Verify the pilot before wider rollout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4023360"/>
            <a:ext cx="3291840" cy="2011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B4D"/>
                </a:solidFill>
                <a:latin typeface="Arial"/>
              </a:defRPr>
            </a:pPr>
            <a:r>
              <a:t>Site risks differ (staffing, hardware, training), so pilot results may not transfer directly. Confirm savings and on-time performance before committing beyond stage one.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Arial"/>
              </a:defRPr>
            </a:pPr>
            <a:r>
              <a:t>PILOT PROCESS AND NEXT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6424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72B4D"/>
                </a:solidFill>
                <a:latin typeface="Arial"/>
              </a:defRPr>
            </a:pPr>
            <a:r>
              <a:t>The pilot tests a four-step flow; the committee's next decision is to approve stage one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2286000" cy="146304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423160"/>
            <a:ext cx="22860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228600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Receive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34640" y="3017520"/>
            <a:ext cx="649224" cy="0"/>
          </a:xfrm>
          <a:prstGeom prst="line">
            <a:avLst/>
          </a:prstGeom>
          <a:ln w="3175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483864" y="2286000"/>
            <a:ext cx="2286000" cy="146304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83864" y="2423160"/>
            <a:ext cx="22860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83864" y="2834640"/>
            <a:ext cx="228600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Inspect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69864" y="3017520"/>
            <a:ext cx="649224" cy="0"/>
          </a:xfrm>
          <a:prstGeom prst="line">
            <a:avLst/>
          </a:prstGeom>
          <a:ln w="3175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19088" y="2286000"/>
            <a:ext cx="2286000" cy="146304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23160"/>
            <a:ext cx="22860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834640"/>
            <a:ext cx="228600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Route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705088" y="3017520"/>
            <a:ext cx="649224" cy="0"/>
          </a:xfrm>
          <a:prstGeom prst="line">
            <a:avLst/>
          </a:prstGeom>
          <a:ln w="3175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354312" y="2286000"/>
            <a:ext cx="2286000" cy="146304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54312" y="2423160"/>
            <a:ext cx="22860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54312" y="2834640"/>
            <a:ext cx="228600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Dispatch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931920"/>
            <a:ext cx="1109167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Each shipment moves through all four steps in sequence during the pilot.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572000"/>
            <a:ext cx="11091672" cy="1645920"/>
          </a:xfrm>
          <a:prstGeom prst="roundRect">
            <a:avLst/>
          </a:prstGeom>
          <a:solidFill>
            <a:srgbClr val="E6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572000"/>
            <a:ext cx="109728" cy="164592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754880"/>
            <a:ext cx="27432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7F86"/>
                </a:solidFill>
                <a:latin typeface="Arial"/>
              </a:defRPr>
            </a:pPr>
            <a:r>
              <a:t>NEXT DECISION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166360"/>
            <a:ext cx="512064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72B4D"/>
                </a:solidFill>
                <a:latin typeface="Arial"/>
              </a:defRPr>
            </a:pPr>
            <a:r>
              <a:t>Approve a staged pilot: 260k investment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4800600"/>
            <a:ext cx="512064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Expected 120k annual saving and 2.2-year simple payback. Verify the pilot before wider rollout.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