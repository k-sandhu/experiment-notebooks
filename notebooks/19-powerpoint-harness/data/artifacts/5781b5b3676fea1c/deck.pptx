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950</c:v>
                </c:pt>
                <c:pt idx="1">
                  <c:v>840</c:v>
                </c:pt>
                <c:pt idx="2">
                  <c:v>850</c:v>
                </c:pt>
                <c:pt idx="3">
                  <c:v>730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3BAC5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980</c:v>
                </c:pt>
                <c:pt idx="1">
                  <c:v>900</c:v>
                </c:pt>
                <c:pt idx="2">
                  <c:v>960</c:v>
                </c:pt>
                <c:pt idx="3">
                  <c:v>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CEDAR SENSOR NETWORK · FIELD SENSOR ROLLOUT · ENGINEERING STEERING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Approve a staged pilot: $250k investment pays back in 3.1 years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011680"/>
            <a:ext cx="1109167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377440"/>
            <a:ext cx="5120640" cy="3840480"/>
          </a:xfrm>
          <a:prstGeom prst="round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109728" cy="3840480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4572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45720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45720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Readings trailed target in all four quarters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Central carries the most volume but has the lowest on-time rate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• Verify the pilot at a go/no-go checkpoint before wider rollout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37744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514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926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$250k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657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one-time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88552" y="2377440"/>
            <a:ext cx="2651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0D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17152" y="2514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2926080"/>
            <a:ext cx="22860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72B4D"/>
                </a:solidFill>
                <a:latin typeface="Arial"/>
              </a:defRPr>
            </a:pPr>
            <a:r>
              <a:t>$80k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36576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6C84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389120"/>
            <a:ext cx="5605272" cy="18288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526280"/>
            <a:ext cx="2377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937760"/>
            <a:ext cx="23774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3.1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9834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Investment ÷ annual saving</a:t>
            </a:r>
          </a:p>
          <a:p>
            <a:pPr algn="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$250k ÷ $80k = 3.125 ≈ 3.1 yrs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PERFORMANCE · ACTUAL VS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readings missed target every quarter, with the widest gap in Q3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011680"/>
            <a:ext cx="1109167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03120"/>
            <a:ext cx="7680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Readings per quarter, actual vs target (units: readings)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514600"/>
          <a:ext cx="768096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0" y="2514600"/>
            <a:ext cx="2953512" cy="3886200"/>
          </a:xfrm>
          <a:prstGeom prst="round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697480"/>
            <a:ext cx="2560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GAP TO TARGET (readings)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08960"/>
            <a:ext cx="256032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Q1   −30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Q2   −60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Q3   −110  (widest)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Q4   −70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15400" y="4709160"/>
            <a:ext cx="249631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15400" y="4846320"/>
            <a:ext cx="256032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Full year: 3,370 actual vs 3,640 target readings (−270; 92.6% of target)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SITE COMPARISON · KEY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Central carries the most volume but has the lowest on-time rate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011680"/>
            <a:ext cx="11091672" cy="0"/>
          </a:xfrm>
          <a:prstGeom prst="line">
            <a:avLst/>
          </a:prstGeom>
          <a:ln w="12700">
            <a:solidFill>
              <a:srgbClr val="D0D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0312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5E6C84"/>
                </a:solidFill>
                <a:latin typeface="Arial"/>
              </a:defRPr>
            </a:pPr>
            <a:r>
              <a:t>Volume in readings; on time as % of readings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51460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490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86%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88%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69494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E6C84"/>
                </a:solidFill>
                <a:latin typeface="Arial"/>
              </a:defRPr>
            </a:pPr>
            <a:r>
              <a:t>Combined volume: 1,130 readings across three sites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514600"/>
            <a:ext cx="3685032" cy="3657600"/>
          </a:xfrm>
          <a:prstGeom prst="roundRect">
            <a:avLst/>
          </a:prstGeom>
          <a:solidFill>
            <a:srgbClr val="FFF4E5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2514600"/>
            <a:ext cx="109728" cy="36576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697480"/>
            <a:ext cx="3154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26B00"/>
                </a:solidFill>
                <a:latin typeface="Arial"/>
              </a:defRPr>
            </a:pPr>
            <a:r>
              <a:t>KEY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108960"/>
            <a:ext cx="31546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389120"/>
            <a:ext cx="3154680" cy="1645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72B4D"/>
                </a:solidFill>
                <a:latin typeface="Arial"/>
              </a:defRPr>
            </a:pPr>
            <a:r>
              <a:t>Each site carries a different risk: staffing, hardware or training. Central has the largest exposure: 490 readings at 86% on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7F86"/>
                </a:solidFill>
                <a:latin typeface="Arial"/>
              </a:defRPr>
            </a:pPr>
            <a:r>
              <a:t>PILOT PROCESS ·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The pilot ends at a go/no-go checkpoint before any wider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01168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Install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2834640"/>
            <a:ext cx="4114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71800" y="2240280"/>
            <a:ext cx="201168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3317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Calibrate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83480" y="2834640"/>
            <a:ext cx="4114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94960" y="2240280"/>
            <a:ext cx="201168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3317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834640"/>
            <a:ext cx="4114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18120" y="2240280"/>
            <a:ext cx="2011680" cy="118872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331720"/>
            <a:ext cx="201168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Monitor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829800" y="2834640"/>
            <a:ext cx="411480" cy="0"/>
          </a:xfrm>
          <a:prstGeom prst="line">
            <a:avLst/>
          </a:prstGeom>
          <a:ln w="3175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241280" y="2240280"/>
            <a:ext cx="1399032" cy="1188720"/>
          </a:xfrm>
          <a:prstGeom prst="round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0" y="2377440"/>
            <a:ext cx="139903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GO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NO-GO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3611880"/>
            <a:ext cx="9281160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3657600"/>
            <a:ext cx="9281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Staged pilot (steps 1–4)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657600"/>
            <a:ext cx="167335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26B00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5394960" cy="2057400"/>
          </a:xfrm>
          <a:prstGeom prst="roundRect">
            <a:avLst/>
          </a:prstGeom>
          <a:solidFill>
            <a:srgbClr val="E6F4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49377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7F86"/>
                </a:solidFill>
                <a:latin typeface="Arial"/>
              </a:defRPr>
            </a:pPr>
            <a:r>
              <a:t>NEXT DECISION ·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09160"/>
            <a:ext cx="493776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72B4D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493776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$250k investment · $80k 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payback: $250k ÷ $80k ≈ 3.1 years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0624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389120"/>
            <a:ext cx="21945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GO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7F86"/>
                </a:solidFill>
                <a:latin typeface="Arial"/>
              </a:defRPr>
            </a:pPr>
            <a:r>
              <a:t>Pilot verified: proceed to wider rollout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9992" y="4206240"/>
            <a:ext cx="2560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A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62872" y="4389120"/>
            <a:ext cx="219456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26B00"/>
                </a:solidFill>
                <a:latin typeface="Arial"/>
              </a:defRPr>
            </a:pPr>
            <a:r>
              <a:t>NO-GO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26B00"/>
                </a:solidFill>
                <a:latin typeface="Arial"/>
              </a:defRPr>
            </a:pPr>
            <a:r>
              <a:t>Pilot not verified: hold rollout and return to the steering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