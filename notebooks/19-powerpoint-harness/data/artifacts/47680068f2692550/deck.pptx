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950</c:v>
                </c:pt>
                <c:pt idx="1">
                  <c:v>840</c:v>
                </c:pt>
                <c:pt idx="2">
                  <c:v>850</c:v>
                </c:pt>
                <c:pt idx="3">
                  <c:v>730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A5B5C5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980</c:v>
                </c:pt>
                <c:pt idx="1">
                  <c:v>900</c:v>
                </c:pt>
                <c:pt idx="2">
                  <c:v>960</c:v>
                </c:pt>
                <c:pt idx="3">
                  <c:v>800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4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515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86"/>
                </a:solidFill>
                <a:latin typeface="Arial"/>
              </a:defRPr>
            </a:pPr>
            <a:r>
              <a:t>CEDAR SENSOR NETWORK  /  ENGINEERING STEERING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Approve a staged pilot; payback is 3.1 years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01368"/>
            <a:ext cx="110642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579"/>
                </a:solidFill>
                <a:latin typeface="Arial"/>
              </a:defRPr>
            </a:pPr>
            <a:r>
              <a:t>Field sensor rollout • Verify pilot performance before committing to wider rollout.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560320"/>
            <a:ext cx="3547872" cy="1874519"/>
          </a:xfrm>
          <a:prstGeom prst="rect">
            <a:avLst/>
          </a:prstGeom>
          <a:solidFill>
            <a:srgbClr val="ED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798064"/>
            <a:ext cx="309067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F86"/>
                </a:solidFill>
                <a:latin typeface="Arial"/>
              </a:defRPr>
            </a:pPr>
            <a:r>
              <a:t>INVESTMENT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82696"/>
            <a:ext cx="309067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172B4D"/>
                </a:solidFill>
                <a:latin typeface="Arial"/>
              </a:defRPr>
            </a:pPr>
            <a:r>
              <a:t>$250k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5112" y="2560320"/>
            <a:ext cx="3547872" cy="1874519"/>
          </a:xfrm>
          <a:prstGeom prst="rect">
            <a:avLst/>
          </a:prstGeom>
          <a:solidFill>
            <a:srgbClr val="ED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2798064"/>
            <a:ext cx="309067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F86"/>
                </a:solidFill>
                <a:latin typeface="Arial"/>
              </a:defRPr>
            </a:pPr>
            <a:r>
              <a:t>ANNUAL SAVINGS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3282696"/>
            <a:ext cx="309067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$80k / year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01583" y="2560320"/>
            <a:ext cx="3547872" cy="1874519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0183" y="2798064"/>
            <a:ext cx="309067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SIMPLE PAYBACK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0183" y="3282696"/>
            <a:ext cx="309067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3.1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0872"/>
            <a:ext cx="110642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Simple payback = investment / annual saving = $250k / ($80k/year) ≈ 3.1 years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468112"/>
            <a:ext cx="11064240" cy="5669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7F86"/>
                </a:solidFill>
                <a:latin typeface="Arial"/>
              </a:defRPr>
            </a:pPr>
            <a:r>
              <a:t>Decision requested: approve the staged pilot, with a go/no-go gate before expansion.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6263640"/>
            <a:ext cx="11091672" cy="0"/>
          </a:xfrm>
          <a:prstGeom prst="line">
            <a:avLst/>
          </a:prstGeom>
          <a:ln w="1270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6382512"/>
            <a:ext cx="10515600" cy="2468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9"/>
                </a:solidFill>
                <a:latin typeface="Arial"/>
              </a:defRPr>
            </a:pPr>
            <a:r>
              <a:t>Synthetic decision brief • k = thousand dollars • Payback rounded to one decimal year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37392" y="6382512"/>
            <a:ext cx="502920" cy="2468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9"/>
                </a:solidFill>
                <a:latin typeface="Arial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515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86"/>
                </a:solidFill>
                <a:latin typeface="Arial"/>
              </a:defRPr>
            </a:pPr>
            <a:r>
              <a:t>CEDAR SENSOR NETWORK  / 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Actual readings miss target in every quarter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642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579"/>
                </a:solidFill>
                <a:latin typeface="Arial"/>
              </a:defRPr>
            </a:pPr>
            <a:r>
              <a:t>Quarterly performance • Units: readings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2221992"/>
          <a:ext cx="8092440" cy="37764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8942832" y="2313432"/>
            <a:ext cx="2697480" cy="3639312"/>
          </a:xfrm>
          <a:prstGeom prst="rect">
            <a:avLst/>
          </a:prstGeom>
          <a:solidFill>
            <a:srgbClr val="F1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1432" y="2551176"/>
            <a:ext cx="22402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26579"/>
                </a:solidFill>
                <a:latin typeface="Arial"/>
              </a:defRPr>
            </a:pPr>
            <a:r>
              <a:t>ANNUAL TOTAL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71432" y="3008376"/>
            <a:ext cx="2240280" cy="5303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2B4D"/>
                </a:solidFill>
                <a:latin typeface="Arial"/>
              </a:defRPr>
            </a:pPr>
            <a:r>
              <a:t>3,370 / 3,640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71432" y="3648456"/>
            <a:ext cx="22402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579"/>
                </a:solidFill>
                <a:latin typeface="Arial"/>
              </a:defRPr>
            </a:pPr>
            <a:r>
              <a:t>Actual / target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579"/>
                </a:solidFill>
                <a:latin typeface="Arial"/>
              </a:defRPr>
            </a:pPr>
            <a:r>
              <a:t>readings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71432" y="4489704"/>
            <a:ext cx="2240280" cy="0"/>
          </a:xfrm>
          <a:prstGeom prst="line">
            <a:avLst/>
          </a:prstGeom>
          <a:ln w="12700">
            <a:solidFill>
              <a:srgbClr val="D0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71432" y="4690872"/>
            <a:ext cx="224028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7F86"/>
                </a:solidFill>
                <a:latin typeface="Arial"/>
              </a:defRPr>
            </a:pPr>
            <a:r>
              <a:t>270 readings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7F86"/>
                </a:solidFill>
                <a:latin typeface="Arial"/>
              </a:defRPr>
            </a:pPr>
            <a:r>
              <a:t>below target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6263640"/>
            <a:ext cx="11091672" cy="0"/>
          </a:xfrm>
          <a:prstGeom prst="line">
            <a:avLst/>
          </a:prstGeom>
          <a:ln w="1270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6382512"/>
            <a:ext cx="10515600" cy="2468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9"/>
                </a:solidFill>
                <a:latin typeface="Arial"/>
              </a:defRPr>
            </a:pPr>
            <a:r>
              <a:t>Synthetic data • All eight quarterly values shown • Value axis starts at zero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37392" y="6382512"/>
            <a:ext cx="502920" cy="2468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9"/>
                </a:solidFill>
                <a:latin typeface="Arial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515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86"/>
                </a:solidFill>
                <a:latin typeface="Arial"/>
              </a:defRPr>
            </a:pPr>
            <a:r>
              <a:t>CEDAR SENSOR NETWORK  /  SITE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72B4D"/>
                </a:solidFill>
                <a:latin typeface="Arial"/>
              </a:defRPr>
            </a:pPr>
            <a:r>
              <a:t>Central leads in volume but trails in on-time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10512"/>
            <a:ext cx="110642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579"/>
                </a:solidFill>
                <a:latin typeface="Arial"/>
              </a:defRPr>
            </a:pPr>
            <a:r>
              <a:t>Site volume in readings • On-time performance in percent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423160"/>
          <a:ext cx="75895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</a:tblGrid>
              <a:tr h="73152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Volume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95%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Staffing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490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86%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Hardware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88%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Training</a:t>
                      </a:r>
                    </a:p>
                  </a:txBody>
                  <a:tcPr marL="64008" marR="64008" marT="36576" marB="36576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439912" y="2423160"/>
            <a:ext cx="3200400" cy="2926080"/>
          </a:xfrm>
          <a:prstGeom prst="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39912" y="2423160"/>
            <a:ext cx="54864" cy="2926080"/>
          </a:xfrm>
          <a:prstGeom prst="rect">
            <a:avLst/>
          </a:prstGeom>
          <a:solidFill>
            <a:srgbClr val="B77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2688336"/>
            <a:ext cx="2706624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946014"/>
                </a:solidFill>
                <a:latin typeface="Arial"/>
              </a:defRPr>
            </a:pPr>
            <a:r>
              <a:t>IMPORTANT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3246120"/>
            <a:ext cx="2706624" cy="1600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2B4D"/>
                </a:solidFill>
                <a:latin typeface="Arial"/>
              </a:defRPr>
            </a:pPr>
            <a:r>
              <a:t>Verify the pilot before wider rollout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559552"/>
            <a:ext cx="110642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F86"/>
                </a:solidFill>
                <a:latin typeface="Arial"/>
              </a:defRPr>
            </a:pPr>
            <a:r>
              <a:t>Pilot focus: verify Central’s hardware readiness and address each site’s named risk.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6263640"/>
            <a:ext cx="11091672" cy="0"/>
          </a:xfrm>
          <a:prstGeom prst="line">
            <a:avLst/>
          </a:prstGeom>
          <a:ln w="1270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6382512"/>
            <a:ext cx="10515600" cy="2468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9"/>
                </a:solidFill>
                <a:latin typeface="Arial"/>
              </a:defRPr>
            </a:pPr>
            <a:r>
              <a:t>Synthetic site data • Volume units: readings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37392" y="6382512"/>
            <a:ext cx="502920" cy="2468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9"/>
                </a:solidFill>
                <a:latin typeface="Arial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515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86"/>
                </a:solidFill>
                <a:latin typeface="Arial"/>
              </a:defRPr>
            </a:pPr>
            <a:r>
              <a:t>CEDAR SENSOR NETWORK  /  EXECUTION &amp; NEXT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Gate wider rollout on verified pilot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09928"/>
            <a:ext cx="110642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579"/>
                </a:solidFill>
                <a:latin typeface="Arial"/>
              </a:defRPr>
            </a:pPr>
            <a:r>
              <a:t>Complete the four-step pilot, then return to the steering group for a go/no-go decision.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351008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86"/>
                </a:solidFill>
                <a:latin typeface="Arial"/>
              </a:defRPr>
            </a:pPr>
            <a:r>
              <a:t>PILOT SEQUENCE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07792" y="3136392"/>
            <a:ext cx="548640" cy="0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32704" y="3136392"/>
            <a:ext cx="548640" cy="0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357616" y="3136392"/>
            <a:ext cx="548640" cy="0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731520" y="2633472"/>
            <a:ext cx="2176272" cy="1005840"/>
          </a:xfrm>
          <a:prstGeom prst="rect">
            <a:avLst/>
          </a:prstGeom>
          <a:solidFill>
            <a:srgbClr val="EDF6F6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889504"/>
            <a:ext cx="19202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F86"/>
                </a:solidFill>
                <a:latin typeface="Arial"/>
              </a:defRPr>
            </a:pPr>
            <a:r>
              <a:t>1  Install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6432" y="2633472"/>
            <a:ext cx="2176272" cy="1005840"/>
          </a:xfrm>
          <a:prstGeom prst="rect">
            <a:avLst/>
          </a:prstGeom>
          <a:solidFill>
            <a:srgbClr val="EDF6F6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4448" y="2889504"/>
            <a:ext cx="19202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F86"/>
                </a:solidFill>
                <a:latin typeface="Arial"/>
              </a:defRPr>
            </a:pPr>
            <a:r>
              <a:t>2  Calibrate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1344" y="2633472"/>
            <a:ext cx="2176272" cy="1005840"/>
          </a:xfrm>
          <a:prstGeom prst="rect">
            <a:avLst/>
          </a:prstGeom>
          <a:solidFill>
            <a:srgbClr val="007F86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889504"/>
            <a:ext cx="19202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3  Validate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06256" y="2633472"/>
            <a:ext cx="2176272" cy="1005840"/>
          </a:xfrm>
          <a:prstGeom prst="rect">
            <a:avLst/>
          </a:prstGeom>
          <a:solidFill>
            <a:srgbClr val="EDF6F6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34272" y="2889504"/>
            <a:ext cx="19202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7F86"/>
                </a:solidFill>
                <a:latin typeface="Arial"/>
              </a:defRPr>
            </a:pPr>
            <a:r>
              <a:t>4  Monitor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767328"/>
            <a:ext cx="217627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579"/>
                </a:solidFill>
                <a:latin typeface="Arial"/>
              </a:defRPr>
            </a:pPr>
            <a:r>
              <a:t>Deploy pilot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579"/>
                </a:solidFill>
                <a:latin typeface="Arial"/>
              </a:defRPr>
            </a:pPr>
            <a:r>
              <a:t>sensors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432" y="3767328"/>
            <a:ext cx="217627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579"/>
                </a:solidFill>
                <a:latin typeface="Arial"/>
              </a:defRPr>
            </a:pPr>
            <a:r>
              <a:t>Check measurement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579"/>
                </a:solidFill>
                <a:latin typeface="Arial"/>
              </a:defRPr>
            </a:pPr>
            <a:r>
              <a:t>accuracy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1344" y="3767328"/>
            <a:ext cx="217627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579"/>
                </a:solidFill>
                <a:latin typeface="Arial"/>
              </a:defRPr>
            </a:pPr>
            <a:r>
              <a:t>Verify performance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579"/>
                </a:solidFill>
                <a:latin typeface="Arial"/>
              </a:defRPr>
            </a:pPr>
            <a:r>
              <a:t>and site readiness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06256" y="3767328"/>
            <a:ext cx="217627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579"/>
                </a:solidFill>
                <a:latin typeface="Arial"/>
              </a:defRPr>
            </a:pPr>
            <a:r>
              <a:t>Track readings and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579"/>
                </a:solidFill>
                <a:latin typeface="Arial"/>
              </a:defRPr>
            </a:pPr>
            <a:r>
              <a:t>on-time delivery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994392" y="4434840"/>
            <a:ext cx="0" cy="292608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48640" y="4727448"/>
            <a:ext cx="11091672" cy="1243584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919472"/>
            <a:ext cx="2331720" cy="7863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8DD9D7"/>
                </a:solidFill>
                <a:latin typeface="Arial"/>
              </a:defRPr>
            </a:pPr>
            <a:r>
              <a:t>AFTER THE PILOT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8DD9D7"/>
                </a:solidFill>
                <a:latin typeface="Arial"/>
              </a:defRPr>
            </a:pPr>
            <a:r>
              <a:t>GO / NO-GO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9272" y="4892040"/>
            <a:ext cx="8046720" cy="8961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GO: expand after verified results, site risks and the savings case support rollout.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NO-GO: resolve gaps and revalidate before expansion.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6263640"/>
            <a:ext cx="11091672" cy="0"/>
          </a:xfrm>
          <a:prstGeom prst="line">
            <a:avLst/>
          </a:prstGeom>
          <a:ln w="1270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6382512"/>
            <a:ext cx="10515600" cy="2468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9"/>
                </a:solidFill>
                <a:latin typeface="Arial"/>
              </a:defRPr>
            </a:pPr>
            <a:r>
              <a:t>Proposed pilot sequence • Go/no-go decision owner: engineering steering group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37392" y="6382512"/>
            <a:ext cx="502920" cy="2468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9"/>
                </a:solidFill>
                <a:latin typeface="Arial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