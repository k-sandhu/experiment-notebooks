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a staged pilot: $310k investment pays back in 2.6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· Regional distribution capacity · Decision brief for the operations committee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394960" cy="4800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FECEE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8463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429000"/>
            <a:ext cx="4846320" cy="0"/>
          </a:xfrm>
          <a:prstGeom prst="line">
            <a:avLst/>
          </a:prstGeom>
          <a:ln w="12700">
            <a:solidFill>
              <a:srgbClr val="7FC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611880"/>
            <a:ext cx="48463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The $120k annual saving recovers the $310k investment in about two and a half years.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37760"/>
            <a:ext cx="48463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Condition: verify the pilot at a go/no-go checkpoint before wider rollout.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257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$310k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9424"/>
            <a:ext cx="5257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2743200"/>
            <a:ext cx="525780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0" y="2971800"/>
            <a:ext cx="5257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$120k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12464"/>
            <a:ext cx="5257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0" y="4206240"/>
            <a:ext cx="525780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0" y="4434840"/>
            <a:ext cx="5257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2.6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75504"/>
            <a:ext cx="5257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5669279"/>
            <a:ext cx="525780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5806440"/>
            <a:ext cx="5257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Simple payback = investment / annual saving = $310k / $120k = 2.58 ≈ 2.6 years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Shipments trailed target every quarter, but the gap narrowed to 30 in H2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Actual vs target by quarter · Units: shipments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Shipments per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75895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458200" y="1463040"/>
            <a:ext cx="3200400" cy="4846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64592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E6C84"/>
                </a:solidFill>
                <a:latin typeface="Arial"/>
              </a:defRPr>
            </a:pPr>
            <a:r>
              <a:t>FULL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11680"/>
            <a:ext cx="2743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4,310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65176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actual vs 4,560 target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0" y="3200400"/>
            <a:ext cx="27432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0" y="3337560"/>
            <a:ext cx="2743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−250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93192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shipments (−5.5%) below target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4480560"/>
            <a:ext cx="27432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0" y="4617720"/>
            <a:ext cx="274320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Gap by quarter: Q1 −90, Q2 −100, Q3 −30, Q4 −30. Q2 was the weakest quarter.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leads on volume and on-time; each site carries a distinct risk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Site comparison · Volume in shipments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754880"/>
            <a:ext cx="69494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South: highest volume (390) and best on-time rate (97%). Central: lowest volume (250) and on-time rate (91%).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600200"/>
            <a:ext cx="3794760" cy="4526280"/>
          </a:xfrm>
          <a:prstGeom prst="rect">
            <a:avLst/>
          </a:prstGeom>
          <a:solidFill>
            <a:srgbClr val="FFF4E5"/>
          </a:solidFill>
          <a:ln>
            <a:solidFill>
              <a:srgbClr val="E2A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600200"/>
            <a:ext cx="109728" cy="4526280"/>
          </a:xfrm>
          <a:prstGeom prst="rect">
            <a:avLst/>
          </a:prstGeom>
          <a:solidFill>
            <a:srgbClr val="E2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78308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74F0C"/>
                </a:solidFill>
                <a:latin typeface="Arial"/>
              </a:defRPr>
            </a:pPr>
            <a:r>
              <a:t>KEY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94560"/>
            <a:ext cx="32918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794760"/>
            <a:ext cx="329184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Staffing, hardware and training risks differ by site, so pilot results must pass a go/no-go checkpoint before the approach is extended.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The pilot runs a four-step flow; a go/no-go checkpoint gates wider rollout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staged pilot · Process and decision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PILOT PROCESS · every shipment moves through all four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2583179" cy="10972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01952"/>
            <a:ext cx="2436875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Receive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0420" y="1828800"/>
            <a:ext cx="2583179" cy="10972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3572" y="1901952"/>
            <a:ext cx="2436875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Inspect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86100" y="237744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17919" y="1828800"/>
            <a:ext cx="2583179" cy="10972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1" y="1901952"/>
            <a:ext cx="2436875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Route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599" y="237744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075419" y="1828800"/>
            <a:ext cx="2583179" cy="10972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8572" y="1901952"/>
            <a:ext cx="2436875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01099" y="237744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320040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DECISION PATH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11880"/>
            <a:ext cx="3429000" cy="2651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11880"/>
            <a:ext cx="3429000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1 · DECISION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301752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Approve a staged pilot: $310k investment, $120k annual saving, 2.6-year simple payback.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31920" y="4937760"/>
            <a:ext cx="438912" cy="0"/>
          </a:xfrm>
          <a:prstGeom prst="line">
            <a:avLst/>
          </a:prstGeom>
          <a:ln w="25400">
            <a:solidFill>
              <a:srgbClr val="7A8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370832" y="3611880"/>
            <a:ext cx="3429000" cy="2651760"/>
          </a:xfrm>
          <a:prstGeom prst="rect">
            <a:avLst/>
          </a:prstGeom>
          <a:solidFill>
            <a:srgbClr val="FFF4E5"/>
          </a:solidFill>
          <a:ln>
            <a:solidFill>
              <a:srgbClr val="E2A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611880"/>
            <a:ext cx="3429000" cy="91440"/>
          </a:xfrm>
          <a:prstGeom prst="rect">
            <a:avLst/>
          </a:prstGeom>
          <a:solidFill>
            <a:srgbClr val="E2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84048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74F0C"/>
                </a:solidFill>
                <a:latin typeface="Arial"/>
              </a:defRPr>
            </a:pPr>
            <a:r>
              <a:t>2 · GO / NO-GO AFTER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4251960"/>
            <a:ext cx="30175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Go: pilot results verified and savings on track.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5166360"/>
            <a:ext cx="30175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No-go: hold rollout and address site risks.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99831" y="4937760"/>
            <a:ext cx="429769" cy="0"/>
          </a:xfrm>
          <a:prstGeom prst="line">
            <a:avLst/>
          </a:prstGeom>
          <a:ln w="25400">
            <a:solidFill>
              <a:srgbClr val="7A8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229600" y="3611880"/>
            <a:ext cx="3429000" cy="2651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611880"/>
            <a:ext cx="3429000" cy="9144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84048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3 · NEXT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251960"/>
            <a:ext cx="301752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On a go, the operations committee decides on wider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