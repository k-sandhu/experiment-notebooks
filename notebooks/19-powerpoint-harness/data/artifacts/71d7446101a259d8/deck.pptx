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B7C7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5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Approve a staged pilot with a 3.1-year simple payback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965960"/>
            <a:ext cx="11183112" cy="7772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39696"/>
            <a:ext cx="10652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Recommendation: Approve a staged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90672"/>
            <a:ext cx="354787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3090672"/>
            <a:ext cx="3547872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3090672"/>
            <a:ext cx="3547872" cy="169164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337560"/>
            <a:ext cx="305409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160520"/>
            <a:ext cx="3054096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3337560"/>
            <a:ext cx="305409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$80k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4160520"/>
            <a:ext cx="3054096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3337560"/>
            <a:ext cx="3054096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4160520"/>
            <a:ext cx="3054096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37A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66360"/>
            <a:ext cx="1118311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Simple payback = investment / 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59552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$250k / $80k per year = 3.1 years (rounded to one decimal year)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Stage the commitment: verify the pilot before wider rollout.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values  •  k = thousands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46520"/>
            <a:ext cx="6675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Actual readings miss target in every quarter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1965960"/>
            <a:ext cx="7589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37A"/>
                </a:solidFill>
                <a:latin typeface="Arial"/>
              </a:defRPr>
            </a:pPr>
            <a:r>
              <a:t>Quarterly volume  |  readings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487168"/>
          <a:ext cx="7955279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778240" y="2487168"/>
            <a:ext cx="2907792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0" y="2487168"/>
            <a:ext cx="2907792" cy="54864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128" y="2761488"/>
            <a:ext cx="241401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37A"/>
                </a:solidFill>
                <a:latin typeface="Arial"/>
              </a:defRPr>
            </a:pPr>
            <a:r>
              <a:t>FULL-YEAR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5128" y="3218688"/>
            <a:ext cx="2414016" cy="7132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72B4D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3950208"/>
            <a:ext cx="241401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readings below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25128" y="4718304"/>
            <a:ext cx="2414016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25128" y="4983480"/>
            <a:ext cx="2414016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Q3 has the largest shortfall: 110 readings.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28700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values  •  Actual total: 3,370  |  Target total: 3,640 readings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6675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SITE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has the highest volume and lowest on-time rate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96596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37A"/>
                </a:solidFill>
                <a:latin typeface="Arial"/>
              </a:defRPr>
            </a:pPr>
            <a:r>
              <a:t>Site comparison  |  Volume in readings; on-time performance in percent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578608"/>
          <a:ext cx="11183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303520"/>
            <a:ext cx="11183112" cy="896112"/>
          </a:xfrm>
          <a:prstGeom prst="rect">
            <a:avLst/>
          </a:prstGeom>
          <a:solidFill>
            <a:srgbClr val="FF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303520"/>
            <a:ext cx="73152" cy="896112"/>
          </a:xfrm>
          <a:prstGeom prst="rect">
            <a:avLst/>
          </a:prstGeom>
          <a:solidFill>
            <a:srgbClr val="BA6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596128"/>
            <a:ext cx="1874519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6501A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5522976"/>
            <a:ext cx="8549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6675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EXECUTION AND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58952"/>
            <a:ext cx="11155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Gate wider rollout with a post-pilot go/no-go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96596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37A"/>
                </a:solidFill>
                <a:latin typeface="Arial"/>
              </a:defRPr>
            </a:pPr>
            <a:r>
              <a:t>Proposed pilot sequence  |  Complete all four steps before the checkpoint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3127248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06440" y="3127248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3127248"/>
            <a:ext cx="548640" cy="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260604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60604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2606040"/>
            <a:ext cx="2377440" cy="1097280"/>
          </a:xfrm>
          <a:prstGeom prst="roundRect">
            <a:avLst/>
          </a:prstGeom>
          <a:solidFill>
            <a:srgbClr val="007F8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1160" y="260604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5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61488"/>
            <a:ext cx="2011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61488"/>
            <a:ext cx="2011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10896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Calibrate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61488"/>
            <a:ext cx="2011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761488"/>
            <a:ext cx="2011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10896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Monitor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69880" y="3703320"/>
            <a:ext cx="0" cy="548640"/>
          </a:xfrm>
          <a:prstGeom prst="line">
            <a:avLst/>
          </a:prstGeom>
          <a:ln w="254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02920" y="4251960"/>
            <a:ext cx="11183112" cy="193852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71416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DDBD8"/>
                </a:solidFill>
                <a:latin typeface="Arial"/>
              </a:defRPr>
            </a:pPr>
            <a:r>
              <a:t>NEXT DECISION  /  POST-PILOT GO / NO-GO 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07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Review validation results and site risks before authorizing wider rollout.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5440680"/>
            <a:ext cx="0" cy="484632"/>
          </a:xfrm>
          <a:prstGeom prst="line">
            <a:avLst/>
          </a:prstGeom>
          <a:ln w="12700">
            <a:solidFill>
              <a:srgbClr val="526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5495544"/>
            <a:ext cx="49834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GO  •  Pilot verified: authorize wider rollout.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95544"/>
            <a:ext cx="502920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NO-GO  •  Hold rollout; resolve gaps and revalidate.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Field sensor rollout  •  Synthetic decision 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66751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3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