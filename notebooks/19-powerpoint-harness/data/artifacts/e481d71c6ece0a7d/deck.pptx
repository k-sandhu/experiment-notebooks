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ASTER COLD-CHAIN  |  REGIONAL DISTRIBUTION CAPACITY  |  OPERATIONS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a staged pilot: a $310k investment saves $120k a year and pays back in 2.6 years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92024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286000"/>
            <a:ext cx="4937760" cy="3840480"/>
          </a:xfrm>
          <a:prstGeom prst="round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3840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389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438912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Start with a limited stage-one pilot, verify results at a go/no-go checkpoint, then decide on wider rollout. Actual shipments ran below target in every quarter (4,310 vs 4,560), so added capacity is worth testing before scaling.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28600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4688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926080"/>
            <a:ext cx="1645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2B4D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749039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one-time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228600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24688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2926080"/>
            <a:ext cx="1645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72B4D"/>
                </a:solidFill>
                <a:latin typeface="Arial"/>
              </a:defRPr>
            </a:pPr>
            <a:r>
              <a:t>$120k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3749039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per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02952" y="2286000"/>
            <a:ext cx="1737360" cy="21945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2" y="24688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2926080"/>
            <a:ext cx="16459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2.6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3749039"/>
            <a:ext cx="1645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years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754880"/>
            <a:ext cx="5696712" cy="13716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89204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How payback is calculated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303520"/>
            <a:ext cx="5303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 = investment / annual saving = $310k / $120k = 2.58, rounded to 2.6 years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E6C84"/>
                </a:solidFill>
                <a:latin typeface="Arial"/>
              </a:defRPr>
            </a:pPr>
            <a:r>
              <a:t>Synthetic values for a fictional decision brief. Financial figures in thousands of dollars ($k).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PERFORMANCE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Shipments missed target in all four quarters; the gap narrowed from 100 in Q2 to 30 in Q3 and Q4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92024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0312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Actual vs target shipments by quarter (shipments)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514600"/>
          <a:ext cx="7498079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503920" y="2103120"/>
            <a:ext cx="3136392" cy="43891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2103120"/>
            <a:ext cx="3136392" cy="7315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33172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Gap to target (shipments)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83464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83464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-90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29184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29184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25100"/>
                </a:solidFill>
                <a:latin typeface="Arial"/>
              </a:defRPr>
            </a:pPr>
            <a:r>
              <a:t>-100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749039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3749039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206240"/>
            <a:ext cx="1097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6C84"/>
                </a:solidFill>
                <a:latin typeface="Arial"/>
              </a:defRPr>
            </a:pPr>
            <a: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420624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-30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20" y="4754880"/>
            <a:ext cx="269748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32520" y="4846320"/>
            <a:ext cx="1280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Full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4846320"/>
            <a:ext cx="1463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-250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5394960"/>
            <a:ext cx="2743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4,310 actual vs 4,560 target shipments (94.5% of target)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South leads with 390 shipments and 97% on time, but each site carries a distinct risk to verify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920240"/>
            <a:ext cx="11091672" cy="0"/>
          </a:xfrm>
          <a:prstGeom prst="line">
            <a:avLst/>
          </a:prstGeom>
          <a:ln w="12700">
            <a:solidFill>
              <a:srgbClr val="D0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0312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Site performance (volume in shipments)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56032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6766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Central has the lowest volume (250) and on-time rate (91%); North sits in between at 350 and 93%.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103120"/>
            <a:ext cx="3776472" cy="4114800"/>
          </a:xfrm>
          <a:prstGeom prst="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2103120"/>
            <a:ext cx="109728" cy="4114800"/>
          </a:xfrm>
          <a:prstGeom prst="rect">
            <a:avLst/>
          </a:prstGeom>
          <a:solidFill>
            <a:srgbClr val="C2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33172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25100"/>
                </a:solidFill>
                <a:latin typeface="Arial"/>
              </a:defRPr>
            </a:pPr>
            <a:r>
              <a:t>KEY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743200"/>
            <a:ext cx="32918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794760"/>
            <a:ext cx="329184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Site risks differ (staffing, hardware, training), so pilot results may not transfer directly. Confirm savings and on-time performance at the go/no-go checkpoint before committing beyond stage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PILOT PROCESS AND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stage one now; a go/no-go checkpoint after the four-step pilot gates any wider rollout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828800" cy="13716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828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Receive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880360"/>
            <a:ext cx="41148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194560"/>
            <a:ext cx="1828800" cy="13716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33172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697480"/>
            <a:ext cx="1828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17720" y="2880360"/>
            <a:ext cx="41148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2194560"/>
            <a:ext cx="1828800" cy="13716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33172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97480"/>
            <a:ext cx="1828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Route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2880360"/>
            <a:ext cx="41148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9480" y="2194560"/>
            <a:ext cx="1828800" cy="13716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33172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697480"/>
            <a:ext cx="1828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98280" y="2880360"/>
            <a:ext cx="411480" cy="0"/>
          </a:xfrm>
          <a:prstGeom prst="line">
            <a:avLst/>
          </a:prstGeom>
          <a:ln w="31750">
            <a:solidFill>
              <a:srgbClr val="C2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9760" y="2194560"/>
            <a:ext cx="2130552" cy="1371600"/>
          </a:xfrm>
          <a:prstGeom prst="roundRect">
            <a:avLst/>
          </a:prstGeom>
          <a:solidFill>
            <a:srgbClr val="FFF4E5"/>
          </a:solidFill>
          <a:ln>
            <a:solidFill>
              <a:srgbClr val="C2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331720"/>
            <a:ext cx="2039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25100"/>
                </a:solidFill>
                <a:latin typeface="Arial"/>
              </a:defRPr>
            </a:pPr>
            <a:r>
              <a:t>GO / NO-GO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697480"/>
            <a:ext cx="203911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Checkpoint after the 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110916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Stage-one pilot: each shipment moves through all four steps in sequence. Go only if savings and on-time performance are confirmed.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34840"/>
            <a:ext cx="11091672" cy="1783080"/>
          </a:xfrm>
          <a:prstGeom prst="roundRect">
            <a:avLst/>
          </a:prstGeom>
          <a:solidFill>
            <a:srgbClr val="E6F2F3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1772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49377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Approve stage one: $310k pilot investment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663440"/>
            <a:ext cx="521208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Expected $120k annual saving. Simple payback = $310k / $120k = 2.58, rounded to 2.6 years. Wider rollout proceeds only after a go decision at the checkpoint.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