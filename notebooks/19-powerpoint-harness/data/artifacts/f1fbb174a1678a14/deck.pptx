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AEBACB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OPERATIONS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Approve a staged pilot with a 2.2-year payback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72184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Regional distribution capacity • Financial values in thousands (k)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30552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15968" y="2130552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83296" y="2130552"/>
            <a:ext cx="356616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395728"/>
            <a:ext cx="3127248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007F86"/>
                </a:solidFill>
                <a:latin typeface="Arial"/>
              </a:defRPr>
            </a:pPr>
            <a:r>
              <a:t>120k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27832"/>
            <a:ext cx="312724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Annual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95728"/>
            <a:ext cx="3127248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72B4D"/>
                </a:solidFill>
                <a:latin typeface="Arial"/>
              </a:defRPr>
            </a:pPr>
            <a:r>
              <a:t>260k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27832"/>
            <a:ext cx="312724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3608" y="2395728"/>
            <a:ext cx="3127248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7F86"/>
                </a:solidFill>
                <a:latin typeface="Arial"/>
              </a:defRPr>
            </a:pPr>
            <a:r>
              <a:t>2.2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3227832"/>
            <a:ext cx="3127248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47A"/>
                </a:solidFill>
                <a:latin typeface="Arial"/>
              </a:defRPr>
            </a:pPr>
            <a:r>
              <a:t>Simple payback = investment / annual saving = 260 / 120 = 2.2 years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02352"/>
            <a:ext cx="11100816" cy="100584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312664"/>
            <a:ext cx="106527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Decision requested: approve a staged pilot; verify results before wider rollout.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CAPACITY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Actual shipments miss target in every 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72184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Quarterly shipments • Actual versus target • All eight values shown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48256"/>
            <a:ext cx="8092440" cy="4096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194560"/>
          <a:ext cx="7726679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06840" y="2267712"/>
            <a:ext cx="25603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007F86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990088"/>
            <a:ext cx="25603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shipments below target across Q1–Q4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06840" y="3977639"/>
            <a:ext cx="2560320" cy="0"/>
          </a:xfrm>
          <a:prstGeom prst="line">
            <a:avLst/>
          </a:prstGeom>
          <a:ln w="12700">
            <a:solidFill>
              <a:srgbClr val="CAD3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006840" y="4215384"/>
            <a:ext cx="2560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2B4D"/>
                </a:solidFill>
                <a:latin typeface="Arial"/>
              </a:defRPr>
            </a:pPr>
            <a:r>
              <a:t>Q2: largest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4745736"/>
            <a:ext cx="256032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730 actual vs 830 target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100 shipments short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 • Units: shipments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SITE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2B4D"/>
                </a:solidFill>
                <a:latin typeface="Arial"/>
              </a:defRPr>
            </a:pPr>
            <a:r>
              <a:t>Site risks make pilot verification essential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72184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Site comparison • Volume in shipments • On-time performance in percent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74066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  <a:gridCol w="1851660"/>
                <a:gridCol w="1851660"/>
                <a:gridCol w="1851660"/>
              </a:tblGrid>
              <a:tr h="8229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266175" y="2103120"/>
            <a:ext cx="3383280" cy="3291840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94776" y="2359152"/>
            <a:ext cx="29260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A5500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94776" y="2898648"/>
            <a:ext cx="292608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4776" y="4279392"/>
            <a:ext cx="292608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A"/>
                </a:solidFill>
                <a:latin typeface="Arial"/>
              </a:defRPr>
            </a:pPr>
            <a:r>
              <a:t>Confirm performance and address site-specific risks.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87568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2B4D"/>
                </a:solidFill>
                <a:latin typeface="Arial"/>
              </a:defRPr>
            </a:pPr>
            <a:r>
              <a:t>South leads on volume and on-time performance; Central has the lowest on-time 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0642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/  PILOT TO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72B4D"/>
                </a:solidFill>
                <a:latin typeface="Arial"/>
              </a:defRPr>
            </a:pPr>
            <a:r>
              <a:t>Verify the four-step pilot before deciding on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72184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47A"/>
                </a:solidFill>
                <a:latin typeface="Arial"/>
              </a:defRPr>
            </a:pPr>
            <a:r>
              <a:t>Pilot process • Regional distribution capacity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80360" y="2852928"/>
            <a:ext cx="5943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806440" y="2852928"/>
            <a:ext cx="5943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732520" y="2852928"/>
            <a:ext cx="594360" cy="0"/>
          </a:xfrm>
          <a:prstGeom prst="line">
            <a:avLst/>
          </a:prstGeom>
          <a:ln w="317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331720"/>
            <a:ext cx="2331720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331720"/>
            <a:ext cx="2331720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331720"/>
            <a:ext cx="2331720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0" y="2331720"/>
            <a:ext cx="2322576" cy="105156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2057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1  Receive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51760"/>
            <a:ext cx="2057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2  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51760"/>
            <a:ext cx="20574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3 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651760"/>
            <a:ext cx="2048256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4 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76472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2647A"/>
                </a:solidFill>
                <a:latin typeface="Arial"/>
              </a:defRPr>
            </a:pPr>
            <a:r>
              <a:t>Proposed verification: shipment performance, annual savings and site risk readiness.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99432"/>
            <a:ext cx="11100816" cy="150876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818888"/>
            <a:ext cx="10607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BD8D5"/>
                </a:solidFill>
                <a:latin typeface="Arial"/>
              </a:defRPr>
            </a:pPr>
            <a:r>
              <a:t>NEXT DECISION  /  AFTER PILOT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5321808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FFFFFF"/>
                </a:solidFill>
                <a:latin typeface="Arial"/>
              </a:defRPr>
            </a:pPr>
            <a:r>
              <a:t>Decide whether verified results support wider rollout.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28232"/>
            <a:ext cx="987552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Fictional decision brief • Synthetic values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428232"/>
            <a:ext cx="5943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47A"/>
                </a:solidFill>
                <a:latin typeface="Arial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