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950</c:v>
                </c:pt>
                <c:pt idx="1">
                  <c:v>840</c:v>
                </c:pt>
                <c:pt idx="2">
                  <c:v>850</c:v>
                </c:pt>
                <c:pt idx="3">
                  <c:v>730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AAB7C7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980</c:v>
                </c:pt>
                <c:pt idx="1">
                  <c:v>900</c:v>
                </c:pt>
                <c:pt idx="2">
                  <c:v>960</c:v>
                </c:pt>
                <c:pt idx="3">
                  <c:v>800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5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CEDAR SENSOR NETWORK  /  ENGINEERING STEERING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Approve a staged pilot with a 2.8-year simple payback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755648"/>
            <a:ext cx="1118311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2057400"/>
            <a:ext cx="11183112" cy="86868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106984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Arial"/>
              </a:defRPr>
            </a:pPr>
            <a:r>
              <a:t>Recommendation: Approve a staged 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291840"/>
            <a:ext cx="3547872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15968" y="3291840"/>
            <a:ext cx="3547872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38160" y="3291840"/>
            <a:ext cx="3547872" cy="1645920"/>
          </a:xfrm>
          <a:prstGeom prst="rect">
            <a:avLst/>
          </a:prstGeom>
          <a:solidFill>
            <a:srgbClr val="E3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30632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72B4D"/>
                </a:solidFill>
                <a:latin typeface="Arial"/>
              </a:defRPr>
            </a:pPr>
            <a:r>
              <a:t>220k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3063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37A"/>
                </a:solidFill>
                <a:latin typeface="Arial"/>
              </a:defRPr>
            </a:pPr>
            <a:r>
              <a:t>Investment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3520440"/>
            <a:ext cx="30632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72B4D"/>
                </a:solidFill>
                <a:latin typeface="Arial"/>
              </a:defRPr>
            </a:pPr>
            <a:r>
              <a:t>80k /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4297680"/>
            <a:ext cx="3063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37A"/>
                </a:solidFill>
                <a:latin typeface="Arial"/>
              </a:defRPr>
            </a:pPr>
            <a:r>
              <a:t>Annual saving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520440"/>
            <a:ext cx="30632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007F86"/>
                </a:solidFill>
                <a:latin typeface="Arial"/>
              </a:defRPr>
            </a:pPr>
            <a:r>
              <a:t>2.8 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4297680"/>
            <a:ext cx="3063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37A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303520"/>
            <a:ext cx="11064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Simple payback = investment / annual saving = 220k / 80k per year = 2.8 years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89788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7F86"/>
                </a:solidFill>
                <a:latin typeface="Arial"/>
              </a:defRPr>
            </a:pPr>
            <a:r>
              <a:t>Stage the commitment: verify the pilot before wider rollout.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37A"/>
                </a:solidFill>
                <a:latin typeface="Arial"/>
              </a:defRPr>
            </a:pPr>
            <a:r>
              <a:t>Field sensor rollout  •  Synthetic values  •  k = thousands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19088"/>
            <a:ext cx="621792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37A"/>
                </a:solidFill>
                <a:latin typeface="Arial"/>
              </a:defRPr>
            </a:pPr>
            <a:r>
              <a:t>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CEDAR SENSOR NETWORK  / 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Actual readings miss target in every quarter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755648"/>
            <a:ext cx="1118311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1984248"/>
            <a:ext cx="72237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37A"/>
                </a:solidFill>
                <a:latin typeface="Arial"/>
              </a:defRPr>
            </a:pPr>
            <a:r>
              <a:t>Quarterly volume  |  readings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468880"/>
          <a:ext cx="7955279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778240" y="2468880"/>
            <a:ext cx="2907792" cy="3611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6840" y="2724912"/>
            <a:ext cx="24231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37A"/>
                </a:solidFill>
                <a:latin typeface="Arial"/>
              </a:defRPr>
            </a:pPr>
            <a:r>
              <a:t>FULL-YEAR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3182112"/>
            <a:ext cx="242316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172B4D"/>
                </a:solidFill>
                <a:latin typeface="Arial"/>
              </a:defRPr>
            </a:pPr>
            <a:r>
              <a:t>270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3913632"/>
            <a:ext cx="24231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readings below target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006840" y="4709160"/>
            <a:ext cx="2423160" cy="0"/>
          </a:xfrm>
          <a:prstGeom prst="line">
            <a:avLst/>
          </a:prstGeom>
          <a:ln w="1270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006840" y="4937760"/>
            <a:ext cx="242316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Q3 has the largest shortfall: 110 readings.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37A"/>
                </a:solidFill>
                <a:latin typeface="Arial"/>
              </a:defRPr>
            </a:pPr>
            <a:r>
              <a:t>Field sensor rollout  •  Synthetic values  •  Actual total: 3,370  |  Target total: 3,640 readings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19088"/>
            <a:ext cx="621792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37A"/>
                </a:solidFill>
                <a:latin typeface="Arial"/>
              </a:defRPr>
            </a:pPr>
            <a:r>
              <a:t>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CEDAR SENSOR NETWORK  /  SITE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Central has the highest volume and lowest on-time rate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755648"/>
            <a:ext cx="1118311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01168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37A"/>
                </a:solidFill>
                <a:latin typeface="Arial"/>
              </a:defRPr>
            </a:pPr>
            <a:r>
              <a:t>Site comparison  |  Volume in readings; on-time performance in percent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606040"/>
          <a:ext cx="111831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5778"/>
                <a:gridCol w="2795778"/>
                <a:gridCol w="2795778"/>
                <a:gridCol w="2795778"/>
              </a:tblGrid>
              <a:tr h="57150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Staffing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490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86%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Hardware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88%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257800"/>
            <a:ext cx="73152" cy="868680"/>
          </a:xfrm>
          <a:prstGeom prst="rect">
            <a:avLst/>
          </a:prstGeom>
          <a:solidFill>
            <a:srgbClr val="BA6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6072" y="5257800"/>
            <a:ext cx="11109960" cy="868680"/>
          </a:xfrm>
          <a:prstGeom prst="rect">
            <a:avLst/>
          </a:prstGeom>
          <a:solidFill>
            <a:srgbClr val="FF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376672"/>
            <a:ext cx="1828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6501A"/>
                </a:solidFill>
                <a:latin typeface="Arial"/>
              </a:defRPr>
            </a:pPr>
            <a:r>
              <a:t>IMPORTANT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61488" y="5449824"/>
            <a:ext cx="85496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2B4D"/>
                </a:solidFill>
                <a:latin typeface="Arial"/>
              </a:defRPr>
            </a:pPr>
            <a:r>
              <a:t>Verify the pilot before wider rollout.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37A"/>
                </a:solidFill>
                <a:latin typeface="Arial"/>
              </a:defRPr>
            </a:pPr>
            <a:r>
              <a:t>Field sensor rollout  •  Synthetic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19088"/>
            <a:ext cx="621792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37A"/>
                </a:solidFill>
                <a:latin typeface="Arial"/>
              </a:defRPr>
            </a:pPr>
            <a: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CEDAR SENSOR NETWORK  /  EXECUTION AND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Pilot validation should govern the wider rollout decision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755648"/>
            <a:ext cx="1118311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01168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37A"/>
                </a:solidFill>
                <a:latin typeface="Arial"/>
              </a:defRPr>
            </a:pPr>
            <a:r>
              <a:t>Proposed pilot sequence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360" y="3383280"/>
            <a:ext cx="54864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806440" y="3383280"/>
            <a:ext cx="54864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732520" y="3383280"/>
            <a:ext cx="54864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2788920"/>
            <a:ext cx="23774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5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2788920"/>
            <a:ext cx="23774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5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2788920"/>
            <a:ext cx="2377440" cy="1188720"/>
          </a:xfrm>
          <a:prstGeom prst="roundRect">
            <a:avLst/>
          </a:prstGeom>
          <a:solidFill>
            <a:srgbClr val="007F86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81160" y="2788920"/>
            <a:ext cx="23774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5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26080"/>
            <a:ext cx="2011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91840"/>
            <a:ext cx="2011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B4D"/>
                </a:solidFill>
                <a:latin typeface="Arial"/>
              </a:defRPr>
            </a:pPr>
            <a:r>
              <a:t>Install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926080"/>
            <a:ext cx="2011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291840"/>
            <a:ext cx="2011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B4D"/>
                </a:solidFill>
                <a:latin typeface="Arial"/>
              </a:defRPr>
            </a:pPr>
            <a:r>
              <a:t>Calibrate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926080"/>
            <a:ext cx="2011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291840"/>
            <a:ext cx="2011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Arial"/>
              </a:defRPr>
            </a:pPr>
            <a: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2926080"/>
            <a:ext cx="2011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3291840"/>
            <a:ext cx="2011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B4D"/>
                </a:solidFill>
                <a:latin typeface="Arial"/>
              </a:defRPr>
            </a:pPr>
            <a:r>
              <a:t>Monitor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617720"/>
            <a:ext cx="11183112" cy="146304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800600"/>
            <a:ext cx="2240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9DDBD8"/>
                </a:solidFill>
                <a:latin typeface="Arial"/>
              </a:defRPr>
            </a:pPr>
            <a:r>
              <a:t>NEXT 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4782312"/>
            <a:ext cx="8183879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Arial"/>
              </a:defRPr>
            </a:pPr>
            <a:r>
              <a:t>Authorize wider rollout after pilot verification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5422392"/>
            <a:ext cx="818387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DCE6F0"/>
                </a:solidFill>
                <a:latin typeface="Arial"/>
              </a:defRPr>
            </a:pPr>
            <a:r>
              <a:t>Use validation results and site risks to inform the decision.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37A"/>
                </a:solidFill>
                <a:latin typeface="Arial"/>
              </a:defRPr>
            </a:pPr>
            <a:r>
              <a:t>Field sensor rollout  •  Synthetic decision brief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19088"/>
            <a:ext cx="621792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37A"/>
                </a:solidFill>
                <a:latin typeface="Arial"/>
              </a:defRPr>
            </a:pPr>
            <a:r>
              <a:t>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