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</c:v>
                </c:pt>
                <c:pt idx="1">
                  <c:v>730</c:v>
                </c:pt>
                <c:pt idx="2">
                  <c:v>1210</c:v>
                </c:pt>
                <c:pt idx="3">
                  <c:v>1190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2B4D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1270</c:v>
                </c:pt>
                <c:pt idx="1">
                  <c:v>830</c:v>
                </c:pt>
                <c:pt idx="2">
                  <c:v>1240</c:v>
                </c:pt>
                <c:pt idx="3">
                  <c:v>1220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ASTER COLD-CHAIN  •  REGIONAL DISTRIBUTION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20040"/>
            <a:ext cx="21305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B84"/>
                </a:solidFill>
                <a:latin typeface="Arial"/>
              </a:defRPr>
            </a:pPr>
            <a:r>
              <a:t>Decision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Approve a staged pilot — payback in 2.6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090879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B84"/>
                </a:solidFill>
                <a:latin typeface="Arial"/>
              </a:defRPr>
            </a:pPr>
            <a:r>
              <a:t>For the operations committee  •  Fictional brief with synthetic values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908792" cy="155448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3657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DEBED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04872"/>
            <a:ext cx="102412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Approve a staged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99232"/>
            <a:ext cx="10241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Pilot first for regional distribution capacity, then pass a go/no-go checkpoint before any wider rollout.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94760"/>
            <a:ext cx="3511296" cy="1783080"/>
          </a:xfrm>
          <a:prstGeom prst="roundRect">
            <a:avLst/>
          </a:prstGeom>
          <a:solidFill>
            <a:srgbClr val="F2F5F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29626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B84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296265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$310k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47488"/>
            <a:ext cx="29626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B84"/>
                </a:solidFill>
                <a:latin typeface="Arial"/>
              </a:defRPr>
            </a:pPr>
            <a:r>
              <a:t>One-off investment ($k)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794760"/>
            <a:ext cx="3511296" cy="1783080"/>
          </a:xfrm>
          <a:prstGeom prst="roundRect">
            <a:avLst/>
          </a:prstGeom>
          <a:solidFill>
            <a:srgbClr val="F2F5F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023360"/>
            <a:ext cx="29626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B84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389120"/>
            <a:ext cx="296265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$120k /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5047488"/>
            <a:ext cx="29626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B84"/>
                </a:solidFill>
                <a:latin typeface="Arial"/>
              </a:defRPr>
            </a:pPr>
            <a:r>
              <a:t>Annual savings ($k per year)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5" y="3794760"/>
            <a:ext cx="3511296" cy="1783080"/>
          </a:xfrm>
          <a:prstGeom prst="roundRect">
            <a:avLst/>
          </a:prstGeom>
          <a:solidFill>
            <a:srgbClr val="FFF7E6"/>
          </a:solidFill>
          <a:ln>
            <a:solidFill>
              <a:srgbClr val="E8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4023360"/>
            <a:ext cx="29626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B84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4389120"/>
            <a:ext cx="296265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2.6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5047488"/>
            <a:ext cx="29626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B84"/>
                </a:solidFill>
                <a:latin typeface="Arial"/>
              </a:defRPr>
            </a:pPr>
            <a:r>
              <a:t>310 ÷ 120 = 2.6 years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172200"/>
            <a:ext cx="10908792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630936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Aster cold-chain — regional distribution capacity  •  Synthetic 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309360"/>
            <a:ext cx="1216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PERFORMANCE  •  ACTUAL VERSUS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Actual shipments missed target in every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680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B84"/>
                </a:solidFill>
                <a:latin typeface="Arial"/>
              </a:defRPr>
            </a:pPr>
            <a:r>
              <a:t>Shipments per quarter (units: shipments)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828800"/>
          <a:ext cx="76809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0" y="1828800"/>
            <a:ext cx="2862072" cy="4023360"/>
          </a:xfrm>
          <a:prstGeom prst="roundRect">
            <a:avLst/>
          </a:prstGeom>
          <a:solidFill>
            <a:srgbClr val="F2F5F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1828800"/>
            <a:ext cx="73152" cy="40233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6840" y="2029968"/>
            <a:ext cx="2240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What it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2514600"/>
            <a:ext cx="22402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Total: 4,310 actual vs 4,560 target shipments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06840" y="3401568"/>
            <a:ext cx="2240280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006840" y="3520440"/>
            <a:ext cx="22402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Shortfall: 250 shipments (94.5% of target)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06840" y="4407408"/>
            <a:ext cx="2240280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06840" y="4526280"/>
            <a:ext cx="224028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Largest gaps: Q2 (−100) and Q1 (−90). Q3 and Q4 each −30.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6172200"/>
            <a:ext cx="10908792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630936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Units: shipments  •  All eight quarterly values are labelled on the chart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309360"/>
            <a:ext cx="1216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SITE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South leads, but every site carries a distinct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903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B84"/>
                </a:solidFill>
                <a:latin typeface="Arial"/>
              </a:defRPr>
            </a:pPr>
            <a:r>
              <a:t>Volume, on-time performance and principal site risk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74519"/>
          <a:ext cx="690372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930"/>
                <a:gridCol w="1725930"/>
                <a:gridCol w="1725930"/>
                <a:gridCol w="1725930"/>
              </a:tblGrid>
              <a:tr h="65151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93%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250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91%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390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645152"/>
            <a:ext cx="6903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A6B84"/>
                </a:solidFill>
                <a:latin typeface="Arial"/>
              </a:defRPr>
            </a:pPr>
            <a:r>
              <a:t>South has the highest volume (390) and on-time rate (97%). Central is lowest on both measures (250; 91%).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74519"/>
            <a:ext cx="3685032" cy="2606040"/>
          </a:xfrm>
          <a:prstGeom prst="roundRect">
            <a:avLst/>
          </a:prstGeom>
          <a:solidFill>
            <a:srgbClr val="FFF1F1"/>
          </a:solidFill>
          <a:ln>
            <a:solidFill>
              <a:srgbClr val="E8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2084831"/>
            <a:ext cx="3044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B2C2C"/>
                </a:solidFill>
                <a:latin typeface="Arial"/>
              </a:defRPr>
            </a:pPr>
            <a:r>
              <a:t>IMPORTANT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423160"/>
            <a:ext cx="304495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401568"/>
            <a:ext cx="304495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Do not scale on headline results alone. Check staffing, hardware and training risks at pilot scale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4645152"/>
            <a:ext cx="3685032" cy="960120"/>
          </a:xfrm>
          <a:prstGeom prst="roundRect">
            <a:avLst/>
          </a:prstGeom>
          <a:solidFill>
            <a:srgbClr val="E6F2F3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4846320"/>
            <a:ext cx="304495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Implication: stage the pilot and set a verification gate.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172200"/>
            <a:ext cx="10908792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630936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Aster cold-chain — site comparison  •  Synthetic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309360"/>
            <a:ext cx="1216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PROCESS  •  NEXT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Pilot the four-step flow, then pass a go/no-go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090879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B84"/>
                </a:solidFill>
                <a:latin typeface="Arial"/>
              </a:defRPr>
            </a:pPr>
            <a:r>
              <a:t>Proposed pilot flow from receipt to dispatch — wider rollout only after the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2423160" cy="11887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67712"/>
            <a:ext cx="21488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1  •  Receive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63240" y="2468880"/>
            <a:ext cx="402336" cy="0"/>
          </a:xfrm>
          <a:prstGeom prst="line">
            <a:avLst/>
          </a:prstGeom>
          <a:ln w="381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65576" y="1874519"/>
            <a:ext cx="2423160" cy="118872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2267712"/>
            <a:ext cx="21488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2  •  Inspect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88736" y="2468880"/>
            <a:ext cx="402336" cy="0"/>
          </a:xfrm>
          <a:prstGeom prst="line">
            <a:avLst/>
          </a:prstGeom>
          <a:ln w="381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91072" y="1874519"/>
            <a:ext cx="2423160" cy="11887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267712"/>
            <a:ext cx="21488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3  •  Route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14232" y="2468880"/>
            <a:ext cx="411480" cy="0"/>
          </a:xfrm>
          <a:prstGeom prst="line">
            <a:avLst/>
          </a:prstGeom>
          <a:ln w="381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25712" y="1874519"/>
            <a:ext cx="2423160" cy="118872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2267712"/>
            <a:ext cx="21488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4  •  Dispatch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9048" y="3063240"/>
            <a:ext cx="0" cy="246888"/>
          </a:xfrm>
          <a:prstGeom prst="line">
            <a:avLst/>
          </a:prstGeom>
          <a:ln w="381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" y="3310128"/>
            <a:ext cx="10908792" cy="1170432"/>
          </a:xfrm>
          <a:prstGeom prst="roundRect">
            <a:avLst/>
          </a:prstGeom>
          <a:solidFill>
            <a:srgbClr val="FFF7E6"/>
          </a:solidFill>
          <a:ln>
            <a:solidFill>
              <a:srgbClr val="E8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474720"/>
            <a:ext cx="102687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◆  GO / NO-GO CHECKPOINT — after the pilot, before any wider rollout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913632"/>
            <a:ext cx="1026871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GO only if pilot results are verified and site risks are addressed.  NO-GO: stop, remediate or re-pilot — do not scale.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81728"/>
            <a:ext cx="10908792" cy="11887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846320"/>
            <a:ext cx="1026871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NEXT DECISION — Operations committee: approve a staged 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349240"/>
            <a:ext cx="102687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Investment $310k for $120k annual saving — simple payback 310 ÷ 120 = 2.6 years. Verify the pilot at the go/no-go checkpoint.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172200"/>
            <a:ext cx="10908792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630936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Aster cold-chain — regional distribution capacity  •  Synthetic values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309360"/>
            <a:ext cx="1216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