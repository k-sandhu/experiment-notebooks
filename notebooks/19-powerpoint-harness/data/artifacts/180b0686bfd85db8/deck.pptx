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5B4C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ASTER COLD-CHAIN  /  REGIONAL DISTRIBUTION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Approve a staged pilot; payback is 2.6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6537960" cy="4160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48840"/>
            <a:ext cx="5715000" cy="301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AD8D1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734056"/>
            <a:ext cx="57150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Approve 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staged pilot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6968" y="4187952"/>
            <a:ext cx="5824728" cy="0"/>
          </a:xfrm>
          <a:prstGeom prst="line">
            <a:avLst/>
          </a:prstGeom>
          <a:ln w="12700">
            <a:solidFill>
              <a:srgbClr val="536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9536" y="4453128"/>
            <a:ext cx="5696712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Verify the pilot before wider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847088"/>
            <a:ext cx="4279392" cy="1435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8" y="2011680"/>
            <a:ext cx="373075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2386584"/>
            <a:ext cx="3730752" cy="6126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72B4D"/>
                </a:solidFill>
                <a:latin typeface="Arial"/>
              </a:defRPr>
            </a:pPr>
            <a:r>
              <a:t>$310k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3456432"/>
            <a:ext cx="4279392" cy="1435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3621024"/>
            <a:ext cx="373075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ANNUAL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3995928"/>
            <a:ext cx="3730752" cy="6126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$120k /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0064" y="5093208"/>
            <a:ext cx="4251960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2657A"/>
                </a:solidFill>
                <a:latin typeface="Arial"/>
              </a:defRPr>
            </a:pPr>
            <a:r>
              <a:t>SIMPLE PAYBACK = INVESTMENT / ANNUAL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0064" y="5504688"/>
            <a:ext cx="42519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$310k / $120k = 2.6 years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2700">
            <a:solidFill>
              <a:srgbClr val="D7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37376"/>
            <a:ext cx="10287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Operations committee • Synthetic values • k = thousands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37376"/>
            <a:ext cx="62179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ASTER COLD-CHAIN  /  CAPACITY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Shipments miss target in every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7772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A"/>
                </a:solidFill>
                <a:latin typeface="Arial"/>
              </a:defRPr>
            </a:pPr>
            <a:r>
              <a:t>Quarterly shipments • Actual versus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80924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2376" y="2276856"/>
          <a:ext cx="7744968" cy="36393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915400" y="2103120"/>
            <a:ext cx="2724912" cy="3959352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3144" y="2350008"/>
            <a:ext cx="223113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FULL-YEAR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3144" y="2770632"/>
            <a:ext cx="2231136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72B4D"/>
                </a:solidFill>
                <a:latin typeface="Arial"/>
              </a:defRPr>
            </a:pPr>
            <a:r>
              <a:t>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53144" y="3502152"/>
            <a:ext cx="223113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shipments below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71432" y="4251960"/>
            <a:ext cx="2194560" cy="0"/>
          </a:xfrm>
          <a:prstGeom prst="line">
            <a:avLst/>
          </a:prstGeom>
          <a:ln w="12700">
            <a:solidFill>
              <a:srgbClr val="B8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53144" y="4471416"/>
            <a:ext cx="2231136" cy="11795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Q2 has the largest shortfall: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100 shipments.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2700">
            <a:solidFill>
              <a:srgbClr val="D7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37376"/>
            <a:ext cx="10287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Synthetic values • Full-year actual: 4,310 shipments • Full-year target: 4,560 shipments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37376"/>
            <a:ext cx="62179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ASTER COLD-CHAIN  /  SITE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Central has the lowest on-time rate at 91%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A"/>
                </a:solidFill>
                <a:latin typeface="Arial"/>
              </a:defRPr>
            </a:pPr>
            <a:r>
              <a:t>Site snapshot • Volume in shipments; on-time performance in percent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74523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090"/>
                <a:gridCol w="1863090"/>
                <a:gridCol w="1863090"/>
                <a:gridCol w="1863090"/>
              </a:tblGrid>
              <a:tr h="83439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93608" y="2194560"/>
            <a:ext cx="3346704" cy="3337560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93608" y="2194560"/>
            <a:ext cx="64008" cy="3337560"/>
          </a:xfrm>
          <a:prstGeom prst="rect">
            <a:avLst/>
          </a:prstGeom>
          <a:solidFill>
            <a:srgbClr val="B7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58784" y="2459736"/>
            <a:ext cx="279806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A5817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2980944"/>
            <a:ext cx="2779776" cy="1435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4608576"/>
            <a:ext cx="2779776" cy="6949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A"/>
                </a:solidFill>
                <a:latin typeface="Arial"/>
              </a:defRPr>
            </a:pPr>
            <a:r>
              <a:t>Use pilot evidence to inform the scale-up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42432"/>
            <a:ext cx="746150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South leads on volume (390) and on-time performance (97%).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2700">
            <a:solidFill>
              <a:srgbClr val="D7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437376"/>
            <a:ext cx="10287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Operations committee • Synthetic site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37376"/>
            <a:ext cx="62179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ASTER COLD-CHAIN  /  PILOT PATH AND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Wider rollout depends on a post-pilot go/no-go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09928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A"/>
                </a:solidFill>
                <a:latin typeface="Arial"/>
              </a:defRPr>
            </a:pPr>
            <a:r>
              <a:t>Four-step pilot • Read left to right, then verify results at the checkpoint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16936" y="3035808"/>
            <a:ext cx="539496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24728" y="3035808"/>
            <a:ext cx="539496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32520" y="3035808"/>
            <a:ext cx="539496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395728"/>
            <a:ext cx="2368296" cy="1371600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194767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80944"/>
            <a:ext cx="1947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Receive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2395728"/>
            <a:ext cx="2368296" cy="1371600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194767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80944"/>
            <a:ext cx="1947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Inspect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4224" y="2395728"/>
            <a:ext cx="2368296" cy="1371600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560320"/>
            <a:ext cx="194767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980944"/>
            <a:ext cx="1947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Route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2016" y="2395728"/>
            <a:ext cx="2368296" cy="1371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3184" y="2560320"/>
            <a:ext cx="194767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2980944"/>
            <a:ext cx="1947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56164" y="3767328"/>
            <a:ext cx="0" cy="393192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" y="4160520"/>
            <a:ext cx="11091672" cy="1444752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343400"/>
            <a:ext cx="1050645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AD8D1"/>
                </a:solidFill>
                <a:latin typeface="Arial"/>
              </a:defRPr>
            </a:pPr>
            <a:r>
              <a:t>AFTER PILOT  /  GO / NO-GO 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773168"/>
            <a:ext cx="5010912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GO: Approve wider rollout if verified capacity, on-time results and savings support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4773168"/>
            <a:ext cx="5010912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NO-GO: Hold wider rollout, address gaps and verify the pilot again.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Decision now: approve a staged pilot with a $310k investment.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2700">
            <a:solidFill>
              <a:srgbClr val="D7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37376"/>
            <a:ext cx="10287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Operations committee • Aster cold-chain • Regional distribution capacity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37376"/>
            <a:ext cx="62179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