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5B5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ENGINEERING STEERING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Approve a staged pilot; payback is 3.1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9"/>
                </a:solidFill>
                <a:latin typeface="Arial"/>
              </a:defRPr>
            </a:pPr>
            <a:r>
              <a:t>Field sensor rollout • Validate performance before committing to wider rollout.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14600"/>
            <a:ext cx="3547872" cy="1874519"/>
          </a:xfrm>
          <a:prstGeom prst="rect">
            <a:avLst/>
          </a:prstGeom>
          <a:solidFill>
            <a:srgbClr val="ED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61488"/>
            <a:ext cx="3090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30906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2B4D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2514600"/>
            <a:ext cx="3547872" cy="1874519"/>
          </a:xfrm>
          <a:prstGeom prst="rect">
            <a:avLst/>
          </a:prstGeom>
          <a:solidFill>
            <a:srgbClr val="ED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2761488"/>
            <a:ext cx="3090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3337560"/>
            <a:ext cx="30906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72B4D"/>
                </a:solidFill>
                <a:latin typeface="Arial"/>
              </a:defRPr>
            </a:pPr>
            <a:r>
              <a:t>$80k /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3" y="2514600"/>
            <a:ext cx="3547872" cy="1874519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2761488"/>
            <a:ext cx="3090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3337560"/>
            <a:ext cx="30906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Simple payback = investment / annual saving = $250k / ($80k/year) ≈ 3.1 years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76672"/>
            <a:ext cx="54864" cy="521207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404104"/>
            <a:ext cx="108630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Decision requested: approve the staged pilot, with validation as the gate to expansion.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263640"/>
            <a:ext cx="11091672" cy="0"/>
          </a:xfrm>
          <a:prstGeom prst="line">
            <a:avLst/>
          </a:prstGeom>
          <a:ln w="1270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391656"/>
            <a:ext cx="1051560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26579"/>
                </a:solidFill>
                <a:latin typeface="Arial"/>
              </a:defRPr>
            </a:pPr>
            <a:r>
              <a:t>Synthetic decision brief • Financial values in thousands of dollars (k) • Payback rounded to one decimal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37392" y="6391656"/>
            <a:ext cx="50292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Actual readings miss target in every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82496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9"/>
                </a:solidFill>
                <a:latin typeface="Arial"/>
              </a:defRPr>
            </a:pPr>
            <a:r>
              <a:t>Quarterly readings • Actual versus target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221992"/>
          <a:ext cx="8046720" cy="378561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942832" y="2267712"/>
            <a:ext cx="2697480" cy="3611880"/>
          </a:xfrm>
          <a:prstGeom prst="rect">
            <a:avLst/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532888"/>
            <a:ext cx="2240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9"/>
                </a:solidFill>
                <a:latin typeface="Arial"/>
              </a:defRPr>
            </a:pPr>
            <a:r>
              <a:t>ANNUAL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1432" y="3017520"/>
            <a:ext cx="22402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D"/>
                </a:solidFill>
                <a:latin typeface="Arial"/>
              </a:defRPr>
            </a:pPr>
            <a:r>
              <a:t>3,370 / 3,640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1432" y="3694176"/>
            <a:ext cx="22402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Actual / target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readings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71432" y="4489704"/>
            <a:ext cx="2240280" cy="0"/>
          </a:xfrm>
          <a:prstGeom prst="line">
            <a:avLst/>
          </a:prstGeom>
          <a:ln w="12700">
            <a:solidFill>
              <a:srgbClr val="D0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71432" y="4727448"/>
            <a:ext cx="2240280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270 readings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below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263640"/>
            <a:ext cx="11091672" cy="0"/>
          </a:xfrm>
          <a:prstGeom prst="line">
            <a:avLst/>
          </a:prstGeom>
          <a:ln w="1270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391656"/>
            <a:ext cx="1051560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26579"/>
                </a:solidFill>
                <a:latin typeface="Arial"/>
              </a:defRPr>
            </a:pPr>
            <a:r>
              <a:t>Synthetic data • Units: readings • All eight quarterly values shown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37392" y="6391656"/>
            <a:ext cx="50292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SITE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Central leads volume but has the lowest on-time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9"/>
                </a:solidFill>
                <a:latin typeface="Arial"/>
              </a:defRPr>
            </a:pPr>
            <a:r>
              <a:t>Site volume in readings • On-time performance in percent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359152"/>
          <a:ext cx="7589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39912" y="2359152"/>
            <a:ext cx="3200400" cy="2926080"/>
          </a:xfrm>
          <a:prstGeom prst="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2624328"/>
            <a:ext cx="270662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46014"/>
                </a:solidFill>
                <a:latin typeface="Arial"/>
              </a:defRPr>
            </a:pPr>
            <a:r>
              <a:t>CRITICAL ROLLOUT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3136392"/>
            <a:ext cx="2706624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Verify the pilot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before wider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rollout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709160"/>
            <a:ext cx="270662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46014"/>
                </a:solidFill>
                <a:latin typeface="Arial"/>
              </a:defRPr>
            </a:pPr>
            <a:r>
              <a:t>Central risk: hardware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22976"/>
            <a:ext cx="54864" cy="43891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5522976"/>
            <a:ext cx="10853928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Pilot focus: test Central’s hardware readiness and address each site’s named risk.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263640"/>
            <a:ext cx="11091672" cy="0"/>
          </a:xfrm>
          <a:prstGeom prst="line">
            <a:avLst/>
          </a:prstGeom>
          <a:ln w="1270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391656"/>
            <a:ext cx="1051560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26579"/>
                </a:solidFill>
                <a:latin typeface="Arial"/>
              </a:defRPr>
            </a:pPr>
            <a:r>
              <a:t>Synthetic site data • Volume units: readings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37392" y="6391656"/>
            <a:ext cx="50292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EXECUTION &amp; 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064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Gate wider rollout on a post-pilot go/no-go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82496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9"/>
                </a:solidFill>
                <a:latin typeface="Arial"/>
              </a:defRPr>
            </a:pPr>
            <a:r>
              <a:t>Complete the four-step pilot, then review verified results, site risks and the savings case.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17520" y="2770632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760720" y="2770632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503920" y="2770632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40080" y="2350008"/>
            <a:ext cx="2377440" cy="841248"/>
          </a:xfrm>
          <a:prstGeom prst="rect">
            <a:avLst/>
          </a:prstGeom>
          <a:solidFill>
            <a:srgbClr val="EDF6F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560320"/>
            <a:ext cx="213969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1  Install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350008"/>
            <a:ext cx="2377440" cy="841248"/>
          </a:xfrm>
          <a:prstGeom prst="rect">
            <a:avLst/>
          </a:prstGeom>
          <a:solidFill>
            <a:srgbClr val="EDF6F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2560320"/>
            <a:ext cx="213969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2  Calibrate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350008"/>
            <a:ext cx="2377440" cy="841248"/>
          </a:xfrm>
          <a:prstGeom prst="rect">
            <a:avLst/>
          </a:prstGeom>
          <a:solidFill>
            <a:srgbClr val="007F8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2560320"/>
            <a:ext cx="213969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3  Validate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350008"/>
            <a:ext cx="2377440" cy="841248"/>
          </a:xfrm>
          <a:prstGeom prst="rect">
            <a:avLst/>
          </a:prstGeom>
          <a:solidFill>
            <a:srgbClr val="EDF6F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2560320"/>
            <a:ext cx="213969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4 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74136"/>
            <a:ext cx="23774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Deploy pilot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374136"/>
            <a:ext cx="23774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Check measurement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374136"/>
            <a:ext cx="23774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Verify performance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and site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374136"/>
            <a:ext cx="23774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Track readings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on-time delivery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400" y="4069080"/>
            <a:ext cx="0" cy="32004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48640" y="4389120"/>
            <a:ext cx="11091672" cy="150876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590288"/>
            <a:ext cx="105887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DD9D7"/>
                </a:solidFill>
                <a:latin typeface="Arial"/>
              </a:defRPr>
            </a:pPr>
            <a:r>
              <a:t>POST-PILOT CHECKPOINT  /  ENGINEERING STEERING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038344"/>
            <a:ext cx="5166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GO: approve expansion if the evidence supports rollout.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038344"/>
            <a:ext cx="510235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NO-GO: hold expansion; resolve gaps and revalidate.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263640"/>
            <a:ext cx="11091672" cy="0"/>
          </a:xfrm>
          <a:prstGeom prst="line">
            <a:avLst/>
          </a:prstGeom>
          <a:ln w="1270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391656"/>
            <a:ext cx="1051560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26579"/>
                </a:solidFill>
                <a:latin typeface="Arial"/>
              </a:defRPr>
            </a:pPr>
            <a:r>
              <a:t>Proposed pilot sequence • Decision owner: engineering steering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391656"/>
            <a:ext cx="50292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