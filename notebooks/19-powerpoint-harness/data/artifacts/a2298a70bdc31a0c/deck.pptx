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07F86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730</c:v>
                </c:pt>
                <c:pt idx="2">
                  <c:v>1210</c:v>
                </c:pt>
                <c:pt idx="3">
                  <c:v>1190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172B4D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1270</c:v>
                </c:pt>
                <c:pt idx="1">
                  <c:v>830</c:v>
                </c:pt>
                <c:pt idx="2">
                  <c:v>1240</c:v>
                </c:pt>
                <c:pt idx="3">
                  <c:v>1220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172B4D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172B4D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72B4D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ASTER COLD-CHAIN  •  REGIONAL DISTRIBUTION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18320" y="320040"/>
            <a:ext cx="21031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A6B84"/>
                </a:solidFill>
                <a:latin typeface="Arial"/>
              </a:defRPr>
            </a:pPr>
            <a:r>
              <a:t>Decision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Approve a staged pilot — payback in 2.6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For the operations committee  •  Fictional brief with synthetic values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10908792" cy="16002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36576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DEBED"/>
                </a:solidFill>
                <a:latin typeface="Arial"/>
              </a:defRPr>
            </a:pPr>
            <a:r>
              <a:t>RECOMMENDATION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23160"/>
            <a:ext cx="1024128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Approve a staged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Pilot first for regional distribution capacity, then verify results before any wider rollout.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840480"/>
            <a:ext cx="3511296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INVESTMENT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43484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$310k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07492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One-off investment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840480"/>
            <a:ext cx="3511296" cy="178308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406908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ANNUAL SAVING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443484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$120k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507492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Annual saving, recurring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3840480"/>
            <a:ext cx="3511296" cy="1783080"/>
          </a:xfrm>
          <a:prstGeom prst="roundRect">
            <a:avLst/>
          </a:prstGeom>
          <a:solidFill>
            <a:srgbClr val="FFF7E6"/>
          </a:solidFill>
          <a:ln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406908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5A6B84"/>
                </a:solidFill>
                <a:latin typeface="Arial"/>
              </a:defRPr>
            </a:pPr>
            <a:r>
              <a:t>SIMPLE PAYBACK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4434840"/>
            <a:ext cx="2962656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72B4D"/>
                </a:solidFill>
                <a:latin typeface="Arial"/>
              </a:defRPr>
            </a:pPr>
            <a:r>
              <a:t>2.6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5074920"/>
            <a:ext cx="2962656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A6B84"/>
                </a:solidFill>
                <a:latin typeface="Arial"/>
              </a:defRPr>
            </a:pPr>
            <a:r>
              <a:t>$310k ÷ $120k = 2.6 years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regional distribution capacity  •  Synthetic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PERFORMANCE  •  ACTUAL VERSUS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Actual shipments missed target in every quarter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7863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Shipments per quarter (units: shipments)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40080" y="1828800"/>
          <a:ext cx="7680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0" y="1828800"/>
            <a:ext cx="2862072" cy="4023360"/>
          </a:xfrm>
          <a:prstGeom prst="roundRect">
            <a:avLst/>
          </a:prstGeom>
          <a:solidFill>
            <a:srgbClr val="F2F5F8"/>
          </a:solidFill>
          <a:ln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2057400"/>
            <a:ext cx="222199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What it means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2560320"/>
            <a:ext cx="22219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Total: 4,310 actual vs 4,560 target shipments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3474720"/>
            <a:ext cx="2221992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Shortfall: 250 shipments (94.5% of target)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4389120"/>
            <a:ext cx="222199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Largest gaps: Q2 (−100) and Q1 (−90). Q3 and Q4 each −30.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Units: shipments  •  All eight quarterly values are labelled on the chart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SITE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South leads, but every site carries a distinct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Volume, on-time performance and principal site risk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874519"/>
          <a:ext cx="69037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930"/>
                <a:gridCol w="1725930"/>
                <a:gridCol w="1725930"/>
                <a:gridCol w="1725930"/>
              </a:tblGrid>
              <a:tr h="7315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Volume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On time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172B4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350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93%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Staffing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Central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250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91%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Hardware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South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390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72B4D"/>
                          </a:solidFill>
                          <a:latin typeface="Arial"/>
                        </a:defRPr>
                      </a:pPr>
                      <a:r>
                        <a:t>Training</a:t>
                      </a:r>
                    </a:p>
                  </a:txBody>
                  <a:tcPr marL="64008" marR="64008" marT="36576" marB="36576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983480"/>
            <a:ext cx="690372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A6B84"/>
                </a:solidFill>
                <a:latin typeface="Arial"/>
              </a:defRPr>
            </a:pPr>
            <a:r>
              <a:t>South has the highest volume (390) and on-time rate (97%). Central is lowest on both measures.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874519"/>
            <a:ext cx="3685032" cy="2926080"/>
          </a:xfrm>
          <a:prstGeom prst="roundRect">
            <a:avLst/>
          </a:prstGeom>
          <a:solidFill>
            <a:srgbClr val="FFF1F1"/>
          </a:solidFill>
          <a:ln>
            <a:solidFill>
              <a:srgbClr val="E8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2103120"/>
            <a:ext cx="3044952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9B2C2C"/>
                </a:solidFill>
                <a:latin typeface="Arial"/>
              </a:defRPr>
            </a:pPr>
            <a:r>
              <a:t>IMPORTANT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468880"/>
            <a:ext cx="3044952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72B4D"/>
                </a:solidFill>
                <a:latin typeface="Arial"/>
              </a:defRPr>
            </a:pPr>
            <a:r>
              <a:t>Verify the pilot before wider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3520440"/>
            <a:ext cx="304495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Do not scale on headline results alone. Check staffing, hardware and training risks at pilot scale first.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4983480"/>
            <a:ext cx="3685032" cy="868680"/>
          </a:xfrm>
          <a:prstGeom prst="round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5166360"/>
            <a:ext cx="3044952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72B4D"/>
                </a:solidFill>
                <a:latin typeface="Arial"/>
              </a:defRPr>
            </a:pPr>
            <a:r>
              <a:t>Implication: stage the pilot and set a verification gate.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site comparison  •  Synthetic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8686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F86"/>
                </a:solidFill>
                <a:latin typeface="Arial"/>
              </a:defRPr>
            </a:pPr>
            <a:r>
              <a:t>PROCESS  •  GO / NO-GO  • 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08792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72B4D"/>
                </a:solidFill>
                <a:latin typeface="Arial"/>
              </a:defRPr>
            </a:pPr>
            <a:r>
              <a:t>Pilot the four-step flow, then pass a go/no-go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A6B84"/>
                </a:solidFill>
                <a:latin typeface="Arial"/>
              </a:defRPr>
            </a:pPr>
            <a:r>
              <a:t>Proposed pilot flow from receipt to dispatch — no wider rollout before the checkpoint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313432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1856231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DEBED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185623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Receive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3512" y="2651760"/>
            <a:ext cx="548640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02152" y="1965960"/>
            <a:ext cx="2313432" cy="13716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2148840"/>
            <a:ext cx="1856231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7D2E0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2560320"/>
            <a:ext cx="185623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Inspect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15584" y="2651760"/>
            <a:ext cx="557784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73368" y="1965960"/>
            <a:ext cx="2313432" cy="1371600"/>
          </a:xfrm>
          <a:prstGeom prst="roundRect">
            <a:avLst/>
          </a:prstGeom>
          <a:solidFill>
            <a:srgbClr val="007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2148840"/>
            <a:ext cx="1856231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DEBED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560320"/>
            <a:ext cx="185623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Route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86800" y="2651760"/>
            <a:ext cx="548640" cy="0"/>
          </a:xfrm>
          <a:prstGeom prst="line">
            <a:avLst/>
          </a:prstGeom>
          <a:ln w="38100">
            <a:solidFill>
              <a:srgbClr val="172B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35440" y="1965960"/>
            <a:ext cx="2313432" cy="1371600"/>
          </a:xfrm>
          <a:prstGeom prst="roundRect">
            <a:avLst/>
          </a:prstGeom>
          <a:solidFill>
            <a:srgbClr val="172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148840"/>
            <a:ext cx="1856231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C7D2E0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560320"/>
            <a:ext cx="1856231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Dispatch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11880"/>
            <a:ext cx="10908792" cy="1051560"/>
          </a:xfrm>
          <a:prstGeom prst="roundRect">
            <a:avLst/>
          </a:prstGeom>
          <a:solidFill>
            <a:srgbClr val="FFF7E6"/>
          </a:solidFill>
          <a:ln>
            <a:solidFill>
              <a:srgbClr val="E8C8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67328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72B4D"/>
                </a:solidFill>
                <a:latin typeface="Arial"/>
              </a:defRPr>
            </a:pPr>
            <a:r>
              <a:t>◆  GO / NO-GO CHECKPOINT — after the pilot, before wider rollout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160520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Verify the pilot before wider rollout.  GO: proceed in stages.  NO-GO: stop, fix and re-pilot.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20"/>
            <a:ext cx="10908792" cy="1051560"/>
          </a:xfrm>
          <a:prstGeom prst="roundRect">
            <a:avLst/>
          </a:prstGeom>
          <a:solidFill>
            <a:srgbClr val="E6F2F3"/>
          </a:solidFill>
          <a:ln>
            <a:solidFill>
              <a:srgbClr val="007F8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5001768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72B4D"/>
                </a:solidFill>
                <a:latin typeface="Arial"/>
              </a:defRPr>
            </a:pPr>
            <a:r>
              <a:t>NEXT DECISION — Operations committee: approve a staged pilot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413248"/>
            <a:ext cx="102412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72B4D"/>
                </a:solidFill>
                <a:latin typeface="Arial"/>
              </a:defRPr>
            </a:pPr>
            <a:r>
              <a:t>Investment $310k for $120k annual saving — simple payback $310k ÷ $120k = 2.6 years.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40080" y="6172200"/>
            <a:ext cx="10908792" cy="0"/>
          </a:xfrm>
          <a:prstGeom prst="line">
            <a:avLst/>
          </a:prstGeom>
          <a:ln w="12700">
            <a:solidFill>
              <a:srgbClr val="D7DE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630936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Aster cold-chain — regional distribution capacity  •  Synthetic values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309360"/>
            <a:ext cx="1216152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A6B84"/>
                </a:solidFill>
                <a:latin typeface="Arial"/>
              </a:defRPr>
            </a:pPr>
            <a: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