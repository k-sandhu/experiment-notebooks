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5B4C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pilot; simple payback is 2.2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47088"/>
            <a:ext cx="6537960" cy="4160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48840"/>
            <a:ext cx="5897880" cy="301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AD8D1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34056"/>
            <a:ext cx="5715000" cy="11612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" y="4187952"/>
            <a:ext cx="5824728" cy="0"/>
          </a:xfrm>
          <a:prstGeom prst="line">
            <a:avLst/>
          </a:prstGeom>
          <a:ln w="12700">
            <a:solidFill>
              <a:srgbClr val="536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59536" y="4453128"/>
            <a:ext cx="5696712" cy="10789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847088"/>
            <a:ext cx="4279392" cy="1435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8" y="2011680"/>
            <a:ext cx="373075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386584"/>
            <a:ext cx="373075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72B4D"/>
                </a:solidFill>
                <a:latin typeface="Arial"/>
              </a:defRPr>
            </a:pPr>
            <a:r>
              <a:t>260k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3456432"/>
            <a:ext cx="4279392" cy="1435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7808" y="3621024"/>
            <a:ext cx="373075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995928"/>
            <a:ext cx="3730752" cy="6126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007F86"/>
                </a:solidFill>
                <a:latin typeface="Arial"/>
              </a:defRPr>
            </a:pPr>
            <a:r>
              <a:t>120k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0064" y="5129784"/>
            <a:ext cx="4251960" cy="2834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0064" y="5504688"/>
            <a:ext cx="4251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260 / 120 = 2.2 years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values • k = thousands; currency unspecified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shipments fall short of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7772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Quarterly shipments • Actual versus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0924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2376" y="2276856"/>
          <a:ext cx="7744968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915400" y="2103120"/>
            <a:ext cx="2724912" cy="3959352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3144" y="2350008"/>
            <a:ext cx="223113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FULL-YEAR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53144" y="2770632"/>
            <a:ext cx="2231136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3144" y="3438144"/>
            <a:ext cx="223113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2B4D"/>
                </a:solidFill>
                <a:latin typeface="Arial"/>
              </a:defRPr>
            </a:pPr>
            <a:r>
              <a:t>shipments below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71432" y="4251960"/>
            <a:ext cx="2194560" cy="0"/>
          </a:xfrm>
          <a:prstGeom prst="line">
            <a:avLst/>
          </a:prstGeom>
          <a:ln w="12700">
            <a:solidFill>
              <a:srgbClr val="B8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53144" y="4471416"/>
            <a:ext cx="2231136" cy="11795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Q2 has the largest shortfall: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100 shipments.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Synthetic values • Full-year actual: 4,310 shipments • Full-year target: 4,560 shipments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Central has the lowest on-time rate at 91%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Site snapshot • Volume in shipments; on-time performance in percent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7452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3090"/>
                <a:gridCol w="1863090"/>
                <a:gridCol w="1863090"/>
                <a:gridCol w="1863090"/>
              </a:tblGrid>
              <a:tr h="83439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3439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93608" y="2194560"/>
            <a:ext cx="3346704" cy="333756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3608" y="2194560"/>
            <a:ext cx="64008" cy="3337560"/>
          </a:xfrm>
          <a:prstGeom prst="rect">
            <a:avLst/>
          </a:prstGeom>
          <a:solidFill>
            <a:srgbClr val="B77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2459736"/>
            <a:ext cx="2798064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817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980944"/>
            <a:ext cx="2779776" cy="1435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4608576"/>
            <a:ext cx="2779776" cy="6217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Use pilot evidence to inform the scale-up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42432"/>
            <a:ext cx="746150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7F86"/>
                </a:solidFill>
                <a:latin typeface="Arial"/>
              </a:defRPr>
            </a:pPr>
            <a:r>
              <a:t>South leads on volume (390) and on-time performance (97%).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Synthetic site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698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2657A"/>
                </a:solidFill>
                <a:latin typeface="Arial"/>
              </a:defRPr>
            </a:pPr>
            <a:r>
              <a:t>ASTER COLD-CHAIN  /  PILOT PATH AND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1064240" cy="6766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Verify the four-step pilot before deciding on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0992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57A"/>
                </a:solidFill>
                <a:latin typeface="Arial"/>
              </a:defRPr>
            </a:pPr>
            <a:r>
              <a:t>Pilot process • Read left to right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16936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24728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732520" y="3035808"/>
            <a:ext cx="539496" cy="0"/>
          </a:xfrm>
          <a:prstGeom prst="line">
            <a:avLst/>
          </a:prstGeom>
          <a:ln w="381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Receive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6432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2395728"/>
            <a:ext cx="2368296" cy="1371600"/>
          </a:xfrm>
          <a:prstGeom prst="rect">
            <a:avLst/>
          </a:prstGeom>
          <a:solidFill>
            <a:srgbClr val="E3F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Route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2016" y="2395728"/>
            <a:ext cx="2368296" cy="137160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3184" y="2560320"/>
            <a:ext cx="1947672" cy="2651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2980944"/>
            <a:ext cx="1947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11091672" cy="1764792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489704"/>
            <a:ext cx="2834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D8D1"/>
                </a:solidFill>
                <a:latin typeface="Arial"/>
              </a:defRPr>
            </a:pPr>
            <a:r>
              <a:t>NEXT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928616"/>
            <a:ext cx="5010912" cy="69494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63056" y="4553712"/>
            <a:ext cx="0" cy="1161288"/>
          </a:xfrm>
          <a:prstGeom prst="line">
            <a:avLst/>
          </a:prstGeom>
          <a:ln w="12700">
            <a:solidFill>
              <a:srgbClr val="536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3952" y="4544568"/>
            <a:ext cx="475488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D8D1"/>
                </a:solidFill>
                <a:latin typeface="Arial"/>
              </a:defRPr>
            </a:pPr>
            <a:r>
              <a:t>PROPOSED REVIEW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992624"/>
            <a:ext cx="47548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Arial"/>
              </a:defRPr>
            </a:pPr>
            <a:r>
              <a:t>Review capacity, on-time results and savings before wider rollout.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12700">
            <a:solidFill>
              <a:srgbClr val="D7DF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437376"/>
            <a:ext cx="102870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Operations committee • Aster cold-chain • Regional distribution 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437376"/>
            <a:ext cx="621792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