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1180</c:v>
                </c:pt>
                <c:pt idx="1">
                  <c:v>730</c:v>
                </c:pt>
                <c:pt idx="2">
                  <c:v>1210</c:v>
                </c:pt>
                <c:pt idx="3">
                  <c:v>1190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72B4D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1270</c:v>
                </c:pt>
                <c:pt idx="1">
                  <c:v>830</c:v>
                </c:pt>
                <c:pt idx="2">
                  <c:v>1240</c:v>
                </c:pt>
                <c:pt idx="3">
                  <c:v>1220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Approve a staged pilot for Aster cold-chain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Regional distribution capacity  •  Decision brief for the operations committee  •  Synthetic values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1183112" cy="9601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27048"/>
            <a:ext cx="10634472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19656"/>
            <a:ext cx="106344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Approve a staged pilot — verify results before any wider rollout.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97480"/>
            <a:ext cx="35661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$310k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38144"/>
            <a:ext cx="35661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Investment (one-time)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3931920"/>
            <a:ext cx="35661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15968" y="2697480"/>
            <a:ext cx="35661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$120k /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438144"/>
            <a:ext cx="35661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15968" y="3931920"/>
            <a:ext cx="3566159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19872" y="2697480"/>
            <a:ext cx="35661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2.6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3438144"/>
            <a:ext cx="35661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19872" y="3931920"/>
            <a:ext cx="35661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4069080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25466"/>
                </a:solidFill>
                <a:latin typeface="Arial"/>
              </a:defRPr>
            </a:pPr>
            <a:r>
              <a:t>Simple payback = investment ÷ annual saving = $310k ÷ $120k per year = 2.6 years (rounded to one decimal).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617720"/>
            <a:ext cx="3544824" cy="182880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47274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Why 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5349240"/>
            <a:ext cx="3325368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Actual shipments trail target in every quarter. Capacity action is needed.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2064" y="4617720"/>
            <a:ext cx="3544824" cy="182880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1792" y="47274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How it is staged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1792" y="5349240"/>
            <a:ext cx="3325368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Pilot first, verify performance, then decide on wider rollout.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41208" y="4617720"/>
            <a:ext cx="3544824" cy="182880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0936" y="47274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What it returns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0936" y="5349240"/>
            <a:ext cx="3325368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$120k annual saving against a $310k investment — a 2.6-year payback.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Actual shipments trailed target in every quarter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Aster cold-chain  •  Actual versus target by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Shipments per quarter — actual vs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7498079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25466"/>
                </a:solidFill>
                <a:latin typeface="Arial"/>
              </a:defRPr>
            </a:pPr>
            <a:r>
              <a:t>Unit: shipments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2057400"/>
          <a:ext cx="7498079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66760" y="1417320"/>
            <a:ext cx="3319272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4,310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130552"/>
            <a:ext cx="3319272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actual shipments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66760" y="2606040"/>
            <a:ext cx="331927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66760" y="2788920"/>
            <a:ext cx="3319272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4,560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502152"/>
            <a:ext cx="3319272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target shipments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66760" y="3977639"/>
            <a:ext cx="331927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66760" y="4160520"/>
            <a:ext cx="3319272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05621"/>
                </a:solidFill>
                <a:latin typeface="Arial"/>
              </a:defRPr>
            </a:pPr>
            <a:r>
              <a:t>−250  (94.5%)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873752"/>
            <a:ext cx="3319272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Shortfall vs target (attainment)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66760" y="5349240"/>
            <a:ext cx="331927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5943600"/>
            <a:ext cx="11183112" cy="548640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62472"/>
            <a:ext cx="106344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Largest gaps: Q2 −100 and Q1 −90 shipments. Q3 and Q4 were each −30 shipments.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South leads on volume and on-time; risk differs by site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Site comparison  •  Volume and on-time performance as reported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Site comparison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71323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</a:tblGrid>
              <a:tr h="6172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93%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250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91%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390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955279" y="1783080"/>
            <a:ext cx="3730752" cy="2468880"/>
          </a:xfrm>
          <a:prstGeom prst="roundRect">
            <a:avLst/>
          </a:prstGeom>
          <a:solidFill>
            <a:srgbClr val="FEF3E2"/>
          </a:solidFill>
          <a:ln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938528"/>
            <a:ext cx="32735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05621"/>
                </a:solidFill>
                <a:latin typeface="Arial"/>
              </a:defRPr>
            </a:pPr>
            <a:r>
              <a:t>IMPORTANT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286000"/>
            <a:ext cx="327355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246120"/>
            <a:ext cx="327355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25466"/>
                </a:solidFill>
                <a:latin typeface="Arial"/>
              </a:defRPr>
            </a:pPr>
            <a:r>
              <a:t>Do not extend to other sites until pilot performance is confirmed.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07408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Read-out: South has the highest volume (390) and on-time rate (97%). Central is lowest on both (250; 91%).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864608"/>
            <a:ext cx="3544824" cy="1627632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4974336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North — Staffing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596128"/>
            <a:ext cx="3325368" cy="7863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Volume 350; on time 93%. Watch staffing through the pilot.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2064" y="4864608"/>
            <a:ext cx="3544824" cy="1627632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1792" y="4974336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Central —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1792" y="5596128"/>
            <a:ext cx="3325368" cy="7863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Volume 250; on time 91%. Watch hardware reliability.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41208" y="4864608"/>
            <a:ext cx="3544824" cy="1627632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0936" y="4974336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South —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0936" y="5596128"/>
            <a:ext cx="3325368" cy="7863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Volume 390; on time 97%. Close the training gap to sustain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Pilot the four-step flow, then pass a go/no-go gate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Proposed process and the decision now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Pilot process — four connected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10512"/>
            <a:ext cx="2590038" cy="9601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883664"/>
            <a:ext cx="2443734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Receive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7278" y="1810512"/>
            <a:ext cx="2590038" cy="9601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0430" y="1883664"/>
            <a:ext cx="2443734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Inspect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92958" y="2290572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231636" y="1810512"/>
            <a:ext cx="2590038" cy="9601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4788" y="1883664"/>
            <a:ext cx="2443734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Route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57316" y="2290572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095994" y="1810512"/>
            <a:ext cx="2590038" cy="9601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9146" y="1883664"/>
            <a:ext cx="2443734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Dispatch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21674" y="2290572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2920" y="2944368"/>
            <a:ext cx="2590038" cy="137160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054096"/>
            <a:ext cx="237058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1  Receive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675888"/>
            <a:ext cx="2370582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Log every incoming shipment on arrival.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67278" y="2944368"/>
            <a:ext cx="2590038" cy="137160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7006" y="3054096"/>
            <a:ext cx="237058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2  Inspect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7006" y="3675888"/>
            <a:ext cx="2370582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Check condition and completeness before handling.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1636" y="2944368"/>
            <a:ext cx="2590038" cy="137160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1364" y="3054096"/>
            <a:ext cx="237058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3  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3675888"/>
            <a:ext cx="2370582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Assign each shipment to its destination route.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5994" y="2944368"/>
            <a:ext cx="2590038" cy="137160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05722" y="3054096"/>
            <a:ext cx="237058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4  Dispatch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5722" y="3675888"/>
            <a:ext cx="2370582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Release on schedule and confirm handover.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99048" y="4315968"/>
            <a:ext cx="0" cy="237744"/>
          </a:xfrm>
          <a:prstGeom prst="line">
            <a:avLst/>
          </a:prstGeom>
          <a:ln w="31750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02920" y="4553712"/>
            <a:ext cx="11183112" cy="841248"/>
          </a:xfrm>
          <a:prstGeom prst="roundRect">
            <a:avLst/>
          </a:prstGeom>
          <a:solidFill>
            <a:srgbClr val="FEF3E2"/>
          </a:solidFill>
          <a:ln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654296"/>
            <a:ext cx="3108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05621"/>
                </a:solidFill>
                <a:latin typeface="Arial"/>
              </a:defRPr>
            </a:pPr>
            <a:r>
              <a:t>GO / NO-GO CHECKPOINT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4645152"/>
            <a:ext cx="7434072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B4D"/>
                </a:solidFill>
                <a:latin typeface="Arial"/>
              </a:defRPr>
            </a:pPr>
            <a:r>
              <a:t>After the pilot: GO only if verified performance confirms the case — otherwise NO-GO, do not roll out wider.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559552"/>
            <a:ext cx="11183112" cy="105156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660136"/>
            <a:ext cx="10634472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FD1D6"/>
                </a:solidFill>
                <a:latin typeface="Arial"/>
              </a:defRPr>
            </a:pPr>
            <a:r>
              <a:t>NEXT DECISION — OPERATIONS COMMITTEE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952744"/>
            <a:ext cx="106344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Approve a staged pilot: $310k investment for $120k annual saving (2.6-year payback). Verify before wider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