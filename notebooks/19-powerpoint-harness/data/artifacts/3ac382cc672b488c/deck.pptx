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5B4C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ASTER COLD-CHAIN  /  REGIONAL DISTRIBUTION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Approve a staged pilot; payback is 2.6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6537960" cy="411480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176272"/>
            <a:ext cx="5852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AD8D1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61488"/>
            <a:ext cx="58064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Approve 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staged pilot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96112" y="4251960"/>
            <a:ext cx="5815584" cy="0"/>
          </a:xfrm>
          <a:prstGeom prst="line">
            <a:avLst/>
          </a:prstGeom>
          <a:ln w="12700">
            <a:solidFill>
              <a:srgbClr val="536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7824" y="4581144"/>
            <a:ext cx="5806440" cy="8961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Verify the pilot before wider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874519"/>
            <a:ext cx="4279392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6" y="2048256"/>
            <a:ext cx="3730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6096" y="2432304"/>
            <a:ext cx="37307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72B4D"/>
                </a:solidFill>
                <a:latin typeface="Arial"/>
              </a:defRPr>
            </a:pPr>
            <a:r>
              <a:t>$310k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3383280"/>
            <a:ext cx="4279392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3557016"/>
            <a:ext cx="3730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ANNUAL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3941063"/>
            <a:ext cx="37307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$120k /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4892040"/>
            <a:ext cx="4279392" cy="1097280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5038344"/>
            <a:ext cx="373075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5422392"/>
            <a:ext cx="3730752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$310k / $120k = 2.6 years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2700">
            <a:solidFill>
              <a:srgbClr val="D7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437376"/>
            <a:ext cx="10287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Operations committee • Synthetic values • k = thousands • Payback rounded to one decimal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37376"/>
            <a:ext cx="62179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ASTER COLD-CHAIN  /  CAPACITY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Shipments miss target in every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777240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A"/>
                </a:solidFill>
                <a:latin typeface="Arial"/>
              </a:defRPr>
            </a:pPr>
            <a:r>
              <a:t>Quarterly shipments • Actual versus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80924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04088" y="2267712"/>
          <a:ext cx="7781544" cy="36393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915400" y="2103120"/>
            <a:ext cx="2724912" cy="3959352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3144" y="2359152"/>
            <a:ext cx="223113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FULL-YEAR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3144" y="2788920"/>
            <a:ext cx="223113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72B4D"/>
                </a:solidFill>
                <a:latin typeface="Arial"/>
              </a:defRPr>
            </a:pPr>
            <a:r>
              <a:t>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53144" y="3474720"/>
            <a:ext cx="2231136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shipments below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71432" y="4261104"/>
            <a:ext cx="2194560" cy="0"/>
          </a:xfrm>
          <a:prstGeom prst="line">
            <a:avLst/>
          </a:prstGeom>
          <a:ln w="12700">
            <a:solidFill>
              <a:srgbClr val="B8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53144" y="4517136"/>
            <a:ext cx="2231136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Q2 has the largest shortfall: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100 shipments.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2700">
            <a:solidFill>
              <a:srgbClr val="D7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37376"/>
            <a:ext cx="10287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Synthetic values • Full-year actual: 4,310 shipments • Full-year target: 4,560 shipments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37376"/>
            <a:ext cx="62179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ASTER COLD-CHAIN  /  SITE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Central has the lowest on-time rate at 91%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A"/>
                </a:solidFill>
                <a:latin typeface="Arial"/>
              </a:defRPr>
            </a:pPr>
            <a:r>
              <a:t>Site snapshot • Volume in shipments; on-time performance in percent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74523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090"/>
                <a:gridCol w="1863090"/>
                <a:gridCol w="1863090"/>
                <a:gridCol w="1863090"/>
              </a:tblGrid>
              <a:tr h="76581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93608" y="2194560"/>
            <a:ext cx="3346704" cy="3611880"/>
          </a:xfrm>
          <a:prstGeom prst="rect">
            <a:avLst/>
          </a:prstGeom>
          <a:solidFill>
            <a:srgbClr val="FF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93608" y="2194560"/>
            <a:ext cx="64008" cy="3611880"/>
          </a:xfrm>
          <a:prstGeom prst="rect">
            <a:avLst/>
          </a:prstGeom>
          <a:solidFill>
            <a:srgbClr val="B7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2478024"/>
            <a:ext cx="27706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A5817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990088"/>
            <a:ext cx="2770632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4709160"/>
            <a:ext cx="2770632" cy="7955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A"/>
                </a:solidFill>
                <a:latin typeface="Arial"/>
              </a:defRPr>
            </a:pPr>
            <a:r>
              <a:t>Use pilot evidence to inform the scale-up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449824"/>
            <a:ext cx="7452360" cy="612648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68696"/>
            <a:ext cx="7095744" cy="3749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South leads: 390 shipments and 97% on time.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2700">
            <a:solidFill>
              <a:srgbClr val="D7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37376"/>
            <a:ext cx="10287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Operations committee • Synthetic site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37376"/>
            <a:ext cx="62179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ASTER COLD-CHAIN  /  PILOT PATH AND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Pilot evidence must pass a go/no-go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55064"/>
            <a:ext cx="110642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A"/>
                </a:solidFill>
                <a:latin typeface="Arial"/>
              </a:defRPr>
            </a:pPr>
            <a:r>
              <a:t>Four-step pilot • Read left to right, then review the results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16936" y="2935224"/>
            <a:ext cx="539496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24728" y="2935224"/>
            <a:ext cx="539496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32520" y="2935224"/>
            <a:ext cx="539496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286000"/>
            <a:ext cx="2368296" cy="1307592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459736"/>
            <a:ext cx="194767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862072"/>
            <a:ext cx="1947672" cy="4663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Receive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2286000"/>
            <a:ext cx="2368296" cy="1307592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459736"/>
            <a:ext cx="194767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62072"/>
            <a:ext cx="1947672" cy="4663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Inspect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4224" y="2286000"/>
            <a:ext cx="2368296" cy="1307592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459736"/>
            <a:ext cx="194767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862072"/>
            <a:ext cx="1947672" cy="4663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Route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2016" y="2286000"/>
            <a:ext cx="2368296" cy="1307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3184" y="2459736"/>
            <a:ext cx="194767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2862072"/>
            <a:ext cx="1947672" cy="4663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Dispatch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51592" y="3593592"/>
            <a:ext cx="0" cy="44805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8640" y="4041648"/>
            <a:ext cx="11091672" cy="20299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297680"/>
            <a:ext cx="4151376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AD8D1"/>
                </a:solidFill>
                <a:latin typeface="Arial"/>
              </a:defRPr>
            </a:pPr>
            <a:r>
              <a:t>NEXT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754880"/>
            <a:ext cx="4151376" cy="941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Arial"/>
              </a:defRPr>
            </a:pPr>
            <a:r>
              <a:t>Approve 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Arial"/>
              </a:defRPr>
            </a:pPr>
            <a:r>
              <a:t>staged pilot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30952" y="4325112"/>
            <a:ext cx="0" cy="1444752"/>
          </a:xfrm>
          <a:prstGeom prst="line">
            <a:avLst/>
          </a:prstGeom>
          <a:ln w="12700">
            <a:solidFill>
              <a:srgbClr val="536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41848" y="4297680"/>
            <a:ext cx="5650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AD8D1"/>
                </a:solidFill>
                <a:latin typeface="Arial"/>
              </a:defRPr>
            </a:pPr>
            <a:r>
              <a:t>AFTER PILOT • GO / NO-GO CHECKPOINT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4727448"/>
            <a:ext cx="5650992" cy="1124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Review capacity, on-time results and savings.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GO: authorize wider rollout.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NO-GO: address gaps and re-test the pilot.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37376"/>
            <a:ext cx="10287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Operations committee • Aster cold-chain • Regional distribution capacity • Synthetic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37376"/>
            <a:ext cx="62179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