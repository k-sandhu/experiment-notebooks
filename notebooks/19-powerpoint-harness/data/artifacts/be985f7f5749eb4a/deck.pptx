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B7C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 with a 3.1-year simple payback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57400"/>
            <a:ext cx="11183112" cy="7772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21992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Recommendation: Approve a staged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00400"/>
            <a:ext cx="354787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3200400"/>
            <a:ext cx="354787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3200400"/>
            <a:ext cx="3547872" cy="169164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56432"/>
            <a:ext cx="306324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61104"/>
            <a:ext cx="3063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456432"/>
            <a:ext cx="306324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72B4D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261104"/>
            <a:ext cx="3063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56432"/>
            <a:ext cx="3063240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261104"/>
            <a:ext cx="3063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3036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= $250k / $80k per year = 3.1 years (rounded)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4360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Verify the pilot before committing to wider rollout.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  •  k = thousands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19088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readings miss target in every quarter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993392"/>
            <a:ext cx="7498079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Quarterly volume  |  readings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468880"/>
          <a:ext cx="7955279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778240" y="2468880"/>
            <a:ext cx="2907792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724912"/>
            <a:ext cx="2423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37A"/>
                </a:solidFill>
                <a:latin typeface="Arial"/>
              </a:defRPr>
            </a:pPr>
            <a:r>
              <a:t>FULL-YEAR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82112"/>
            <a:ext cx="24231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72B4D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977639"/>
            <a:ext cx="2423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readings below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6840" y="4709160"/>
            <a:ext cx="2423160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06840" y="4956048"/>
            <a:ext cx="242316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Q3 has the largest shortfall: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110 readings.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02870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37A"/>
                </a:solidFill>
                <a:latin typeface="Arial"/>
              </a:defRPr>
            </a:pPr>
            <a:r>
              <a:t>Synthetic values  •  Actual total: 3,370 readings  |  Target total: 3,640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SITE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has the highest volume and lowest on-time rate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Site comparison  |  Volume in readings; on-time performance in percent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606040"/>
          <a:ext cx="111831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7150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257800"/>
            <a:ext cx="11183112" cy="868680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257800"/>
            <a:ext cx="73152" cy="868680"/>
          </a:xfrm>
          <a:prstGeom prst="rect">
            <a:avLst/>
          </a:prstGeom>
          <a:solidFill>
            <a:srgbClr val="BA6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513832"/>
            <a:ext cx="1920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6501A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5468112"/>
            <a:ext cx="8549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19088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EXECUTION AND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Gate wider rollout on a post-pilot go/no-go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755648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993392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2637A"/>
                </a:solidFill>
                <a:latin typeface="Arial"/>
              </a:defRPr>
            </a:pPr>
            <a:r>
              <a:t>PILOT  /  Complete the four steps, then review the evidence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3017520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3017520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3017520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5603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5603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25603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2560320"/>
            <a:ext cx="2377440" cy="914400"/>
          </a:xfrm>
          <a:prstGeom prst="roundRect">
            <a:avLst/>
          </a:prstGeom>
          <a:solidFill>
            <a:srgbClr val="E3F1F0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98064"/>
            <a:ext cx="2103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01 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98064"/>
            <a:ext cx="2103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02  Calibrate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98064"/>
            <a:ext cx="2103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03 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798064"/>
            <a:ext cx="2103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04  Monitor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69880" y="3474720"/>
            <a:ext cx="0" cy="41148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3886200"/>
            <a:ext cx="11183112" cy="8229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AFTER THE PILOT  /  GO / NO-GO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Engineering steering group reviews pilot verification, monitoring evidence and site risks.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58968"/>
            <a:ext cx="5440680" cy="77724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458968"/>
            <a:ext cx="5468112" cy="777240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41848"/>
            <a:ext cx="502005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GO  •  Authorize wider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641848"/>
            <a:ext cx="504748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96501A"/>
                </a:solidFill>
                <a:latin typeface="Arial"/>
              </a:defRPr>
            </a:pPr>
            <a:r>
              <a:t>NO-GO  •  Hold rollout; resolve 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decision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19088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