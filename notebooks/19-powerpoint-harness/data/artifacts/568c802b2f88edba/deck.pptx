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07F86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950</c:v>
                </c:pt>
                <c:pt idx="1">
                  <c:v>840</c:v>
                </c:pt>
                <c:pt idx="2">
                  <c:v>850</c:v>
                </c:pt>
                <c:pt idx="3">
                  <c:v>730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A5B5C5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980</c:v>
                </c:pt>
                <c:pt idx="1">
                  <c:v>900</c:v>
                </c:pt>
                <c:pt idx="2">
                  <c:v>960</c:v>
                </c:pt>
                <c:pt idx="3">
                  <c:v>800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>
                  <a:solidFill>
                    <a:srgbClr val="172B4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72B4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72B4D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400">
          <a:solidFill>
            <a:srgbClr val="172B4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8813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7F86"/>
                </a:solidFill>
                <a:latin typeface="Arial"/>
              </a:defRPr>
            </a:pPr>
            <a:r>
              <a:t>CEDAR SENSOR NETWORK  /  ENGINEERING STEERING GROUP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72B4D"/>
                </a:solidFill>
                <a:latin typeface="Arial"/>
              </a:defRPr>
            </a:pPr>
            <a:r>
              <a:t>Approve a staged pilot; simple payback is 2.8 years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78992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526579"/>
                </a:solidFill>
                <a:latin typeface="Arial"/>
              </a:defRPr>
            </a:pPr>
            <a:r>
              <a:t>Field sensor rollout • Validate pilot performance before wider rollout.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560320"/>
            <a:ext cx="3547872" cy="1874519"/>
          </a:xfrm>
          <a:prstGeom prst="rect">
            <a:avLst/>
          </a:prstGeom>
          <a:solidFill>
            <a:srgbClr val="ED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2788920"/>
            <a:ext cx="3127248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7F86"/>
                </a:solidFill>
                <a:latin typeface="Arial"/>
              </a:defRPr>
            </a:pPr>
            <a:r>
              <a:t>INVESTMENT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3310128"/>
            <a:ext cx="3127248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172B4D"/>
                </a:solidFill>
                <a:latin typeface="Arial"/>
              </a:defRPr>
            </a:pPr>
            <a:r>
              <a:t>220k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5112" y="2560320"/>
            <a:ext cx="3547872" cy="1874519"/>
          </a:xfrm>
          <a:prstGeom prst="rect">
            <a:avLst/>
          </a:prstGeom>
          <a:solidFill>
            <a:srgbClr val="ED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35424" y="2788920"/>
            <a:ext cx="3127248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7F86"/>
                </a:solidFill>
                <a:latin typeface="Arial"/>
              </a:defRPr>
            </a:pPr>
            <a:r>
              <a:t>ANNUAL SAVING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35424" y="3310128"/>
            <a:ext cx="3127248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172B4D"/>
                </a:solidFill>
                <a:latin typeface="Arial"/>
              </a:defRPr>
            </a:pPr>
            <a:r>
              <a:t>80k / year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01583" y="2560320"/>
            <a:ext cx="3547872" cy="1874519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11896" y="2788920"/>
            <a:ext cx="3127248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SIMPLE PAYBACK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1896" y="3310128"/>
            <a:ext cx="3127248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Arial"/>
              </a:defRPr>
            </a:pPr>
            <a:r>
              <a:t>2.8 years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727448"/>
            <a:ext cx="110642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72B4D"/>
                </a:solidFill>
                <a:latin typeface="Arial"/>
              </a:defRPr>
            </a:pPr>
            <a:r>
              <a:t>Simple payback = investment / annual saving = 220k / 80k per year = 2.8 years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413248"/>
            <a:ext cx="1106424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7F86"/>
                </a:solidFill>
                <a:latin typeface="Arial"/>
              </a:defRPr>
            </a:pPr>
            <a:r>
              <a:t>Decision requested: approve the staged pilot, with validation as the gate to expansion.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8640" y="6263640"/>
            <a:ext cx="11091672" cy="0"/>
          </a:xfrm>
          <a:prstGeom prst="line">
            <a:avLst/>
          </a:prstGeom>
          <a:ln w="1270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48640" y="6382512"/>
            <a:ext cx="10515600" cy="2468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579"/>
                </a:solidFill>
                <a:latin typeface="Arial"/>
              </a:defRPr>
            </a:pPr>
            <a:r>
              <a:t>Synthetic decision brief • Financial values in thousands (k); currency unspecified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37392" y="6382512"/>
            <a:ext cx="502920" cy="2468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579"/>
                </a:solidFill>
                <a:latin typeface="Arial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8813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7F86"/>
                </a:solidFill>
                <a:latin typeface="Arial"/>
              </a:defRPr>
            </a:pPr>
            <a:r>
              <a:t>CEDAR SENSOR NETWORK  / 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72B4D"/>
                </a:solidFill>
                <a:latin typeface="Arial"/>
              </a:defRPr>
            </a:pPr>
            <a:r>
              <a:t>Actual readings fall short of target in every quarter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642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579"/>
                </a:solidFill>
                <a:latin typeface="Arial"/>
              </a:defRPr>
            </a:pPr>
            <a:r>
              <a:t>Quarterly readings • Actual versus target • All values shown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2176272"/>
          <a:ext cx="8092440" cy="3822191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8942832" y="2258568"/>
            <a:ext cx="2697480" cy="3611880"/>
          </a:xfrm>
          <a:prstGeom prst="rect">
            <a:avLst/>
          </a:prstGeom>
          <a:solidFill>
            <a:srgbClr val="F1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53144" y="2496312"/>
            <a:ext cx="2276856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26579"/>
                </a:solidFill>
                <a:latin typeface="Arial"/>
              </a:defRPr>
            </a:pPr>
            <a:r>
              <a:t>ANNUAL TOTAL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53144" y="2944368"/>
            <a:ext cx="2276856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72B4D"/>
                </a:solidFill>
                <a:latin typeface="Arial"/>
              </a:defRPr>
            </a:pPr>
            <a:r>
              <a:t>3,370 / 3,640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53144" y="3730752"/>
            <a:ext cx="2276856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579"/>
                </a:solidFill>
                <a:latin typeface="Arial"/>
              </a:defRPr>
            </a:pPr>
            <a:r>
              <a:t>Actual / target readings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153144" y="4498848"/>
            <a:ext cx="2276856" cy="0"/>
          </a:xfrm>
          <a:prstGeom prst="line">
            <a:avLst/>
          </a:prstGeom>
          <a:ln w="12700">
            <a:solidFill>
              <a:srgbClr val="D0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153144" y="4709160"/>
            <a:ext cx="2276856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07F86"/>
                </a:solidFill>
                <a:latin typeface="Arial"/>
              </a:defRPr>
            </a:pPr>
            <a:r>
              <a:t>270 readings below target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8640" y="6263640"/>
            <a:ext cx="11091672" cy="0"/>
          </a:xfrm>
          <a:prstGeom prst="line">
            <a:avLst/>
          </a:prstGeom>
          <a:ln w="1270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48640" y="6382512"/>
            <a:ext cx="10515600" cy="2468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579"/>
                </a:solidFill>
                <a:latin typeface="Arial"/>
              </a:defRPr>
            </a:pPr>
            <a:r>
              <a:t>Synthetic data • Units: readings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37392" y="6382512"/>
            <a:ext cx="502920" cy="2468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579"/>
                </a:solidFill>
                <a:latin typeface="Arial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8813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7F86"/>
                </a:solidFill>
                <a:latin typeface="Arial"/>
              </a:defRPr>
            </a:pPr>
            <a:r>
              <a:t>CEDAR SENSOR NETWORK  /  SITE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41248"/>
            <a:ext cx="1106424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72B4D"/>
                </a:solidFill>
                <a:latin typeface="Arial"/>
              </a:defRPr>
            </a:pPr>
            <a:r>
              <a:t>Central has the highest volume and lowest on-time 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10642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579"/>
                </a:solidFill>
                <a:latin typeface="Arial"/>
              </a:defRPr>
            </a:pPr>
            <a:r>
              <a:t>Site volume in readings • On-time performance in percent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350008"/>
          <a:ext cx="75895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</a:tblGrid>
              <a:tr h="73152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Site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Volume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On time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Risk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North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330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95%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Staffing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Central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490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86%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Hardware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South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310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88%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Training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8439912" y="2350008"/>
            <a:ext cx="3200400" cy="2926080"/>
          </a:xfrm>
          <a:prstGeom prst="rect">
            <a:avLst/>
          </a:prstGeom>
          <a:solidFill>
            <a:srgbClr val="FF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68512" y="2596896"/>
            <a:ext cx="27432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946014"/>
                </a:solidFill>
                <a:latin typeface="Arial"/>
              </a:defRPr>
            </a:pPr>
            <a:r>
              <a:t>ROLLOUT GATE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8512" y="3127248"/>
            <a:ext cx="2743200" cy="1508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2B4D"/>
                </a:solidFill>
                <a:latin typeface="Arial"/>
              </a:defRPr>
            </a:pPr>
            <a:r>
              <a:t>Verify the pilot before wider rollout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504688"/>
            <a:ext cx="11064240" cy="4754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7F86"/>
                </a:solidFill>
                <a:latin typeface="Arial"/>
              </a:defRPr>
            </a:pPr>
            <a:r>
              <a:t>Pilot focus: test Central’s hardware readiness alongside each site’s named risk.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6263640"/>
            <a:ext cx="11091672" cy="0"/>
          </a:xfrm>
          <a:prstGeom prst="line">
            <a:avLst/>
          </a:prstGeom>
          <a:ln w="1270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6382512"/>
            <a:ext cx="10515600" cy="2468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579"/>
                </a:solidFill>
                <a:latin typeface="Arial"/>
              </a:defRPr>
            </a:pPr>
            <a:r>
              <a:t>Synthetic site data • Volume units: readings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37392" y="6382512"/>
            <a:ext cx="502920" cy="2468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579"/>
                </a:solidFill>
                <a:latin typeface="Arial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8813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7F86"/>
                </a:solidFill>
                <a:latin typeface="Arial"/>
              </a:defRPr>
            </a:pPr>
            <a:r>
              <a:t>CEDAR SENSOR NETWORK  /  EXECUTION &amp; NEXT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72B4D"/>
                </a:solidFill>
                <a:latin typeface="Arial"/>
              </a:defRPr>
            </a:pPr>
            <a:r>
              <a:t>Validate the pilot before deciding on wider rollout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64208"/>
            <a:ext cx="110642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26579"/>
                </a:solidFill>
                <a:latin typeface="Arial"/>
              </a:defRPr>
            </a:pPr>
            <a:r>
              <a:t>A four-step pilot sequence creates evidence for the steering group’s next decision.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907792" y="3044952"/>
            <a:ext cx="548640" cy="0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632704" y="3044952"/>
            <a:ext cx="548640" cy="0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8357616" y="3044952"/>
            <a:ext cx="548640" cy="0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731520" y="2514600"/>
            <a:ext cx="2176272" cy="1060704"/>
          </a:xfrm>
          <a:prstGeom prst="rect">
            <a:avLst/>
          </a:prstGeom>
          <a:solidFill>
            <a:srgbClr val="EDF6F6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788920"/>
            <a:ext cx="19202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007F86"/>
                </a:solidFill>
                <a:latin typeface="Arial"/>
              </a:defRPr>
            </a:pPr>
            <a:r>
              <a:t>1  Install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56432" y="2514600"/>
            <a:ext cx="2176272" cy="1060704"/>
          </a:xfrm>
          <a:prstGeom prst="rect">
            <a:avLst/>
          </a:prstGeom>
          <a:solidFill>
            <a:srgbClr val="EDF6F6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84448" y="2788920"/>
            <a:ext cx="19202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007F86"/>
                </a:solidFill>
                <a:latin typeface="Arial"/>
              </a:defRPr>
            </a:pPr>
            <a:r>
              <a:t>2  Calibrate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81344" y="2514600"/>
            <a:ext cx="2176272" cy="1060704"/>
          </a:xfrm>
          <a:prstGeom prst="rect">
            <a:avLst/>
          </a:prstGeom>
          <a:solidFill>
            <a:srgbClr val="007F86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2788920"/>
            <a:ext cx="19202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FFFFF"/>
                </a:solidFill>
                <a:latin typeface="Arial"/>
              </a:defRPr>
            </a:pPr>
            <a:r>
              <a:t>3  Validate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06256" y="2514600"/>
            <a:ext cx="2176272" cy="1060704"/>
          </a:xfrm>
          <a:prstGeom prst="rect">
            <a:avLst/>
          </a:prstGeom>
          <a:solidFill>
            <a:srgbClr val="EDF6F6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34272" y="2788920"/>
            <a:ext cx="19202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007F86"/>
                </a:solidFill>
                <a:latin typeface="Arial"/>
              </a:defRPr>
            </a:pPr>
            <a:r>
              <a:t>4  Monitor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767328"/>
            <a:ext cx="217627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26579"/>
                </a:solidFill>
                <a:latin typeface="Arial"/>
              </a:defRPr>
            </a:pPr>
            <a:r>
              <a:t>Deploy pilot sensors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56432" y="3767328"/>
            <a:ext cx="217627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26579"/>
                </a:solidFill>
                <a:latin typeface="Arial"/>
              </a:defRPr>
            </a:pPr>
            <a:r>
              <a:t>Check measurement accuracy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1344" y="3767328"/>
            <a:ext cx="217627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26579"/>
                </a:solidFill>
                <a:latin typeface="Arial"/>
              </a:defRPr>
            </a:pPr>
            <a:r>
              <a:t>Verify performance and site readiness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06256" y="3767328"/>
            <a:ext cx="217627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26579"/>
                </a:solidFill>
                <a:latin typeface="Arial"/>
              </a:defRPr>
            </a:pPr>
            <a:r>
              <a:t>Track readings and on-time delivery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709160"/>
            <a:ext cx="11091672" cy="1124712"/>
          </a:xfrm>
          <a:prstGeom prst="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864608"/>
            <a:ext cx="19202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8DD9D7"/>
                </a:solidFill>
                <a:latin typeface="Arial"/>
              </a:defRPr>
            </a:pPr>
            <a:r>
              <a:t>NEXT 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88920" y="4864608"/>
            <a:ext cx="8577072" cy="7589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Arial"/>
              </a:defRPr>
            </a:pPr>
            <a:r>
              <a:t>Expand only after reviewing verified pilot results, site risks and the savings case.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48640" y="6263640"/>
            <a:ext cx="11091672" cy="0"/>
          </a:xfrm>
          <a:prstGeom prst="line">
            <a:avLst/>
          </a:prstGeom>
          <a:ln w="1270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48640" y="6382512"/>
            <a:ext cx="10515600" cy="2468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579"/>
                </a:solidFill>
                <a:latin typeface="Arial"/>
              </a:defRPr>
            </a:pPr>
            <a:r>
              <a:t>Proposed pilot sequence • Decision owner: engineering steering group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37392" y="6382512"/>
            <a:ext cx="502920" cy="2468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579"/>
                </a:solidFill>
                <a:latin typeface="Arial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