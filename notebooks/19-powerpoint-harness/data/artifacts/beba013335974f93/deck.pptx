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EBAC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OPERATIONS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a staged pilot with a 2.6-year payback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Regional distribution capacity • Financial values in $ thousands (k)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15968" y="210312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83296" y="2103120"/>
            <a:ext cx="3566160" cy="1874519"/>
          </a:xfrm>
          <a:prstGeom prst="rect">
            <a:avLst/>
          </a:prstGeom>
          <a:solidFill>
            <a:srgbClr val="E4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2103120"/>
            <a:ext cx="3566160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15968" y="2103120"/>
            <a:ext cx="3566159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83296" y="2103120"/>
            <a:ext cx="3566160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395728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$120k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Annual savings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95728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264408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395728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007F86"/>
                </a:solidFill>
                <a:latin typeface="Arial"/>
              </a:defRPr>
            </a:pPr>
            <a:r>
              <a:t>2.6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264408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A"/>
                </a:solidFill>
                <a:latin typeface="Arial"/>
              </a:defRPr>
            </a:pPr>
            <a:r>
              <a:t>Simple payback = investment / annual saving = 310 / 120 = 2.6 years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56632"/>
            <a:ext cx="11100816" cy="105156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202936"/>
            <a:ext cx="105613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BD8D5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513832"/>
            <a:ext cx="10561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Approve a staged pilot; verify results before wider rollout.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CAPACITY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Actual shipments miss target in every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Quarterly shipments • Actual versus target • Units: shipments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48256"/>
            <a:ext cx="8092440" cy="4096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94560"/>
          <a:ext cx="7726679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869680" y="2048256"/>
            <a:ext cx="2779776" cy="1901952"/>
          </a:xfrm>
          <a:prstGeom prst="rect">
            <a:avLst/>
          </a:prstGeom>
          <a:solidFill>
            <a:srgbClr val="E4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89136" y="2267712"/>
            <a:ext cx="234086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07F86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9136" y="2999232"/>
            <a:ext cx="2340864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shipments below target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across Q1–Q4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9136" y="4251960"/>
            <a:ext cx="234086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Q2: largest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4791456"/>
            <a:ext cx="2340864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730 actual vs 830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9136" y="5596128"/>
            <a:ext cx="234086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100 shipments 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 • Units: shipments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SITE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Site risks make pilot verification essential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Site comparison • Volume in shipments • On-time performance in percent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7406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  <a:gridCol w="1851660"/>
                <a:gridCol w="1851660"/>
                <a:gridCol w="1851660"/>
              </a:tblGrid>
              <a:tr h="8229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66175" y="2103120"/>
            <a:ext cx="3383280" cy="329184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266175" y="2103120"/>
            <a:ext cx="3383281" cy="0"/>
          </a:xfrm>
          <a:prstGeom prst="line">
            <a:avLst/>
          </a:prstGeom>
          <a:ln w="38100">
            <a:solidFill>
              <a:srgbClr val="A3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03920" y="2359152"/>
            <a:ext cx="2907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A5500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862072"/>
            <a:ext cx="290779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Verify the pilot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before wider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325112"/>
            <a:ext cx="29077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Confirm performance and address site-specific risks.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South leads on volume and on-time performance; Central has the lowest on-time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PILOT TO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Pilot verification gates the rollout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Regional distribution capacity • Four-step pilot process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80360" y="2697480"/>
            <a:ext cx="5943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06440" y="2697480"/>
            <a:ext cx="5943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32520" y="2697480"/>
            <a:ext cx="5943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194560"/>
            <a:ext cx="2331720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194560"/>
            <a:ext cx="2331720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194560"/>
            <a:ext cx="2331720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2194560"/>
            <a:ext cx="2322576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2057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1  Receive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96312"/>
            <a:ext cx="2057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2  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2"/>
            <a:ext cx="2057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3 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496312"/>
            <a:ext cx="204825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4  Dispatch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88168" y="3200400"/>
            <a:ext cx="0" cy="105156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502152"/>
            <a:ext cx="960120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A"/>
                </a:solidFill>
                <a:latin typeface="Arial"/>
              </a:defRPr>
            </a:pPr>
            <a:r>
              <a:t>Verify shipment performance, annual savings and site risk readiness.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11100816" cy="56692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398264"/>
            <a:ext cx="1062532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GO / NO-GO CHECKPOINT  •  AFTER PILOT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18888"/>
            <a:ext cx="5449824" cy="1280160"/>
          </a:xfrm>
          <a:prstGeom prst="rect">
            <a:avLst/>
          </a:prstGeom>
          <a:solidFill>
            <a:srgbClr val="E4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4818888"/>
            <a:ext cx="5449824" cy="128016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001768"/>
            <a:ext cx="497433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GO — approve wider rollout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449824"/>
            <a:ext cx="4974336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If verified results support expansion.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5001768"/>
            <a:ext cx="497433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A5500"/>
                </a:solidFill>
                <a:latin typeface="Arial"/>
              </a:defRPr>
            </a:pPr>
            <a:r>
              <a:t>NO-GO — hold wider rollout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5449824"/>
            <a:ext cx="4974336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Otherwise, address gaps and re-verify.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