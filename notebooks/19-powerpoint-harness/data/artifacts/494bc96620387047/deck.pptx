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ASTER COLD-CHAIN  |  REGIONAL DISTRIBUTION CAPACITY  |  OPERATIONS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pilot: a $310k investment returns $120k a year and pays back in 2.6 years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92024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286000"/>
            <a:ext cx="4937760" cy="384048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3840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389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38912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Run a limited pilot, verify results, then decide on wider rollout at a go/no-go checkpoint. Shipments finished the year 250 below target (94.5% of target), so added capacity is worth testing before scaling.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28600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one-time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228600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$120k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per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2952" y="2286000"/>
            <a:ext cx="1737360" cy="2194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2.6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754880"/>
            <a:ext cx="5696712" cy="13716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89204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How payback is calculated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303520"/>
            <a:ext cx="5303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= investment / annual saving = $310k / $120k = 2.58, rounded to 2.6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6C84"/>
                </a:solidFill>
                <a:latin typeface="Arial"/>
              </a:defRPr>
            </a:pPr>
            <a:r>
              <a:t>Synthetic values for a fictional decision brief. Financial figures in US$ thousands (k).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PERFORMANCE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Shipments missed target in all four quarters; the gap narrowed from 100 in Q2 to 30 in Q3 and 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Actual vs target by quarter (shipments)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31720"/>
          <a:ext cx="7498079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920240"/>
            <a:ext cx="3136392" cy="4526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Gap to target (shipments)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0604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60604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10896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10896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5100"/>
                </a:solidFill>
                <a:latin typeface="Arial"/>
              </a:defRPr>
            </a:pPr>
            <a:r>
              <a:t>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61188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61188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11480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411480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-30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2520" y="4663440"/>
            <a:ext cx="269748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32520" y="4754880"/>
            <a:ext cx="1280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Full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475488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-250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303520"/>
            <a:ext cx="2743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4,310 actual vs 4,560 target shipments (94.5% of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South leads with 390 shipments and 97% on time, but each site carries a distinct risk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Site performance (volume in shipments)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6766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Central has the lowest volume (250) and on-time rate (91%); North sits in between at 350 and 93%.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776472" cy="429768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920240"/>
            <a:ext cx="109728" cy="4297680"/>
          </a:xfrm>
          <a:prstGeom prst="rect">
            <a:avLst/>
          </a:prstGeom>
          <a:solidFill>
            <a:srgbClr val="C2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25100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606040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023360"/>
            <a:ext cx="329184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Site risks differ (staffing, hardware, training), so pilot results may not transfer directly. Confirm savings and on-time performance at the go/no-go checkpoint before committing beyond stage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PILOT PROCESS AND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the stage-one pilot now; wider rollout waits on a go/no-go checkpoint after 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Pilot flow: each shipment moves through four steps in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377440" cy="9601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1  Receive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766060"/>
            <a:ext cx="52120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47288" y="2286000"/>
            <a:ext cx="2377440" cy="9601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53288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2  Inspect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24728" y="2766060"/>
            <a:ext cx="52120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45936" y="2286000"/>
            <a:ext cx="2377440" cy="9601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53288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3  Route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23376" y="2766060"/>
            <a:ext cx="52120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44584" y="2286000"/>
            <a:ext cx="2395728" cy="9601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2532888"/>
            <a:ext cx="2395728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4  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Decision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3474720" cy="1783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NOW: COMMITTEE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31089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Approve a staged pilot: $310k investment, $120k annual saving, 2.6-year payback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23360" y="4869180"/>
            <a:ext cx="45720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80560" y="3977639"/>
            <a:ext cx="3657600" cy="1783080"/>
          </a:xfrm>
          <a:prstGeom prst="roundRect">
            <a:avLst/>
          </a:prstGeom>
          <a:solidFill>
            <a:srgbClr val="FFF4E5"/>
          </a:solidFill>
          <a:ln>
            <a:solidFill>
              <a:srgbClr val="C2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11480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25100"/>
                </a:solidFill>
                <a:latin typeface="Arial"/>
              </a:defRPr>
            </a:pPr>
            <a:r>
              <a:t>GO/NO-GO CHECKPOINT AFTER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480560"/>
            <a:ext cx="32918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Go only if the pilot verifies savings and on-time performance; otherwise stop before any wider spend.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38160" y="4869180"/>
            <a:ext cx="45720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95360" y="3977639"/>
            <a:ext cx="3044952" cy="1783080"/>
          </a:xfrm>
          <a:prstGeom prst="roundRect">
            <a:avLst/>
          </a:prstGeom>
          <a:solidFill>
            <a:srgbClr val="F4F5F7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4114800"/>
            <a:ext cx="2651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THEN: WIDER ROLLOUT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4480560"/>
            <a:ext cx="26517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Extend to North, Central and South only after a go decision.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6C84"/>
                </a:solidFill>
                <a:latin typeface="Arial"/>
              </a:defRPr>
            </a:pPr>
            <a:r>
              <a:t>Simple payback = investment / annual saving = $310k / $120k = 2.58, rounded to 2.6 years. Synthetic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