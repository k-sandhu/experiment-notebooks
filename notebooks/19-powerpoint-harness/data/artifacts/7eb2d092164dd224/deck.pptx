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1180</c:v>
                </c:pt>
                <c:pt idx="1">
                  <c:v>730</c:v>
                </c:pt>
                <c:pt idx="2">
                  <c:v>1210</c:v>
                </c:pt>
                <c:pt idx="3">
                  <c:v>1190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172B4D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1270</c:v>
                </c:pt>
                <c:pt idx="1">
                  <c:v>830</c:v>
                </c:pt>
                <c:pt idx="2">
                  <c:v>1240</c:v>
                </c:pt>
                <c:pt idx="3">
                  <c:v>1220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686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86"/>
                </a:solidFill>
                <a:latin typeface="Arial"/>
              </a:defRPr>
            </a:pPr>
            <a:r>
              <a:t>ASTER COLD-CHAIN  •  REGIONAL DISTRIBUTION CAPACITY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320040"/>
            <a:ext cx="21031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A6B84"/>
                </a:solidFill>
                <a:latin typeface="Arial"/>
              </a:defRPr>
            </a:pPr>
            <a:r>
              <a:t>Decision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Approve a staged pilot — payback in 2.2 years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A6B84"/>
                </a:solidFill>
                <a:latin typeface="Arial"/>
              </a:defRPr>
            </a:pPr>
            <a:r>
              <a:t>For the operations committee  •  Fictional brief with synthetic values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10908792" cy="160020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3657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DEBED"/>
                </a:solidFill>
                <a:latin typeface="Arial"/>
              </a:defRPr>
            </a:pPr>
            <a: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23160"/>
            <a:ext cx="102412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Approve a staged 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017520"/>
            <a:ext cx="102412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Pilot first for regional distribution capacity, then verify results before any wider rollout.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840480"/>
            <a:ext cx="3511296" cy="1783080"/>
          </a:xfrm>
          <a:prstGeom prst="roundRect">
            <a:avLst/>
          </a:prstGeom>
          <a:solidFill>
            <a:srgbClr val="F2F5F8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2962656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A6B84"/>
                </a:solidFill>
                <a:latin typeface="Arial"/>
              </a:defRPr>
            </a:pPr>
            <a:r>
              <a:t>INVESTMENT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34840"/>
            <a:ext cx="2962656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B4D"/>
                </a:solidFill>
                <a:latin typeface="Arial"/>
              </a:defRPr>
            </a:pPr>
            <a:r>
              <a:t>260k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074920"/>
            <a:ext cx="2962656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B84"/>
                </a:solidFill>
                <a:latin typeface="Arial"/>
              </a:defRPr>
            </a:pPr>
            <a:r>
              <a:t>One-off investment (k)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3840480"/>
            <a:ext cx="3511296" cy="1783080"/>
          </a:xfrm>
          <a:prstGeom prst="roundRect">
            <a:avLst/>
          </a:prstGeom>
          <a:solidFill>
            <a:srgbClr val="F2F5F8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4069080"/>
            <a:ext cx="2962656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A6B84"/>
                </a:solidFill>
                <a:latin typeface="Arial"/>
              </a:defRPr>
            </a:pPr>
            <a:r>
              <a:t>ANNUAL SAVING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4434840"/>
            <a:ext cx="2962656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B4D"/>
                </a:solidFill>
                <a:latin typeface="Arial"/>
              </a:defRPr>
            </a:pPr>
            <a:r>
              <a:t>120k / year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5074920"/>
            <a:ext cx="2962656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B84"/>
                </a:solidFill>
                <a:latin typeface="Arial"/>
              </a:defRPr>
            </a:pPr>
            <a:r>
              <a:t>Annual savings (k per year)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7575" y="3840480"/>
            <a:ext cx="3511296" cy="1783080"/>
          </a:xfrm>
          <a:prstGeom prst="roundRect">
            <a:avLst/>
          </a:prstGeom>
          <a:solidFill>
            <a:srgbClr val="FFF7E6"/>
          </a:solidFill>
          <a:ln>
            <a:solidFill>
              <a:srgbClr val="E8C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1896" y="4069080"/>
            <a:ext cx="2962656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A6B84"/>
                </a:solidFill>
                <a:latin typeface="Arial"/>
              </a:defRPr>
            </a:pPr>
            <a:r>
              <a:t>SIMPLE PAYBACK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4434840"/>
            <a:ext cx="2962656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B4D"/>
                </a:solidFill>
                <a:latin typeface="Arial"/>
              </a:defRPr>
            </a:pPr>
            <a:r>
              <a:t>2.2 years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5074920"/>
            <a:ext cx="2962656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B84"/>
                </a:solidFill>
                <a:latin typeface="Arial"/>
              </a:defRPr>
            </a:pPr>
            <a:r>
              <a:t>260 ÷ 120 = 2.2 years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" y="6172200"/>
            <a:ext cx="10908792" cy="0"/>
          </a:xfrm>
          <a:prstGeom prst="line">
            <a:avLst/>
          </a:prstGeom>
          <a:ln w="1270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0080" y="6309360"/>
            <a:ext cx="8229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A6B84"/>
                </a:solidFill>
                <a:latin typeface="Arial"/>
              </a:defRPr>
            </a:pPr>
            <a:r>
              <a:t>Aster cold-chain — regional distribution capacity  •  Synthetic values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6309360"/>
            <a:ext cx="12161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A6B84"/>
                </a:solidFill>
                <a:latin typeface="Arial"/>
              </a:defRPr>
            </a:pPr>
            <a:r>
              <a:t>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686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86"/>
                </a:solidFill>
                <a:latin typeface="Arial"/>
              </a:defRPr>
            </a:pPr>
            <a:r>
              <a:t>PERFORMANCE  •  ACTUAL VERSUS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Actual shipments missed target in every quarter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78638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A6B84"/>
                </a:solidFill>
                <a:latin typeface="Arial"/>
              </a:defRPr>
            </a:pPr>
            <a:r>
              <a:t>Shipments per quarter (units: shipments)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828800"/>
          <a:ext cx="768096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686800" y="1828800"/>
            <a:ext cx="2862072" cy="4023360"/>
          </a:xfrm>
          <a:prstGeom prst="roundRect">
            <a:avLst/>
          </a:prstGeom>
          <a:solidFill>
            <a:srgbClr val="F2F5F8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6840" y="2057400"/>
            <a:ext cx="222199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What it means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2560320"/>
            <a:ext cx="222199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Total: 4,310 actual vs 4,560 target shipments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3474720"/>
            <a:ext cx="222199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Shortfall: 250 shipments (94.5% of target)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4389120"/>
            <a:ext cx="2221992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Largest gaps: Q2 (−100) and Q1 (−90). Q3 and Q4 each −30.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6172200"/>
            <a:ext cx="10908792" cy="0"/>
          </a:xfrm>
          <a:prstGeom prst="line">
            <a:avLst/>
          </a:prstGeom>
          <a:ln w="1270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6309360"/>
            <a:ext cx="8229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A6B84"/>
                </a:solidFill>
                <a:latin typeface="Arial"/>
              </a:defRPr>
            </a:pPr>
            <a:r>
              <a:t>Units: shipments  •  All eight quarterly values are labelled on the chart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309360"/>
            <a:ext cx="12161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A6B84"/>
                </a:solidFill>
                <a:latin typeface="Arial"/>
              </a:defRPr>
            </a:pPr>
            <a: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686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86"/>
                </a:solidFill>
                <a:latin typeface="Arial"/>
              </a:defRPr>
            </a:pPr>
            <a:r>
              <a:t>SITE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South leads, but every site carries a distinct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6949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A6B84"/>
                </a:solidFill>
                <a:latin typeface="Arial"/>
              </a:defRPr>
            </a:pPr>
            <a:r>
              <a:t>Volume, on-time performance and principal site risk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874519"/>
          <a:ext cx="69037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930"/>
                <a:gridCol w="1725930"/>
                <a:gridCol w="1725930"/>
                <a:gridCol w="1725930"/>
              </a:tblGrid>
              <a:tr h="7315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Volume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93%</a:t>
                      </a:r>
                    </a:p>
                  </a:txBody>
                  <a:tcPr marL="64008" marR="64008" marT="36576" marB="36576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Staffing</a:t>
                      </a:r>
                    </a:p>
                  </a:txBody>
                  <a:tcPr marL="64008" marR="64008" marT="36576" marB="36576">
                    <a:solidFill>
                      <a:srgbClr val="F2F5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250</a:t>
                      </a:r>
                    </a:p>
                  </a:txBody>
                  <a:tcPr marL="64008" marR="64008" marT="36576" marB="36576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91%</a:t>
                      </a:r>
                    </a:p>
                  </a:txBody>
                  <a:tcPr marL="64008" marR="64008" marT="36576" marB="36576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Hardware</a:t>
                      </a:r>
                    </a:p>
                  </a:txBody>
                  <a:tcPr marL="64008" marR="64008" marT="36576" marB="36576">
                    <a:solidFill>
                      <a:srgbClr val="F2F5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390</a:t>
                      </a:r>
                    </a:p>
                  </a:txBody>
                  <a:tcPr marL="64008" marR="64008" marT="36576" marB="36576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97%</a:t>
                      </a:r>
                    </a:p>
                  </a:txBody>
                  <a:tcPr marL="64008" marR="64008" marT="36576" marB="36576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Training</a:t>
                      </a:r>
                    </a:p>
                  </a:txBody>
                  <a:tcPr marL="64008" marR="64008" marT="36576" marB="36576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983480"/>
            <a:ext cx="69037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A6B84"/>
                </a:solidFill>
                <a:latin typeface="Arial"/>
              </a:defRPr>
            </a:pPr>
            <a:r>
              <a:t>South has the highest volume (390) and on-time rate (97%). Central is lowest on both measures.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874519"/>
            <a:ext cx="3685032" cy="2926080"/>
          </a:xfrm>
          <a:prstGeom prst="roundRect">
            <a:avLst/>
          </a:prstGeom>
          <a:solidFill>
            <a:srgbClr val="FFF1F1"/>
          </a:solidFill>
          <a:ln>
            <a:solidFill>
              <a:srgbClr val="E8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2103120"/>
            <a:ext cx="30449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B2C2C"/>
                </a:solidFill>
                <a:latin typeface="Arial"/>
              </a:defRPr>
            </a:pPr>
            <a:r>
              <a:t>IMPORTANT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468880"/>
            <a:ext cx="3044952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72B4D"/>
                </a:solidFill>
                <a:latin typeface="Arial"/>
              </a:defRPr>
            </a:pPr>
            <a:r>
              <a:t>Verify the pilot before wider rollout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3520440"/>
            <a:ext cx="3044952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Do not scale on headline results alone. Check staffing, hardware and training risks at pilot scale first.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4983480"/>
            <a:ext cx="3685032" cy="868680"/>
          </a:xfrm>
          <a:prstGeom prst="roundRect">
            <a:avLst/>
          </a:prstGeom>
          <a:solidFill>
            <a:srgbClr val="E6F2F3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5166360"/>
            <a:ext cx="304495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B4D"/>
                </a:solidFill>
                <a:latin typeface="Arial"/>
              </a:defRPr>
            </a:pPr>
            <a:r>
              <a:t>Implication: stage the pilot and set a verification gate.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" y="6172200"/>
            <a:ext cx="10908792" cy="0"/>
          </a:xfrm>
          <a:prstGeom prst="line">
            <a:avLst/>
          </a:prstGeom>
          <a:ln w="1270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" y="6309360"/>
            <a:ext cx="8229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A6B84"/>
                </a:solidFill>
                <a:latin typeface="Arial"/>
              </a:defRPr>
            </a:pPr>
            <a:r>
              <a:t>Aster cold-chain — site comparison  •  Synthetic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6309360"/>
            <a:ext cx="12161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A6B84"/>
                </a:solidFill>
                <a:latin typeface="Arial"/>
              </a:defRPr>
            </a:pPr>
            <a: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686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86"/>
                </a:solidFill>
                <a:latin typeface="Arial"/>
              </a:defRPr>
            </a:pPr>
            <a:r>
              <a:t>PROCESS  •  NEXT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Pilot the four-step flow, then decide on rollout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A6B84"/>
                </a:solidFill>
                <a:latin typeface="Arial"/>
              </a:defRPr>
            </a:pPr>
            <a:r>
              <a:t>The proposed operating flow from receipt to dispatch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2423160" cy="155448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1965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DEBED"/>
                </a:solidFill>
                <a:latin typeface="Arial"/>
              </a:defRPr>
            </a:pPr>
            <a: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51760"/>
            <a:ext cx="196596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Receive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63240" y="2834640"/>
            <a:ext cx="548640" cy="0"/>
          </a:xfrm>
          <a:prstGeom prst="line">
            <a:avLst/>
          </a:prstGeom>
          <a:ln w="381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611880" y="2057400"/>
            <a:ext cx="2423160" cy="1554480"/>
          </a:xfrm>
          <a:prstGeom prst="round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2240280"/>
            <a:ext cx="1965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7D2E0"/>
                </a:solidFill>
                <a:latin typeface="Arial"/>
              </a:defRPr>
            </a:pPr>
            <a: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651760"/>
            <a:ext cx="196596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Inspect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35040" y="2834640"/>
            <a:ext cx="548640" cy="0"/>
          </a:xfrm>
          <a:prstGeom prst="line">
            <a:avLst/>
          </a:prstGeom>
          <a:ln w="381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583680" y="2057400"/>
            <a:ext cx="2423160" cy="155448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2240280"/>
            <a:ext cx="1965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DEBED"/>
                </a:solidFill>
                <a:latin typeface="Arial"/>
              </a:defRPr>
            </a:pPr>
            <a: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2651760"/>
            <a:ext cx="196596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Route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006840" y="2834640"/>
            <a:ext cx="548640" cy="0"/>
          </a:xfrm>
          <a:prstGeom prst="line">
            <a:avLst/>
          </a:prstGeom>
          <a:ln w="381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555480" y="2057400"/>
            <a:ext cx="1993392" cy="1554480"/>
          </a:xfrm>
          <a:prstGeom prst="round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8360" y="2240280"/>
            <a:ext cx="162763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7D2E0"/>
                </a:solidFill>
                <a:latin typeface="Arial"/>
              </a:defRPr>
            </a:pPr>
            <a:r>
              <a:t>STEP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2651760"/>
            <a:ext cx="162763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Dispatch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069080"/>
            <a:ext cx="10908792" cy="1691640"/>
          </a:xfrm>
          <a:prstGeom prst="roundRect">
            <a:avLst/>
          </a:prstGeom>
          <a:solidFill>
            <a:srgbClr val="FFF7E6"/>
          </a:solidFill>
          <a:ln>
            <a:solidFill>
              <a:srgbClr val="E8C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251960"/>
            <a:ext cx="3657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A6B84"/>
                </a:solidFill>
                <a:latin typeface="Arial"/>
              </a:defRPr>
            </a:pPr>
            <a:r>
              <a:t>NEXT DECISION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572000"/>
            <a:ext cx="102412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72B4D"/>
                </a:solidFill>
                <a:latin typeface="Arial"/>
              </a:defRPr>
            </a:pPr>
            <a:r>
              <a:t>Operations committee: approve a staged pilot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120640"/>
            <a:ext cx="102412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Investment 260k for 120k annual saving — simple payback 260 ÷ 120 = 2.2 years. Verify the pilot before wider rollout.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0080" y="6172200"/>
            <a:ext cx="10908792" cy="0"/>
          </a:xfrm>
          <a:prstGeom prst="line">
            <a:avLst/>
          </a:prstGeom>
          <a:ln w="1270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0080" y="6309360"/>
            <a:ext cx="8229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A6B84"/>
                </a:solidFill>
                <a:latin typeface="Arial"/>
              </a:defRPr>
            </a:pPr>
            <a:r>
              <a:t>Aster cold-chain — regional distribution capacity  •  Synthetic values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6309360"/>
            <a:ext cx="12161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A6B84"/>
                </a:solidFill>
                <a:latin typeface="Arial"/>
              </a:defRPr>
            </a:pPr>
            <a: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