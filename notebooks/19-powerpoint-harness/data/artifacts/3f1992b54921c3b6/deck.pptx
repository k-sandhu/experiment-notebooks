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950</c:v>
                </c:pt>
                <c:pt idx="1">
                  <c:v>840</c:v>
                </c:pt>
                <c:pt idx="2">
                  <c:v>850</c:v>
                </c:pt>
                <c:pt idx="3">
                  <c:v>730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172B4D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980</c:v>
                </c:pt>
                <c:pt idx="1">
                  <c:v>900</c:v>
                </c:pt>
                <c:pt idx="2">
                  <c:v>960</c:v>
                </c:pt>
                <c:pt idx="3">
                  <c:v>800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7F86"/>
                </a:solidFill>
                <a:latin typeface="Arial"/>
              </a:defRPr>
            </a:pPr>
            <a:r>
              <a:t>CEDAR SENSOR NETWORK  •  DECISION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2B4D"/>
                </a:solidFill>
                <a:latin typeface="Arial"/>
              </a:defRPr>
            </a:pPr>
            <a:r>
              <a:t>Staged pilot pays back in 3.1 years — approve Cedar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1091672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A6B7F"/>
                </a:solidFill>
                <a:latin typeface="Arial"/>
              </a:defRPr>
            </a:pPr>
            <a:r>
              <a:t>Field sensor rollout  •  For the engineering steering group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11091672" cy="1234440"/>
          </a:xfrm>
          <a:prstGeom prst="roundRect">
            <a:avLst/>
          </a:prstGeom>
          <a:solidFill>
            <a:srgbClr val="E6F2F2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240280"/>
            <a:ext cx="292608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7F86"/>
                </a:solidFill>
                <a:latin typeface="Arial"/>
              </a:defRPr>
            </a:pPr>
            <a: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560320"/>
            <a:ext cx="64008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2B4D"/>
                </a:solidFill>
                <a:latin typeface="Arial"/>
              </a:defRPr>
            </a:pPr>
            <a:r>
              <a:t>Approve a staged 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267712"/>
            <a:ext cx="365760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Start bounded. Pass a go / no-go checkpoint before any wider rollout.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11880"/>
            <a:ext cx="3575304" cy="1600200"/>
          </a:xfrm>
          <a:prstGeom prst="roundRect">
            <a:avLst/>
          </a:prstGeom>
          <a:solidFill>
            <a:srgbClr val="F2F5F7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794760"/>
            <a:ext cx="306324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7F86"/>
                </a:solidFill>
                <a:latin typeface="Arial"/>
              </a:defRPr>
            </a:pPr>
            <a:r>
              <a:t>INVESTMENT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096512"/>
            <a:ext cx="30632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$250k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709160"/>
            <a:ext cx="30632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B7F"/>
                </a:solidFill>
                <a:latin typeface="Arial"/>
              </a:defRPr>
            </a:pPr>
            <a:r>
              <a:t>One-off pilot investment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6824" y="3611880"/>
            <a:ext cx="3575304" cy="1600200"/>
          </a:xfrm>
          <a:prstGeom prst="roundRect">
            <a:avLst/>
          </a:prstGeom>
          <a:solidFill>
            <a:srgbClr val="F2F5F7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3794760"/>
            <a:ext cx="306324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7F86"/>
                </a:solidFill>
                <a:latin typeface="Arial"/>
              </a:defRPr>
            </a:pPr>
            <a:r>
              <a:t>ANNUAL SAVING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4096512"/>
            <a:ext cx="30632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$80k / year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4709160"/>
            <a:ext cx="30632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B7F"/>
                </a:solidFill>
                <a:latin typeface="Arial"/>
              </a:defRPr>
            </a:pPr>
            <a:r>
              <a:t>Recurring annual saving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8" y="3611880"/>
            <a:ext cx="3575304" cy="160020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794760"/>
            <a:ext cx="306324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SIMPLE PAYBACK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096512"/>
            <a:ext cx="30632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3.1 years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709160"/>
            <a:ext cx="30632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$250k ÷ $80k = 3.1 years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440680"/>
            <a:ext cx="1109167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Decision requested today: approve the staged pilot and its $250k investment.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 w="12700">
            <a:solidFill>
              <a:srgbClr val="D6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6446520"/>
            <a:ext cx="11091672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A6B7F"/>
                </a:solidFill>
                <a:latin typeface="Arial"/>
              </a:defRPr>
            </a:pPr>
            <a:r>
              <a:t>Cedar sensor network — Decision brief      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7F86"/>
                </a:solidFill>
                <a:latin typeface="Arial"/>
              </a:defRPr>
            </a:pPr>
            <a:r>
              <a:t>PERFORMANCE  •  ACTUAL VS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Actual readings reached 92.6% of target across the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768096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Actual vs target by quarter  (units: readings)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810512"/>
          <a:ext cx="768096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70448"/>
            <a:ext cx="76809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B7F"/>
                </a:solidFill>
                <a:latin typeface="Arial"/>
              </a:defRPr>
            </a:pPr>
            <a:r>
              <a:t>All eight values labelled on bars. Units: readings. Value axis starts at zero.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1810512"/>
            <a:ext cx="3044952" cy="3977639"/>
          </a:xfrm>
          <a:prstGeom prst="roundRect">
            <a:avLst/>
          </a:prstGeom>
          <a:solidFill>
            <a:srgbClr val="F2F5F7"/>
          </a:solidFill>
          <a:ln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51392" y="2029968"/>
            <a:ext cx="2532888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What this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1392" y="2514600"/>
            <a:ext cx="2532888" cy="2286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•  Total: 3,370 actual vs 3,640 target (−270)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•  Closest: Q1 (−30)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•  Widest gap: Q3 (−110)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•  Short in all four quarters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1392" y="4892040"/>
            <a:ext cx="2532888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Arial"/>
              </a:defRPr>
            </a:pPr>
            <a:r>
              <a:t>Close, but not yet at target — pilot must close the gap.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 w="12700">
            <a:solidFill>
              <a:srgbClr val="D6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6446520"/>
            <a:ext cx="11091672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A6B7F"/>
                </a:solidFill>
                <a:latin typeface="Arial"/>
              </a:defRPr>
            </a:pPr>
            <a:r>
              <a:t>Cedar sensor network — Decision brief      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7F86"/>
                </a:solidFill>
                <a:latin typeface="Arial"/>
              </a:defRPr>
            </a:pPr>
            <a:r>
              <a:t>SITE COMPARISON  • 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Central carries most volume but the lowest on-time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713232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Site comparison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10512"/>
          <a:ext cx="71323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</a:tblGrid>
              <a:tr h="6629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Volume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Staffing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490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86%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Hardware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88%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Training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709160"/>
            <a:ext cx="7132320" cy="1097280"/>
          </a:xfrm>
          <a:prstGeom prst="roundRect">
            <a:avLst/>
          </a:prstGeom>
          <a:solidFill>
            <a:srgbClr val="E6F2F2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864608"/>
            <a:ext cx="6620256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North is most reliable on time (95%). Central needs hardware attention; South needs training.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10512"/>
            <a:ext cx="3593592" cy="3995928"/>
          </a:xfrm>
          <a:prstGeom prst="roundRect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2029968"/>
            <a:ext cx="3081528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2400E"/>
                </a:solidFill>
                <a:latin typeface="Arial"/>
              </a:defRPr>
            </a:pPr>
            <a:r>
              <a:t>⚠  IMPORTANT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2752" y="2423160"/>
            <a:ext cx="3081528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Verify the pilot before wider rollout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3566160"/>
            <a:ext cx="3081528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Do not scale until pilot evidence confirms performance at each site.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4983480"/>
            <a:ext cx="3081528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2400E"/>
                </a:solidFill>
                <a:latin typeface="Arial"/>
              </a:defRPr>
            </a:pPr>
            <a:r>
              <a:t>This gate protects the $250k investment.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 w="12700">
            <a:solidFill>
              <a:srgbClr val="D6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6446520"/>
            <a:ext cx="11091672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A6B7F"/>
                </a:solidFill>
                <a:latin typeface="Arial"/>
              </a:defRPr>
            </a:pPr>
            <a:r>
              <a:t>Cedar sensor network — Decision brief      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7F86"/>
                </a:solidFill>
                <a:latin typeface="Arial"/>
              </a:defRPr>
            </a:pPr>
            <a:r>
              <a:t>PROCESS  •  NEXT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Go / no-go checkpoint gates wider rollout after the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1109167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A6B7F"/>
                </a:solidFill>
                <a:latin typeface="Arial"/>
              </a:defRPr>
            </a:pPr>
            <a:r>
              <a:t>Staged pilot process — each step must complete before the next begins.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08960" y="2670048"/>
            <a:ext cx="283464" cy="0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952744" y="2670048"/>
            <a:ext cx="283464" cy="0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796528" y="2670048"/>
            <a:ext cx="283464" cy="0"/>
          </a:xfrm>
          <a:prstGeom prst="line">
            <a:avLst/>
          </a:prstGeom>
          <a:ln w="3810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1920240"/>
            <a:ext cx="2560320" cy="150876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103120"/>
            <a:ext cx="2157984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1  Install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606040"/>
            <a:ext cx="2157984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Deploy pilot sensors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2424" y="1920240"/>
            <a:ext cx="2560320" cy="1508760"/>
          </a:xfrm>
          <a:prstGeom prst="roundRect">
            <a:avLst/>
          </a:prstGeom>
          <a:solidFill>
            <a:srgbClr val="F2F5F7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2103120"/>
            <a:ext cx="2157984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2  Calibrate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606040"/>
            <a:ext cx="2157984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B7F"/>
                </a:solidFill>
                <a:latin typeface="Arial"/>
              </a:defRPr>
            </a:pPr>
            <a:r>
              <a:t>Tune to site conditions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920240"/>
            <a:ext cx="2560320" cy="150876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2103120"/>
            <a:ext cx="2157984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3  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606040"/>
            <a:ext cx="2157984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Check readings vs target — evidence for checkpoint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9992" y="1920240"/>
            <a:ext cx="2560320" cy="1508760"/>
          </a:xfrm>
          <a:prstGeom prst="roundRect">
            <a:avLst/>
          </a:prstGeom>
          <a:solidFill>
            <a:srgbClr val="F2F5F7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2103120"/>
            <a:ext cx="2157984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4  Monitor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606040"/>
            <a:ext cx="2157984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B7F"/>
                </a:solidFill>
                <a:latin typeface="Arial"/>
              </a:defRPr>
            </a:pPr>
            <a:r>
              <a:t>Only after GO: monitor &amp; wider rollout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657600"/>
            <a:ext cx="11091672" cy="960120"/>
          </a:xfrm>
          <a:prstGeom prst="roundRect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803904"/>
            <a:ext cx="31089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92400E"/>
                </a:solidFill>
                <a:latin typeface="Arial"/>
              </a:defRPr>
            </a:pPr>
            <a:r>
              <a:t>GO / NO-GO CHECKPOINT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92400E"/>
                </a:solidFill>
                <a:latin typeface="Arial"/>
              </a:defRPr>
            </a:pPr>
            <a:r>
              <a:t>After pilot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3840480"/>
            <a:ext cx="71780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GO: proceed to Monitor and wider rollout  •  NO-GO: stop, remediate and re-validate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828032"/>
            <a:ext cx="11091672" cy="1188720"/>
          </a:xfrm>
          <a:prstGeom prst="roundRect">
            <a:avLst/>
          </a:prstGeom>
          <a:solidFill>
            <a:srgbClr val="E6F2F2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4974336"/>
            <a:ext cx="292608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7F86"/>
                </a:solidFill>
                <a:latin typeface="Arial"/>
              </a:defRPr>
            </a:pPr>
            <a:r>
              <a:t>NEXT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5266944"/>
            <a:ext cx="105156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Approve a staged pilot today — $250k investment, $80k / year saving, 3.1-year payback.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 w="12700">
            <a:solidFill>
              <a:srgbClr val="D6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6446520"/>
            <a:ext cx="11091672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5A6B7F"/>
                </a:solidFill>
                <a:latin typeface="Arial"/>
              </a:defRPr>
            </a:pPr>
            <a:r>
              <a:t>Cedar sensor network — Decision brief      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