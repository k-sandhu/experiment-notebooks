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1080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7B5C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6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ASTER COLD-CHAIN  /  OPERATIONS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72B4D"/>
                </a:solidFill>
                <a:latin typeface="Arial"/>
              </a:defRPr>
            </a:pPr>
            <a:r>
              <a:t>Choose Resilient: uptime now outranks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2B4D"/>
                </a:solidFill>
                <a:latin typeface="Arial"/>
              </a:defRPr>
            </a:pPr>
            <a:r>
              <a:t>Invest $440k in regional distribution capacity. Require proof at the week-10 gate before rollout in weeks 11–14.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697480"/>
            <a:ext cx="2651760" cy="137160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7560" y="2697480"/>
            <a:ext cx="2651760" cy="137160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2697480"/>
            <a:ext cx="2651760" cy="137160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06840" y="2697480"/>
            <a:ext cx="2651760" cy="137160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834640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$155k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52044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34640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7F86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52044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834640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$25k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52044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Three-year net saving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434840"/>
            <a:ext cx="11155680" cy="1371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90288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Arial"/>
              </a:defRPr>
            </a:pPr>
            <a:r>
              <a:t>99.8% reference uptime clears the 99.5%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106984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B4D"/>
                </a:solidFill>
                <a:latin typeface="Arial"/>
              </a:defRPr>
            </a:pPr>
            <a:r>
              <a:t>Measured uptime, all five sites’ on-time performance and the backup-power test must still pass. HOLD rollout if any threshold fails.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26364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7"/>
                </a:solidFill>
                <a:latin typeface="Arial"/>
              </a:defRPr>
            </a:pPr>
            <a:r>
              <a:t>All data synthetic • Currency $k • Payback = investment ÷ annual saving • Three-year net = 3 × saving − investment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263640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M4 beats target; the six-month shortfall is still 520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Six-month throughput • shipments • actual remains below target in five of six months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783080"/>
          <a:ext cx="84124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9189720" y="1874519"/>
            <a:ext cx="2468880" cy="3977639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2057400"/>
            <a:ext cx="2103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26477"/>
                </a:solidFill>
                <a:latin typeface="Arial"/>
              </a:defRPr>
            </a:pPr>
            <a:r>
              <a:t>TOTAL 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242316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5,150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3200400"/>
            <a:ext cx="2103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26477"/>
                </a:solidFill>
                <a:latin typeface="Arial"/>
              </a:defRPr>
            </a:pPr>
            <a:r>
              <a:t>TOTAL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356616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5,670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4343400"/>
            <a:ext cx="2103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26477"/>
                </a:solidFill>
                <a:latin typeface="Arial"/>
              </a:defRPr>
            </a:pPr>
            <a:r>
              <a:t>SHORTFALL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470916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A35F10"/>
                </a:solidFill>
                <a:latin typeface="Arial"/>
              </a:defRPr>
            </a:pPr>
            <a:r>
              <a:t>520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5330952"/>
            <a:ext cx="2103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477"/>
                </a:solidFill>
                <a:latin typeface="Arial"/>
              </a:defRPr>
            </a:pPr>
            <a:r>
              <a:t>shipments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7"/>
                </a:solidFill>
                <a:latin typeface="Arial"/>
              </a:defRPr>
            </a:pPr>
            <a:r>
              <a:t>Synthetic data • Shortfall = total target − total actual • Monthly totals are separate from daily site demand and capacity.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263640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Resilient is the only option above the uptime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Reference options • all prices, savings, uptime assumptions and lead times remain unchanged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82880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64008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4663440"/>
            <a:ext cx="5394960" cy="128016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773168"/>
            <a:ext cx="4983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Selected: Resilient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193792"/>
            <a:ext cx="49834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Versus Balanced: $90k more investment, $25k more annual saving and 2 more lead weeks.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663440"/>
            <a:ext cx="5532120" cy="1280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4773168"/>
            <a:ext cx="511149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Uptime takes priority over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5193792"/>
            <a:ext cx="5111496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99.8% reference uptime is 0.3 percentage points above the gate. Measured proof is still required.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6364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7"/>
                </a:solidFill>
                <a:latin typeface="Arial"/>
              </a:defRPr>
            </a:pPr>
            <a:r>
              <a:t>Synthetic data • Currency $k • Lead weeks are option references • Rollout requires a GO decision at the week-10 gate.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263640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 20% savings downside turns the three-year net negative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Resilient sensitivity • fixed investment of $440k • annual saving in $k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783080"/>
          <a:ext cx="6446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69480" y="1783080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Returns at each savings level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69480" y="2331720"/>
          <a:ext cx="43891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60579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years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269480" y="4983480"/>
            <a:ext cx="4389120" cy="1051560"/>
          </a:xfrm>
          <a:prstGeom prst="rect">
            <a:avLst/>
          </a:prstGeom>
          <a:solidFill>
            <a:srgbClr val="FF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5102352"/>
            <a:ext cx="402336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86520B"/>
                </a:solidFill>
                <a:latin typeface="Arial"/>
              </a:defRPr>
            </a:pPr>
            <a:r>
              <a:t>Base net saving is only $25k over three years; downside falls to −$68k.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6364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7"/>
                </a:solidFill>
                <a:latin typeface="Arial"/>
              </a:defRPr>
            </a:pPr>
            <a:r>
              <a:t>Synthetic data • Payback = 440 ÷ annual saving, rounded to 1 decimal • Three-year net = 3 × annual saving − 440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263640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South is capacity-constrained despite network headroom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Daily site demand and capacity • current on-time performance and accountable owners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83080"/>
          <a:ext cx="111556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1054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074920"/>
            <a:ext cx="3474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Demand: 1,600/day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5074920"/>
            <a:ext cx="35661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Arial"/>
              </a:defRPr>
            </a:pPr>
            <a:r>
              <a:t>Capacity: 1,710/day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5074920"/>
            <a:ext cx="3749039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Headroom: 110/day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05272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35F10"/>
                </a:solidFill>
                <a:latin typeface="Arial"/>
              </a:defRPr>
            </a:pPr>
            <a:r>
              <a:t>South has a 20/day deficit. Central, South and East are below the ≥95% on-time gate.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6364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7"/>
                </a:solidFill>
                <a:latin typeface="Arial"/>
              </a:defRPr>
            </a:pPr>
            <a:r>
              <a:t>Synthetic data • Capacity-constrained means demand exceeds capacity • Daily figures are separate from six-month shipment totals.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263640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Validation and training both feed the week-10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Connected delivery roadmap • dependencies flow left to right • weeks from approval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11155680" cy="1508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86200"/>
            <a:ext cx="11155680" cy="150876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240280"/>
            <a:ext cx="1143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343400"/>
            <a:ext cx="1143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2542032"/>
            <a:ext cx="36576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66360" y="2542032"/>
            <a:ext cx="36576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66360" y="2697480"/>
            <a:ext cx="365760" cy="1947672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32320" y="2542032"/>
            <a:ext cx="502920" cy="82296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132320" y="3767328"/>
            <a:ext cx="502920" cy="877824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235440" y="2542032"/>
            <a:ext cx="457200" cy="1024128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828800" y="2011680"/>
            <a:ext cx="14630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7B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83664" y="2148840"/>
            <a:ext cx="135331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011680"/>
            <a:ext cx="15087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7B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148840"/>
            <a:ext cx="1399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Weeks 3–5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2011680"/>
            <a:ext cx="1600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7B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86984" y="2148840"/>
            <a:ext cx="149047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4114800"/>
            <a:ext cx="1600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86984" y="4251960"/>
            <a:ext cx="149047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6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6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3017520"/>
            <a:ext cx="1600200" cy="109728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0104" y="3127248"/>
            <a:ext cx="1490472" cy="8778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Decision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2011680"/>
            <a:ext cx="1783080" cy="10515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47504" y="2148840"/>
            <a:ext cx="167335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Weeks 11–14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596128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Design starts independently. Build enables Validate and Train. Both must finish before the gate; only GO enables rollout.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26364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7"/>
                </a:solidFill>
                <a:latin typeface="Arial"/>
              </a:defRPr>
            </a:pPr>
            <a:r>
              <a:t>Synthetic plan • Activity weeks unchanged through validation and training • Gate GO requires every threshold on slide 8.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263640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R1 is most likely; R2 and R5 share the highest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Five risks • stated likelihood and impact scores on a 1–5 scale • mitigation for every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2103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Impact ↑ (1–5)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78308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Likelihood → (1–5)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286000"/>
          <a:ext cx="53035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/>
                <a:gridCol w="883920"/>
                <a:gridCol w="883920"/>
                <a:gridCol w="883920"/>
                <a:gridCol w="883920"/>
                <a:gridCol w="883920"/>
              </a:tblGrid>
              <a:tr h="6172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178308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Mitigations • R5 tests gate readiness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2286000"/>
          <a:ext cx="54864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1722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ID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7"/>
                </a:solidFill>
                <a:latin typeface="Arial"/>
              </a:defRPr>
            </a:pPr>
            <a:r>
              <a:t>Synthetic risk assessment • Likelihood increases to the right; impact increases upward • IDs mark the scored coordinates.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263640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Approve $440k for Resilient; gate rollout at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B4D"/>
                </a:solidFill>
                <a:latin typeface="Arial"/>
              </a:defRPr>
            </a:pPr>
            <a:r>
              <a:t>Fund the selected investment now. Authorize rollout in weeks 11–14 only when every gate condition passes.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6766560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63093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WEEK 10  /  ALL THREE CONDITIONS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6309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1   Uptime ≥99.5%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474720"/>
            <a:ext cx="6309360" cy="0"/>
          </a:xfrm>
          <a:prstGeom prst="line">
            <a:avLst/>
          </a:prstGeom>
          <a:ln w="12700">
            <a:solidFill>
              <a:srgbClr val="CF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3657600"/>
            <a:ext cx="6309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2   All five sites ≥95% on time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343400"/>
            <a:ext cx="6309360" cy="0"/>
          </a:xfrm>
          <a:prstGeom prst="line">
            <a:avLst/>
          </a:prstGeom>
          <a:ln w="12700">
            <a:solidFill>
              <a:srgbClr val="CF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526280"/>
            <a:ext cx="6309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3   Backup-power test passed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965960"/>
            <a:ext cx="4114800" cy="15544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10312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GO: every threshold passes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70048"/>
            <a:ext cx="3657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Proceed to rollout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Weeks 11–14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3749039"/>
            <a:ext cx="4114800" cy="1645920"/>
          </a:xfrm>
          <a:prstGeom prst="rect">
            <a:avLst/>
          </a:prstGeom>
          <a:solidFill>
            <a:srgbClr val="FF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913632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6520B"/>
                </a:solidFill>
                <a:latin typeface="Arial"/>
              </a:defRPr>
            </a:pPr>
            <a:r>
              <a:t>HOLD: any threshold fails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462272"/>
            <a:ext cx="36576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D"/>
                </a:solidFill>
                <a:latin typeface="Arial"/>
              </a:defRPr>
            </a:pPr>
            <a:r>
              <a:t>Hold rollout, remediate and revalidate before a new GO decision.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96128"/>
            <a:ext cx="1115568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35F10"/>
                </a:solidFill>
                <a:latin typeface="Arial"/>
              </a:defRPr>
            </a:pPr>
            <a:r>
              <a:t>Site gaps remain: Central 94%, South 89%, East 94% on time. Resilient’s 99.8% uptime is a reference; verify it and backup power.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6364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7"/>
                </a:solidFill>
                <a:latin typeface="Arial"/>
              </a:defRPr>
            </a:pPr>
            <a:r>
              <a:t>Synthetic decision case • Investment $440k • Annual saving $155k • Payback 2.8 years • Three-year net saving $25k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263640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