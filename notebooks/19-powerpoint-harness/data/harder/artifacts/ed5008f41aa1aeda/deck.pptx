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890</c:v>
                </c:pt>
                <c:pt idx="1">
                  <c:v>890</c:v>
                </c:pt>
                <c:pt idx="2">
                  <c:v>940</c:v>
                </c:pt>
                <c:pt idx="3">
                  <c:v>980</c:v>
                </c:pt>
                <c:pt idx="4">
                  <c:v>860</c:v>
                </c:pt>
                <c:pt idx="5">
                  <c:v>900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8C4CE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970</c:v>
                </c:pt>
                <c:pt idx="1">
                  <c:v>980</c:v>
                </c:pt>
                <c:pt idx="2">
                  <c:v>1070</c:v>
                </c:pt>
                <c:pt idx="3">
                  <c:v>1040</c:v>
                </c:pt>
                <c:pt idx="4">
                  <c:v>930</c:v>
                </c:pt>
                <c:pt idx="5">
                  <c:v>970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$k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80%</c:v>
                </c:pt>
                <c:pt idx="1">
                  <c:v>Base 100%</c:v>
                </c:pt>
                <c:pt idx="2">
                  <c:v>Upside 120%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104</c:v>
                </c:pt>
                <c:pt idx="1">
                  <c:v>130</c:v>
                </c:pt>
                <c:pt idx="2">
                  <c:v>156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B4D"/>
                </a:solidFill>
                <a:latin typeface="Arial"/>
              </a:defRPr>
            </a:pPr>
            <a:r>
              <a:t>Recommendation: fund the Balanced option — $350k returns $130k a year and pays back in 2.7 years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08760"/>
            <a:ext cx="2651760" cy="1554480"/>
          </a:xfrm>
          <a:prstGeom prst="rect">
            <a:avLst/>
          </a:prstGeom>
          <a:solidFill>
            <a:srgbClr val="EE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23774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7F86"/>
                </a:solidFill>
                <a:latin typeface="Arial"/>
              </a:defRPr>
            </a:pPr>
            <a:r>
              <a:t>$350k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95728"/>
            <a:ext cx="23774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Investment (one-time)</a:t>
            </a:r>
          </a:p>
        </p:txBody>
      </p:sp>
      <p:sp>
        <p:nvSpPr>
          <p:cNvPr id="6" name="Rectangle 5"/>
          <p:cNvSpPr/>
          <p:nvPr/>
        </p:nvSpPr>
        <p:spPr>
          <a:xfrm>
            <a:off x="3355848" y="1508760"/>
            <a:ext cx="2651760" cy="1554480"/>
          </a:xfrm>
          <a:prstGeom prst="rect">
            <a:avLst/>
          </a:prstGeom>
          <a:solidFill>
            <a:srgbClr val="EE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93008" y="1645920"/>
            <a:ext cx="23774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7F86"/>
                </a:solidFill>
                <a:latin typeface="Arial"/>
              </a:defRPr>
            </a:pPr>
            <a:r>
              <a:t>$130k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93008" y="2395728"/>
            <a:ext cx="23774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Annual saving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3056" y="1508760"/>
            <a:ext cx="2651760" cy="1554480"/>
          </a:xfrm>
          <a:prstGeom prst="rect">
            <a:avLst/>
          </a:prstGeom>
          <a:solidFill>
            <a:srgbClr val="EE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216" y="1645920"/>
            <a:ext cx="23774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7F86"/>
                </a:solidFill>
                <a:latin typeface="Arial"/>
              </a:defRPr>
            </a:pPr>
            <a:r>
              <a:t>2.7 yrs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216" y="2395728"/>
            <a:ext cx="23774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Simple payback (350 ÷ 130)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70264" y="1508760"/>
            <a:ext cx="2651760" cy="1554480"/>
          </a:xfrm>
          <a:prstGeom prst="rect">
            <a:avLst/>
          </a:prstGeom>
          <a:solidFill>
            <a:srgbClr val="EE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07424" y="1645920"/>
            <a:ext cx="23774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7F86"/>
                </a:solidFill>
                <a:latin typeface="Arial"/>
              </a:defRPr>
            </a:pPr>
            <a:r>
              <a:t>+$40k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07424" y="2395728"/>
            <a:ext cx="23774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Three-year net (3 × 130 − 350)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37560"/>
            <a:ext cx="67665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Why Balanced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49039"/>
            <a:ext cx="6858000" cy="2468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• Output trails target every month: 5,460 vs 5,960 readings over M1–M6 (−500)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• Middle option: 8-week lead time, 99.0% rated uptime, $90k below Resilient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• Thin margin: three-year net is +$40k at base but −$38k in the 80% downside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• Rollout (weeks 9–12) proceeds only if the week-8 gate passes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3337560"/>
            <a:ext cx="3931920" cy="28346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3474720"/>
            <a:ext cx="3520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DECISION REQUESTED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3886200"/>
            <a:ext cx="3520440" cy="2194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Approve $350k for Balanced now.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GO to rollout at week 8 only if uptime ≥99.5%, all five sites ≥95% on time and the backup-power test passes; otherwise HOLD.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E6C84"/>
                </a:solidFill>
                <a:latin typeface="Arial"/>
              </a:defRPr>
            </a:pPr>
            <a:r>
              <a:t>Cedar sensor network · field sensor rollout · engineering steering group · synthetic data · 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B4D"/>
                </a:solidFill>
                <a:latin typeface="Arial"/>
              </a:defRPr>
            </a:pPr>
            <a:r>
              <a:t>Output missed target in all six months: 5,460 vs 5,960 readings, a 500-reading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589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Monthly sensor readings, actual vs target, M1–M6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45920"/>
          <a:ext cx="758952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595360" y="1691640"/>
            <a:ext cx="30175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7F86"/>
                </a:solidFill>
                <a:latin typeface="Arial"/>
              </a:defRPr>
            </a:pPr>
            <a:r>
              <a:t>5,460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2377440"/>
            <a:ext cx="3017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Total actual readings, M1–M6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595360" y="2926080"/>
            <a:ext cx="3017520" cy="0"/>
          </a:xfrm>
          <a:prstGeom prst="line">
            <a:avLst/>
          </a:prstGeom>
          <a:ln w="12700">
            <a:solidFill>
              <a:srgbClr val="CB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595360" y="3063240"/>
            <a:ext cx="30175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5E6C84"/>
                </a:solidFill>
                <a:latin typeface="Arial"/>
              </a:defRPr>
            </a:pPr>
            <a:r>
              <a:t>5,960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3749039"/>
            <a:ext cx="3017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Total target readings, M1–M6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595360" y="4297680"/>
            <a:ext cx="3017520" cy="0"/>
          </a:xfrm>
          <a:prstGeom prst="line">
            <a:avLst/>
          </a:prstGeom>
          <a:ln w="12700">
            <a:solidFill>
              <a:srgbClr val="CB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595360" y="4434840"/>
            <a:ext cx="30175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B03A2E"/>
                </a:solidFill>
                <a:latin typeface="Arial"/>
              </a:defRPr>
            </a:pPr>
            <a:r>
              <a:t>−500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5120640"/>
            <a:ext cx="30175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Gap: 8.4% below target; largest miss M3 (−130)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E6C84"/>
                </a:solidFill>
                <a:latin typeface="Arial"/>
              </a:defRPr>
            </a:pPr>
            <a:r>
              <a:t>Cedar sensor network · field sensor rollout · synthetic data · 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B4D"/>
                </a:solidFill>
                <a:latin typeface="Arial"/>
              </a:defRPr>
            </a:pPr>
            <a:r>
              <a:t>Balanced trades Lean's faster payback for higher uptime and avoids Resilient's $440k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Reference option prices unchanged · payback = investment ÷ saving · 3-yr net = 3 × saving − investment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743200"/>
            <a:ext cx="91440" cy="5486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45920"/>
          <a:ext cx="109270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1011"/>
                <a:gridCol w="1561011"/>
                <a:gridCol w="1561011"/>
                <a:gridCol w="1561011"/>
                <a:gridCol w="1561011"/>
                <a:gridCol w="1561011"/>
                <a:gridCol w="1561014"/>
              </a:tblGrid>
              <a:tr h="5486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Investment $k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Uptime %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Lead weeks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yrs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net $k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Lean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210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97.5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2.2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+75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Balanced (selected)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2.7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+40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Resilient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440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99.8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2.8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+25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4114800"/>
            <a:ext cx="3520440" cy="2057400"/>
          </a:xfrm>
          <a:prstGeom prst="rect">
            <a:avLst/>
          </a:prstGeom>
          <a:solidFill>
            <a:srgbClr val="EE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24528"/>
            <a:ext cx="32004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vs Lean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45152"/>
            <a:ext cx="320040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+$140k buys +$35k/yr saving and +1.5 pts uptime; payback slips 2.2 → 2.7 yrs and 3-yr net falls $75k → $40k.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4114800"/>
            <a:ext cx="3520440" cy="2057400"/>
          </a:xfrm>
          <a:prstGeom prst="rect">
            <a:avLst/>
          </a:prstGeom>
          <a:solidFill>
            <a:srgbClr val="EE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4224528"/>
            <a:ext cx="32004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vs Resilient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4645152"/>
            <a:ext cx="320040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$90k less and 2 weeks faster; gives up $25k/yr saving and 0.8 pts uptime. 3-yr net $40k vs $25k.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4114800"/>
            <a:ext cx="3520440" cy="2057400"/>
          </a:xfrm>
          <a:prstGeom prst="rect">
            <a:avLst/>
          </a:prstGeom>
          <a:solidFill>
            <a:srgbClr val="FB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4224528"/>
            <a:ext cx="32004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03A2E"/>
                </a:solidFill>
                <a:latin typeface="Arial"/>
              </a:defRPr>
            </a:pPr>
            <a:r>
              <a:t>Tradeoff to watch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645152"/>
            <a:ext cx="320040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Rated 99.0% uptime is 0.5 pt below the 99.5% gate threshold; validation must close it or the decision is HOLD.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E6C84"/>
                </a:solidFill>
                <a:latin typeface="Arial"/>
              </a:defRPr>
            </a:pPr>
            <a:r>
              <a:t>Cedar sensor network · field sensor rollout · synthetic data · 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B4D"/>
                </a:solidFill>
                <a:latin typeface="Arial"/>
              </a:defRPr>
            </a:pPr>
            <a:r>
              <a:t>Payback ranges 2.2–3.4 years; at 80% of base saving the three-year net turns negative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Annual saving by scenario, $k/yr (80 / 100 / 120% of Balanced $130k) · investment fixed at $350k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91640"/>
          <a:ext cx="58521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766560" y="1691640"/>
          <a:ext cx="48463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580"/>
                <a:gridCol w="1211580"/>
                <a:gridCol w="1211580"/>
                <a:gridCol w="1211580"/>
              </a:tblGrid>
              <a:tr h="5943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yrs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net $k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Downside 80%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104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3.4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−38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Base 100%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2.7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+40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Upside 120%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156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2.2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+118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766560" y="4343400"/>
            <a:ext cx="4846320" cy="1828800"/>
          </a:xfrm>
          <a:prstGeom prst="rect">
            <a:avLst/>
          </a:prstGeom>
          <a:solidFill>
            <a:srgbClr val="FB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4434840"/>
            <a:ext cx="45262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03A2E"/>
                </a:solidFill>
                <a:latin typeface="Arial"/>
              </a:defRPr>
            </a:pPr>
            <a:r>
              <a:t>Three-year break-even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4846320"/>
            <a:ext cx="4526280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Needs ≥ $117k/yr (≈90% of base). Base clears it by $13k/yr; the downside falls short by $13k/yr.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E6C84"/>
                </a:solidFill>
                <a:latin typeface="Arial"/>
              </a:defRPr>
            </a:pPr>
            <a:r>
              <a:t>Cedar sensor network · field sensor rollout · synthetic data · 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B4D"/>
                </a:solidFill>
                <a:latin typeface="Arial"/>
              </a:defRPr>
            </a:pPr>
            <a:r>
              <a:t>Daily demand of 1,700 exceeds capacity of 1,660; North, Central and West are capacity-constrained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Readings per day by site (daily rates, not six-month totals) · gap = capacity − demand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795527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468"/>
                <a:gridCol w="1136468"/>
                <a:gridCol w="1136468"/>
                <a:gridCol w="1136468"/>
                <a:gridCol w="1136468"/>
                <a:gridCol w="1136468"/>
                <a:gridCol w="1136471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Demand/day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Capacity/day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 %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Gap/day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360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91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Ari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−40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Constrained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96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Bo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−80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Constrained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260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Cy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+60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Spare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290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360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Dee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+70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Spare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92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Eli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−50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Constrained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1,700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1,660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−40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Short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778240" y="1691640"/>
            <a:ext cx="2834640" cy="3840480"/>
          </a:xfrm>
          <a:prstGeom prst="rect">
            <a:avLst/>
          </a:prstGeom>
          <a:solidFill>
            <a:srgbClr val="EE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0" y="1783080"/>
            <a:ext cx="25603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B03A2E"/>
                </a:solidFill>
                <a:latin typeface="Arial"/>
              </a:defRPr>
            </a:pPr>
            <a:r>
              <a:t>Capacity-constrained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194560"/>
            <a:ext cx="256032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North −40/day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Central −80/day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West −50/day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South and East have spare.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3657600"/>
            <a:ext cx="25603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B03A2E"/>
                </a:solidFill>
                <a:latin typeface="Arial"/>
              </a:defRPr>
            </a:pPr>
            <a:r>
              <a:t>Gate exposure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4041648"/>
            <a:ext cx="256032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Only Central (96%) and South (97%) meet ≥95% on time; North, East and West must improve by week 8.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E6C84"/>
                </a:solidFill>
                <a:latin typeface="Arial"/>
              </a:defRPr>
            </a:pPr>
            <a:r>
              <a:t>Cedar sensor network · field sensor rollout · synthetic data · 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B4D"/>
                </a:solidFill>
                <a:latin typeface="Arial"/>
              </a:defRPr>
            </a:pPr>
            <a:r>
              <a:t>Rollout starts in week 9 only after Validate and Train both clear the week-8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16459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E6C84"/>
                </a:solidFill>
                <a:latin typeface="Arial"/>
              </a:defRPr>
            </a:pPr>
            <a:r>
              <a:t>Wk 1–2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1371600"/>
            <a:ext cx="24688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E6C84"/>
                </a:solidFill>
                <a:latin typeface="Arial"/>
              </a:defRPr>
            </a:pPr>
            <a:r>
              <a:t>Wk 3–5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371600"/>
            <a:ext cx="24688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E6C84"/>
                </a:solidFill>
                <a:latin typeface="Arial"/>
              </a:defRPr>
            </a:pPr>
            <a:r>
              <a:t>Wk 6–8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371600"/>
            <a:ext cx="3291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E6C84"/>
                </a:solidFill>
                <a:latin typeface="Arial"/>
              </a:defRPr>
            </a:pPr>
            <a:r>
              <a:t>Wk 9–12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2344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12344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43400"/>
            <a:ext cx="12344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People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017520"/>
            <a:ext cx="11155680" cy="0"/>
          </a:xfrm>
          <a:prstGeom prst="line">
            <a:avLst/>
          </a:prstGeom>
          <a:ln w="12700">
            <a:solidFill>
              <a:srgbClr val="CB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" y="4041648"/>
            <a:ext cx="11155680" cy="0"/>
          </a:xfrm>
          <a:prstGeom prst="line">
            <a:avLst/>
          </a:prstGeom>
          <a:ln w="12700">
            <a:solidFill>
              <a:srgbClr val="CB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874519" y="1965960"/>
            <a:ext cx="1554480" cy="7772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74519" y="1965960"/>
            <a:ext cx="15544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Design · Wk 1–2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after: none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40" y="1965960"/>
            <a:ext cx="2377440" cy="7772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965960"/>
            <a:ext cx="23774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Build · Wk 3–5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after: Design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965960"/>
            <a:ext cx="2377440" cy="7772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9320" y="1965960"/>
            <a:ext cx="23774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Validate · Wk 6–8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after: Build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1965960"/>
            <a:ext cx="2880360" cy="777240"/>
          </a:xfrm>
          <a:prstGeom prst="rect">
            <a:avLst/>
          </a:prstGeom>
          <a:solidFill>
            <a:srgbClr val="D5ECEE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0" y="1965960"/>
            <a:ext cx="288036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Rollout · Wk 9–12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after: Gate GO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60920" y="3127248"/>
            <a:ext cx="1280160" cy="77724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3127248"/>
            <a:ext cx="128016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GATE · Wk 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GO / HOLD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4160520"/>
            <a:ext cx="2377440" cy="77724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89320" y="4160520"/>
            <a:ext cx="23774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Train · Wk 6–8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after: Build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394960" y="2743200"/>
            <a:ext cx="594360" cy="1463040"/>
          </a:xfrm>
          <a:prstGeom prst="line">
            <a:avLst/>
          </a:prstGeom>
          <a:ln w="25400">
            <a:solidFill>
              <a:srgbClr val="5E6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001000" y="2743200"/>
            <a:ext cx="0" cy="384048"/>
          </a:xfrm>
          <a:prstGeom prst="line">
            <a:avLst/>
          </a:prstGeom>
          <a:ln w="25400">
            <a:solidFill>
              <a:srgbClr val="5E6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001000" y="3904487"/>
            <a:ext cx="0" cy="256033"/>
          </a:xfrm>
          <a:prstGeom prst="line">
            <a:avLst/>
          </a:prstGeom>
          <a:ln w="25400">
            <a:solidFill>
              <a:srgbClr val="5E6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641080" y="2743200"/>
            <a:ext cx="274320" cy="548640"/>
          </a:xfrm>
          <a:prstGeom prst="line">
            <a:avLst/>
          </a:prstGeom>
          <a:ln w="25400">
            <a:solidFill>
              <a:srgbClr val="5E6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5257800"/>
            <a:ext cx="110642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Dependencies: Design → Build → Validate; Build → Train; Validate AND Train → Gate (wk 8); Gate GO → Rollout (wk 9–12). Any failed threshold = HOLD.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E6C84"/>
                </a:solidFill>
                <a:latin typeface="Arial"/>
              </a:defRPr>
            </a:pPr>
            <a:r>
              <a:t>Cedar sensor network · field sensor rollout · synthetic data · 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B4D"/>
                </a:solidFill>
                <a:latin typeface="Arial"/>
              </a:defRPr>
            </a:pPr>
            <a:r>
              <a:t>R1 and R3 carry the highest exposure (score 12); every risk has a named mitigation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4343400" cy="4343400"/>
          </a:xfrm>
          <a:prstGeom prst="rect">
            <a:avLst/>
          </a:prstGeom>
          <a:solidFill>
            <a:srgbClr val="F7F9FA"/>
          </a:solidFill>
          <a:ln>
            <a:solidFill>
              <a:srgbClr val="8A9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240280" y="1417320"/>
            <a:ext cx="0" cy="4343400"/>
          </a:xfrm>
          <a:prstGeom prst="line">
            <a:avLst/>
          </a:prstGeom>
          <a:ln w="12700">
            <a:solidFill>
              <a:srgbClr val="CB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108960" y="1417320"/>
            <a:ext cx="0" cy="4343400"/>
          </a:xfrm>
          <a:prstGeom prst="line">
            <a:avLst/>
          </a:prstGeom>
          <a:ln w="12700">
            <a:solidFill>
              <a:srgbClr val="CB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977639" y="1417320"/>
            <a:ext cx="0" cy="4343400"/>
          </a:xfrm>
          <a:prstGeom prst="line">
            <a:avLst/>
          </a:prstGeom>
          <a:ln w="12700">
            <a:solidFill>
              <a:srgbClr val="CB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846320" y="1417320"/>
            <a:ext cx="0" cy="4343400"/>
          </a:xfrm>
          <a:prstGeom prst="line">
            <a:avLst/>
          </a:prstGeom>
          <a:ln w="12700">
            <a:solidFill>
              <a:srgbClr val="CB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71600" y="2286000"/>
            <a:ext cx="4343400" cy="0"/>
          </a:xfrm>
          <a:prstGeom prst="line">
            <a:avLst/>
          </a:prstGeom>
          <a:ln w="12700">
            <a:solidFill>
              <a:srgbClr val="CB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71600" y="3154680"/>
            <a:ext cx="4343400" cy="0"/>
          </a:xfrm>
          <a:prstGeom prst="line">
            <a:avLst/>
          </a:prstGeom>
          <a:ln w="12700">
            <a:solidFill>
              <a:srgbClr val="CB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71600" y="4023360"/>
            <a:ext cx="4343400" cy="0"/>
          </a:xfrm>
          <a:prstGeom prst="line">
            <a:avLst/>
          </a:prstGeom>
          <a:ln w="12700">
            <a:solidFill>
              <a:srgbClr val="CB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71600" y="4892040"/>
            <a:ext cx="4343400" cy="0"/>
          </a:xfrm>
          <a:prstGeom prst="line">
            <a:avLst/>
          </a:prstGeom>
          <a:ln w="12700">
            <a:solidFill>
              <a:srgbClr val="CB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60120" y="1645920"/>
            <a:ext cx="3657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3657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383280"/>
            <a:ext cx="3657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251960"/>
            <a:ext cx="3657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120640"/>
            <a:ext cx="3657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788152"/>
            <a:ext cx="868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5788152"/>
            <a:ext cx="868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5788152"/>
            <a:ext cx="868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5788152"/>
            <a:ext cx="868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5788152"/>
            <a:ext cx="868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6126480"/>
            <a:ext cx="4343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Likelihood (1–5) 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" y="3154680"/>
            <a:ext cx="82296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Impact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(1–5)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3337560"/>
            <a:ext cx="868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03A2E"/>
                </a:solidFill>
                <a:latin typeface="Arial"/>
              </a:defRPr>
            </a:pPr>
            <a:r>
              <a:t>R1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1600200"/>
            <a:ext cx="868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77700"/>
                </a:solidFill>
                <a:latin typeface="Arial"/>
              </a:defRPr>
            </a:pPr>
            <a:r>
              <a:t>R2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2468880"/>
            <a:ext cx="868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03A2E"/>
                </a:solidFill>
                <a:latin typeface="Arial"/>
              </a:defRPr>
            </a:pPr>
            <a:r>
              <a:t>R3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4206240"/>
            <a:ext cx="868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F86"/>
                </a:solidFill>
                <a:latin typeface="Arial"/>
              </a:defRPr>
            </a:pPr>
            <a:r>
              <a:t>R4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309360" y="1417320"/>
          <a:ext cx="5303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704"/>
                <a:gridCol w="1060704"/>
                <a:gridCol w="1060704"/>
                <a:gridCol w="1060704"/>
                <a:gridCol w="1060704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ID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Likelihood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Impact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Score L×I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R1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Cross-train two crews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R2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Dual-source hardware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R3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failover weekly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R4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Audit labels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6309360" y="4434840"/>
            <a:ext cx="5303520" cy="1645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Priority: R1 (L4 × I3) and R3 (L3 × I4) both score 12. R2 is unlikely but severe (impact 5). R4 is low (score 4). Score = likelihood × impact.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B4D"/>
                </a:solidFill>
                <a:latin typeface="Arial"/>
              </a:defRPr>
            </a:pPr>
            <a:r>
              <a:t>Decision: approve $350k for Balanced now; release rollout at week 8 only if all three thresholds pass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3291840" cy="109728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32918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NOW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Approve $350k · Balanced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86200" y="2011680"/>
            <a:ext cx="411480" cy="0"/>
          </a:xfrm>
          <a:prstGeom prst="line">
            <a:avLst/>
          </a:prstGeom>
          <a:ln w="31750">
            <a:solidFill>
              <a:srgbClr val="5E6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343400" y="1463040"/>
            <a:ext cx="3474720" cy="109728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43400" y="1463040"/>
            <a:ext cx="347472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WEEK 8 · 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Go / no-go review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863840" y="2011680"/>
            <a:ext cx="411480" cy="0"/>
          </a:xfrm>
          <a:prstGeom prst="line">
            <a:avLst/>
          </a:prstGeom>
          <a:ln w="31750">
            <a:solidFill>
              <a:srgbClr val="5E6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321040" y="1463040"/>
            <a:ext cx="3291840" cy="1097280"/>
          </a:xfrm>
          <a:prstGeom prst="rect">
            <a:avLst/>
          </a:prstGeom>
          <a:solidFill>
            <a:srgbClr val="D5ECEE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463040"/>
            <a:ext cx="32918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WEEKS 9–12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Rollout if GO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2880360"/>
          <a:ext cx="7269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423160"/>
                <a:gridCol w="242316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Gate threshold (all must pass)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Required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 today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Uptime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≥ 99.5%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Balanced rated 99.0%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On-time delivery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All five sites ≥ 95%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 of 5 meet (Central, South)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Backup-power test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Passed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Required by week 8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8092440" y="2880360"/>
            <a:ext cx="3520440" cy="2194560"/>
          </a:xfrm>
          <a:prstGeom prst="rect">
            <a:avLst/>
          </a:prstGeom>
          <a:solidFill>
            <a:srgbClr val="FBEAEA"/>
          </a:solidFill>
          <a:ln>
            <a:solidFill>
              <a:srgbClr val="B0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3017520"/>
            <a:ext cx="3200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03A2E"/>
                </a:solidFill>
                <a:latin typeface="Arial"/>
              </a:defRPr>
            </a:pPr>
            <a:r>
              <a:t>HOLD if any threshold fails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520440"/>
            <a:ext cx="320040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Rollout does not start in week 9; return to this group with the failed threshold and a fix plan.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49240"/>
            <a:ext cx="1106424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GO (all three pass) → rollout weeks 9–12. Case: payback 2.7 yrs, three-year net +$40k (−$38k in the 80% downside).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E6C84"/>
                </a:solidFill>
                <a:latin typeface="Arial"/>
              </a:defRPr>
            </a:pPr>
            <a:r>
              <a:t>Cedar sensor network · field sensor rollout · synthetic data · 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