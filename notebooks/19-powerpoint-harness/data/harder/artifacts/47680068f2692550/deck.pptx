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7B6C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Choose Resilient: uptime now takes priority over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B4D"/>
                </a:solidFill>
                <a:latin typeface="Arial"/>
              </a:defRPr>
            </a:pPr>
            <a:r>
              <a:t>Approve $440k for the field sensor rollout. Release deployment only after the week-10 readiness gate passes.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3566160" cy="15087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RESILIENT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14600"/>
            <a:ext cx="3566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974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10896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514600"/>
            <a:ext cx="356616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9748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5349240" cy="141732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892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$25k = 3 × $155k − $440k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34840"/>
            <a:ext cx="5212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99.8% reference uptime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D"/>
                </a:solidFill>
                <a:latin typeface="Arial"/>
              </a:defRPr>
            </a:pPr>
            <a:r>
              <a:t>Resilient exceeds the 99.5% gate by 0.3 percentage points. Validate actual uptime, site service and backup power before 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01  /  Fictional committee • All data synthetic • Currency throughout: $k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PERFORMANCE  /  SIX-MONTH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M4 beats target, but six-month delivery remains 330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7909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Monthly readings • Corrected M4 actual: 1,150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103120"/>
          <a:ext cx="7955279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732520" y="2103120"/>
            <a:ext cx="292608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286000"/>
            <a:ext cx="2468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743200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F86"/>
                </a:solidFill>
                <a:latin typeface="Arial"/>
              </a:defRPr>
            </a:pPr>
            <a:r>
              <a:t>5,630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3520440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5,960 target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4343400"/>
            <a:ext cx="246888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4572000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65F24"/>
                </a:solidFill>
                <a:latin typeface="Arial"/>
              </a:defRPr>
            </a:pPr>
            <a:r>
              <a:t>330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5303520"/>
            <a:ext cx="2468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7A"/>
                </a:solidFill>
                <a:latin typeface="Arial"/>
              </a:defRPr>
            </a:pPr>
            <a:r>
              <a:t>5.5% below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02  /  All data synthetic • All 12 monthly values shown • Units: readings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OPTIONS  /  UNCHANGED REFERENCE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Resilient alone exceeds the 99.5% uptime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Uptime now outranks price; reference prices, savings and lead times remain unchanged.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945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057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37760"/>
            <a:ext cx="6903720" cy="100584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6446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SELECTED: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Versus Balanced: +$90k investment, +2 lead weeks and +$25k annual saving.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37760"/>
            <a:ext cx="3886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The tradeoff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Pay more and wait longer for 99.8% reference uptime; prove readiness at the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03  /  All data synthetic • Reference uptime informs selection; measured performance determines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ECONOMICS  /  RESILIENT SAVINGS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The base case yields $25k net; downside falls to −$68k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669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Annual saving ($k) • Fixed investment: $440k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194560"/>
          <a:ext cx="57150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219456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72009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years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5349240"/>
            <a:ext cx="51206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B65F24"/>
                </a:solidFill>
                <a:latin typeface="Arial"/>
              </a:defRPr>
            </a:pPr>
            <a:r>
              <a:t>At 80% of expected saving, investment is not recovered within three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04  /  Synthetic data • Payback = investment ÷ annual saving, rounded to 0.1 year • 3-year net = 3 × saving −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SITE READINESS  /  DAILY OPERATING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North, Central and West are capacity-constrained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8321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5867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098280" y="1828800"/>
            <a:ext cx="256032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2011680"/>
            <a:ext cx="2194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DAILY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560320"/>
            <a:ext cx="21945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1,700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3611880"/>
            <a:ext cx="21945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1,660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F86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709160"/>
            <a:ext cx="2194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65F24"/>
                </a:solidFill>
                <a:latin typeface="Arial"/>
              </a:defRPr>
            </a:pPr>
            <a:r>
              <a:t>40/day net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Daily capacity deficits: North 40; Central 80; West 50.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65F24"/>
                </a:solidFill>
                <a:latin typeface="Arial"/>
              </a:defRPr>
            </a:pPr>
            <a:r>
              <a:t>North, East and West also fall below the unchanged ≥95% on-time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05  /  All data synthetic • Demand and capacity are daily readings, separate from six-month performance totals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EXECUTION  /  TWO-LANE DEPENDENCY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Validate and Train feed the week-10 decision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1155680" cy="150876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15087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26280"/>
            <a:ext cx="1234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651760"/>
            <a:ext cx="41148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651760"/>
            <a:ext cx="50292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3108960"/>
            <a:ext cx="1280160" cy="160020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2651760"/>
            <a:ext cx="64008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35240" y="3657600"/>
            <a:ext cx="640080" cy="1051560"/>
          </a:xfrm>
          <a:prstGeom prst="line">
            <a:avLst/>
          </a:prstGeom>
          <a:ln w="25400">
            <a:solidFill>
              <a:srgbClr val="5264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29800" y="2651760"/>
            <a:ext cx="228600" cy="10058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313432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313432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1945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13432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25196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2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370832"/>
            <a:ext cx="13716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154680"/>
            <a:ext cx="1554480" cy="10058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227832"/>
            <a:ext cx="1371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194560"/>
            <a:ext cx="1417320" cy="9144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267712"/>
            <a:ext cx="1325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11–14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Dependencies run left to right. Design: none. Build → Validate and Train.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Gate requires Validate AND Train. Rollout requires Gate 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06  /  All data synthetic • Weeks relative to project start • Design, Build, Validate and Train timing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RISK  /  LIKELIHOOD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R2 and R5 have maximum impact; test backup power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2647A"/>
                </a:solidFill>
                <a:latin typeface="Arial"/>
              </a:defRPr>
            </a:pPr>
            <a:r>
              <a:t>Impact ↑  1 low to 5 high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194560"/>
          <a:ext cx="58521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60"/>
                <a:gridCol w="975360"/>
                <a:gridCol w="975360"/>
                <a:gridCol w="975360"/>
                <a:gridCol w="975360"/>
                <a:gridCol w="975360"/>
              </a:tblGrid>
              <a:tr h="5715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63040" y="5760720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Likelihood →  1 low to 5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69164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7A"/>
                </a:solidFill>
                <a:latin typeface="Arial"/>
              </a:defRPr>
            </a:pPr>
            <a:r>
              <a:t>MITIGATIONS  /  (LIKELIHOOD, IMPACT)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194560"/>
            <a:ext cx="4846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295144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R1  (4, 3)  Cross-train two crews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926080"/>
            <a:ext cx="4846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026664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R2  (2, 5)  Dual-source hardware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657600"/>
            <a:ext cx="4846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58184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R3  (3, 4)  Test failover weekly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389120"/>
            <a:ext cx="48463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489704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R4  (2, 2)  Audit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5120640"/>
            <a:ext cx="4846320" cy="868680"/>
          </a:xfrm>
          <a:prstGeom prst="roundRect">
            <a:avLst/>
          </a:prstGeom>
          <a:solidFill>
            <a:srgbClr val="E5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5230368"/>
            <a:ext cx="4572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R5  (3, 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Test backup power before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07  /  All data synthetic • R1–R4 unchanged • Risk IDs occupy their specified likelihood/impact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7A"/>
                </a:solidFill>
                <a:latin typeface="Arial"/>
              </a:defRPr>
            </a:pPr>
            <a:r>
              <a:t>DECISION  /  FUNDING AND RELEASE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Fund Resilient at $440k; require all thresholds for 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3154680" cy="41148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697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FUNDING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697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2697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6974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Base case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$155k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2.8-year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$25k three-year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874519"/>
            <a:ext cx="75895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WEEK 10  /  ALL THREE CONDITIONS MUST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51460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63347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1   Uptime ≥99.5%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9184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41071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2   All five sites ≥95% 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069080"/>
            <a:ext cx="7589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187952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D"/>
                </a:solidFill>
                <a:latin typeface="Arial"/>
              </a:defRPr>
            </a:pPr>
            <a:r>
              <a:t>3   Backup-power test passed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4983480"/>
            <a:ext cx="7589520" cy="0"/>
          </a:xfrm>
          <a:prstGeom prst="line">
            <a:avLst/>
          </a:prstGeom>
          <a:ln w="12700">
            <a:solidFill>
              <a:srgbClr val="D7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69080" y="5212080"/>
            <a:ext cx="3657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GO: every threshold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Next rollout: weeks 11–14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212080"/>
            <a:ext cx="3657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65F24"/>
                </a:solidFill>
                <a:latin typeface="Arial"/>
              </a:defRPr>
            </a:pPr>
            <a:r>
              <a:t>HOLD: any threshold fails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65F24"/>
                </a:solidFill>
                <a:latin typeface="Arial"/>
              </a:defRPr>
            </a:pPr>
            <a:r>
              <a:t>Remediate and repeat 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A"/>
                </a:solidFill>
                <a:latin typeface="Arial"/>
              </a:defRPr>
            </a:pPr>
            <a:r>
              <a:t>08  /  All data synthetic • Gate prerequisites: Validate AND Train • Funding approval precedes operational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