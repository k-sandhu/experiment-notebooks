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1150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7C4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 Resilient Cedar sensor network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Fictional decision committee • Engineering steering group • All data synthetic • Currency $k • Uptime outranks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69748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269748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Chosen investment — Resilient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83464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3280" y="1691640"/>
            <a:ext cx="269748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$155k/yr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69748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0" y="283464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63640" y="1691640"/>
            <a:ext cx="260604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377440"/>
            <a:ext cx="260604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payback: 440 / 155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83464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52560" y="1691640"/>
            <a:ext cx="2633472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377440"/>
            <a:ext cx="2633472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 saving: 3×155 − 440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2834640"/>
            <a:ext cx="26334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154680"/>
            <a:ext cx="11183112" cy="14173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10128"/>
            <a:ext cx="106527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DECISION ASKED: Approve Resilient now, conditional on the Week-10 gate.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Resilient delivers 99.8% uptime — the highest option — in 10 weeks, at $440k, because uptime now outranks price.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361188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Why now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Six-month actual trails target by 330 readings after the M4 correction. Delay keeps the gap open.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46320"/>
            <a:ext cx="361188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Why Resilient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Top saving ($155k/yr) and top uptime (99.8%). Payback 2.8 years; 3-year net $25k at base.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846320"/>
            <a:ext cx="3593592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Protection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Week-10 GO only if every threshold passes. Any failure = HOLD. Rollout Weeks 11–14.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Six-month actual trails target by 330 readings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Readings by month, M1–M6 • M4 actual corrected to 1,150 • All 12 monthly values labelled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7680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Readings per month — Actual vs Target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680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49640" y="1783080"/>
            <a:ext cx="31089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5,630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441448"/>
            <a:ext cx="31089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readings (M1–M6)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49640" y="288036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49640" y="3017520"/>
            <a:ext cx="31089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5A6B84"/>
                </a:solidFill>
                <a:latin typeface="Arial"/>
              </a:defRPr>
            </a:pPr>
            <a:r>
              <a:t>5,960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75887"/>
            <a:ext cx="31089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readings (M1–M6)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49640" y="411480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49640" y="4251960"/>
            <a:ext cx="31089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42318"/>
                </a:solidFill>
                <a:latin typeface="Arial"/>
              </a:defRPr>
            </a:pPr>
            <a:r>
              <a:t>−330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910328"/>
            <a:ext cx="31089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Gap: actual − target = −330 readings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49640" y="534924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199632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Five months are below target; corrected M4 is above target (+110). Largest shortfall is M3 (−130). The remaining −330 gap is what the investment must close.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buys top uptime at the top price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Reference option prices unchanged • Investment and saving in $k • Recommendation changed to Resilient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6949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5943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297680"/>
            <a:ext cx="6949440" cy="5029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6492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Selected: Resilient — $440k  •  $155k/yr  •  Payback 2.8 years  •  3-yr net $25k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91640"/>
            <a:ext cx="3913632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Versus Balanced (+$90k)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Pays $90k more and takes 2 weeks longer, for +$25k/yr saving and +0.8 points of uptime (99.8% vs 99.0%).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611880"/>
            <a:ext cx="3913632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Versus Lean (+$230k)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Costs more than double and takes 4 weeks longer, for +$60k/yr saving and +2.3 points of uptime (99.8% vs 97.5%).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74920"/>
            <a:ext cx="1118311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Selected option tradeoff: With uptime outranking price, Resilient is the only choice at 99.8%. It is the most expensive and slowest (10 weeks) and its 3-year net is only $25k at base — the committee pays for reliability, not the fastest payback.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Base case pays back in 2.8 years; downside does not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Resilient investment fixed at $440k • Scenarios at 80% / 100% / 120% of $155k/yr saving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6035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Annual saving by scenario ($k/yr)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6035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12280" y="1874519"/>
          <a:ext cx="487375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438"/>
                <a:gridCol w="1218438"/>
                <a:gridCol w="1218438"/>
                <a:gridCol w="1218438"/>
              </a:tblGrid>
              <a:tr h="6172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12280" y="4526280"/>
            <a:ext cx="487375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B84"/>
                </a:solidFill>
                <a:latin typeface="Arial"/>
              </a:defRPr>
            </a:pPr>
            <a:r>
              <a:t>Formulas: Payback = 440 / saving.  Three-year net = 3 × saving − 440.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669280"/>
            <a:ext cx="11183112" cy="7772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760720"/>
            <a:ext cx="106527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A5A00"/>
                </a:solidFill>
                <a:latin typeface="Arial"/>
              </a:defRPr>
            </a:pPr>
            <a:r>
              <a:t>Read this honestly: at 80% saving the three-year net is −$68k and payback stretches to 3.5 years. Approval relies on validating the base saving before rollout — hence the Week-10 gate.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Three of five sites are capacity-constrained today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and capacity by site — not six-month totals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74980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15"/>
                <a:gridCol w="1499615"/>
                <a:gridCol w="1499615"/>
                <a:gridCol w="1499615"/>
                <a:gridCol w="1499619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320" y="1691640"/>
            <a:ext cx="3410712" cy="57835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1,700/day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322576"/>
            <a:ext cx="3410712" cy="36804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daily demand (all five sites)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75320" y="2743200"/>
            <a:ext cx="341071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75320" y="2880360"/>
            <a:ext cx="3410712" cy="57835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42318"/>
                </a:solidFill>
                <a:latin typeface="Arial"/>
              </a:defRPr>
            </a:pPr>
            <a:r>
              <a:t>1,660/day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511296"/>
            <a:ext cx="3410712" cy="36804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daily capacity — shortfall 40/day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5320" y="3931920"/>
            <a:ext cx="341071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75320" y="4114800"/>
            <a:ext cx="3410712" cy="178308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4224528"/>
            <a:ext cx="297180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Capacity-constrained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(demand &gt; capacity)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• North 400 &gt; 360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• Central 400 &gt; 320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• West 350 &gt; 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12080"/>
            <a:ext cx="7498079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Not constrained: South (260 &lt; 320) and East (290 &lt; 360).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On-time is separate: North 91%, East 89% and West 92% sit below the 95% gate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Gate moves to Week 10, before Weeks 11–14 rollout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Two-lane roadmap • Every activity, week range and dependency shown • Gate prerequisites unchanged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83112" cy="169164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10515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20440"/>
            <a:ext cx="11183112" cy="1417320"/>
          </a:xfrm>
          <a:prstGeom prst="round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30168"/>
            <a:ext cx="10515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A5A00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1828800"/>
            <a:ext cx="1783080" cy="1143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901952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None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828800"/>
            <a:ext cx="1783080" cy="1143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1901952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828800"/>
            <a:ext cx="1783080" cy="1143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901952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657600"/>
            <a:ext cx="1783080" cy="1143000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730752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697480"/>
            <a:ext cx="1645920" cy="114300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743200"/>
            <a:ext cx="14630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Dep: Validate AND Train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12680" y="1828800"/>
            <a:ext cx="1554480" cy="1143000"/>
          </a:xfrm>
          <a:prstGeom prst="round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76688" y="1901952"/>
            <a:ext cx="1426464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Gate GO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66160" y="2395728"/>
            <a:ext cx="32004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69280" y="2395728"/>
            <a:ext cx="32004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73168" y="2971800"/>
            <a:ext cx="1810512" cy="685800"/>
          </a:xfrm>
          <a:prstGeom prst="line">
            <a:avLst/>
          </a:prstGeom>
          <a:ln w="25400">
            <a:solidFill>
              <a:srgbClr val="8A5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72400" y="2651760"/>
            <a:ext cx="320040" cy="4114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772400" y="3520440"/>
            <a:ext cx="320040" cy="50292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38360" y="2926080"/>
            <a:ext cx="685800" cy="45720"/>
          </a:xfrm>
          <a:prstGeom prst="line">
            <a:avLst/>
          </a:prstGeom>
          <a:ln w="25400">
            <a:solidFill>
              <a:srgbClr val="1B7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5257800"/>
            <a:ext cx="1118311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Critical chain: Design → Build → Validate → Decision Gate (Week 10) → Rollout (Weeks 11–14). Training runs Weeks 6–8 in parallel with validation; both Validate and Train remain gate prerequisites.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Three high-exposure risks need mitigation before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Likelihood × Impact, each scored 1–5 • Risk IDs plotted at scored coordinates • R5 added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4114800" cy="3657600"/>
          </a:xfrm>
          <a:prstGeom prst="rect">
            <a:avLst/>
          </a:prstGeom>
          <a:solidFill>
            <a:srgbClr val="F2F6FA"/>
          </a:solidFill>
          <a:ln>
            <a:solidFill>
              <a:srgbClr val="5A6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920240" y="1737360"/>
            <a:ext cx="0" cy="36576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1737360"/>
            <a:ext cx="0" cy="36576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66160" y="1737360"/>
            <a:ext cx="0" cy="36576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89120" y="1737360"/>
            <a:ext cx="0" cy="36576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2468880"/>
            <a:ext cx="41148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3200400"/>
            <a:ext cx="41148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3931920"/>
            <a:ext cx="41148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4663440"/>
            <a:ext cx="41148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4320" y="2148840"/>
            <a:ext cx="685800" cy="3017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Impact 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40680"/>
            <a:ext cx="4114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1          2          3          4          5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76072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→ (1 low to 5 high)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364992"/>
            <a:ext cx="548640" cy="40233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342900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1901952"/>
            <a:ext cx="548640" cy="402336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196596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2633472"/>
            <a:ext cx="548640" cy="40233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269748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7400" y="4096512"/>
            <a:ext cx="548640" cy="402336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416052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1901952"/>
            <a:ext cx="548640" cy="402336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196596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R5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669280" y="1737360"/>
          <a:ext cx="60167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188"/>
                <a:gridCol w="1504188"/>
                <a:gridCol w="1504188"/>
                <a:gridCol w="1504188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1-5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 1-5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669280" y="5193792"/>
            <a:ext cx="601675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Watch first: R5 (3 × 5) and R2 (Impact 5), then R3 (3 × 4). R1 is most likely (4). R4 (2 × 2) is monitor-only. R5 mitigation must complete before the Week-10 gate.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Fund $440k now; GO only if every gate threshold passes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Decision gate at Week 10 • Fallback is HOLD — no partial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6974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50008"/>
            <a:ext cx="26974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Funding requested — Resilient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78892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3280" y="1691640"/>
            <a:ext cx="26974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$155k/yr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50008"/>
            <a:ext cx="26974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Base annual saving  •  Payback 2.8 yrs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0" y="278892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63640" y="1691640"/>
            <a:ext cx="260604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350008"/>
            <a:ext cx="26060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Go / no-go decision gate timing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78892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52560" y="1691640"/>
            <a:ext cx="2633472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B7A43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350008"/>
            <a:ext cx="2633472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Next rollout if GO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2788920"/>
            <a:ext cx="26334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063240"/>
            <a:ext cx="5577840" cy="237744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18688"/>
            <a:ext cx="5074920" cy="2057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GO requires ALL three thresholds: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1. Uptime ≥ 99.5%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2. All five sites ≥ 95% on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3. Backup-power test passed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(3-yr net at base: $25k)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063240"/>
            <a:ext cx="2606040" cy="2377440"/>
          </a:xfrm>
          <a:prstGeom prst="round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310128"/>
            <a:ext cx="214884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All thresholds pass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→ 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3063240"/>
            <a:ext cx="2496312" cy="2377440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3310128"/>
            <a:ext cx="2084831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HOLD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Any threshold fails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→ No 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Fix, then re-gate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50992"/>
            <a:ext cx="11183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Decision asked today: approve $440k for Resilient and the Week-10 gate rule above. Funding does not authorise rollout — only a full GO at Week 10 does; any threshold failure is HOLD.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