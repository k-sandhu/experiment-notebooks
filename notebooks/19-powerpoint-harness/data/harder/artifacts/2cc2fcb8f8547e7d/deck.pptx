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0BE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Resilient: $155k/yr saving, 2.8-year payback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— regional distribution capacity | Operations committee | Synthetic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1183112" cy="123444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DECISION REQUESTED: Approve Resilient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Invest $440k — uptime now outranks price. Highest reliability (99.8%), subject to the Week 10 go / no-go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260604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05072"/>
            <a:ext cx="260604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Chosen investment — Resilient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57200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3154680"/>
            <a:ext cx="260604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$155k/yr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005072"/>
            <a:ext cx="260604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457200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3154680"/>
            <a:ext cx="2606040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05072"/>
            <a:ext cx="2606040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 (440 ÷ 155)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63640" y="457200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0" y="3154680"/>
            <a:ext cx="2542032" cy="77952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005072"/>
            <a:ext cx="2542032" cy="49606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saving  (3×155 − 440)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4572000"/>
            <a:ext cx="25420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4892040"/>
            <a:ext cx="11183112" cy="141732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1060704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Why now: six-month shipments were 520 below target. Resilient targets 99.8% uptime in 10 lead weeks. Funding for rollout is released only if every Week 10 threshold passes; otherwise HOLD. Rollout follows in Weeks 11–14.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Six months fell 520 shipments short of target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vs target shipments, M1–M6 | All 12 values labelled |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7680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Shipments per month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680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49640" y="1691640"/>
            <a:ext cx="31089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432304"/>
            <a:ext cx="31089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shipments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49640" y="292608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3154680"/>
            <a:ext cx="31089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5A6C7D"/>
                </a:solidFill>
                <a:latin typeface="Arial"/>
              </a:defRPr>
            </a:pPr>
            <a:r>
              <a:t>5,670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895344"/>
            <a:ext cx="31089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shipments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438912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49640" y="4617720"/>
            <a:ext cx="310896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2540A"/>
                </a:solidFill>
                <a:latin typeface="Arial"/>
              </a:defRPr>
            </a:pPr>
            <a:r>
              <a:t>520 short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5358383"/>
            <a:ext cx="310896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 = 5,670 − 5,150  (9.2% below target)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49640" y="585216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Five of six months missed target; only M4 exceeded it (1,080 vs 1,040). The shortfall is persistent, not a single-month dip.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buys highest uptime — at the highest cost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Option comparison — reference values unchanged | Uptime now outranks price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83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5943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297680"/>
            <a:ext cx="5440680" cy="196596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493776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Why Resilient is selected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Best uptime (99.8%) and highest saving ($155k/yr). With uptime ranked above price, it best protects cold-chain reliability.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4297680"/>
            <a:ext cx="5440680" cy="196596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4434840"/>
            <a:ext cx="493776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Tradeoff vs Balanced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+$90k investment and +2 lead weeks buys only +$25k/yr saving and +0.8 pts uptime. Payback slips to 2.8 years; 3-yr net is $25k.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Base case pays back in 2.8 years; downside is net-negative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Scenarios at 80% / 100% / 120% of Resilient saving | Investment held at $440k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217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Annual saving, $k/yr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6217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0" y="1874519"/>
          <a:ext cx="46451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</a:tblGrid>
              <a:tr h="7086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40880" y="4892040"/>
            <a:ext cx="464515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Payback = 440 ÷ saving.  Three-year net = 3×saving − 440.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11183112" cy="59436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08192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Read: downside is net-negative over three years (−$68k) — the Week 10 gate protects against committing rollout spend into that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is over capacity today; network headroom is 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110/day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 (shipments/day) — not six-month totals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78638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572768"/>
                <a:gridCol w="1572768"/>
                <a:gridCol w="1572768"/>
                <a:gridCol w="1572768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0" y="1691640"/>
            <a:ext cx="299923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1,600/day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404872"/>
            <a:ext cx="299923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0" y="2880360"/>
            <a:ext cx="29992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0" y="3063240"/>
            <a:ext cx="299923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1,710/day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776472"/>
            <a:ext cx="299923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capacity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4251960"/>
            <a:ext cx="29992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0" y="4434840"/>
            <a:ext cx="2999232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5A6C7D"/>
                </a:solidFill>
                <a:latin typeface="Arial"/>
              </a:defRPr>
            </a:pPr>
            <a:r>
              <a:t>110/day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148072"/>
            <a:ext cx="2999232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Network headroom (1,710 − 1,600)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5623559"/>
            <a:ext cx="299923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5440680"/>
            <a:ext cx="11183112" cy="91440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59552"/>
            <a:ext cx="106070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1E1E"/>
                </a:solidFill>
                <a:latin typeface="Arial"/>
              </a:defRPr>
            </a:pPr>
            <a:r>
              <a:t>Capacity-constrained site: South — demand 340/day exceeds capacity 320/day by 20/day (106% utilisation), with the lowest on-time rate (89%). All other sites have demand below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Gate at Week 10: rollout starts only after Validate and Train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Two-lane roadmap, Weeks 1–14 | Dependencies shown under each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11183112" cy="178308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96596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1952" y="2057400"/>
            <a:ext cx="15544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None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2542032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196596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9352" y="2057400"/>
            <a:ext cx="18288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Design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542032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96596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057400"/>
            <a:ext cx="18288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965960"/>
            <a:ext cx="22402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2057400"/>
            <a:ext cx="21031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11183112" cy="155448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1051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2540A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1965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254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931920"/>
            <a:ext cx="1828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46320" y="3108960"/>
            <a:ext cx="1828800" cy="731520"/>
          </a:xfrm>
          <a:prstGeom prst="line">
            <a:avLst/>
          </a:prstGeom>
          <a:ln w="25400">
            <a:solidFill>
              <a:srgbClr val="C254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58200" y="3246120"/>
            <a:ext cx="1417320" cy="9601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3337560"/>
            <a:ext cx="1298448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83879" y="2697480"/>
            <a:ext cx="685801" cy="54864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183879" y="4023360"/>
            <a:ext cx="502921" cy="18288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875520" y="3108960"/>
            <a:ext cx="457200" cy="2743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5394960"/>
            <a:ext cx="11183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Gate dependency: Validate AND Train must both complete before the Week 10 gate. Rollout (Weeks 11–14) depends on Gate GO — no GO, no rollout.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Top risks cluster at high impact: R2, R3 and R5 need mitigation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Risk matrix — likelihood (vertical) by impact (horizontal), each scored 1–5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4572000" cy="4114800"/>
          </a:xfrm>
          <a:prstGeom prst="rect">
            <a:avLst/>
          </a:prstGeom>
          <a:solidFill>
            <a:srgbClr val="F4F7F8"/>
          </a:solidFill>
          <a:ln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011680" y="173736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173736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0" y="173736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1737360"/>
            <a:ext cx="0" cy="41148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256032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338328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420624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502920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36392" y="2761488"/>
            <a:ext cx="493776" cy="420624"/>
          </a:xfrm>
          <a:prstGeom prst="roundRect">
            <a:avLst/>
          </a:prstGeom>
          <a:solidFill>
            <a:srgbClr val="C2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283464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65192" y="4407408"/>
            <a:ext cx="493776" cy="420624"/>
          </a:xfrm>
          <a:prstGeom prst="roundRect">
            <a:avLst/>
          </a:prstGeom>
          <a:solidFill>
            <a:srgbClr val="8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448056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584448"/>
            <a:ext cx="493776" cy="420624"/>
          </a:xfrm>
          <a:prstGeom prst="roundRect">
            <a:avLst/>
          </a:prstGeom>
          <a:solidFill>
            <a:srgbClr val="C25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0791" y="365760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21992" y="4407408"/>
            <a:ext cx="493776" cy="420624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1992" y="448056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65192" y="3584448"/>
            <a:ext cx="493776" cy="420624"/>
          </a:xfrm>
          <a:prstGeom prst="roundRect">
            <a:avLst/>
          </a:prstGeom>
          <a:solidFill>
            <a:srgbClr val="8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5192" y="3657600"/>
            <a:ext cx="49377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1              2              3              4              5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21792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IMPACT  (1 → 5)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737360"/>
            <a:ext cx="457200" cy="4114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C7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97880"/>
            <a:ext cx="548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72B4D"/>
                </a:solidFill>
                <a:latin typeface="Arial"/>
              </a:defRPr>
            </a:pPr>
            <a:r>
              <a:t>LIKELIHOOD ↑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035040" y="1737360"/>
          <a:ext cx="565099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748"/>
                <a:gridCol w="1412748"/>
                <a:gridCol w="1412748"/>
                <a:gridCol w="1412748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035040" y="5989320"/>
            <a:ext cx="56509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C7D"/>
                </a:solidFill>
                <a:latin typeface="Arial"/>
              </a:defRPr>
            </a:pPr>
            <a:r>
              <a:t>Positions: R1 (L4, I3), R2 (L2, I5), R3 (L3, I4), R4 (L2, I2), R5 (L3, I5).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Decision: fund $440k now; rollout only on a Week 10 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Go / no-go gate, thresholds, fallback and next step — Aster cold-chain (synthetic 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566160" cy="182880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06324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FUNDING ASK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$440k for 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$155k/yr saving · 2.8-yr payback · $25k 3-yr 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657600" cy="18288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15468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GO / NO-GO GATE — WEEK 10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All three thresholds must pass (AND):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645920"/>
            <a:ext cx="3502152" cy="1828800"/>
          </a:xfrm>
          <a:prstGeom prst="round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783080"/>
            <a:ext cx="301752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NEXT ROLLOUT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Weeks 11–14, only after Gate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Threshold 1:  Uptime ≥ 99.5%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Threshold 2:  All five sites ≥ 95% on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Threshold 3:  Backup-power test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120640"/>
            <a:ext cx="544068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03520"/>
            <a:ext cx="49377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GO — all thresholds pass → proceed to rollout, Weeks 11–14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5120640"/>
            <a:ext cx="5440680" cy="1188720"/>
          </a:xfrm>
          <a:prstGeom prst="roundRect">
            <a:avLst/>
          </a:prstGeom>
          <a:solidFill>
            <a:srgbClr val="8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5303520"/>
            <a:ext cx="49377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HOLD — if ANY threshold fails: stop, remediate, re-gate. No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