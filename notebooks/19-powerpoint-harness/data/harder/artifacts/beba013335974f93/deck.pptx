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870</c:v>
                </c:pt>
                <c:pt idx="1">
                  <c:v>850</c:v>
                </c:pt>
                <c:pt idx="2">
                  <c:v>720</c:v>
                </c:pt>
                <c:pt idx="3">
                  <c:v>1080</c:v>
                </c:pt>
                <c:pt idx="4">
                  <c:v>720</c:v>
                </c:pt>
                <c:pt idx="5">
                  <c:v>910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A7B7C7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950</c:v>
                </c:pt>
                <c:pt idx="1">
                  <c:v>970</c:v>
                </c:pt>
                <c:pt idx="2">
                  <c:v>840</c:v>
                </c:pt>
                <c:pt idx="3">
                  <c:v>1040</c:v>
                </c:pt>
                <c:pt idx="4">
                  <c:v>820</c:v>
                </c:pt>
                <c:pt idx="5">
                  <c:v>1050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4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Downside 80%</c:v>
                </c:pt>
                <c:pt idx="1">
                  <c:v>Base 100%</c:v>
                </c:pt>
                <c:pt idx="2">
                  <c:v>Upside 120%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124</c:v>
                </c:pt>
                <c:pt idx="1">
                  <c:v>155</c:v>
                </c:pt>
                <c:pt idx="2">
                  <c:v>186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Fund Resilient; release rollout after the week 10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579"/>
                </a:solidFill>
                <a:latin typeface="Arial"/>
              </a:defRPr>
            </a:pPr>
            <a:r>
              <a:t>Aster cold-chain | Regional distribution capacity | Operations committee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71600"/>
            <a:ext cx="11183112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691640"/>
            <a:ext cx="11155680" cy="777240"/>
          </a:xfrm>
          <a:prstGeom prst="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47088"/>
            <a:ext cx="1069848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676D"/>
                </a:solidFill>
                <a:latin typeface="Arial"/>
              </a:defRPr>
            </a:pPr>
            <a:r>
              <a:t>Approve $440k for Resilient: uptime now takes priority over price.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788920"/>
            <a:ext cx="265176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$440k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02152"/>
            <a:ext cx="265176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Chosen investment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977639"/>
            <a:ext cx="26517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83280" y="2788920"/>
            <a:ext cx="265176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$155k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502152"/>
            <a:ext cx="265176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Annual saving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83280" y="3977639"/>
            <a:ext cx="26517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72200" y="2788920"/>
            <a:ext cx="265176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2.8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3502152"/>
            <a:ext cx="265176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Simple payback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72200" y="3977639"/>
            <a:ext cx="26517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961120" y="2788920"/>
            <a:ext cx="265176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$25k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3502152"/>
            <a:ext cx="265176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Three-year net saving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961120" y="3977639"/>
            <a:ext cx="26517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02920" y="4389120"/>
            <a:ext cx="3566160" cy="1645920"/>
          </a:xfrm>
          <a:prstGeom prst="rect">
            <a:avLst/>
          </a:prstGeom>
          <a:solidFill>
            <a:srgbClr val="F1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4389120"/>
            <a:ext cx="3566160" cy="1645920"/>
          </a:xfrm>
          <a:prstGeom prst="rect">
            <a:avLst/>
          </a:prstGeom>
          <a:solidFill>
            <a:srgbClr val="F1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4389120"/>
            <a:ext cx="3566160" cy="1645920"/>
          </a:xfrm>
          <a:prstGeom prst="rect">
            <a:avLst/>
          </a:prstGeom>
          <a:solidFill>
            <a:srgbClr val="FF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553712"/>
            <a:ext cx="3200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Close the service gap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074920"/>
            <a:ext cx="320040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Six-month shipments miss target by 520. South is short 20 shipments/day.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553712"/>
            <a:ext cx="3200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Prioritize uptime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5074920"/>
            <a:ext cx="320040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Resilient lists 99.8% uptime, above the 99.5% gate threshold. Validate it.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4553712"/>
            <a:ext cx="3200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864B19"/>
                </a:solidFill>
                <a:latin typeface="Arial"/>
              </a:defRPr>
            </a:pPr>
            <a:r>
              <a:t>Keep release conditional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5074920"/>
            <a:ext cx="320040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864B19"/>
                </a:solidFill>
                <a:latin typeface="Arial"/>
              </a:defRPr>
            </a:pPr>
            <a:r>
              <a:t>Week 10: all thresholds must pass. Any failure means HOLD; GO enables weeks 11–14.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9"/>
                </a:solidFill>
                <a:latin typeface="Arial"/>
              </a:defRPr>
            </a:pPr>
            <a:r>
              <a:t>All data are synthetic. Currency: $k. Payback = investment / annual saving; three-year net = 3 × saving − investment.   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2B4D"/>
                </a:solidFill>
                <a:latin typeface="Arial"/>
              </a:defRPr>
            </a:pPr>
            <a:r>
              <a:t>M4 beats target, but six-month shipments still fall short by 520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579"/>
                </a:solidFill>
                <a:latin typeface="Arial"/>
              </a:defRPr>
            </a:pPr>
            <a:r>
              <a:t>M4 actual is 1,080 shipments; the cumulative shortfall is 9.2% of the six-month target.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71600"/>
            <a:ext cx="11183112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1645920"/>
            <a:ext cx="7772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Monthly shipments | All 12 values shown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2103120"/>
          <a:ext cx="7955279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823960" y="1783080"/>
            <a:ext cx="265176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5,150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3960" y="2496312"/>
            <a:ext cx="265176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actual shipments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823960" y="2971800"/>
            <a:ext cx="26517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823960" y="3246120"/>
            <a:ext cx="265176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70869B"/>
                </a:solidFill>
                <a:latin typeface="Arial"/>
              </a:defRPr>
            </a:pPr>
            <a:r>
              <a:t>5,670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3959352"/>
            <a:ext cx="265176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target shipments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823960" y="4434840"/>
            <a:ext cx="26517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823960" y="4709160"/>
            <a:ext cx="265176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B36624"/>
                </a:solidFill>
                <a:latin typeface="Arial"/>
              </a:defRPr>
            </a:pPr>
            <a:r>
              <a:t>−520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5422392"/>
            <a:ext cx="265176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Actual minus target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23960" y="5897880"/>
            <a:ext cx="26517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9"/>
                </a:solidFill>
                <a:latin typeface="Arial"/>
              </a:defRPr>
            </a:pPr>
            <a:r>
              <a:t>Period totals are shipments over six months. Daily site demand and capacity are shown separately on slide 5.   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Resilient buys the highest uptime for a $90k premium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579"/>
                </a:solidFill>
                <a:latin typeface="Arial"/>
              </a:defRPr>
            </a:pPr>
            <a:r>
              <a:t>Selected option: Resilient. All reference option prices and specifications remain unchanged.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71600"/>
            <a:ext cx="11183112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737360"/>
          <a:ext cx="11155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59436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Investment $k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Uptime %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Lead weeks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Lean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220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97.5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Balanced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130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Resilient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440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99.8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4434840"/>
            <a:ext cx="6995160" cy="1645920"/>
          </a:xfrm>
          <a:prstGeom prst="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90288"/>
            <a:ext cx="6537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676D"/>
                </a:solidFill>
                <a:latin typeface="Arial"/>
              </a:defRPr>
            </a:pPr>
            <a:r>
              <a:t>Uptime leads the tradeoff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74920"/>
            <a:ext cx="6537960" cy="8046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Versus Balanced: $90k more buys $25k more annual saving and 0.8 percentage points of uptime, with two more lead weeks. Versus Lean: $220k more buys $60k more annual saving.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4434840"/>
            <a:ext cx="3886200" cy="1645920"/>
          </a:xfrm>
          <a:prstGeom prst="rect">
            <a:avLst/>
          </a:prstGeom>
          <a:solidFill>
            <a:srgbClr val="FF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4590288"/>
            <a:ext cx="3429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864B19"/>
                </a:solidFill>
                <a:latin typeface="Arial"/>
              </a:defRPr>
            </a:pPr>
            <a:r>
              <a:t>Listed uptime is not proof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5074920"/>
            <a:ext cx="3429000" cy="8046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864B19"/>
                </a:solidFill>
                <a:latin typeface="Arial"/>
              </a:defRPr>
            </a:pPr>
            <a:r>
              <a:t>99.8% exceeds the 99.5% threshold by 0.3 points. Demonstrate performance at the week 10 gate.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9"/>
                </a:solidFill>
                <a:latin typeface="Arial"/>
              </a:defRPr>
            </a:pPr>
            <a:r>
              <a:t>Reference lead time: Resilient 10 weeks. The release decision is week 10; rollout follows only after Gate GO.   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Resilient’s downside case loses $68k over three years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579"/>
                </a:solidFill>
                <a:latin typeface="Arial"/>
              </a:defRPr>
            </a:pPr>
            <a:r>
              <a:t>Investment stays at $440k; annual saving varies to 80%, 100% and 120% of the $155k base.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71600"/>
            <a:ext cx="11183112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91640"/>
            <a:ext cx="53035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Annual saving ($k/year)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2148840"/>
          <a:ext cx="5394960" cy="3611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7920" y="1691640"/>
            <a:ext cx="5440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Returns at the same $440k investment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2194560"/>
          <a:ext cx="544068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3560"/>
                <a:gridCol w="1813560"/>
                <a:gridCol w="1813560"/>
              </a:tblGrid>
              <a:tr h="67437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years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3-year net $k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Downside 80%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3.5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−68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Base 100%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2.8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25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Upside 120%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2.4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118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217920" y="5166360"/>
            <a:ext cx="5440680" cy="868680"/>
          </a:xfrm>
          <a:prstGeom prst="rect">
            <a:avLst/>
          </a:prstGeom>
          <a:solidFill>
            <a:srgbClr val="FF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5303520"/>
            <a:ext cx="5038344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64B19"/>
                </a:solidFill>
                <a:latin typeface="Arial"/>
              </a:defRPr>
            </a:pPr>
            <a:r>
              <a:t>Three-year break-even requires $146.7k annual saving—94.6% of base.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9"/>
                </a:solidFill>
                <a:latin typeface="Arial"/>
              </a:defRPr>
            </a:pPr>
            <a:r>
              <a:t>Simple payback = 440 / annual saving, rounded to one decimal year. Three-year net = 3 × annual saving − 440.   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South is capacity-constrained despite network headroom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579"/>
                </a:solidFill>
                <a:latin typeface="Arial"/>
              </a:defRPr>
            </a:pPr>
            <a:r>
              <a:t>Daily site figures show a local bottleneck; three sites also fall below the 95% on-time gate.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71600"/>
            <a:ext cx="11183112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91640"/>
          <a:ext cx="111556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50292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Demand/day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Capacity/day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 %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380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Ari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290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94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Bo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89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Cy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94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Dee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96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Eli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5029200"/>
            <a:ext cx="2560320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1,600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687568"/>
            <a:ext cx="256032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demand / day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6126480"/>
            <a:ext cx="2560319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91840" y="5029200"/>
            <a:ext cx="2560320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1,710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5687568"/>
            <a:ext cx="256032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capacity / day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91840" y="6126480"/>
            <a:ext cx="256032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217920" y="4983480"/>
            <a:ext cx="5440680" cy="1143000"/>
          </a:xfrm>
          <a:prstGeom prst="rect">
            <a:avLst/>
          </a:prstGeom>
          <a:solidFill>
            <a:srgbClr val="FF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5102352"/>
            <a:ext cx="50749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864B19"/>
                </a:solidFill>
                <a:latin typeface="Arial"/>
              </a:defRPr>
            </a:pPr>
            <a:r>
              <a:t>Capacity-constrained: South, short 20/day.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864B19"/>
                </a:solidFill>
                <a:latin typeface="Arial"/>
              </a:defRPr>
            </a:pPr>
            <a:r>
              <a:t>Network headroom: 110/day.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864B19"/>
                </a:solidFill>
                <a:latin typeface="Arial"/>
              </a:defRPr>
            </a:pPr>
            <a:r>
              <a:t>Below 95% on time: Central, South and East.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9"/>
                </a:solidFill>
                <a:latin typeface="Arial"/>
              </a:defRPr>
            </a:pPr>
            <a:r>
              <a:t>Demand and capacity are daily shipments; they are distinct from the six-month shipment totals on slide 2.   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Validate and Train feed the week 10 release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579"/>
                </a:solidFill>
                <a:latin typeface="Arial"/>
              </a:defRPr>
            </a:pPr>
            <a:r>
              <a:t>Activity weeks stay fixed. Both prerequisites finish in week 8; Gate GO enables rollout in weeks 11–14.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71600"/>
            <a:ext cx="11183112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874519"/>
            <a:ext cx="11155680" cy="1508760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3977639"/>
            <a:ext cx="11155680" cy="1508760"/>
          </a:xfrm>
          <a:prstGeom prst="rect">
            <a:avLst/>
          </a:prstGeom>
          <a:solidFill>
            <a:srgbClr val="EA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1430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Technical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80560"/>
            <a:ext cx="11430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676D"/>
                </a:solidFill>
                <a:latin typeface="Arial"/>
              </a:defRPr>
            </a:pPr>
            <a:r>
              <a:t>People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37560" y="2633472"/>
            <a:ext cx="338327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184648" y="2633472"/>
            <a:ext cx="347472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84648" y="2633472"/>
            <a:ext cx="347472" cy="210312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132320" y="2633472"/>
            <a:ext cx="457200" cy="9144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132320" y="3547872"/>
            <a:ext cx="457200" cy="118872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372600" y="2633472"/>
            <a:ext cx="365760" cy="9144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828800" y="2103120"/>
            <a:ext cx="1508760" cy="1060704"/>
          </a:xfrm>
          <a:prstGeom prst="rect">
            <a:avLst/>
          </a:prstGeom>
          <a:solidFill>
            <a:srgbClr val="FFFFFF"/>
          </a:solidFill>
          <a:ln>
            <a:solidFill>
              <a:srgbClr val="A7B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01952" y="2194560"/>
            <a:ext cx="1362456" cy="87782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Design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Weeks 1–2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No dependency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75887" y="2103120"/>
            <a:ext cx="1508760" cy="1060704"/>
          </a:xfrm>
          <a:prstGeom prst="rect">
            <a:avLst/>
          </a:prstGeom>
          <a:solidFill>
            <a:srgbClr val="FFFFFF"/>
          </a:solidFill>
          <a:ln>
            <a:solidFill>
              <a:srgbClr val="A7B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2194560"/>
            <a:ext cx="1362456" cy="87782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Build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Weeks 3–5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After Design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2103120"/>
            <a:ext cx="1600200" cy="1060704"/>
          </a:xfrm>
          <a:prstGeom prst="rect">
            <a:avLst/>
          </a:prstGeom>
          <a:solidFill>
            <a:srgbClr val="FFFFFF"/>
          </a:solidFill>
          <a:ln>
            <a:solidFill>
              <a:srgbClr val="A7B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05272" y="2194560"/>
            <a:ext cx="1453896" cy="87782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Validate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Weeks 6–8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After Build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32120" y="4206240"/>
            <a:ext cx="1600200" cy="1060704"/>
          </a:xfrm>
          <a:prstGeom prst="rect">
            <a:avLst/>
          </a:prstGeom>
          <a:solidFill>
            <a:srgbClr val="FFFFFF"/>
          </a:solidFill>
          <a:ln>
            <a:solidFill>
              <a:srgbClr val="83B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05272" y="4297680"/>
            <a:ext cx="1453896" cy="87782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Train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Weeks 6–8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After Build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0" y="2770632"/>
            <a:ext cx="1783080" cy="155448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0" y="2880360"/>
            <a:ext cx="1600200" cy="1325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Decision 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Week 10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Validate AND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Train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GO / HOLD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38360" y="2103120"/>
            <a:ext cx="1691640" cy="1060704"/>
          </a:xfrm>
          <a:prstGeom prst="rect">
            <a:avLst/>
          </a:prstGeom>
          <a:solidFill>
            <a:srgbClr val="FFFFFF"/>
          </a:solidFill>
          <a:ln>
            <a:solidFill>
              <a:srgbClr val="A7B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11512" y="2194560"/>
            <a:ext cx="1545336" cy="87782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Weeks 11–14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After Gate GO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852160"/>
            <a:ext cx="11155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579"/>
                </a:solidFill>
                <a:latin typeface="Arial"/>
              </a:defRPr>
            </a:pPr>
            <a:r>
              <a:t>Read connections left to right: prerequisite → dependent activity. Every gate threshold appears on slide 8.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9"/>
                </a:solidFill>
                <a:latin typeface="Arial"/>
              </a:defRPr>
            </a:pPr>
            <a:r>
              <a:t>The week 10 gate is a shared decision across Technical and People delivery lanes.   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R5 pairs maximum impact with higher likelihood than 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579"/>
                </a:solidFill>
                <a:latin typeface="Arial"/>
              </a:defRPr>
            </a:pPr>
            <a:r>
              <a:t>Test backup power before the gate; retain all mitigations for R1–R4.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71600"/>
            <a:ext cx="11183112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45920"/>
            <a:ext cx="51206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Impact ↑  |  1 low → 5 high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48840"/>
          <a:ext cx="51206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440"/>
                <a:gridCol w="853440"/>
                <a:gridCol w="853440"/>
                <a:gridCol w="853440"/>
                <a:gridCol w="853440"/>
                <a:gridCol w="853440"/>
              </a:tblGrid>
              <a:tr h="59436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Impact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R2</a:t>
                      </a:r>
                    </a:p>
                  </a:txBody>
                  <a:tcPr marL="64008" marR="64008" marT="36576" marB="36576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R5</a:t>
                      </a:r>
                    </a:p>
                  </a:txBody>
                  <a:tcPr marL="64008" marR="64008" marT="36576" marB="36576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AF2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R3</a:t>
                      </a:r>
                    </a:p>
                  </a:txBody>
                  <a:tcPr marL="64008" marR="64008" marT="36576" marB="36576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AF2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R1</a:t>
                      </a:r>
                    </a:p>
                  </a:txBody>
                  <a:tcPr marL="64008" marR="64008" marT="36576" marB="36576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AF2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R4</a:t>
                      </a:r>
                    </a:p>
                  </a:txBody>
                  <a:tcPr marL="64008" marR="64008" marT="36576" marB="36576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AF2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36576" marB="36576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AF2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879592"/>
            <a:ext cx="51206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Likelihood →  |  1 low → 5 high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645920"/>
            <a:ext cx="56692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Mitigations for all five risks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89320" y="2148840"/>
          <a:ext cx="56692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</a:tblGrid>
              <a:tr h="5943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 ID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Mitigation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R1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Cross-train two crews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R2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Dual-source hardware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R3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failover weekly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R4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Audit labels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R5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backup power before gate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989320" y="5879592"/>
            <a:ext cx="56692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864B19"/>
                </a:solidFill>
                <a:latin typeface="Arial"/>
              </a:defRPr>
            </a:pPr>
            <a:r>
              <a:t>R5: likelihood 3, impact 5. R2 also has impact 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9"/>
                </a:solidFill>
                <a:latin typeface="Arial"/>
              </a:defRPr>
            </a:pPr>
            <a:r>
              <a:t>Matrix columns show likelihood; rows show impact. Risk positions use the supplied 1–5 ratings.   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2B4D"/>
                </a:solidFill>
                <a:latin typeface="Arial"/>
              </a:defRPr>
            </a:pPr>
            <a:r>
              <a:t>Approve $440k now; require every week 10 threshold for 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579"/>
                </a:solidFill>
                <a:latin typeface="Arial"/>
              </a:defRPr>
            </a:pPr>
            <a:r>
              <a:t>Resilient | $155k annual saving | 2.8-year payback | $25k three-year net saving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71600"/>
            <a:ext cx="11183112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64208"/>
            <a:ext cx="67208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2B4D"/>
                </a:solidFill>
                <a:latin typeface="Arial"/>
              </a:defRPr>
            </a:pPr>
            <a:r>
              <a:t>Week 10 gate: ALL conditions must pass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94560"/>
          <a:ext cx="672084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0420"/>
                <a:gridCol w="3360420"/>
              </a:tblGrid>
              <a:tr h="60579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Condition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GO threshold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Uptime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At least 99.5%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On-time service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All five sites at least 95% each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Backup power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Backup-power test passed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589520" y="1691640"/>
            <a:ext cx="4069080" cy="1874519"/>
          </a:xfrm>
          <a:prstGeom prst="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1865376"/>
            <a:ext cx="36118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676D"/>
                </a:solidFill>
                <a:latin typeface="Arial"/>
              </a:defRPr>
            </a:pPr>
            <a:r>
              <a:t>GO: every condition passes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423160"/>
            <a:ext cx="361188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676D"/>
                </a:solidFill>
                <a:latin typeface="Arial"/>
              </a:defRPr>
            </a:pPr>
            <a:r>
              <a:t>Authorize the next rollout across all five sites in weeks 11–14.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3840480"/>
            <a:ext cx="4069080" cy="1965960"/>
          </a:xfrm>
          <a:prstGeom prst="rect">
            <a:avLst/>
          </a:prstGeom>
          <a:solidFill>
            <a:srgbClr val="FF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4023360"/>
            <a:ext cx="36118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864B19"/>
                </a:solidFill>
                <a:latin typeface="Arial"/>
              </a:defRPr>
            </a:pPr>
            <a:r>
              <a:t>HOLD: any condition fails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4590288"/>
            <a:ext cx="3611880" cy="9875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864B19"/>
                </a:solidFill>
                <a:latin typeface="Arial"/>
              </a:defRPr>
            </a:pPr>
            <a:r>
              <a:t>Pause rollout, remediate failed conditions, then repeat the gate before release.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937760"/>
            <a:ext cx="6720840" cy="1097280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074920"/>
            <a:ext cx="635508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Evidence required: demonstrate uptime, close Central/South/East on-time gaps and pass the backup-power test. Validate AND Train remain gate prerequisites.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9"/>
                </a:solidFill>
                <a:latin typeface="Arial"/>
              </a:defRPr>
            </a:pPr>
            <a:r>
              <a:t>All data are synthetic. Funding approval does not replace the week 10 release gate.   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