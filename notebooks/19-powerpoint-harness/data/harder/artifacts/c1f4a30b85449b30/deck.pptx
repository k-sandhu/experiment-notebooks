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1150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C1C7D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 Resilient: $440k buys 99.8% design uptime 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pays back in 2.8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Cedar sensor network · field sensor rollout · engineering steering group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 (Resilient option)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06324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46704" y="169164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$155k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6704" y="2514600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46704" y="306324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90488" y="169164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2.8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514600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 ($440k ÷ $155k)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90488" y="306324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34272" y="169164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+$25k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2514600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 (3 × 155 − 440)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34272" y="306324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3429000"/>
            <a:ext cx="3535680" cy="21488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3872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Resilient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160520"/>
            <a:ext cx="331622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Uptime now outranks price: 99.8% design uptime is the only option above the 99.5% gate; +0.8 pts vs Balanced for $90k more.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2920" y="3429000"/>
            <a:ext cx="3535680" cy="21488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2648" y="353872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What we must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2648" y="4160520"/>
            <a:ext cx="331622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Readings ran 330 (5.5%) below target over six months; North, Central and West exceed daily capacity.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2920" y="3429000"/>
            <a:ext cx="3535680" cy="21488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2648" y="353872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How we stay safe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2648" y="4160520"/>
            <a:ext cx="331622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 10 gate: uptime ≥99.5%, all five sites ≥95% on time, backup-power test passed. Any miss = HOLD.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60720"/>
            <a:ext cx="11155680" cy="685800"/>
          </a:xfrm>
          <a:prstGeom prst="rect">
            <a:avLst/>
          </a:prstGeom>
          <a:solidFill>
            <a:srgbClr val="E6F2F3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852160"/>
            <a:ext cx="10789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6"/>
                </a:solidFill>
                <a:latin typeface="Arial"/>
              </a:defRPr>
            </a:pPr>
            <a:r>
              <a:t>Decision requested: approve $440k now; rollout (Weeks 11–14) proceeds only on a Week 10 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Readings trailed target in five of six months, leaving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330-reading gap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Monthly sensor readings, actual vs target, M1–M6 · M4 actual corrected to 1,150 (110 above target)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7772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Readings per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7724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41080" y="1691640"/>
            <a:ext cx="301752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5,630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487168"/>
            <a:ext cx="301752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readings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41080" y="3017520"/>
            <a:ext cx="301752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41080" y="3200400"/>
            <a:ext cx="301752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B778C"/>
                </a:solidFill>
                <a:latin typeface="Arial"/>
              </a:defRPr>
            </a:pPr>
            <a:r>
              <a:t>5,960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995928"/>
            <a:ext cx="301752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readings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41080" y="4526280"/>
            <a:ext cx="301752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41080" y="4709160"/>
            <a:ext cx="301752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2410C"/>
                </a:solidFill>
                <a:latin typeface="Arial"/>
              </a:defRPr>
            </a:pPr>
            <a:r>
              <a:t>−330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5504688"/>
            <a:ext cx="301752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Gap: 5.5% below target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41080" y="6035040"/>
            <a:ext cx="301752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costs $90k more than Balanced but is the only option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designed above the 99.5%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Reference option values unchanged; payback = investment ÷ saving; 3-yr net = 3 × saving −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3383280"/>
            <a:ext cx="128016" cy="5943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75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 (selected)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251960"/>
            <a:ext cx="3535680" cy="219456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361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Versus Balanced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983480"/>
            <a:ext cx="331622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+$90k and 2 more lead weeks buy +0.8 pts uptime (99.8% vs 99.0%); payback 2.8 vs 2.7 yrs.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4251960"/>
            <a:ext cx="3535680" cy="219456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2648" y="4361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Versus 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2648" y="4983480"/>
            <a:ext cx="331622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+$230k buys +2.3 pts uptime (99.8% vs 97.5%); payback 2.8 vs 2.2 yrs.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2920" y="4251960"/>
            <a:ext cx="3535680" cy="219456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2648" y="4361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Tradeoff accepted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2648" y="4983480"/>
            <a:ext cx="331622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Lowest 3-yr net of the three ($25k vs $40k Balanced, $75k Lean) because uptime outranks price.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pays back inside three years in base and upside;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downside 3-yr net is −$68k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Scenarios at 80% / 100% / 120% of the $155k selected annual saving; investment fixed at $440k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852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Annual saving, $k per year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58521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20840" y="1874519"/>
          <a:ext cx="4937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4297680"/>
            <a:ext cx="49377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Base and upside recover the $440k inside three years. At downside the payback (3.5 yrs) runs past the horizon.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5303520"/>
            <a:ext cx="49377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410C"/>
                </a:solidFill>
                <a:latin typeface="Arial"/>
              </a:defRPr>
            </a:pPr>
            <a:r>
              <a:t>Three-year break-even needs about $147k/yr, roughly 95% of the base saving.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Payback = $440k ÷ annual saving (one decimal). Three-year net = 3 × annual saving − $440k.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North, Central and West exceed daily capacity; network is short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40 readings/day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and capacity by site (readings/day, not six-month totals)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76809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56170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 − demand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−80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+70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49640" y="1691640"/>
            <a:ext cx="31089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1,700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459736"/>
            <a:ext cx="31089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demand, readings/day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49640" y="297180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49640" y="3154680"/>
            <a:ext cx="31089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1,660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922776"/>
            <a:ext cx="31089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capacity, readings/day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49640" y="443484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549640" y="4617720"/>
            <a:ext cx="3108960" cy="914400"/>
          </a:xfrm>
          <a:prstGeom prst="rect">
            <a:avLst/>
          </a:prstGeom>
          <a:solidFill>
            <a:srgbClr val="FDEDE5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4663440"/>
            <a:ext cx="29260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2410C"/>
                </a:solidFill>
                <a:latin typeface="Arial"/>
              </a:defRPr>
            </a:pPr>
            <a:r>
              <a:t>Capacity-constrained: North (−40), Central (−80), West (−50)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760720"/>
            <a:ext cx="111556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Gate check: only Central (96%) and South (97%) meet the 95% on-time threshold today; North, East and West must improve by Week 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Build and training converge on the Week 10 gate before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4-week rollout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Weeks 1–14 · boxes placed on a week scale · lines show dependencies · gate needs Validate AND 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1463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29000"/>
            <a:ext cx="1463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0"/>
            <a:ext cx="1463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D6A99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3017520"/>
            <a:ext cx="11064240" cy="0"/>
          </a:xfrm>
          <a:prstGeom prst="line">
            <a:avLst/>
          </a:prstGeom>
          <a:ln w="12700">
            <a:solidFill>
              <a:srgbClr val="DF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4343400"/>
            <a:ext cx="11064240" cy="0"/>
          </a:xfrm>
          <a:prstGeom prst="line">
            <a:avLst/>
          </a:prstGeom>
          <a:ln w="12700">
            <a:solidFill>
              <a:srgbClr val="DF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57400" y="1965960"/>
            <a:ext cx="1170432" cy="8229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2011680"/>
            <a:ext cx="11704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1–2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965960"/>
            <a:ext cx="1847088" cy="8229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2011680"/>
            <a:ext cx="1847088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3–5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1965960"/>
            <a:ext cx="1847088" cy="8229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2011680"/>
            <a:ext cx="1847088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6–8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965960"/>
            <a:ext cx="2523744" cy="822960"/>
          </a:xfrm>
          <a:prstGeom prst="roundRect">
            <a:avLst/>
          </a:prstGeom>
          <a:solidFill>
            <a:srgbClr val="4F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2011680"/>
            <a:ext cx="2523744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11–14 (after GO)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3291840"/>
            <a:ext cx="822960" cy="73152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337560"/>
            <a:ext cx="87782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4572000"/>
            <a:ext cx="1847088" cy="822960"/>
          </a:xfrm>
          <a:prstGeom prst="roundRect">
            <a:avLst/>
          </a:prstGeom>
          <a:solidFill>
            <a:srgbClr val="3D6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617720"/>
            <a:ext cx="1847088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6–8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27832" y="2377440"/>
            <a:ext cx="18288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57800" y="2377440"/>
            <a:ext cx="18288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54880" y="2788920"/>
            <a:ext cx="685800" cy="219456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49440" y="2788920"/>
            <a:ext cx="1124712" cy="7315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949440" y="3794760"/>
            <a:ext cx="1124712" cy="77724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897112" y="2788920"/>
            <a:ext cx="612648" cy="64008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5669280"/>
            <a:ext cx="11155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Dependencies: Design → Build → Validate · Build → Train · Validate AND Train → Gate (Week 10) · Gate GO → Rollout (Weeks 11–14)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R5 (backup power) is now the top exposure at 15; every risk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has a named mitigation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Likelihood and impact on 1–5 scales; exposure = L × I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828800"/>
            <a:ext cx="4114800" cy="4114800"/>
          </a:xfrm>
          <a:prstGeom prst="rect">
            <a:avLst/>
          </a:prstGeom>
          <a:solidFill>
            <a:srgbClr val="F4F5F7"/>
          </a:solidFill>
          <a:ln>
            <a:solidFill>
              <a:srgbClr val="899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011680" y="1828800"/>
            <a:ext cx="0" cy="41148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40" y="1828800"/>
            <a:ext cx="0" cy="41148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1828800"/>
            <a:ext cx="0" cy="41148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80560" y="1828800"/>
            <a:ext cx="0" cy="41148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20" y="2651760"/>
            <a:ext cx="41148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3474720"/>
            <a:ext cx="41148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4297680"/>
            <a:ext cx="41148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8720" y="5120640"/>
            <a:ext cx="41148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05740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8036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98932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1                2                3                4                5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6355080"/>
            <a:ext cx="4114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46304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↑ Impact (1–5)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703320"/>
            <a:ext cx="822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410C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057400"/>
            <a:ext cx="822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410C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880360"/>
            <a:ext cx="822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410C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526280"/>
            <a:ext cx="822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1874519"/>
            <a:ext cx="731520" cy="731520"/>
          </a:xfrm>
          <a:prstGeom prst="rect">
            <a:avLst/>
          </a:prstGeom>
          <a:solidFill>
            <a:srgbClr val="FDEDE5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2057400"/>
            <a:ext cx="822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410C"/>
                </a:solidFill>
                <a:latin typeface="Arial"/>
              </a:defRPr>
            </a:pPr>
            <a:r>
              <a:t>R5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852160" y="1828800"/>
          <a:ext cx="58064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/>
                <a:gridCol w="1161288"/>
                <a:gridCol w="1161288"/>
                <a:gridCol w="1161288"/>
                <a:gridCol w="1161288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 × I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$440k for Resilient now; release rollout only on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Week 10 GO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Gate at Week 10 requires all three thresholds; any single failure means 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2583179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73352"/>
            <a:ext cx="2436875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Approve $440k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600200"/>
            <a:ext cx="2583179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3572" y="1673352"/>
            <a:ext cx="2436875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Build &amp; train Wk 1–8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6100" y="203454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19" y="1600200"/>
            <a:ext cx="2583179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1673352"/>
            <a:ext cx="2436875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Gate: Week 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599" y="203454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75419" y="1600200"/>
            <a:ext cx="2583179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8572" y="1673352"/>
            <a:ext cx="2436875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Rollout Wk 11–14 on GO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01099" y="203454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2697480"/>
            <a:ext cx="3566160" cy="1600200"/>
          </a:xfrm>
          <a:prstGeom prst="rect">
            <a:avLst/>
          </a:prstGeom>
          <a:solidFill>
            <a:srgbClr val="F4F5F7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3291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Uptime ≥ 99.5%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78C"/>
                </a:solidFill>
                <a:latin typeface="Arial"/>
              </a:defRPr>
            </a:pPr>
            <a:r>
              <a:t>Resilient design is 99.8%; measured uptime must reach 99.5%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697480"/>
            <a:ext cx="3566160" cy="1600200"/>
          </a:xfrm>
          <a:prstGeom prst="rect">
            <a:avLst/>
          </a:prstGeom>
          <a:solidFill>
            <a:srgbClr val="F4F5F7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788920"/>
            <a:ext cx="3291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All 5 sites ≥ 95% on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38328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78C"/>
                </a:solidFill>
                <a:latin typeface="Arial"/>
              </a:defRPr>
            </a:pPr>
            <a:r>
              <a:t>Today 2 of 5 pass (Central 96%, South 97%)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2697480"/>
            <a:ext cx="3566160" cy="1600200"/>
          </a:xfrm>
          <a:prstGeom prst="rect">
            <a:avLst/>
          </a:prstGeom>
          <a:solidFill>
            <a:srgbClr val="F4F5F7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788920"/>
            <a:ext cx="3291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Backup-power test passed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38328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78C"/>
                </a:solidFill>
                <a:latin typeface="Arial"/>
              </a:defRPr>
            </a:pPr>
            <a:r>
              <a:t>Pass/fail result required at the Week 10 gate (R5 mitigation)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72000"/>
            <a:ext cx="5486400" cy="1463040"/>
          </a:xfrm>
          <a:prstGeom prst="rect">
            <a:avLst/>
          </a:prstGeom>
          <a:solidFill>
            <a:srgbClr val="E6F2F3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9160"/>
            <a:ext cx="51206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6"/>
                </a:solidFill>
                <a:latin typeface="Arial"/>
              </a:defRPr>
            </a:pPr>
            <a:r>
              <a:t>GO (all three pass): start rollout in Weeks 11–14; base case pays back in 2.8 years, +$25k over three years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572000"/>
            <a:ext cx="5486400" cy="1463040"/>
          </a:xfrm>
          <a:prstGeom prst="rect">
            <a:avLst/>
          </a:prstGeom>
          <a:solidFill>
            <a:srgbClr val="FDEDE5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709160"/>
            <a:ext cx="51206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2410C"/>
                </a:solidFill>
                <a:latin typeface="Arial"/>
              </a:defRPr>
            </a:pPr>
            <a:r>
              <a:t>HOLD (any threshold fails): no rollout; fix the failing threshold, re-test and return to this committee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