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8C4CE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Recommendation: fund the Resilient option — $440k returns $155k a year and pays back in 2.8 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2651760" cy="146304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27632"/>
            <a:ext cx="24231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2423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 (one-time)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508760"/>
            <a:ext cx="2651760" cy="146304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3008" y="1627632"/>
            <a:ext cx="24231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2377440"/>
            <a:ext cx="2423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508760"/>
            <a:ext cx="2651760" cy="146304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627632"/>
            <a:ext cx="24231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423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Simple payback (440 ÷ 155)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0264" y="1508760"/>
            <a:ext cx="2651760" cy="146304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627632"/>
            <a:ext cx="24231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+$25k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2377440"/>
            <a:ext cx="2423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3-yr net (3 × 155 − 440)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6766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Why Resilient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6766560" cy="2514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Uptime now outranks price: 99.8% rated uptime is the only option above the 99.5% gate threshold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Highest saving: $155k/yr vs $130k Balanced and $95k Lean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Thin margin: three-year net +$25k at base, −$68k in the 80% downside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Output still trails target: 5,630 vs 5,960 readings over M1–M6 (−330)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246120"/>
            <a:ext cx="3931920" cy="27432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383280"/>
            <a:ext cx="3520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794760"/>
            <a:ext cx="352044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Approve $440k for Resilient now.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GO to rollout (weeks 11–14) at the week-10 gate only if uptime ≥99.5%, all five sites ≥95% on time and the backup-power test passes; otherwise 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engineering steering group · synthetic data ·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Output missed target in five of six months: 5,630 vs 5,960 readings, a 330-reading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589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Monthly sensor readings, actual vs target, M1–M6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95360" y="16916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5,630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37744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actual readings, M1–M6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595360" y="2926080"/>
            <a:ext cx="301752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95360" y="30632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5E6C84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749039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target readings, M1–M6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0" y="4297680"/>
            <a:ext cx="301752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95360" y="44348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03A2E"/>
                </a:solidFill>
                <a:latin typeface="Arial"/>
              </a:defRPr>
            </a:pPr>
            <a:r>
              <a:t>−330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12064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Gap: 5.5% below target. Only M4 beat target (+110); largest miss M3 (−130)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Resilient is the only option that clears the 99.5% uptime gate; it costs $90k more than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Reference option prices unchanged · payback = investment ÷ saving · 3-yr net = 3 × saving −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29000"/>
            <a:ext cx="91440" cy="5943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927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011"/>
                <a:gridCol w="1561011"/>
                <a:gridCol w="1561011"/>
                <a:gridCol w="1561011"/>
                <a:gridCol w="1561011"/>
                <a:gridCol w="1561011"/>
                <a:gridCol w="1561014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+75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(selected)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297680"/>
            <a:ext cx="3520440" cy="1874519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3200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vs Balanced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28032"/>
            <a:ext cx="32004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+$90k buys +$25k/yr saving and +0.8 pts uptime; lead time +2 weeks; payback 2.7 → 2.8 yrs; 3-yr net $40k → $25k.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4297680"/>
            <a:ext cx="3520440" cy="1874519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407408"/>
            <a:ext cx="3200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vs 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828032"/>
            <a:ext cx="32004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+$230k buys +$60k/yr saving and +2.3 pts uptime; payback 2.2 → 2.8 yrs; 3-yr net $75k → $25k.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4297680"/>
            <a:ext cx="3474720" cy="1874519"/>
          </a:xfrm>
          <a:prstGeom prst="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407408"/>
            <a:ext cx="3154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3A2E"/>
                </a:solidFill>
                <a:latin typeface="Arial"/>
              </a:defRPr>
            </a:pPr>
            <a:r>
              <a:t>Tradeoff to 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828032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Lowest 3-yr net (+$25k) and longest lead (10 wks); 99.8% clears the gate by only 0.3 pt, so validation must confirm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Payback ranges 2.4–3.5 years; at 80% of base saving the three-year net falls to −$68k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 by scenario, $k/yr (80 / 100 / 120% of Resilient $155k) · investment fixed at $440k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8521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69164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766560" y="4343400"/>
            <a:ext cx="4846320" cy="1828800"/>
          </a:xfrm>
          <a:prstGeom prst="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4453128"/>
            <a:ext cx="4526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3A2E"/>
                </a:solidFill>
                <a:latin typeface="Arial"/>
              </a:defRPr>
            </a:pPr>
            <a:r>
              <a:t>Three-year break-even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4892040"/>
            <a:ext cx="45262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Needs ≥ $147k/yr (≈95% of base). Base clears it by only ~$8k/yr; the downside falls short by ~$23k/yr.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Daily demand of 1,700 exceeds capacity of 1,660; North, Central and West are capacity-constrained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Readings per day by site (daily rates, not six-month totals) · gap = capacity − demand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81381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594"/>
                <a:gridCol w="1162594"/>
                <a:gridCol w="1162594"/>
                <a:gridCol w="1162594"/>
                <a:gridCol w="1162594"/>
                <a:gridCol w="1162594"/>
                <a:gridCol w="1162596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/ 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 / 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Gap / 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Constrained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−80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Constrained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Spare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+70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Spare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−50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Constrained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Short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915400" y="1691640"/>
            <a:ext cx="2697480" cy="416052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98280" y="1810512"/>
            <a:ext cx="2377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3A2E"/>
                </a:solidFill>
                <a:latin typeface="Arial"/>
              </a:defRPr>
            </a:pPr>
            <a:r>
              <a:t>Capacity-constrained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2240280"/>
            <a:ext cx="2377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North −40/day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Central −80/day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West −50/day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South and East have spare.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98280" y="3749039"/>
            <a:ext cx="233172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098280" y="3886200"/>
            <a:ext cx="2377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3A2E"/>
                </a:solidFill>
                <a:latin typeface="Arial"/>
              </a:defRPr>
            </a:pPr>
            <a:r>
              <a:t>Gate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4315968"/>
            <a:ext cx="23774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Only Central (96%) and South (97%) meet ≥95% on time; North, East and West must improve by the week-10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Rollout starts in week 11 only after Validate and Train both clear the week-10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17320"/>
            <a:ext cx="13990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7832" y="1417320"/>
            <a:ext cx="209397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21808" y="1417320"/>
            <a:ext cx="209397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5783" y="1417320"/>
            <a:ext cx="13990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9–10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14816" y="1417320"/>
            <a:ext cx="279806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11–14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011680"/>
            <a:ext cx="1216152" cy="7772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011680"/>
            <a:ext cx="121615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Wk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after: none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2011680"/>
            <a:ext cx="1911095" cy="7772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2011680"/>
            <a:ext cx="1911095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Build · Wk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after: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2011680"/>
            <a:ext cx="1911095" cy="7772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2011680"/>
            <a:ext cx="1911095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Validate · Wk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after: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14816" y="2011680"/>
            <a:ext cx="2798064" cy="777240"/>
          </a:xfrm>
          <a:prstGeom prst="rect">
            <a:avLst/>
          </a:prstGeom>
          <a:solidFill>
            <a:srgbClr val="D5ECEE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14816" y="2011680"/>
            <a:ext cx="2798064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Rollout · Wk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after: Gate 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81544" y="3200400"/>
            <a:ext cx="1371600" cy="77724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81544" y="3200400"/>
            <a:ext cx="13716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GATE · Wk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GO / HOLD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1808" y="4389120"/>
            <a:ext cx="1911095" cy="7772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1808" y="4389120"/>
            <a:ext cx="1911095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Train · Wk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after: Build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44952" y="2400300"/>
            <a:ext cx="182880" cy="0"/>
          </a:xfrm>
          <a:prstGeom prst="line">
            <a:avLst/>
          </a:prstGeom>
          <a:ln w="3175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38928" y="2400300"/>
            <a:ext cx="182880" cy="0"/>
          </a:xfrm>
          <a:prstGeom prst="line">
            <a:avLst/>
          </a:prstGeom>
          <a:ln w="3175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46320" y="2788920"/>
            <a:ext cx="475488" cy="196596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32904" y="2606040"/>
            <a:ext cx="548640" cy="82296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32904" y="3749039"/>
            <a:ext cx="548640" cy="1005841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153144" y="2788920"/>
            <a:ext cx="356616" cy="64008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Gate needs Validate AND Train complete; any failed threshold = HOLD and rollout does not start in week 11.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R5 backup-power risk now ranks highest (score 15); its mitigation is tested before the week-10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4343400" cy="4343400"/>
          </a:xfrm>
          <a:prstGeom prst="rect">
            <a:avLst/>
          </a:prstGeom>
          <a:solidFill>
            <a:srgbClr val="F7F9FA"/>
          </a:solidFill>
          <a:ln>
            <a:solidFill>
              <a:srgbClr val="8A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240280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108960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77639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46320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228600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315468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402336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489204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164592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2064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126480"/>
            <a:ext cx="4343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3154680"/>
            <a:ext cx="822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(1–5)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33756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3A2E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160020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77700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46888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3A2E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20624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160020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3A2E"/>
                </a:solidFill>
                <a:latin typeface="Arial"/>
              </a:defRPr>
            </a:pPr>
            <a:r>
              <a:t>R5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09360" y="1417320"/>
          <a:ext cx="53035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7239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× Impact = Score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5 = 10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4 = 12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2 = 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5 = 15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Decision: approve $440k for Resilient now; release rollout at week 10 only if all three thresholds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291840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NOW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Approve $440k · Resilient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86200" y="2011680"/>
            <a:ext cx="411480" cy="0"/>
          </a:xfrm>
          <a:prstGeom prst="line">
            <a:avLst/>
          </a:prstGeom>
          <a:ln w="3175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343400" y="1463040"/>
            <a:ext cx="3474720" cy="10972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463040"/>
            <a:ext cx="34747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 10 ·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Go / no-go review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3840" y="2011680"/>
            <a:ext cx="411480" cy="0"/>
          </a:xfrm>
          <a:prstGeom prst="line">
            <a:avLst/>
          </a:prstGeom>
          <a:ln w="3175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21040" y="1463040"/>
            <a:ext cx="3291840" cy="1097280"/>
          </a:xfrm>
          <a:prstGeom prst="rect">
            <a:avLst/>
          </a:prstGeom>
          <a:solidFill>
            <a:srgbClr val="D5ECEE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63040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WEEKS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Rollout if GO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834640"/>
          <a:ext cx="7269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  <a:gridCol w="242316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 threshold (all must pass)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 today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≥ 99.5%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rated 99.8%; confirm in validation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On-time delivery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All five sites ≥ 95%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of 5 meet (Central, South)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Backup-power test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Required by week 10 (R5 mitigation)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092440" y="2834640"/>
            <a:ext cx="3520440" cy="2377440"/>
          </a:xfrm>
          <a:prstGeom prst="rect">
            <a:avLst/>
          </a:prstGeom>
          <a:solidFill>
            <a:srgbClr val="FBEAEA"/>
          </a:solidFill>
          <a:ln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97180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3A2E"/>
                </a:solidFill>
                <a:latin typeface="Arial"/>
              </a:defRPr>
            </a:pPr>
            <a:r>
              <a:t>HOLD if any threshold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74720"/>
            <a:ext cx="320040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Rollout does not start in week 11; return to this group with the failed threshold and a fix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GO (all three pass) → rollout weeks 11–14. Case: payback 2.8 yrs, three-year net +$25k (−$68k in the 80% downside).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