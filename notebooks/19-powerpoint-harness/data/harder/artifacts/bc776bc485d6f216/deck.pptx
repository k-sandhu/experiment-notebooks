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1150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7C4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 Resilient Cedar sensor network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Fictional decision committee • Engineering steering group • All data synthetic • Currency $k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6974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04872"/>
            <a:ext cx="26974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Chosen investment — Resilient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88036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3280" y="1691640"/>
            <a:ext cx="26974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$155k/yr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04872"/>
            <a:ext cx="26974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288036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63640" y="1691640"/>
            <a:ext cx="260604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04872"/>
            <a:ext cx="260604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payback: 440 / 155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88036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52560" y="1691640"/>
            <a:ext cx="2633472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404872"/>
            <a:ext cx="2633472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net: 3×155 − 440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2880360"/>
            <a:ext cx="26334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154680"/>
            <a:ext cx="11183112" cy="14173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106527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DECISION ASKED: Approve Resilient now, conditional on the Week-10 gate.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Resilient delivers 99.8% uptime in 10 weeks — the highest uptime, now prioritised over price.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361188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Why now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Six-month actual trails target by 330 readings. Delay keeps the gap open.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46320"/>
            <a:ext cx="361188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Why Resilient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Top uptime at 99.8%, 10-week lead. Payback 2.8 years at base saving.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846320"/>
            <a:ext cx="3593592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Protection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Week-10 GO only if every threshold passes. Any failure = HOLD. Rollout Weeks 11–14.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Six-month actual trails target by 330 readings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Readings by month, M1–M6 • All 12 monthly values labelled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7680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Readings per month — Actual vs Target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6809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49640" y="1783080"/>
            <a:ext cx="3108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5,630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441448"/>
            <a:ext cx="31089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readings (M1–M6)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49640" y="288036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3017520"/>
            <a:ext cx="3108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5A6B84"/>
                </a:solidFill>
                <a:latin typeface="Arial"/>
              </a:defRPr>
            </a:pPr>
            <a:r>
              <a:t>5,960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31089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readings (M1–M6)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411480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49640" y="4251960"/>
            <a:ext cx="3108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42318"/>
                </a:solidFill>
                <a:latin typeface="Arial"/>
              </a:defRPr>
            </a:pPr>
            <a:r>
              <a:t>−330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910328"/>
            <a:ext cx="31089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Gap: actual − target = −330 readings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49640" y="534924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12648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Five months are below target; M4 is above target (+110). The largest shortfalls are M3 (−130) and M2 (−90).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buys the highest uptime at the highest price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Reference option prices unchanged • Investment and saving in $k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6949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251960"/>
            <a:ext cx="6949440" cy="68580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70832"/>
            <a:ext cx="6492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Selected: Resilient — $440k  •  $155k/yr  •  Payback 2.8 years  •  3-yr net $25k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3913632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Versus Balanced (+$90k)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Pays $90k more and takes 2 weeks longer, for +$25k/yr saving and +0.8 points of uptime (99.8% vs 99.0%).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429000"/>
            <a:ext cx="3913632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Versus Lean (+$230k)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Pays $230k more and takes 4 weeks longer, for +$60k/yr saving and +2.3 points of uptime (99.8% vs 97.5%).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12080"/>
            <a:ext cx="1118311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Tradeoff in one line: with uptime now outranking price, Resilient is the choice — the committee pays the top price and accepts the longest lead for maximum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Base case pays back in 2.8 years; downside does not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Resilient investment fixed at $440k • Scenarios at 80% / 100% / 120% of $155k/yr saving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6035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Annual saving by scenario ($k/yr)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6035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2280" y="1874519"/>
          <a:ext cx="487375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438"/>
                <a:gridCol w="1218438"/>
                <a:gridCol w="1218438"/>
                <a:gridCol w="1218438"/>
              </a:tblGrid>
              <a:tr h="6172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12280" y="4526280"/>
            <a:ext cx="487375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B84"/>
                </a:solidFill>
                <a:latin typeface="Arial"/>
              </a:defRPr>
            </a:pPr>
            <a:r>
              <a:t>Formulas: Payback = 440 / saving.  Three-year net = 3 × saving − 440.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669280"/>
            <a:ext cx="11183112" cy="7772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779008"/>
            <a:ext cx="106527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A5A00"/>
                </a:solidFill>
                <a:latin typeface="Arial"/>
              </a:defRPr>
            </a:pPr>
            <a:r>
              <a:t>Read this honestly: at 80% saving the three-year net is −$68k. Approval relies on validating the base saving before rollout — hence the Week-10 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Three of five sites are capacity-constrained today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and capacity by site — not six-month totals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74980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15"/>
                <a:gridCol w="1499615"/>
                <a:gridCol w="1499615"/>
                <a:gridCol w="1499615"/>
                <a:gridCol w="1499619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320" y="1691640"/>
            <a:ext cx="3410712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1,700/day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322576"/>
            <a:ext cx="3410712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daily demand (all five sites)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75320" y="2743200"/>
            <a:ext cx="341071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75320" y="2880360"/>
            <a:ext cx="3410712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42318"/>
                </a:solidFill>
                <a:latin typeface="Arial"/>
              </a:defRPr>
            </a:pPr>
            <a:r>
              <a:t>1,660/day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511296"/>
            <a:ext cx="3410712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daily capacity — shortfall 40/day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5320" y="3931920"/>
            <a:ext cx="341071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75320" y="4114800"/>
            <a:ext cx="3410712" cy="178308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4251960"/>
            <a:ext cx="297180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Capacity-constrained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(demand &gt; capacity)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• North 400 &gt; 360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• Central 400 &gt; 320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• West 350 &gt; 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12080"/>
            <a:ext cx="7498079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Not constrained: South (260 &lt; 320) and East (290 &lt; 360).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On-time is a separate problem: North 91%, East 89% and West 92% all sit below the 95% gate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Build feeds both validation and training before the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Two-lane roadmap, Weeks 1–14 • Every activity, week range and dependency shown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83112" cy="169164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515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20440"/>
            <a:ext cx="11183112" cy="1417320"/>
          </a:xfrm>
          <a:prstGeom prst="round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515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A5A00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1828800"/>
            <a:ext cx="1783080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901952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None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828800"/>
            <a:ext cx="1783080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1901952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828800"/>
            <a:ext cx="1783080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901952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657600"/>
            <a:ext cx="1783080" cy="1143000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730752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697480"/>
            <a:ext cx="1645920" cy="11430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770632"/>
            <a:ext cx="14630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Dep: Validate AND Train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12680" y="1828800"/>
            <a:ext cx="1554480" cy="1143000"/>
          </a:xfrm>
          <a:prstGeom prst="round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1901952"/>
            <a:ext cx="13716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Gate GO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66160" y="2395728"/>
            <a:ext cx="32004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80" y="2395728"/>
            <a:ext cx="32004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73168" y="2971800"/>
            <a:ext cx="1810512" cy="685800"/>
          </a:xfrm>
          <a:prstGeom prst="line">
            <a:avLst/>
          </a:prstGeom>
          <a:ln w="25400">
            <a:solidFill>
              <a:srgbClr val="8A5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72400" y="2651760"/>
            <a:ext cx="320040" cy="4114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72400" y="3520440"/>
            <a:ext cx="320040" cy="50292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38360" y="2926080"/>
            <a:ext cx="685800" cy="45720"/>
          </a:xfrm>
          <a:prstGeom prst="line">
            <a:avLst/>
          </a:prstGeom>
          <a:ln w="25400">
            <a:solidFill>
              <a:srgbClr val="1B7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5257800"/>
            <a:ext cx="1118311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Critical chain: Design → Build → Validate → Decision Gate (Week 10) → Rollout (Weeks 11–14).  Training runs Weeks 6–8 in parallel with validation and must also finish before the gate.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R5 is now the highest-scored risk before the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Likelihood × Impact, each scored 1–5 • Risk IDs plotted at their scored coordinates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4114800" cy="3657600"/>
          </a:xfrm>
          <a:prstGeom prst="rect">
            <a:avLst/>
          </a:prstGeom>
          <a:solidFill>
            <a:srgbClr val="F2F6FA"/>
          </a:solidFill>
          <a:ln>
            <a:solidFill>
              <a:srgbClr val="5A6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920240" y="1737360"/>
            <a:ext cx="0" cy="36576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1737360"/>
            <a:ext cx="0" cy="36576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66160" y="1737360"/>
            <a:ext cx="0" cy="36576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89120" y="1737360"/>
            <a:ext cx="0" cy="36576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2468880"/>
            <a:ext cx="41148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3200400"/>
            <a:ext cx="41148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3931920"/>
            <a:ext cx="41148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4663440"/>
            <a:ext cx="41148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4320" y="1920240"/>
            <a:ext cx="685800" cy="3291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Impact 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40680"/>
            <a:ext cx="4114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1          2          3          4          5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→ (1 low to 5 high)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364992"/>
            <a:ext cx="548640" cy="40233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342900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1901952"/>
            <a:ext cx="548640" cy="402336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196596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2633472"/>
            <a:ext cx="548640" cy="40233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269748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7400" y="4096512"/>
            <a:ext cx="548640" cy="402336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416052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1901952"/>
            <a:ext cx="548640" cy="402336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196596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R5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669280" y="1737360"/>
          <a:ext cx="601675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188"/>
                <a:gridCol w="1504188"/>
                <a:gridCol w="1504188"/>
                <a:gridCol w="1504188"/>
              </a:tblGrid>
              <a:tr h="5638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1-5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 1-5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669280" y="5303520"/>
            <a:ext cx="601675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Watch first: R5 (3 × 5) and R2 (Impact 5), then R3 (3 × 4) and R1 (4 × 3). R4 (2 × 2) is monitor-only.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Fund $440k now; GO only if every gate threshold passes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Decision gate at Week 10 • Fallback is HOLD — no partial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6974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04872"/>
            <a:ext cx="26974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Funding requested — Resilient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88036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3280" y="1691640"/>
            <a:ext cx="26974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$155k/yr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04872"/>
            <a:ext cx="26974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Base saving  •  Payback 2.8 yrs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288036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63640" y="1691640"/>
            <a:ext cx="260604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04872"/>
            <a:ext cx="260604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Decision gate timing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88036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52560" y="1691640"/>
            <a:ext cx="2633472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B7A43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404872"/>
            <a:ext cx="2633472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Next rollout if GO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2880360"/>
            <a:ext cx="26334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108960"/>
            <a:ext cx="5577840" cy="23317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91840"/>
            <a:ext cx="507492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GO requires ALL three thresholds: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1. Uptime ≥ 99.5%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2. All five sites ≥ 95% on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3. Backup-power test passed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108960"/>
            <a:ext cx="2606040" cy="2331720"/>
          </a:xfrm>
          <a:prstGeom prst="round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383280"/>
            <a:ext cx="214884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All thresholds pass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→ 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3108960"/>
            <a:ext cx="2496312" cy="233172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3383280"/>
            <a:ext cx="2084831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Any threshold fails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→ No 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Fix, then re-gate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69280"/>
            <a:ext cx="11183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Decision asked today: approve $440k for Resilient and the Week-10 gate rule above. Funding does not authorise rollout — only a full GO at Week 10 does.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