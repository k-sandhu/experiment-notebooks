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1150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E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Recommend Resilient: uptime now outranks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C7D"/>
                </a:solidFill>
                <a:latin typeface="Arial"/>
              </a:defRPr>
            </a:pPr>
            <a:r>
              <a:t>Cedar sensor network  •  Field sensor rollout  •  Decision for the engineering steering group  •  All data synthetic  •  Currency: $k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1672" cy="10515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DECISION:  Approve Resilient — $440k investment, subject to the Week 10 gate (Slide 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$155k / 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2.8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154680"/>
            <a:ext cx="3566160" cy="17373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3291840"/>
            <a:ext cx="3200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THREE-YEAR NET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3703320"/>
            <a:ext cx="3200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$25k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Investment $440k.   Payback = $440k ÷ $155k/yr = 2.8 years.   Three-year net = 3 × $155k − $440k = $25k.   Resilient is chosen for 99.8% uptime despite higher cost and longer lead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1  •  Executive recommendation  •  Resilient selected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Corrected six months: actual trails target by 330 readings overall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C7D"/>
                </a:solidFill>
                <a:latin typeface="Arial"/>
              </a:defRPr>
            </a:pPr>
            <a:r>
              <a:t>Readings per month (M1–M6) — actual vs target  •  M4 actual corrected to 1,150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8638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463040"/>
            <a:ext cx="2953512" cy="44805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691640"/>
            <a:ext cx="24963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F86"/>
                </a:solidFill>
                <a:latin typeface="Arial"/>
              </a:defRPr>
            </a:pPr>
            <a:r>
              <a:t>SIX-MONTH TOTALS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28600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Total actual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5,630 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38328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Total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5,960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4480560"/>
            <a:ext cx="24963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392B"/>
                </a:solidFill>
                <a:latin typeface="Arial"/>
              </a:defRPr>
            </a:pPr>
            <a:r>
              <a:t>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0392B"/>
                </a:solidFill>
                <a:latin typeface="Arial"/>
              </a:defRPr>
            </a:pPr>
            <a:r>
              <a:t>−330 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Actual: 890, 890, 940, 1,150, 860, 900  •  Target: 970, 980, 1,070, 1,040, 930, 970  •  Only M4 beats target; the overall shortfall remains.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2  •  Actual vs target  •  Units: readings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Resilient wins on uptime: 99.8% for $440k, despite 10-week lead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629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114800"/>
            <a:ext cx="11091672" cy="196596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Selected option — Resilient: the tradeoff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Uptime now outranks price. Resilient costs $90k more than Balanced ($440k vs $350k) and takes 2 weeks longer (10 vs 8), but delivers the highest uptime (99.8% vs 99.0%) and highest saving ($155k/yr vs $130k/yr). The tradeoff is more capital at risk and later delivery in exchange for the best uptime. Reference prices above are unchanged.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3  •  Options  •  Reference values unchanged  •  Resilient selected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Resilient is net-positive at base case; downside costs $68k over 3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Annual saving by scenario — $k/yr (80% / 100% / 120% of $155k)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6583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463040"/>
            <a:ext cx="4233672" cy="420624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645920"/>
            <a:ext cx="377647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PAYBACK &amp; 3-YEAR NET ($440k invested)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9456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Downside 80% — $124k/yr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3.5 yrs  •  3-yr net −$68k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9184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Base 100% — $155k/yr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2.8 yrs  •  3-yr net $25k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389120"/>
            <a:ext cx="37764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Upside 120% — $186k/yr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 2.4 yrs  •  3-yr net $118k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Payback = $440k ÷ saving, one decimal.   Three-year net = 3 × saving − $440k.   Scenarios use 80% / 100% / 120% of the Resilient $155k/yr saving.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4  •  Scenarios for Resilient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Three of five sites are capacity-constrained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C7D"/>
                </a:solidFill>
                <a:latin typeface="Arial"/>
              </a:defRPr>
            </a:pPr>
            <a:r>
              <a:t>Daily demand vs daily capacity by site (not six-month totals)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5394960" cy="123444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4937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Totals:  Demand 1,700/day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Capacity 1,660/day  •  Shortfall 40/day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892040"/>
            <a:ext cx="5394960" cy="1234440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5029200"/>
            <a:ext cx="493776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Capacity-constrained (demand &gt; capacity):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North, Central, West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5  •  Sites  •  Daily demand and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14-week roadmap: Validate and Train converge at the Week 10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74552" cy="1965960"/>
          </a:xfrm>
          <a:prstGeom prst="roundRect">
            <a:avLst/>
          </a:prstGeom>
          <a:solidFill>
            <a:srgbClr val="E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429000"/>
            <a:ext cx="11274552" cy="15087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234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31920"/>
            <a:ext cx="12344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600200"/>
            <a:ext cx="1417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691640"/>
            <a:ext cx="127101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2212848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1600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691640"/>
            <a:ext cx="154533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2212848"/>
            <a:ext cx="3657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720" y="1600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1691640"/>
            <a:ext cx="154533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703320"/>
            <a:ext cx="16916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3776472"/>
            <a:ext cx="1545336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834640"/>
            <a:ext cx="1005840" cy="868680"/>
          </a:xfrm>
          <a:prstGeom prst="line">
            <a:avLst/>
          </a:prstGeom>
          <a:ln w="2540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2212848"/>
            <a:ext cx="457200" cy="43891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52360" y="3383280"/>
            <a:ext cx="457200" cy="822960"/>
          </a:xfrm>
          <a:prstGeom prst="line">
            <a:avLst/>
          </a:prstGeom>
          <a:ln w="25400">
            <a:solidFill>
              <a:srgbClr val="5A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09560" y="2240280"/>
            <a:ext cx="1417320" cy="155448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2377440"/>
            <a:ext cx="1271016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DECISION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 Wk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AND Train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326880" y="2212848"/>
            <a:ext cx="320040" cy="530352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46920" y="1600200"/>
            <a:ext cx="1783080" cy="123444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72" y="1691640"/>
            <a:ext cx="1636776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Wks 11–14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Sequence: Design (1–2) → Build (3–5) → Validate (6–8) and Train (6–8) in parallel → Decision Gate at Week 10 (needs Validate AND Train) → Rollout (11–14) only on 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6  •  Roadmap  •  Gate moved to Week 10; rollout Weeks 11–14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New R5 joins R2 at highest impact; R1 remains most likely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554480"/>
            <a:ext cx="4572000" cy="3657600"/>
          </a:xfrm>
          <a:prstGeom prst="rect">
            <a:avLst/>
          </a:prstGeom>
          <a:solidFill>
            <a:srgbClr val="F7FAFA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945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1089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233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7760" y="1554480"/>
            <a:ext cx="0" cy="365760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228600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0160" y="301752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3749039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4480560"/>
            <a:ext cx="457200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80160" y="5303520"/>
            <a:ext cx="45720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1              2              3              4              5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Impact (1–5)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1371600"/>
            <a:ext cx="1051560" cy="3931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Likelihood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(1–5) ↑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487168"/>
            <a:ext cx="457200" cy="32918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54203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950208"/>
            <a:ext cx="457200" cy="32918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400507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218688"/>
            <a:ext cx="457200" cy="329184"/>
          </a:xfrm>
          <a:prstGeom prst="roundRect">
            <a:avLst/>
          </a:prstGeom>
          <a:solidFill>
            <a:srgbClr val="D98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27355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3950208"/>
            <a:ext cx="457200" cy="329184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400507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3218688"/>
            <a:ext cx="457200" cy="329184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273552"/>
            <a:ext cx="4572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554480"/>
            <a:ext cx="5330952" cy="438912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737360"/>
            <a:ext cx="4873752" cy="4069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MITIGATIONS (all risks)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R1  L4 × I3 — Cross-train two crews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R2  L2 × I5 — Dual-source hardware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R3  L3 × I4 — Test failover weekly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R4  L2 × I2 — Audit labels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R5  L3 × I5 — Test backup power before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Fund $440k for Resilient; rollout only if every Week 10 threshold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17373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937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FUNDING DECISION —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Approve Resilient: $440k 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$155k/yr saving  •  2.8-yr payback  •  3-yr net $25k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34440"/>
            <a:ext cx="5394960" cy="1737360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417320"/>
            <a:ext cx="49377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FALLBACK — 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If ANY threshold fails: HOLD.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No rollout. Fix, re-test, re-gate.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11091672" cy="2011680"/>
          </a:xfrm>
          <a:prstGeom prst="roundRect">
            <a:avLst/>
          </a:prstGeom>
          <a:solidFill>
            <a:srgbClr val="EEF5F5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F86"/>
                </a:solidFill>
                <a:latin typeface="Arial"/>
              </a:defRPr>
            </a:pPr>
            <a:r>
              <a:t>GO / NO-GO GATE — Week 10  (all three thresholds must pass)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5156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1)  Uptime ≥ 99.5%        2)  All five sites ≥ 95% on time        3)  Backup-power test passed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Gate rule:  Uptime &gt;=99.5% AND all five sites &gt;=95% on time AND backup-power test passed.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09167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Next step on GO:  Rollout in Weeks 11–14 to all five sites.     On HOLD:  pause rollout, remediate the failed threshold, and repeat the gate before any rollout.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C7D"/>
                </a:solidFill>
                <a:latin typeface="Arial"/>
              </a:defRPr>
            </a:pPr>
            <a:r>
              <a:t>8  •  Funding &amp; decision  •  Cedar sensor network — Resilient  •  All data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