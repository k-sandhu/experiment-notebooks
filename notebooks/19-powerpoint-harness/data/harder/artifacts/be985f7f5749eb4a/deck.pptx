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7CA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Choose Resilient: uptime now takes priority over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B4D"/>
                </a:solidFill>
                <a:latin typeface="Arial"/>
              </a:defRPr>
            </a:pPr>
            <a:r>
              <a:t>Approve the $440k field sensor investment. Release deployment only after the week-10 readiness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24912"/>
            <a:ext cx="2651760" cy="15087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916936"/>
            <a:ext cx="22677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11880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Investment · Resilient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6704" y="2724912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916936"/>
            <a:ext cx="22677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3611880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Annual saving ·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2724912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916936"/>
            <a:ext cx="22677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611880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72" y="2724912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2916936"/>
            <a:ext cx="22677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3611880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11183112" cy="1353312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99.8% reference uptime supports the choice; measured readiness still governs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66944"/>
            <a:ext cx="107259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Resilient exceeds the 99.5% uptime threshold on reference performance. All five sites and backup power must also pass.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decision case · Currency: $k · Payback = investment / annual saving · Three-year net = 3 × saving −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Readings finish 330 below target despite M4 recovery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Six-month actual is 94.5% of target. M4 exceeds plan by 110 readings; the other five months remain below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17904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D"/>
                </a:solidFill>
                <a:latin typeface="Arial"/>
              </a:defRPr>
            </a:pPr>
            <a:r>
              <a:t>Readings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65376"/>
          <a:ext cx="7909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732520" y="1691640"/>
            <a:ext cx="2953512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01952"/>
            <a:ext cx="24963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551176"/>
            <a:ext cx="2496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3035808"/>
            <a:ext cx="24963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3227832"/>
            <a:ext cx="24963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B4D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877056"/>
            <a:ext cx="2496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4361688"/>
            <a:ext cx="2496312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61120" y="4553712"/>
            <a:ext cx="24963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A55120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212080"/>
            <a:ext cx="2496312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Target −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data · M4 actual corrected to 1,150 readings · Site demand and capacity are separate daily measures.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is the only reference option above the uptime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Uptime outranks price. All reference investments, annual savings, uptime figures and lead times remain unchanged.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00784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6172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80560"/>
            <a:ext cx="5468112" cy="150876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26864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8344"/>
            <a:ext cx="501091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99.8% reference uptime is 0.3 percentage points above the 99.5% gate. Measured performance must still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480560"/>
            <a:ext cx="5468112" cy="1508760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626864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5120"/>
                </a:solidFill>
                <a:latin typeface="Arial"/>
              </a:defRPr>
            </a:pPr>
            <a:r>
              <a:t>TRADEOFF VERSUS 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038344"/>
            <a:ext cx="501091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Pay $90k more for $25k more annual saving and 0.8 uptime points. Lead time increases by 2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reference options · Resilient three-year net: $25k versus Balanced $40k; the $15k reduction buys higher reference uptime.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20% saving downside produces a $68k three-year net loss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Resilient sensitivity uses 80%, 100% and 120% of $155k annual saving; investment stays fixed at $440k.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63624"/>
            <a:ext cx="5212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38528"/>
          <a:ext cx="5532120" cy="39959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801368"/>
          <a:ext cx="53309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5010912"/>
            <a:ext cx="5330952" cy="950976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5157216"/>
            <a:ext cx="491032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F471C"/>
                </a:solidFill>
                <a:latin typeface="Arial"/>
              </a:defRPr>
            </a:pPr>
            <a:r>
              <a:t>The base case yields $25k net over three years. Downside payback extends to 3.5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sensitivity · Payback = 440 / annual saving, rounded to 1 decimal year · Three-year net = 3 × annual saving − 440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are capacity-constrained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exceeds total capacity by 40 readings. North, East and West also fall below the on-time gate.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73352"/>
          <a:ext cx="1118311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49377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404104"/>
            <a:ext cx="5468112" cy="758952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522976"/>
            <a:ext cx="50840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F471C"/>
                </a:solidFill>
                <a:latin typeface="Arial"/>
              </a:defRPr>
            </a:pPr>
            <a:r>
              <a:t>Daily deficits: North 40 · Central 80 · West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5404104"/>
            <a:ext cx="5468112" cy="758952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5522976"/>
            <a:ext cx="50840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Gate: all five sites must reach ≥95% 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site data · Demand and capacity are daily readings, not six-month totals · All site reference cells are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moves to week 10; rollout follows in weeks 11–14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Design, Build, Validate and Train retain their original weeks. Both Validate and Train remain gate prerequisites.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38528"/>
            <a:ext cx="11183112" cy="150876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730752"/>
            <a:ext cx="11183112" cy="146304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505456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4288536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88336"/>
            <a:ext cx="310896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74336" y="2688336"/>
            <a:ext cx="36576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15968" y="3163824"/>
            <a:ext cx="0" cy="128930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15968" y="4453128"/>
            <a:ext cx="1024128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03136" y="2688336"/>
            <a:ext cx="530352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6" y="4453128"/>
            <a:ext cx="1307591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10727" y="3264408"/>
            <a:ext cx="0" cy="11887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87968" y="2688336"/>
            <a:ext cx="420624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65960" y="2203704"/>
            <a:ext cx="13716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2331720"/>
            <a:ext cx="1243584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8456" y="2203704"/>
            <a:ext cx="1325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3" y="2331720"/>
            <a:ext cx="1197864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0096" y="2203704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2331720"/>
            <a:ext cx="131673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3968496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75A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4096512"/>
            <a:ext cx="131673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3488" y="2011680"/>
            <a:ext cx="1554480" cy="1252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176272"/>
            <a:ext cx="1408176" cy="9235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8592" y="2066543"/>
            <a:ext cx="20574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2212848"/>
            <a:ext cx="1892807" cy="941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41264"/>
            <a:ext cx="10972800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D"/>
                </a:solidFill>
                <a:latin typeface="Arial"/>
              </a:defRPr>
            </a:pPr>
            <a:r>
              <a:t>Dependencies: Design has none → Build → Validate AND Train → Decision gate → Rollout on GO.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D"/>
                </a:solidFill>
                <a:latin typeface="Arial"/>
              </a:defRPr>
            </a:pPr>
            <a:r>
              <a:t>Synthetic delivery plan · Connections show prerequisites.                     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R5 adds a second maximum-impact risk before the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R1 remains most likely. R2 and R5 each have impact 5; all five risks have explicit mitigations.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4983480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Likelihood ↑  (1 = low; 5 = high)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2057400"/>
          <a:ext cx="49377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60350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/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17320" y="5815584"/>
            <a:ext cx="4114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Impact →  (1 = low; 5 = high)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2057400"/>
          <a:ext cx="578815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076"/>
                <a:gridCol w="2894076"/>
              </a:tblGrid>
              <a:tr h="60350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· L /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· 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· 2 /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· 3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· 2 / 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 · 3 /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5815584"/>
            <a:ext cx="578815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R5 mitigation supplies evidence for the backup-power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risk register · Matrix rows show likelihood; columns show impact · R1–R4 coordinates and mitigations are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$440k for Resilient; gate deployment in week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Funding supports the selected option. GO requires completed Validate and Train plus every readiness threshold below.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64208"/>
            <a:ext cx="3154680" cy="449884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6609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8DCDD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41448"/>
            <a:ext cx="266090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00984"/>
            <a:ext cx="2660904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Cedar sensor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79976"/>
            <a:ext cx="2660904" cy="1344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$155k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2.8-year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$25k three-year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709928"/>
            <a:ext cx="7662672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WEEK 10: GO ONLY IF ALL THREE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286000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404872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035808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154680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85615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904487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636008"/>
            <a:ext cx="3685032" cy="1527048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4773168"/>
            <a:ext cx="3282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ALL PASS →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5257800"/>
            <a:ext cx="328269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Proceed to the next rollout in weeks 11–14.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636008"/>
            <a:ext cx="3776472" cy="1527048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4773168"/>
            <a:ext cx="3374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55120"/>
                </a:solidFill>
                <a:latin typeface="Arial"/>
              </a:defRPr>
            </a:pPr>
            <a:r>
              <a:t>ANY FAIL →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5257800"/>
            <a:ext cx="337413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Remediate and re-test; defer rollout until all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64224"/>
            <a:ext cx="103784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Synthetic decision case · Resilient reference uptime is 99.8%; demonstrated readiness determines the week-10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364224"/>
            <a:ext cx="667512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57D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