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4CE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Recommendation: fund Resilient — $440k returns $155k a year, pays back in 2.8 years and clears the uptime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$440k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 (one-time)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$155k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2.8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Simple payback (440 ÷ 155)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0264" y="1508760"/>
            <a:ext cx="2651760" cy="1554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645920"/>
            <a:ext cx="2377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7F86"/>
                </a:solidFill>
                <a:latin typeface="Arial"/>
              </a:defRPr>
            </a:pPr>
            <a:r>
              <a:t>+$25k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395728"/>
            <a:ext cx="2377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Three-year net (3 × 155 − 440)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Why Resilient: uptime now outranks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6858000" cy="2468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Only option rated above the 99.5% uptime gate threshold (99.8%)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Output trails target in five of six months: 5,630 vs 5,960 readings (−330)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Costs $90k more than Balanced with a 10-week lead; three-year net +$25k vs +$40k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Thin margin: three-year net turns −$68k in the 80% downside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337560"/>
            <a:ext cx="3931920" cy="28346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474720"/>
            <a:ext cx="3520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DECISION REQUESTED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886200"/>
            <a:ext cx="35204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Approve $440k for Resilient now.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GO to rollout (weeks 11–14) at the week-10 gate only if uptime ≥99.5%, all five sites ≥95% on time and the backup-power test passes; otherwise 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engineering steering group · synthetic data ·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Output missed target in five of six months: 5,630 vs 5,960 readings, a 330-reading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Monthly sensor readings, actual vs target, M1–M6 (M4 actual corrected to 1,150)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95360" y="16916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5,630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377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actual readings, M1–M6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95360" y="29260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95360" y="30632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5E6C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749039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Total target readings, M1–M6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4297680"/>
            <a:ext cx="301752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95360" y="4434840"/>
            <a:ext cx="30175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03A2E"/>
                </a:solidFill>
                <a:latin typeface="Arial"/>
              </a:defRPr>
            </a:pPr>
            <a:r>
              <a:t>−330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12064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Gap: 5.5% below target. Only M4 beat target (+110); largest miss M3 (−130).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Resilient is the only option rated above the 99.5% uptime gate; it costs $90k more than Balanced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Reference option values unchanged · payback = investment ÷ saving · 3-yr net = 3 × saving −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91840"/>
            <a:ext cx="91440" cy="5486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927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011"/>
                <a:gridCol w="1561011"/>
                <a:gridCol w="1561011"/>
                <a:gridCol w="1561011"/>
                <a:gridCol w="1561011"/>
                <a:gridCol w="1561011"/>
                <a:gridCol w="1561014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(selected)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114800"/>
            <a:ext cx="3520440" cy="205740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+$230k buys +$60k/yr saving and +2.3 pts uptime; lead time is 4 weeks longer and 3-yr net falls $75k → $25k.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4114800"/>
            <a:ext cx="3520440" cy="205740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vs 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+$90k buys +$25k/yr saving and +0.8 pt uptime; lead time 8 → 10 weeks, payback 2.7 → 2.8 yrs, 3-yr net $40k → $25k.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4114800"/>
            <a:ext cx="3520440" cy="205740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224528"/>
            <a:ext cx="3200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Tradeoff accepted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645152"/>
            <a:ext cx="32004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Lowest 3-yr net (+$25k) and longest lead time, in exchange for the only rated uptime (99.8%) that clears the 99.5% gate.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Payback ranges 2.4–3.5 years; the three-year net stays positive only at ≥95% of base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 by scenario, $k/yr (80 / 100 / 120% of Resilient $155k) · investment fixed at $440k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852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69164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−68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+25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+118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766560" y="4343400"/>
            <a:ext cx="4846320" cy="1828800"/>
          </a:xfrm>
          <a:prstGeom prst="rect">
            <a:avLst/>
          </a:prstGeom>
          <a:solidFill>
            <a:srgbClr val="FB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4434840"/>
            <a:ext cx="4526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Three-year 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846320"/>
            <a:ext cx="45262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Needs ≥ $147k/yr (≈95% of base) to recover $440k in three years. Base clears it by $8k/yr; the downside falls short by $23k/yr.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Daily demand of 1,700 exceeds capacity of 1,660; North, Central and West are capacity-constrained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Readings per day by site (daily rates, not six-month totals) · gap = capacity − demand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795527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468"/>
                <a:gridCol w="1136468"/>
                <a:gridCol w="1136468"/>
                <a:gridCol w="1136468"/>
                <a:gridCol w="1136468"/>
                <a:gridCol w="1136468"/>
                <a:gridCol w="1136471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Gap/day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−80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+70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Spare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−50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Constrained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1,700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1,660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−40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Short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778240" y="1691640"/>
            <a:ext cx="2834640" cy="3840480"/>
          </a:xfrm>
          <a:prstGeom prst="rect">
            <a:avLst/>
          </a:prstGeom>
          <a:solidFill>
            <a:srgbClr val="EE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Capacity-constrained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North −40/day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Central −80/day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West −50/day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South and East have spare.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657600"/>
            <a:ext cx="2560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3A2E"/>
                </a:solidFill>
                <a:latin typeface="Arial"/>
              </a:defRPr>
            </a:pPr>
            <a:r>
              <a:t>Gate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041648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Only Central (96%) and South (97%) meet ≥95% on time; North, East and West must improve by the week-10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Rollout moves to weeks 11–14 and starts only after Validate and Train both clear the week-10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325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463040"/>
            <a:ext cx="1965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3248" y="146304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4152" y="1463040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46304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Wk 11–14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88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011680"/>
            <a:ext cx="132588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011680"/>
            <a:ext cx="13258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196596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1965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Build · Wk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2011680"/>
            <a:ext cx="2011680" cy="77724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011680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Validate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3749039"/>
            <a:ext cx="2011680" cy="77724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3749039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Train · Wk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after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011680"/>
            <a:ext cx="512064" cy="25146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603504" cy="2514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011680"/>
            <a:ext cx="2743200" cy="77724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011680"/>
            <a:ext cx="27432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Rollout · Wk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after Gate GO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54680" y="2400300"/>
            <a:ext cx="137160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57800" y="2400300"/>
            <a:ext cx="155448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7760" y="2788920"/>
            <a:ext cx="475488" cy="123444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4927" y="2400300"/>
            <a:ext cx="850393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4927" y="4137660"/>
            <a:ext cx="850393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87384" y="2400300"/>
            <a:ext cx="173736" cy="0"/>
          </a:xfrm>
          <a:prstGeom prst="line">
            <a:avLst/>
          </a:prstGeom>
          <a:ln w="2540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Dependencies: Design → Build → Validate; Build → Train; Validate AND Train → Gate (week 10); Gate GO → Rollout (weeks 11–14). Other activity weeks unchanged. Any failed gate threshold = 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New risk R5 (backup power) scores highest at 15; its mitigation must be done before the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4343400" cy="4343400"/>
          </a:xfrm>
          <a:prstGeom prst="rect">
            <a:avLst/>
          </a:prstGeom>
          <a:solidFill>
            <a:srgbClr val="F7F9FA"/>
          </a:solidFill>
          <a:ln>
            <a:solidFill>
              <a:srgbClr val="8A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24028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10896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77639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46320" y="1417320"/>
            <a:ext cx="0" cy="434340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228600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315468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402336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4892040"/>
            <a:ext cx="4343400" cy="0"/>
          </a:xfrm>
          <a:prstGeom prst="line">
            <a:avLst/>
          </a:prstGeom>
          <a:ln w="12700">
            <a:solidFill>
              <a:srgbClr val="CB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164592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8328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365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788152"/>
            <a:ext cx="868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4343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3154680"/>
            <a:ext cx="822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(1–5)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33756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77700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160020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77700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46888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77700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20624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1600200"/>
            <a:ext cx="868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3A2E"/>
                </a:solidFill>
                <a:latin typeface="Arial"/>
              </a:defRPr>
            </a:pPr>
            <a:r>
              <a:t>R5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309360" y="1417320"/>
          <a:ext cx="53035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7239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× Impact = score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 × 3 = 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5 = 10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4 = 12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× 2 = 4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 × 5 = 15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Decision: approve $440k for Resilient now; release rollout at week 10 only if all three thresholds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Approve $440k · Resilient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620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46304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 10 ·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Go / no-go 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2011680"/>
            <a:ext cx="411480" cy="0"/>
          </a:xfrm>
          <a:prstGeom prst="line">
            <a:avLst/>
          </a:prstGeom>
          <a:ln w="31750">
            <a:solidFill>
              <a:srgbClr val="5E6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solidFill>
            <a:srgbClr val="D5ECEE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32918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WEEKS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Rollout if 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880360"/>
          <a:ext cx="7269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Gate threshold (all must pass)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today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≥ 99.5%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 rated 99.8%; confirm in Validate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On-time delivery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All five sites ≥ 95%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 of 5 meet (Central, South)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Backup-power test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before gate (R5)</a:t>
                      </a:r>
                    </a:p>
                  </a:txBody>
                  <a:tcPr marL="64008" marR="64008" marT="36576" marB="36576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92440" y="2880360"/>
            <a:ext cx="3520440" cy="2377440"/>
          </a:xfrm>
          <a:prstGeom prst="rect">
            <a:avLst/>
          </a:prstGeom>
          <a:solidFill>
            <a:srgbClr val="FBEAEA"/>
          </a:solidFill>
          <a:ln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3A2E"/>
                </a:solidFill>
                <a:latin typeface="Arial"/>
              </a:defRPr>
            </a:pPr>
            <a:r>
              <a:t>HOLD if any threshold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20440"/>
            <a:ext cx="320040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Rollout does not start in week 11; return to this group with the failed threshold and a fix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GO (all three pass) → rollout weeks 11–14. Case: payback 2.8 yrs, three-year net +$25k (−$68k at 80% downside, +$118k at 120% upside).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E6C84"/>
                </a:solidFill>
                <a:latin typeface="Arial"/>
              </a:defRPr>
            </a:pPr>
            <a:r>
              <a:t>Cedar sensor network · field sensor rollout · synthetic data ·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