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Recommendation: fund Resilient - $440k for $155k/yr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Aster cold-chain  |  Regional distribution capacity  |  Operations committee decision  |  All data synthetic  |  Uptime outranks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$440k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$155k/yr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606040" cy="141732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2.8 years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440 / 155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508760"/>
            <a:ext cx="258775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31343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$25k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3 x 155 - 440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6766560" cy="2880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626364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Resilient - uptime outranks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Highest uptime: 99.8% (10-week lead time)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$25k/yr more saving than Balanced, for $90k more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Accepts the highest upfront price to protect service reliability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Week 10 go / no-go gate controls rollout in Weeks 11-14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46120"/>
            <a:ext cx="4005072" cy="28803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520440"/>
            <a:ext cx="347472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DECISION ASKED TODAY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$440k for Resilient.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Rollout in Weeks 11-14 only if the Week 10 gate returns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Currency: $k  |  Payback = investment / annual saving  |  Three-year net = 3 x saving -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Six months fell 520 shipments short: 5,150 actual vs 5,670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Shipments by month, M1-M6 - actual vs target (shipments)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7498079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417320"/>
            <a:ext cx="3273552" cy="123444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5448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5,150 shipments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880360"/>
            <a:ext cx="3273552" cy="1234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01752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5,670 shipments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43400"/>
            <a:ext cx="3273552" cy="15087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4480560"/>
            <a:ext cx="290779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520 shipments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9.2% below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Actual was below target in five months; M4 actual 1,080 beat its 1,040 target. Gap = 5,670 - 5,150 = 520 shipments.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Six-month performance  |  Units: shipments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Resilient wins on uptime: 99.8%, accepting the $440k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All option prices shown unchanged. Selected option: Resilient. Uptime now outranks price.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2865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11091672" cy="1783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90288"/>
            <a:ext cx="1056132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Selected-option tradeoff - Resilient ($440k, $155k/yr, 99.8%, 10 weeks)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Balanced: pay $90k more and wait 2 weeks longer, gain $25k/yr saving and +0.8 points uptime.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Lean: pay $220k more and wait 4 weeks longer, gain $60k/yr saving and +2.3 points uptime.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Reference prices remain Lean $220k and Balanced $350k after the Resilient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Downside pays back in 3.5 years; base case nets $25k over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Annual saving by scenario ($k/yr) - Resilient, $440k investment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95160" y="1188720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Payback and three-year net by scenario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95160" y="1645920"/>
          <a:ext cx="4645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-68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4800600"/>
            <a:ext cx="4645152" cy="10515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4937760"/>
            <a:ext cx="4297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Downside is -$68k at Year 3: the Week 10 gate must protect against committing rollout on weak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Scenarios = 80% / 100% / 120% of $155k/yr. Payback = 440 / saving. Three-year net = 3 x saving - 440.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Resilient scenarios  |  Currency: $k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 320/day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Daily demand and capacity by site (shipments/day) -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1,600 /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1,710 /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3502152" cy="12801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5010912"/>
            <a:ext cx="3246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CONSTRAINED: South only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20/day over capacity; 89% 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Network headroom is 110/day overall (1,710 - 1,600), but it sits at North, Central, East and West - not South.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Roadmap: Week 10 Decision gate after Validate + Train, then rollout Weeks 11-14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6596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383280"/>
            <a:ext cx="11091672" cy="16916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868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868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1-2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3-5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3749039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840480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43200"/>
            <a:ext cx="1691640" cy="10515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16352"/>
            <a:ext cx="1600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+ 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1783080"/>
            <a:ext cx="155448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874519"/>
            <a:ext cx="14630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11-14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743200"/>
            <a:ext cx="1005840" cy="1005839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0" y="246888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06640" y="356616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509760" y="2743200"/>
            <a:ext cx="731520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Sequence: Design (1-2) -&gt; Build (3-5) -&gt; Validate (6-8) and Train (6-8) -&gt; Decision Gate (Week 10) -&gt; Rollout (11-14, Gate GO only).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Arrows show dependencies. No rollout activity starts before a GO decision at the Week 10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Highest-impact risks are R2 and R5: mitigate before the Week 10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4114800" cy="4114800"/>
          </a:xfrm>
          <a:prstGeom prst="rect">
            <a:avLst/>
          </a:prstGeom>
          <a:solidFill>
            <a:srgbClr val="FFF8E6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73736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6032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0624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237744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320040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402336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484632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51760" y="263347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5643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5643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07008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Likelihood 1-5 (vertical: 5 top, 1 bottom)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53328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Impact 1-5 -&gt;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1                   2                   3                   4                   5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810512"/>
            <a:ext cx="365760" cy="3657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0" y="1554480"/>
          <a:ext cx="61539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478"/>
                <a:gridCol w="1538478"/>
                <a:gridCol w="1538478"/>
                <a:gridCol w="1538478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86400" y="5532120"/>
            <a:ext cx="61539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Read: R1 = L4 x I3, R2 = L2 x I5, R3 = L3 x I4, R4 = L2 x I2, R5 = L3 x I5. Matrix plots Likelihood (vertical) by Impact (horizontal).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Decision: fund Resilient now; Week 10 gate is GO only if every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31089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FUNDING -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Investment: $440k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Annual saving: $155k/yr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Payback: 2.8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Three-year net: $25k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4160520" cy="3108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63040"/>
            <a:ext cx="3703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 / NO-GO GATE -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1. Uptime &gt;= 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3703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2. All five sites &gt;= 95% 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3756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3703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2526E"/>
                </a:solidFill>
                <a:latin typeface="Arial"/>
              </a:defRPr>
            </a:pPr>
            <a:r>
              <a:t>All three must pass (AND).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724912" cy="14173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6304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Rollout Weeks 11-14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017520"/>
            <a:ext cx="2724912" cy="14173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15468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ANY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HOLD - no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3258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10561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Fallback and next step: HOLD if any threshold fails at Week 10 - fix and re-test before any rollout. On GO, proceed directly to rollout in Weeks 11-14 (Gate dependency: Validate AND Train complete).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Gate rule: Uptime &gt;=99.5% AND all five sites &gt;=95% on time AND backup-power test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Resilient $440k  |  Currency: $k  |  All data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