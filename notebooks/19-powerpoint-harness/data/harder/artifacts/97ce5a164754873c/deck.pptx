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890</c:v>
                </c:pt>
                <c:pt idx="1">
                  <c:v>890</c:v>
                </c:pt>
                <c:pt idx="2">
                  <c:v>940</c:v>
                </c:pt>
                <c:pt idx="3">
                  <c:v>980</c:v>
                </c:pt>
                <c:pt idx="4">
                  <c:v>860</c:v>
                </c:pt>
                <c:pt idx="5">
                  <c:v>900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7C4D6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970</c:v>
                </c:pt>
                <c:pt idx="1">
                  <c:v>980</c:v>
                </c:pt>
                <c:pt idx="2">
                  <c:v>1070</c:v>
                </c:pt>
                <c:pt idx="3">
                  <c:v>1040</c:v>
                </c:pt>
                <c:pt idx="4">
                  <c:v>930</c:v>
                </c:pt>
                <c:pt idx="5">
                  <c:v>970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$k/yr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80%</c:v>
                </c:pt>
                <c:pt idx="1">
                  <c:v>Base 100%</c:v>
                </c:pt>
                <c:pt idx="2">
                  <c:v>Upside 120%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130</c:v>
                </c:pt>
                <c:pt idx="2">
                  <c:v>156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Recommend Balanced Cedar sensor network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Fictional decision committee • Engineering steering group • All data synthetic • Currency $k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7744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Chosen investment — Balanced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8346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1691640"/>
            <a:ext cx="269748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$130k/yr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69748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Annual saving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83464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1691640"/>
            <a:ext cx="2606040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2.7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2606040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Simple payback: 350 / 130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83464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1691640"/>
            <a:ext cx="2633472" cy="6286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$40k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633472" cy="40005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Three-year net saving: 3×130 − 350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834640"/>
            <a:ext cx="26334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154680"/>
            <a:ext cx="11183112" cy="14173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06527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DECISION ASKED: Approve Balanced now, conditional on the Week-8 gate.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B4D"/>
                </a:solidFill>
                <a:latin typeface="Arial"/>
              </a:defRPr>
            </a:pPr>
            <a:r>
              <a:t>Balanced delivers 99.0% uptime in 8 weeks — materially above Lean, without Resilient’s $440k spend.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46320"/>
            <a:ext cx="36118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now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Six-month actual trails target by 500 readings. Delay keeps the gap open.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46320"/>
            <a:ext cx="361188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Why Balanced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Mid investment, mid saving, 8-week lead. Payback 2.7 years at base saving.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846320"/>
            <a:ext cx="3593592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Protection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Week-8 GO only if every threshold passes. Any failure = HOLD. Rollout Weeks 9–12.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Six-month actual trails target by 500 readings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Readings by month, M1–M6 • All 12 monthly values labelled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76809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Readings per month — Actual vs Target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76809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49640" y="178308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5,460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2441448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actual readings (M1–M6)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49640" y="288036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01752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5A6B84"/>
                </a:solidFill>
                <a:latin typeface="Arial"/>
              </a:defRPr>
            </a:pPr>
            <a:r>
              <a:t>5,960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target readings (M1–M6)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49640" y="411480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49640" y="4251960"/>
            <a:ext cx="310896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2318"/>
                </a:solidFill>
                <a:latin typeface="Arial"/>
              </a:defRPr>
            </a:pPr>
            <a:r>
              <a:t>−500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910328"/>
            <a:ext cx="310896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Gap: actual − target = −500 readings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49640" y="5349240"/>
            <a:ext cx="310896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217920"/>
            <a:ext cx="111556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Every month is below target. The largest monthly shortfalls are M3 (−130) and M2 (−90). This is the performance gap the investment must close.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Balanced is the middle path on cost and uptime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Reference option prices unchanged • Investment and saving in $k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949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5943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Investment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Uptime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Lead weeks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Lean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Balanced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Resilient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99.8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297680"/>
            <a:ext cx="6949440" cy="50292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6492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Selected: Balanced — $350k  •  $130k/yr  •  Payback 2.7 years  •  3-yr net $40k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691640"/>
            <a:ext cx="391363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Versus Lean (+$140k)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Pays $140k more and takes 2 weeks longer, for +$35k/yr saving and +1.5 points of uptime (99.0% vs 97.5%).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3611880"/>
            <a:ext cx="3913632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Versus Resilient (−$90k)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Saves $90k upfront and is 2 weeks faster, but forgoes $25k/yr saving and 0.8 points of uptime (99.0% vs 99.8%).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1118311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Tradeoff in one line: Balanced buys most of the uptime gain without the top price. It is neither cheapest nor most resilient — the committee is paying for reliability, not for the fastest payback.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Base case pays back in 2.7 years; downside does not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Balanced investment fixed at $350k • Scenarios at 80% / 100% / 120% of $130k/yr saving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36192"/>
            <a:ext cx="6035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Annual saving by scenario ($k/yr)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874519"/>
          <a:ext cx="603504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1874519"/>
          <a:ext cx="487375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438"/>
                <a:gridCol w="1218438"/>
                <a:gridCol w="1218438"/>
                <a:gridCol w="1218438"/>
              </a:tblGrid>
              <a:tr h="6172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$k/yr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yrs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$k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Downside 80%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−38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Base 100%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Upside 120%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2.2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118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2280" y="4526280"/>
            <a:ext cx="4873752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A6B84"/>
                </a:solidFill>
                <a:latin typeface="Arial"/>
              </a:defRPr>
            </a:pPr>
            <a:r>
              <a:t>Formulas: Payback = 350 / saving.  Three-year net = 3 × saving − 350.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669280"/>
            <a:ext cx="11183112" cy="77724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79008"/>
            <a:ext cx="106527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A5A00"/>
                </a:solidFill>
                <a:latin typeface="Arial"/>
              </a:defRPr>
            </a:pPr>
            <a:r>
              <a:t>Read this honestly: at 80% saving the three-year net is −$38k. Approval relies on validating the base saving before rollout — hence the Week-8 gate.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Three of five sites are capacity-constrained today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Daily demand and capacity by site — not six-month totals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7498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15"/>
                <a:gridCol w="1499615"/>
                <a:gridCol w="1499615"/>
                <a:gridCol w="1499615"/>
                <a:gridCol w="1499619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Capacity/day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 %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Owner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Ari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Bo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290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360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Eli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75320" y="1691640"/>
            <a:ext cx="341071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1,700/day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20" y="2322576"/>
            <a:ext cx="341071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demand (all five sites)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75320" y="2743200"/>
            <a:ext cx="341071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75320" y="2880360"/>
            <a:ext cx="3410712" cy="57835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B42318"/>
                </a:solidFill>
                <a:latin typeface="Arial"/>
              </a:defRPr>
            </a:pPr>
            <a:r>
              <a:t>1,660/day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511296"/>
            <a:ext cx="3410712" cy="36804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Total daily capacity — shortfall 40/day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5320" y="3931920"/>
            <a:ext cx="341071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75320" y="4114800"/>
            <a:ext cx="3410712" cy="1783080"/>
          </a:xfrm>
          <a:prstGeom prst="round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4251960"/>
            <a:ext cx="2971800" cy="1554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Capacity-constrained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(demand &gt; capacity)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North 400 &gt; 360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Central 400 &gt; 320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A1F14"/>
                </a:solidFill>
                <a:latin typeface="Arial"/>
              </a:defRPr>
            </a:pPr>
            <a:r>
              <a:t>• West 350 &gt; 300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80"/>
            <a:ext cx="7498079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Not constrained: South (260 &lt; 320) and East (290 &lt; 360).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On-time is a separate problem: North 91%, East 89% and West 92% all sit below the 95% gate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Build feeds both validation and training before the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Two-lane roadmap, Weeks 1–12 • Every activity, week range and dependency shown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11183112" cy="1691640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51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F86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20440"/>
            <a:ext cx="11183112" cy="1417320"/>
          </a:xfrm>
          <a:prstGeom prst="roundRect">
            <a:avLst/>
          </a:prstGeom>
          <a:solidFill>
            <a:srgbClr val="F7F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5156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A5A00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1–2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3–5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828800"/>
            <a:ext cx="1783080" cy="11430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9019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657600"/>
            <a:ext cx="1783080" cy="114300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3730752"/>
            <a:ext cx="16002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6–8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Build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697480"/>
            <a:ext cx="1645920" cy="11430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770632"/>
            <a:ext cx="146304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DECISION 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Week 8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Arial"/>
              </a:defRPr>
            </a:pPr>
            <a:r>
              <a:t>Dep: Validate AND Train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12680" y="1828800"/>
            <a:ext cx="1554480" cy="1143000"/>
          </a:xfrm>
          <a:prstGeom prst="round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4120" y="1901952"/>
            <a:ext cx="137160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Weeks 9–12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Dep: Gate GO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566160" y="2395728"/>
            <a:ext cx="3200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395728"/>
            <a:ext cx="320040" cy="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773168" y="2971800"/>
            <a:ext cx="1810512" cy="685800"/>
          </a:xfrm>
          <a:prstGeom prst="line">
            <a:avLst/>
          </a:prstGeom>
          <a:ln w="25400">
            <a:solidFill>
              <a:srgbClr val="8A5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2651760"/>
            <a:ext cx="320040" cy="41148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72400" y="3520440"/>
            <a:ext cx="320040" cy="502920"/>
          </a:xfrm>
          <a:prstGeom prst="line">
            <a:avLst/>
          </a:prstGeom>
          <a:ln w="254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38360" y="2926080"/>
            <a:ext cx="685800" cy="45720"/>
          </a:xfrm>
          <a:prstGeom prst="line">
            <a:avLst/>
          </a:prstGeom>
          <a:ln w="25400">
            <a:solidFill>
              <a:srgbClr val="1B7A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5257800"/>
            <a:ext cx="1118311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2B4D"/>
                </a:solidFill>
                <a:latin typeface="Arial"/>
              </a:defRPr>
            </a:pPr>
            <a:r>
              <a:t>Critical chain: Design → Build → Validate → Decision Gate (Week 8) → Rollout (Weeks 9–12).  Training runs Weeks 6–8 in parallel with validation and must also finish before the gate.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Two risks need active mitigation before the gate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Likelihood × Impact, each scored 1–5 • Risk IDs plotted at their scored coordinates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4114800" cy="3657600"/>
          </a:xfrm>
          <a:prstGeom prst="rect">
            <a:avLst/>
          </a:prstGeom>
          <a:solidFill>
            <a:srgbClr val="F2F6FA"/>
          </a:solidFill>
          <a:ln>
            <a:solidFill>
              <a:srgbClr val="5A6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92024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6616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389120" y="1737360"/>
            <a:ext cx="0" cy="365760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46888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20040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393192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663440"/>
            <a:ext cx="4114800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" y="2148840"/>
            <a:ext cx="685800" cy="3017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Impact →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5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440680"/>
            <a:ext cx="41148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1          2          3          4          5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4114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72B4D"/>
                </a:solidFill>
                <a:latin typeface="Arial"/>
              </a:defRPr>
            </a:pPr>
            <a:r>
              <a:t>Likelihood → (1 low to 5 high)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3364992"/>
            <a:ext cx="548640" cy="402336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3320" y="342900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57400" y="1901952"/>
            <a:ext cx="548640" cy="402336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196596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633472"/>
            <a:ext cx="548640" cy="402336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269748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57400" y="4096512"/>
            <a:ext cx="548640" cy="402336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400" y="4160520"/>
            <a:ext cx="54864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R4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669280" y="1737360"/>
          <a:ext cx="60167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4188"/>
                <a:gridCol w="1504188"/>
                <a:gridCol w="1504188"/>
                <a:gridCol w="1504188"/>
              </a:tblGrid>
              <a:tr h="58521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ID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1-5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7F8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Cross-train two crews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Dual-source hardware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Test failover weekly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R4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Audit labels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669280" y="4892040"/>
            <a:ext cx="6016752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72B4D"/>
                </a:solidFill>
                <a:latin typeface="Arial"/>
              </a:defRPr>
            </a:pPr>
            <a:r>
              <a:t>Watch first: R2 (Impact 5) and R3 (3 × 4). R1 is most likely (4) at moderate impact. R4 (2 × 2) is monitor-only.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8321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72B4D"/>
                </a:solidFill>
                <a:latin typeface="Arial"/>
              </a:defRPr>
            </a:pPr>
            <a:r>
              <a:t>Fund $350k now; GO only if every gate threshold passes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353312"/>
            <a:ext cx="11183112" cy="0"/>
          </a:xfrm>
          <a:prstGeom prst="line">
            <a:avLst/>
          </a:prstGeom>
          <a:ln w="1905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1078992"/>
            <a:ext cx="11155680" cy="219456"/>
          </a:xfrm>
          <a:prstGeom prst="rect">
            <a:avLst/>
          </a:prstGeom>
          <a:noFill/>
        </p:spPr>
        <p:txBody>
          <a:bodyPr wrap="square" lIns="32004" rIns="32004" tIns="18288" bIns="18288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72B4D"/>
                </a:solidFill>
                <a:latin typeface="Arial"/>
              </a:defRPr>
            </a:pPr>
            <a:r>
              <a:t>Decision gate at Week 8 • Fallback is HOLD — no partial 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$350k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5000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Funding requested — Balanced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278892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1691640"/>
            <a:ext cx="269748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7F86"/>
                </a:solidFill>
                <a:latin typeface="Arial"/>
              </a:defRPr>
            </a:pPr>
            <a:r>
              <a:t>$130k/yr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350008"/>
            <a:ext cx="269748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Base annual saving  •  Payback 2.7 yrs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788920"/>
            <a:ext cx="269748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263640" y="1691640"/>
            <a:ext cx="2606040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Week 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50008"/>
            <a:ext cx="26060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Decision gate timing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788920"/>
            <a:ext cx="2606040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052560" y="1691640"/>
            <a:ext cx="2633472" cy="603504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B7A43"/>
                </a:solidFill>
                <a:latin typeface="Arial"/>
              </a:defRPr>
            </a:pPr>
            <a:r>
              <a:t>Weeks 9–12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350008"/>
            <a:ext cx="2633472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72B4D"/>
                </a:solidFill>
                <a:latin typeface="Arial"/>
              </a:defRPr>
            </a:pPr>
            <a:r>
              <a:t>Next rollout if GO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052560" y="2788920"/>
            <a:ext cx="2633472" cy="0"/>
          </a:xfrm>
          <a:prstGeom prst="line">
            <a:avLst/>
          </a:prstGeom>
          <a:ln w="12700">
            <a:solidFill>
              <a:srgbClr val="007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063240"/>
            <a:ext cx="5577840" cy="2377440"/>
          </a:xfrm>
          <a:prstGeom prst="roundRect">
            <a:avLst/>
          </a:prstGeom>
          <a:solidFill>
            <a:srgbClr val="E6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5074920" cy="2057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GO requires ALL three thresholds: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1. Uptime ≥ 99.5%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2. All five sites ≥ 95% on time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3. Backup-power test passed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063240"/>
            <a:ext cx="2606040" cy="2377440"/>
          </a:xfrm>
          <a:prstGeom prst="roundRect">
            <a:avLst/>
          </a:prstGeom>
          <a:solidFill>
            <a:srgbClr val="1B7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214884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GO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All thresholds pass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→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Weeks 9–12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3063240"/>
            <a:ext cx="2496312" cy="2377440"/>
          </a:xfrm>
          <a:prstGeom prst="round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3337560"/>
            <a:ext cx="2084831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HOLD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Any threshold fails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→ No 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Fix, then re-gate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11183112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2B4D"/>
                </a:solidFill>
                <a:latin typeface="Arial"/>
              </a:defRPr>
            </a:pPr>
            <a:r>
              <a:t>Decision asked today: approve $350k for Balanced and the Week-8 gate rule above. Funding does not authorise rollout — only a full GO at Week 8 does.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