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Fund Balanced: $350k saves $130k/yr, pays back in 2.7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Aster cold-chain · regional distribution capacity · operations committee decision · synthetic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587752" cy="1737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Balanced 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$130k/yr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2.7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350 ÷ 130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783080"/>
            <a:ext cx="2587752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92024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+$40k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 × 130 − 350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67665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64008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Shipments 690 (12%) below six-month target: 4,980 vs 5,670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South demand of 340/day exceeds its 320/day 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Balanced lifts rated uptime to 99.0% vs Lean's 97.5%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886200"/>
            <a:ext cx="4050791" cy="2423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02336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480560"/>
            <a:ext cx="36576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Fund $350k for Balanced today.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Go/no-go gate at week 8; rollout weeks 9–12 only on GO, otherwise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Shipments missed target every month, 690 short over six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Monthly gaps: M1 −80 · M2 −120 · M3 −120 · M4 −130 · M5 −100 · M6 −140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Shipments per month, actual vs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76809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1828800"/>
            <a:ext cx="3044952" cy="114300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892807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4,980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8716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shipments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3108960"/>
            <a:ext cx="3044952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317296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76732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shipments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389120"/>
            <a:ext cx="3044952" cy="114300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453128"/>
            <a:ext cx="2788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B42318"/>
                </a:solidFill>
                <a:latin typeface="Arial"/>
              </a:defRPr>
            </a:pPr>
            <a:r>
              <a:t>−690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047488"/>
            <a:ext cx="2788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 (12.2% below 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669280"/>
            <a:ext cx="30449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Largest monthly shortfall: M6 at −140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Balanced buys 1.5 pts more uptime than Lean for $25k less 3-yr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Reference option prices unchanged; Balanced is the selected option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063240"/>
            <a:ext cx="109728" cy="6400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7680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Payback = investment ÷ annual saving (one decimal). 3-yr net = 3 × saving −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83080"/>
            <a:ext cx="3136392" cy="452628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The tradeoff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31720"/>
            <a:ext cx="2834640" cy="3931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Lean: +$130k cost, +$35k/yr saving, +1.5 pts uptime, 2 weeks longer; 3-yr net $25k lower.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vs Resilient: $90k cheaper, ready 2 weeks sooner, 3-yr net $15k higher; 0.8 pts less uptime.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Watch: rated 99.0% is below the 99.5% gate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Savings stay positive in every case, but downside misses 3-yr breakeven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Scenarios at 80 / 100 / 120% of Balanced's $130k/yr saving; $350k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Annual saving by scenario, $k/yr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057400"/>
          <a:ext cx="6217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2057400"/>
          <a:ext cx="45079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998"/>
                <a:gridCol w="1126998"/>
                <a:gridCol w="1126998"/>
                <a:gridCol w="1126998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0" y="4526280"/>
            <a:ext cx="4507992" cy="1874519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17720"/>
            <a:ext cx="416052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breakeven needs ≥$117k/yr (350 ÷ 3). Downside is ≈$13k/yr short, so the week-8 gate must confirm performance before rollout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South is the only site where daily demand exceeds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Daily shipments by site; headroom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863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3429000"/>
            <a:ext cx="109728" cy="5486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1783080"/>
            <a:ext cx="2907792" cy="141732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847088"/>
            <a:ext cx="2651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F86"/>
                </a:solidFill>
                <a:latin typeface="Arial"/>
              </a:defRPr>
            </a:pPr>
            <a:r>
              <a:t>1,600 / 1,710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23160"/>
            <a:ext cx="2651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daily demand / capacity (94% utilized)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3337560"/>
            <a:ext cx="2907792" cy="1051560"/>
          </a:xfrm>
          <a:prstGeom prst="rect">
            <a:avLst/>
          </a:prstGeom>
          <a:solidFill>
            <a:srgbClr val="FB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401568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Capacity-constrained: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South (−20/day)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4526280"/>
            <a:ext cx="2907792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590288"/>
            <a:ext cx="2651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Below 95% on-time gate: Central 94, South 89, East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Rollout starts week 9 only after Validate and Train clear the week-8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Critical path: Design → Build → Validate → Gate → Rollout; Train runs alongside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8001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2180" y="1645920"/>
            <a:ext cx="8001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8001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2780" y="1645920"/>
            <a:ext cx="8001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W12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4831" y="2011680"/>
            <a:ext cx="1453896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2148840"/>
            <a:ext cx="145389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 · W1–2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No dependency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5032" y="2011680"/>
            <a:ext cx="2253996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148840"/>
            <a:ext cx="225399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 · W3–5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5332" y="2011680"/>
            <a:ext cx="2253996" cy="10058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5332" y="2148840"/>
            <a:ext cx="225399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 · 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85632" y="2011680"/>
            <a:ext cx="3054096" cy="1005840"/>
          </a:xfrm>
          <a:prstGeom prst="rect">
            <a:avLst/>
          </a:prstGeom>
          <a:solidFill>
            <a:srgbClr val="005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148840"/>
            <a:ext cx="305409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 · W9–12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5531" y="3383280"/>
            <a:ext cx="653796" cy="8229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5531" y="3520440"/>
            <a:ext cx="65379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29000"/>
            <a:ext cx="2468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Go/no-go gate, week 8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needs Validate AND Train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5332" y="4572000"/>
            <a:ext cx="2253996" cy="1005840"/>
          </a:xfrm>
          <a:prstGeom prst="rect">
            <a:avLst/>
          </a:prstGeom>
          <a:solidFill>
            <a:srgbClr val="4C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5332" y="4709160"/>
            <a:ext cx="225399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 · W6–8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38728" y="2514600"/>
            <a:ext cx="146304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39028" y="2514600"/>
            <a:ext cx="146304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60720" y="3017520"/>
            <a:ext cx="457200" cy="1554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10144" y="3017520"/>
            <a:ext cx="0" cy="36576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010144" y="4206240"/>
            <a:ext cx="0" cy="36576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39327" y="3017520"/>
            <a:ext cx="347473" cy="77724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R1 and R3 are the top risks; every risk has a named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Score = likelihood × impact: R1 = 12, R3 = 12, R2 = 10, R4 =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828800"/>
            <a:ext cx="4343400" cy="3886200"/>
          </a:xfrm>
          <a:prstGeom prst="rect">
            <a:avLst/>
          </a:prstGeom>
          <a:solidFill>
            <a:srgbClr val="F7F8F9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908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0" y="1828800"/>
            <a:ext cx="0" cy="38862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260604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338328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40" y="416052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4937760"/>
            <a:ext cx="43434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9080" y="356616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01168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8892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343400"/>
            <a:ext cx="868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74243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02996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0720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8444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6168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38928"/>
            <a:ext cx="365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608076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1828800"/>
            <a:ext cx="868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828800"/>
          <a:ext cx="53309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84"/>
                <a:gridCol w="1776984"/>
                <a:gridCol w="1776984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× 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$350k now; roll out at week 8 only if all thresholds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One funding decision today, one go/no-go decision at the week-8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743200" cy="3931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377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 · Fund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3774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$350k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Balanced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3774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$130k/yr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2.7-yr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+$40k three-year 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83080"/>
            <a:ext cx="4572000" cy="39319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 · Week-8 gate: all three must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42316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48716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Balanced is rated 99.0%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52044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58444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Today 2 of 5 meet it (North, West)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6177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681728"/>
            <a:ext cx="397763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Result required at the week-8 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274320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475488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80" y="1783080"/>
            <a:ext cx="3227832" cy="1874519"/>
          </a:xfrm>
          <a:prstGeom prst="rect">
            <a:avLst/>
          </a:prstGeom>
          <a:solidFill>
            <a:srgbClr val="E6F4F4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20240"/>
            <a:ext cx="28803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GO — all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Roll out weeks 9–12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840480"/>
            <a:ext cx="3227832" cy="1874519"/>
          </a:xfrm>
          <a:prstGeom prst="rect">
            <a:avLst/>
          </a:prstGeom>
          <a:solidFill>
            <a:srgbClr val="FBEAE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288036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HOLD — any one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No rollout until the committee reviews again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Ask: approve funding today and confirm the three thresholds as the binding week-8 go/no-go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