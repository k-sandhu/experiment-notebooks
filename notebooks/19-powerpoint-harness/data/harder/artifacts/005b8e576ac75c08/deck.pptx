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E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Resilient: $155k/yr saving, 2.8-year payback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— regional distribution capacity | Operations committee | Synthetic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83112" cy="123444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DECISION REQUESTED: Approve Resilient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Invest $440k for highest uptime (99.8%), subject to the Week 10 go / no-go gate. Uptime now outranks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 — Resilient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 (440 ÷ 155)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6364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0" y="3154680"/>
            <a:ext cx="2542032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05072"/>
            <a:ext cx="2542032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  (3×155 − 440)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572000"/>
            <a:ext cx="25420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892040"/>
            <a:ext cx="11183112" cy="141732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Why now: six-month shipments were 520 below target. Resilient targets 99.8% uptime in 10 lead weeks, with rollout released only if every Week 10 threshold passes; otherwise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Five of six months missed; gap is 520 shipments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shipments, M1–M6 | All 12 values labelled |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Shipments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680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69164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32304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92608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15468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C7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95344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38912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461772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540A"/>
                </a:solidFill>
                <a:latin typeface="Arial"/>
              </a:defRPr>
            </a:pPr>
            <a:r>
              <a:t>520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358383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 = 5,670 − 5,150  (9.2% below target)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585216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M4 beat target by 40 (1,080 vs 1,040); the other five months all missed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buys 99.8% uptime for $90k over Balanced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Option comparison — reference prices unchanged | Selected option: Resilient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97680"/>
            <a:ext cx="5440680" cy="196596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49377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Resilient vs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+$90k investment buys +$25k/yr saving and +0.8 pts uptime (99.8% vs 99.0%), at +2 lead weeks (10 vs 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297680"/>
            <a:ext cx="5440680" cy="196596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4480560"/>
            <a:ext cx="49377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Tradeoff accepted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Highest price ($440k) and longest lead (10 weeks), chosen because uptime outranks price. Vs Lean: +$220k buys +$60k/yr and +2.3 pts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pays back in 2.8 years; downside does not in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Scenarios at 80% / 100% / 120% of Resilient saving | Investment held at 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Annual saving, $k/yr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2179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874519"/>
          <a:ext cx="46451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</a:tblGrid>
              <a:tr h="7086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4846320"/>
            <a:ext cx="46451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Payback = 440 ÷ saving.  Three-year net = 3×saving − 440.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97880"/>
            <a:ext cx="11183112" cy="68580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16752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Read: only the downside case is net-negative over three years (−$68k) — the Week 10 gate protects against committing rollout spend into that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over capacity today; network headroom is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110/day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(shipments/day) —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0" y="1645920"/>
            <a:ext cx="299923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276856"/>
            <a:ext cx="299923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0" y="269748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0" y="2834640"/>
            <a:ext cx="299923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465576"/>
            <a:ext cx="299923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capacity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388620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4023360"/>
            <a:ext cx="299923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C7D"/>
                </a:solidFill>
                <a:latin typeface="Arial"/>
              </a:defRPr>
            </a:pPr>
            <a:r>
              <a:t>110/day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654296"/>
            <a:ext cx="299923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Network headroom (1,710 − 1,600)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507492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5212080"/>
            <a:ext cx="11183112" cy="100584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1E1E"/>
                </a:solidFill>
                <a:latin typeface="Arial"/>
              </a:defRPr>
            </a:pPr>
            <a:r>
              <a:t>Capacity-constrained site: South — demand 340/day exceeds capacity 320/day by 20/day (106% utilisation), with the lowest on-time rate (89%). All other sites have demand below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 at Week 10: rollout starts only after Validate and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Two-lane roadmap, Weeks 1–14 | Dependencies shown under each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1183112" cy="178308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96596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2057400"/>
            <a:ext cx="15544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5420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96596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2057400"/>
            <a:ext cx="1828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5420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96596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57400"/>
            <a:ext cx="1828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22402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057400"/>
            <a:ext cx="21031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1183112" cy="155448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540A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254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93192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3108960"/>
            <a:ext cx="1828800" cy="731520"/>
          </a:xfrm>
          <a:prstGeom prst="line">
            <a:avLst/>
          </a:prstGeom>
          <a:ln w="25400">
            <a:solidFill>
              <a:srgbClr val="C254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3246120"/>
            <a:ext cx="1417320" cy="9601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3337560"/>
            <a:ext cx="129844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2697480"/>
            <a:ext cx="685801" cy="54864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183879" y="4023360"/>
            <a:ext cx="502921" cy="1828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75520" y="3108960"/>
            <a:ext cx="457200" cy="2743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39496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Gate dependency: Validate AND Train must both complete before the Week 10 gate. Rollout (Weeks 11–14) depends on Gate GO — no GO, no rollout.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Impact-5 risks R2 and R5 need active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Risk matrix — likelihood (vertical) by impact (horizontal), each scored 1–5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81328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LIKELIHOOD (1 → 5) ↑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783080"/>
            <a:ext cx="4572000" cy="4114800"/>
          </a:xfrm>
          <a:prstGeom prst="rect">
            <a:avLst/>
          </a:prstGeom>
          <a:solidFill>
            <a:srgbClr val="F4F7F8"/>
          </a:solidFill>
          <a:ln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11680" y="178308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26080" y="178308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178308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78308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260604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342900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25196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507492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36392" y="2807208"/>
            <a:ext cx="493776" cy="420624"/>
          </a:xfrm>
          <a:prstGeom prst="roundRect">
            <a:avLst/>
          </a:prstGeom>
          <a:solidFill>
            <a:srgbClr val="C2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88036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4453128"/>
            <a:ext cx="493776" cy="420624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452628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50791" y="3630168"/>
            <a:ext cx="493776" cy="420624"/>
          </a:xfrm>
          <a:prstGeom prst="roundRect">
            <a:avLst/>
          </a:prstGeom>
          <a:solidFill>
            <a:srgbClr val="C2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370332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21992" y="4453128"/>
            <a:ext cx="493776" cy="420624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1992" y="452628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5192" y="3630168"/>
            <a:ext cx="493776" cy="420624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370332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4360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1              2              3              4              5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236208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  (1 → 5)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783080"/>
            <a:ext cx="457200" cy="4114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035040" y="1783080"/>
          <a:ext cx="565099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748"/>
                <a:gridCol w="1412748"/>
                <a:gridCol w="1412748"/>
                <a:gridCol w="1412748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035040" y="5760720"/>
            <a:ext cx="56509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C7D"/>
                </a:solidFill>
                <a:latin typeface="Arial"/>
              </a:defRPr>
            </a:pPr>
            <a:r>
              <a:t>Positions use the table scores exactly: R1 (L4, I3), R2 (L2, I5), R3 (L3, I4), R4 (L2, I2), R5 (L3, I5).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Decision: fund $440k now; rollout only on a Week 10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Go / no-go gate, thresholds, fallback and next step — Aster cold-chain (synthetic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66160" cy="182880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06324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FUNDING 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$440k for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$155k/yr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2.8-yr payback · $25k 3-yr 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657600" cy="18288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15468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NO-GO GATE — WEEK 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All three thresholds must pass (AND):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645920"/>
            <a:ext cx="3502152" cy="182880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301752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NEXT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11–14, only after Gate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1:  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2:  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3:  Backup-power test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20640"/>
            <a:ext cx="5440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49377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 — all thresholds pass → proceed to rollout, Weeks 11–14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5120640"/>
            <a:ext cx="5440680" cy="1188720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5303520"/>
            <a:ext cx="49377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HOLD — if ANY threshold fails: stop, remediate, re-gate. No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