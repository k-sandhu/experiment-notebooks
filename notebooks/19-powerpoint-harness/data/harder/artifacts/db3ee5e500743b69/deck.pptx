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1150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C1C7D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Recommend Resilient: $440k saves $155k a year and pays back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in 2.8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Cedar sensor network · field sensor rollout · engineering steering group · synthetic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6400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789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Decision requested: approve $440k for Resilient now; rollout (Weeks 11–14) proceeds only on a Week 10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23160"/>
            <a:ext cx="260604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18688"/>
            <a:ext cx="260604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 (Resilient option)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3749039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46704" y="2423160"/>
            <a:ext cx="260604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$155k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3218688"/>
            <a:ext cx="260604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46704" y="3749039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90488" y="2423160"/>
            <a:ext cx="260604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2.8 yrs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3218688"/>
            <a:ext cx="260604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 ($440k ÷ $155k)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90488" y="3749039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34272" y="2423160"/>
            <a:ext cx="260604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+$25k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3218688"/>
            <a:ext cx="260604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net (3 × 155 − 440)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34272" y="3749039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3977639"/>
            <a:ext cx="3535680" cy="2423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40873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Resilient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709159"/>
            <a:ext cx="3316224" cy="1581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Uptime now outranks price: 99.8% design uptime is the only option above the 99.5% gate, for $90k more than Balanced.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2920" y="3977639"/>
            <a:ext cx="3535680" cy="2423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2648" y="40873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What we must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2648" y="4709159"/>
            <a:ext cx="3316224" cy="1581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Readings ran 330 (5.5%) below target over six months; North, Central and West exceed daily capacity.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2920" y="3977639"/>
            <a:ext cx="3535680" cy="2423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2648" y="40873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How we stay safe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2648" y="4709159"/>
            <a:ext cx="3316224" cy="1581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 10 gate: uptime ≥99.5%, all five sites ≥95% on time, backup-power test passed. Any miss = HOLD.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Readings trailed target in five of six months, leaving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330-reading gap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Monthly sensor readings, actual vs target, M1–M6 · M4 corrected to 1,150, the only month above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7772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Readings per month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77724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41080" y="1691640"/>
            <a:ext cx="301752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5,630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487168"/>
            <a:ext cx="301752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readings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41080" y="3017520"/>
            <a:ext cx="301752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41080" y="3200400"/>
            <a:ext cx="301752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B778C"/>
                </a:solidFill>
                <a:latin typeface="Arial"/>
              </a:defRPr>
            </a:pPr>
            <a:r>
              <a:t>5,960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995928"/>
            <a:ext cx="301752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readings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41080" y="4526280"/>
            <a:ext cx="301752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41080" y="4709160"/>
            <a:ext cx="301752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2410C"/>
                </a:solidFill>
                <a:latin typeface="Arial"/>
              </a:defRPr>
            </a:pPr>
            <a:r>
              <a:t>−330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5504688"/>
            <a:ext cx="301752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Gap: 5.5% below target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41080" y="6035040"/>
            <a:ext cx="301752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41080" y="6126480"/>
            <a:ext cx="3017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M4: 1,150 actual vs 1,040 target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trades $90k and slower payback for the only uptime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above the 99.5%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Reference option prices unchanged; payback = investment ÷ saving; 3-yr net = 3 × saving −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" y="3383280"/>
            <a:ext cx="128016" cy="5943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75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 (selected)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251960"/>
            <a:ext cx="3535680" cy="224028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361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What we 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983480"/>
            <a:ext cx="3316224" cy="1399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99.8% design uptime: +0.8 pts over Balanced, +2.3 pts over Lean, and the only option above 99.5%.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4251960"/>
            <a:ext cx="3535680" cy="224028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2648" y="4361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Versus Balanced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2648" y="4983480"/>
            <a:ext cx="3316224" cy="1399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+$90k capital and 2 more lead weeks; payback 2.8 vs 2.7 yrs; 3-yr net $25k vs $40k.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2920" y="4251960"/>
            <a:ext cx="3535680" cy="224028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2648" y="4361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Versus 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2648" y="4983480"/>
            <a:ext cx="3316224" cy="1399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+$230k capital; payback 2.8 vs 2.2 yrs; 3-yr net $25k vs $75k.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pays back within three years in base and upside;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downside 3-yr net is −$68k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Scenarios at 80% / 100% / 120% of the $155k selected annual saving; investment fixed at $440k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852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Annual saving, $k per year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58521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20840" y="1874519"/>
          <a:ext cx="4937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0840" y="4297680"/>
            <a:ext cx="493776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Base and upside recover the $440k inside three years (2.8 and 2.4 yrs). At downside, payback (3.5 yrs) runs past the three-year horizon.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Payback = $440k ÷ annual saving (one decimal). Three-year net = 3 × annual saving − $440k.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North, Central and West exceed daily capacity; network is short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40 readings/day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Daily demand and capacity by site (readings/day, not six-month totals)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" y="2148840"/>
            <a:ext cx="128016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1752" y="2697480"/>
            <a:ext cx="128016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1752" y="4343400"/>
            <a:ext cx="128016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00200"/>
          <a:ext cx="7589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0"/>
                <a:gridCol w="1264920"/>
                <a:gridCol w="1264920"/>
                <a:gridCol w="1264920"/>
                <a:gridCol w="1264920"/>
                <a:gridCol w="126492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 − demand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−80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+60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+70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1,700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1,660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503920" y="1691640"/>
            <a:ext cx="315468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1,700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59736"/>
            <a:ext cx="315468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demand, readings/day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0" y="2971800"/>
            <a:ext cx="31546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03920" y="3154680"/>
            <a:ext cx="315468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1,660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922776"/>
            <a:ext cx="315468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capacity, readings/day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03920" y="4434840"/>
            <a:ext cx="31546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03920" y="4617720"/>
            <a:ext cx="3154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2410C"/>
                </a:solidFill>
                <a:latin typeface="Arial"/>
              </a:defRPr>
            </a:pPr>
            <a:r>
              <a:t>Capacity-constrained: North (−40), Central (−80), West (−50)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111556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Gate check: only Central (96%) and South (97%) meet the 95% on-time threshold today; North, East and West must improve by Week 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Validate and Train both finish by Week 8 and feed a Week 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gate before rollout in Weeks 11–14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Weeks 1–14 · connectors show dependencies · gate requires Validate AND 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463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463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0"/>
            <a:ext cx="1463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D6A99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898648"/>
            <a:ext cx="11018520" cy="0"/>
          </a:xfrm>
          <a:prstGeom prst="line">
            <a:avLst/>
          </a:prstGeom>
          <a:ln w="12700">
            <a:solidFill>
              <a:srgbClr val="DF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4142232"/>
            <a:ext cx="11018520" cy="0"/>
          </a:xfrm>
          <a:prstGeom prst="line">
            <a:avLst/>
          </a:prstGeom>
          <a:ln w="12700">
            <a:solidFill>
              <a:srgbClr val="DF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03120" y="1828800"/>
            <a:ext cx="1207008" cy="8229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1874519"/>
            <a:ext cx="1207008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Wk 1–2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1828800"/>
            <a:ext cx="1783080" cy="8229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874519"/>
            <a:ext cx="17830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Wk 3–5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1828800"/>
            <a:ext cx="1783080" cy="8229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1874519"/>
            <a:ext cx="17830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Wk 6–8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828800"/>
            <a:ext cx="2578608" cy="822960"/>
          </a:xfrm>
          <a:prstGeom prst="roundRect">
            <a:avLst/>
          </a:prstGeom>
          <a:solidFill>
            <a:srgbClr val="4F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874519"/>
            <a:ext cx="2578608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Wk 11–14 (after GO)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3154680"/>
            <a:ext cx="941832" cy="73152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3568" y="3182112"/>
            <a:ext cx="941832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Wk 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4389120"/>
            <a:ext cx="1783080" cy="822960"/>
          </a:xfrm>
          <a:prstGeom prst="roundRect">
            <a:avLst/>
          </a:prstGeom>
          <a:solidFill>
            <a:srgbClr val="3D6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4434840"/>
            <a:ext cx="17830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Wk 6–8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2240280"/>
            <a:ext cx="219456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12664" y="2240280"/>
            <a:ext cx="219456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0" y="2651760"/>
            <a:ext cx="502920" cy="214884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223760" y="2651760"/>
            <a:ext cx="1005840" cy="50292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223760" y="3886200"/>
            <a:ext cx="1005840" cy="50292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915400" y="2651760"/>
            <a:ext cx="411480" cy="86868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Dependencies: Design → Build → Validate · Build → Train · Validate AND Train → Gate (Week 10) · Gate GO → Rollout (Weeks 11–14). Gate moved from Week 8 to Week 10; other activity weeks unchanged.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New R5 (backup power) is now the top risk at L × I = 15; every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risk has a mitigation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Likelihood and impact scored 1–5 · red = exposure L × I ≥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↑ Impact (1–5)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88720" y="1920240"/>
          <a:ext cx="39319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"/>
                <a:gridCol w="786384"/>
                <a:gridCol w="786384"/>
                <a:gridCol w="786384"/>
                <a:gridCol w="786384"/>
              </a:tblGrid>
              <a:tr h="78638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2130552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16936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9704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76088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897880"/>
            <a:ext cx="78638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5104" y="5897880"/>
            <a:ext cx="78638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5897880"/>
            <a:ext cx="78638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5897880"/>
            <a:ext cx="78638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5897880"/>
            <a:ext cx="78638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6263640"/>
            <a:ext cx="3931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Likelihood (1–5)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703320"/>
            <a:ext cx="78638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410C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5104" y="2130552"/>
            <a:ext cx="78638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2916936"/>
            <a:ext cx="78638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410C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75104" y="4489704"/>
            <a:ext cx="78638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2130552"/>
            <a:ext cx="78638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410C"/>
                </a:solidFill>
                <a:latin typeface="Arial"/>
              </a:defRPr>
            </a:pPr>
            <a:r>
              <a:t>R5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943600" y="1920240"/>
          <a:ext cx="5715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(L, I)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 × I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 (4, 3)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 (2, 5)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 (3, 4)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 (2, 2)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 (3, 5)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43600" y="5897880"/>
            <a:ext cx="57150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2410C"/>
                </a:solidFill>
                <a:latin typeface="Arial"/>
              </a:defRPr>
            </a:pPr>
            <a:r>
              <a:t>R5's mitigation is also a gate threshold: no GO without a passed backup-power 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Fund Resilient at $440k now; release rollout only on a Week 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GO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Week 10 gate requires all three thresholds; any single failure means 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2583179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73352"/>
            <a:ext cx="2436875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Approve $440k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600200"/>
            <a:ext cx="2583179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3572" y="1673352"/>
            <a:ext cx="2436875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Build &amp; train Wk 1–8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6100" y="203454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7919" y="1600200"/>
            <a:ext cx="2583179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1" y="1673352"/>
            <a:ext cx="2436875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Gate: Week 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599" y="203454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75419" y="1600200"/>
            <a:ext cx="2583179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8572" y="1673352"/>
            <a:ext cx="2436875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GO → Rollout Wk 11–14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01099" y="203454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2697480"/>
            <a:ext cx="3566160" cy="1600200"/>
          </a:xfrm>
          <a:prstGeom prst="rect">
            <a:avLst/>
          </a:prstGeom>
          <a:solidFill>
            <a:srgbClr val="F4F5F7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32918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Uptime ≥ 99.5%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78C"/>
                </a:solidFill>
                <a:latin typeface="Arial"/>
              </a:defRPr>
            </a:pPr>
            <a:r>
              <a:t>Resilient design is 99.8%; measured uptime must confirm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697480"/>
            <a:ext cx="3566160" cy="1600200"/>
          </a:xfrm>
          <a:prstGeom prst="rect">
            <a:avLst/>
          </a:prstGeom>
          <a:solidFill>
            <a:srgbClr val="F4F5F7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788920"/>
            <a:ext cx="32918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All 5 sites ≥ 95% on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38328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78C"/>
                </a:solidFill>
                <a:latin typeface="Arial"/>
              </a:defRPr>
            </a:pPr>
            <a:r>
              <a:t>Today 2 of 5 pass (Central 96%, South 97%)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2697480"/>
            <a:ext cx="3566160" cy="1600200"/>
          </a:xfrm>
          <a:prstGeom prst="rect">
            <a:avLst/>
          </a:prstGeom>
          <a:solidFill>
            <a:srgbClr val="F4F5F7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788920"/>
            <a:ext cx="32918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Backup-power test passed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38328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78C"/>
                </a:solidFill>
                <a:latin typeface="Arial"/>
              </a:defRPr>
            </a:pPr>
            <a:r>
              <a:t>Pass/fail result required at the Week 10 gate (R5 mitigation)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72000"/>
            <a:ext cx="5486400" cy="1737360"/>
          </a:xfrm>
          <a:prstGeom prst="rect">
            <a:avLst/>
          </a:prstGeom>
          <a:solidFill>
            <a:srgbClr val="E6F2F3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09160"/>
            <a:ext cx="51206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6"/>
                </a:solidFill>
                <a:latin typeface="Arial"/>
              </a:defRPr>
            </a:pPr>
            <a:r>
              <a:t>GO (all three pass): roll out in Weeks 11–14; base case pays back in 2.8 years, +$25k over three years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572000"/>
            <a:ext cx="5486400" cy="1737360"/>
          </a:xfrm>
          <a:prstGeom prst="rect">
            <a:avLst/>
          </a:prstGeom>
          <a:solidFill>
            <a:srgbClr val="FDEDE5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709160"/>
            <a:ext cx="51206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2410C"/>
                </a:solidFill>
                <a:latin typeface="Arial"/>
              </a:defRPr>
            </a:pPr>
            <a:r>
              <a:t>HOLD (any threshold fails): no rollout; fix the failing threshold, re-test and return to this committee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