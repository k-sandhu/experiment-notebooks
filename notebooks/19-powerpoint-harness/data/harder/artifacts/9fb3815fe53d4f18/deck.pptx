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870</c:v>
                </c:pt>
                <c:pt idx="1">
                  <c:v>850</c:v>
                </c:pt>
                <c:pt idx="2">
                  <c:v>720</c:v>
                </c:pt>
                <c:pt idx="3">
                  <c:v>910</c:v>
                </c:pt>
                <c:pt idx="4">
                  <c:v>720</c:v>
                </c:pt>
                <c:pt idx="5">
                  <c:v>910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A7B5C5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950</c:v>
                </c:pt>
                <c:pt idx="1">
                  <c:v>970</c:v>
                </c:pt>
                <c:pt idx="2">
                  <c:v>840</c:v>
                </c:pt>
                <c:pt idx="3">
                  <c:v>1040</c:v>
                </c:pt>
                <c:pt idx="4">
                  <c:v>820</c:v>
                </c:pt>
                <c:pt idx="5">
                  <c:v>1050</c:v>
                </c:pt>
              </c:numCache>
            </c:numRef>
          </c:val>
        </c:ser>
        <c:dLbls>
          <c:txPr>
            <a:bodyPr/>
            <a:lstStyle/>
            <a:p>
              <a:pPr>
                <a:defRPr sz="16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6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6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6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Annual saving $k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Downside 80%</c:v>
                </c:pt>
                <c:pt idx="1">
                  <c:v>Base 100%</c:v>
                </c:pt>
                <c:pt idx="2">
                  <c:v>Upside 120%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104</c:v>
                </c:pt>
                <c:pt idx="1">
                  <c:v>130</c:v>
                </c:pt>
                <c:pt idx="2">
                  <c:v>156</c:v>
                </c:pt>
              </c:numCache>
            </c:numRef>
          </c:val>
        </c:ser>
        <c:dLbls>
          <c:txPr>
            <a:bodyPr/>
            <a:lstStyle/>
            <a:p>
              <a:pPr>
                <a:defRPr sz="16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6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6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6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7F86"/>
                </a:solidFill>
                <a:latin typeface="Arial"/>
              </a:defRPr>
            </a:pPr>
            <a:r>
              <a:t>ASTER COLD-CHAIN  /  OPERATIONS COMMITTEE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115568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D"/>
                </a:solidFill>
                <a:latin typeface="Arial"/>
              </a:defRPr>
            </a:pPr>
            <a:r>
              <a:t>Recommend Balanced; make rollout conditional on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83080"/>
            <a:ext cx="108813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72B4D"/>
                </a:solidFill>
                <a:latin typeface="Arial"/>
              </a:defRPr>
            </a:pPr>
            <a:r>
              <a:t>Invest $350k in regional distribution capacity, with a week-8 gate before rollout in weeks 9–12.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697480"/>
            <a:ext cx="2651760" cy="1417320"/>
          </a:xfrm>
          <a:prstGeom prst="rect">
            <a:avLst/>
          </a:prstGeom>
          <a:solidFill>
            <a:srgbClr val="E9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337560" y="2697480"/>
            <a:ext cx="2651760" cy="1417320"/>
          </a:xfrm>
          <a:prstGeom prst="rect">
            <a:avLst/>
          </a:prstGeom>
          <a:solidFill>
            <a:srgbClr val="E9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72200" y="2697480"/>
            <a:ext cx="2651760" cy="1417320"/>
          </a:xfrm>
          <a:prstGeom prst="rect">
            <a:avLst/>
          </a:prstGeom>
          <a:solidFill>
            <a:srgbClr val="E9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006840" y="2697480"/>
            <a:ext cx="2651760" cy="1417320"/>
          </a:xfrm>
          <a:prstGeom prst="rect">
            <a:avLst/>
          </a:prstGeom>
          <a:solidFill>
            <a:srgbClr val="E9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852928"/>
            <a:ext cx="228600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007F86"/>
                </a:solidFill>
                <a:latin typeface="Arial"/>
              </a:defRPr>
            </a:pPr>
            <a:r>
              <a:t>$350k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520440"/>
            <a:ext cx="22860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72B4D"/>
                </a:solidFill>
                <a:latin typeface="Arial"/>
              </a:defRPr>
            </a:pPr>
            <a:r>
              <a:t>Investment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852928"/>
            <a:ext cx="228600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007F86"/>
                </a:solidFill>
                <a:latin typeface="Arial"/>
              </a:defRPr>
            </a:pPr>
            <a:r>
              <a:t>$130k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3520440"/>
            <a:ext cx="22860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72B4D"/>
                </a:solidFill>
                <a:latin typeface="Arial"/>
              </a:defRPr>
            </a:pPr>
            <a:r>
              <a:t>Annual saving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852928"/>
            <a:ext cx="228600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007F86"/>
                </a:solidFill>
                <a:latin typeface="Arial"/>
              </a:defRPr>
            </a:pPr>
            <a:r>
              <a:t>2.7 years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3520440"/>
            <a:ext cx="22860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72B4D"/>
                </a:solidFill>
                <a:latin typeface="Arial"/>
              </a:defRPr>
            </a:pPr>
            <a:r>
              <a:t>Simple payback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2852928"/>
            <a:ext cx="228600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007F86"/>
                </a:solidFill>
                <a:latin typeface="Arial"/>
              </a:defRPr>
            </a:pPr>
            <a:r>
              <a:t>$40k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3520440"/>
            <a:ext cx="22860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B4D"/>
                </a:solidFill>
                <a:latin typeface="Arial"/>
              </a:defRPr>
            </a:pPr>
            <a:r>
              <a:t>Three-year net saving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480560"/>
            <a:ext cx="11155680" cy="1325880"/>
          </a:xfrm>
          <a:prstGeom prst="rect">
            <a:avLst/>
          </a:prstGeom>
          <a:solidFill>
            <a:srgbClr val="FF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36008"/>
            <a:ext cx="106984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86520B"/>
                </a:solidFill>
                <a:latin typeface="Arial"/>
              </a:defRPr>
            </a:pPr>
            <a:r>
              <a:t>The recommendation carries a readiness gap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074920"/>
            <a:ext cx="106984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B4D"/>
                </a:solidFill>
                <a:latin typeface="Arial"/>
              </a:defRPr>
            </a:pPr>
            <a:r>
              <a:t>Balanced’s reference uptime is 99.0%, below the 99.5% gate. Require measured gate compliance; HOLD rollout if any threshold fails.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245352"/>
            <a:ext cx="106070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26477"/>
                </a:solidFill>
                <a:latin typeface="Arial"/>
              </a:defRPr>
            </a:pPr>
            <a:r>
              <a:t>All data synthetic • Currency $k • Payback = investment ÷ annual saving • Three-year net = 3 × saving − investment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245352"/>
            <a:ext cx="5029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26477"/>
                </a:solidFill>
                <a:latin typeface="Arial"/>
              </a:defRPr>
            </a:pPr>
            <a: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D"/>
                </a:solidFill>
                <a:latin typeface="Arial"/>
              </a:defRPr>
            </a:pPr>
            <a:r>
              <a:t>Actual shipments missed target in all six months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61288"/>
            <a:ext cx="111556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26477"/>
                </a:solidFill>
                <a:latin typeface="Arial"/>
              </a:defRPr>
            </a:pPr>
            <a:r>
              <a:t>Six-month throughput • shipments • all 12 monthly values shown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02920" y="1783080"/>
          <a:ext cx="841248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ectangle 4"/>
          <p:cNvSpPr/>
          <p:nvPr/>
        </p:nvSpPr>
        <p:spPr>
          <a:xfrm>
            <a:off x="9189720" y="1874519"/>
            <a:ext cx="2468880" cy="3977639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2057400"/>
            <a:ext cx="21031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526477"/>
                </a:solidFill>
                <a:latin typeface="Arial"/>
              </a:defRPr>
            </a:pPr>
            <a:r>
              <a:t>TOTAL ACTUAL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72600" y="2423160"/>
            <a:ext cx="210312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4,980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72600" y="3200400"/>
            <a:ext cx="21031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526477"/>
                </a:solidFill>
                <a:latin typeface="Arial"/>
              </a:defRPr>
            </a:pPr>
            <a:r>
              <a:t>TOTAL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72600" y="3566160"/>
            <a:ext cx="210312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72B4D"/>
                </a:solidFill>
                <a:latin typeface="Arial"/>
              </a:defRPr>
            </a:pPr>
            <a:r>
              <a:t>5,670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72600" y="4343400"/>
            <a:ext cx="21031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526477"/>
                </a:solidFill>
                <a:latin typeface="Arial"/>
              </a:defRPr>
            </a:pPr>
            <a:r>
              <a:t>SHORTFALL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72600" y="4709160"/>
            <a:ext cx="210312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A35F10"/>
                </a:solidFill>
                <a:latin typeface="Arial"/>
              </a:defRPr>
            </a:pPr>
            <a:r>
              <a:t>690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72600" y="5330952"/>
            <a:ext cx="21031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26477"/>
                </a:solidFill>
                <a:latin typeface="Arial"/>
              </a:defRPr>
            </a:pPr>
            <a:r>
              <a:t>shipments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245352"/>
            <a:ext cx="106070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26477"/>
                </a:solidFill>
                <a:latin typeface="Arial"/>
              </a:defRPr>
            </a:pPr>
            <a:r>
              <a:t>Synthetic data • Shortfall = total target − total actual • Monthly totals are separate from daily site demand and capacity.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245352"/>
            <a:ext cx="5029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26477"/>
                </a:solidFill>
                <a:latin typeface="Arial"/>
              </a:defRPr>
            </a:pPr>
            <a: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D"/>
                </a:solidFill>
                <a:latin typeface="Arial"/>
              </a:defRPr>
            </a:pPr>
            <a:r>
              <a:t>Balanced trades lower cost for an uptime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88720"/>
            <a:ext cx="111556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26477"/>
                </a:solidFill>
                <a:latin typeface="Arial"/>
              </a:defRPr>
            </a:pPr>
            <a:r>
              <a:t>Reference options • prices and performance assumptions remain unchanged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828800"/>
          <a:ext cx="111556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1136"/>
                <a:gridCol w="2231136"/>
                <a:gridCol w="2231136"/>
                <a:gridCol w="2231136"/>
                <a:gridCol w="2231136"/>
              </a:tblGrid>
              <a:tr h="640080"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Option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Investment $k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Saving $k/yr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Uptime %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Lead weeks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Lean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220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95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97.5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Balanced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350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130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99.0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Resilient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440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155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99.8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02920" y="4663440"/>
            <a:ext cx="5394960" cy="1234440"/>
          </a:xfrm>
          <a:prstGeom prst="rect">
            <a:avLst/>
          </a:prstGeom>
          <a:solidFill>
            <a:srgbClr val="E9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4782312"/>
            <a:ext cx="49834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07F86"/>
                </a:solidFill>
                <a:latin typeface="Arial"/>
              </a:defRPr>
            </a:pPr>
            <a:r>
              <a:t>Selected: Balanced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5166360"/>
            <a:ext cx="49834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72B4D"/>
                </a:solidFill>
                <a:latin typeface="Arial"/>
              </a:defRPr>
            </a:pPr>
            <a:r>
              <a:t>Versus Resilient: $90k less investment, $25k less annual saving and 2 fewer lead weeks.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4663440"/>
            <a:ext cx="5532120" cy="1234440"/>
          </a:xfrm>
          <a:prstGeom prst="rect">
            <a:avLst/>
          </a:prstGeom>
          <a:solidFill>
            <a:srgbClr val="FF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36792" y="4782312"/>
            <a:ext cx="5111496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86520B"/>
                </a:solidFill>
                <a:latin typeface="Arial"/>
              </a:defRPr>
            </a:pPr>
            <a:r>
              <a:t>Tradeoff: reference uptime is below gate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36792" y="5166360"/>
            <a:ext cx="5111496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72B4D"/>
                </a:solidFill>
                <a:latin typeface="Arial"/>
              </a:defRPr>
            </a:pPr>
            <a:r>
              <a:t>99.0% versus the required ≥99.5%. Selection alone does not establish rollout readiness.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245352"/>
            <a:ext cx="106070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26477"/>
                </a:solidFill>
                <a:latin typeface="Arial"/>
              </a:defRPr>
            </a:pPr>
            <a:r>
              <a:t>Synthetic data • Currency $k • Lead time is the option reference; rollout remains subject to the week-8 decision gate.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245352"/>
            <a:ext cx="5029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26477"/>
                </a:solidFill>
                <a:latin typeface="Arial"/>
              </a:defRPr>
            </a:pPr>
            <a: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72B4D"/>
                </a:solidFill>
                <a:latin typeface="Arial"/>
              </a:defRPr>
            </a:pPr>
            <a:r>
              <a:t>A 20% savings downside makes three-year net negative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26477"/>
                </a:solidFill>
                <a:latin typeface="Arial"/>
              </a:defRPr>
            </a:pPr>
            <a:r>
              <a:t>Balanced sensitivity • fixed investment of $350k • annual saving in $k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02920" y="1783080"/>
          <a:ext cx="64465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269480" y="1783080"/>
            <a:ext cx="43891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B4D"/>
                </a:solidFill>
                <a:latin typeface="Arial"/>
              </a:defRPr>
            </a:pPr>
            <a:r>
              <a:t>Returns at each savings level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269480" y="2331720"/>
          <a:ext cx="438912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</a:tblGrid>
              <a:tr h="605790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Scenario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Payback years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3-year net $k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Downside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3.4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−38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Base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2.7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40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Upside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2.2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118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269480" y="4983480"/>
            <a:ext cx="4389120" cy="960120"/>
          </a:xfrm>
          <a:prstGeom prst="rect">
            <a:avLst/>
          </a:prstGeom>
          <a:solidFill>
            <a:srgbClr val="FF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52360" y="5102352"/>
            <a:ext cx="4023360" cy="7132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86520B"/>
                </a:solidFill>
                <a:latin typeface="Arial"/>
              </a:defRPr>
            </a:pPr>
            <a:r>
              <a:t>Downside payback extends beyond three years; base net saving is $40k.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245352"/>
            <a:ext cx="106070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26477"/>
                </a:solidFill>
                <a:latin typeface="Arial"/>
              </a:defRPr>
            </a:pPr>
            <a:r>
              <a:t>Synthetic data • Payback = 350 ÷ annual saving, rounded to 1 decimal • Three-year net = 3 × annual saving − 350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245352"/>
            <a:ext cx="5029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26477"/>
                </a:solidFill>
                <a:latin typeface="Arial"/>
              </a:defRPr>
            </a:pPr>
            <a: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72B4D"/>
                </a:solidFill>
                <a:latin typeface="Arial"/>
              </a:defRPr>
            </a:pPr>
            <a:r>
              <a:t>South is capacity-constrained despite network headroom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26477"/>
                </a:solidFill>
                <a:latin typeface="Arial"/>
              </a:defRPr>
            </a:pPr>
            <a:r>
              <a:t>Daily site demand and capacity • current on-time performance and accountable owners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783080"/>
          <a:ext cx="1115568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1136"/>
                <a:gridCol w="2231136"/>
                <a:gridCol w="2231136"/>
                <a:gridCol w="2231136"/>
                <a:gridCol w="2231136"/>
              </a:tblGrid>
              <a:tr h="510540"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Site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Demand/day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Capacity/day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On time %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Owner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North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340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380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95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Ari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Central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290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330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94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Bo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South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340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320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89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Cy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East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320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340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94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Dee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West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310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340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96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Eli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5074920"/>
            <a:ext cx="34747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72B4D"/>
                </a:solidFill>
                <a:latin typeface="Arial"/>
              </a:defRPr>
            </a:pPr>
            <a:r>
              <a:t>Demand: 1,600/day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60520" y="5074920"/>
            <a:ext cx="35661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7F86"/>
                </a:solidFill>
                <a:latin typeface="Arial"/>
              </a:defRPr>
            </a:pPr>
            <a:r>
              <a:t>Capacity: 1,710/day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9560" y="5074920"/>
            <a:ext cx="3749039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72B4D"/>
                </a:solidFill>
                <a:latin typeface="Arial"/>
              </a:defRPr>
            </a:pPr>
            <a:r>
              <a:t>Headroom: 110/day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605272"/>
            <a:ext cx="111556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A35F10"/>
                </a:solidFill>
                <a:latin typeface="Arial"/>
              </a:defRPr>
            </a:pPr>
            <a:r>
              <a:t>South has a 20/day deficit. Central, South and East are below the ≥95% on-time gate.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245352"/>
            <a:ext cx="106070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26477"/>
                </a:solidFill>
                <a:latin typeface="Arial"/>
              </a:defRPr>
            </a:pPr>
            <a:r>
              <a:t>Synthetic data • Capacity-constrained means demand exceeds capacity • Daily figures are separate from six-month shipment totals.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245352"/>
            <a:ext cx="5029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26477"/>
                </a:solidFill>
                <a:latin typeface="Arial"/>
              </a:defRPr>
            </a:pPr>
            <a: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72B4D"/>
                </a:solidFill>
                <a:latin typeface="Arial"/>
              </a:defRPr>
            </a:pPr>
            <a:r>
              <a:t>Validation and training must converge at the week-8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61288"/>
            <a:ext cx="111556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26477"/>
                </a:solidFill>
                <a:latin typeface="Arial"/>
              </a:defRPr>
            </a:pPr>
            <a:r>
              <a:t>Connected delivery roadmap • dependencies flow left to right • weeks from approval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783080"/>
            <a:ext cx="11155680" cy="1508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886200"/>
            <a:ext cx="11155680" cy="1508760"/>
          </a:xfrm>
          <a:prstGeom prst="rect">
            <a:avLst/>
          </a:prstGeom>
          <a:solidFill>
            <a:srgbClr val="E9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240280"/>
            <a:ext cx="11430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Technical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343400"/>
            <a:ext cx="11430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7F86"/>
                </a:solidFill>
                <a:latin typeface="Arial"/>
              </a:defRPr>
            </a:pPr>
            <a:r>
              <a:t>People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46120" y="2542032"/>
            <a:ext cx="365760" cy="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029200" y="2542032"/>
            <a:ext cx="502920" cy="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029200" y="2697480"/>
            <a:ext cx="502920" cy="173736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040880" y="2542032"/>
            <a:ext cx="594360" cy="86868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7040880" y="3730752"/>
            <a:ext cx="594360" cy="91440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9144000" y="2542032"/>
            <a:ext cx="502920" cy="1024128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874519" y="2011680"/>
            <a:ext cx="137160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A7B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47672" y="2121408"/>
            <a:ext cx="1225296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Design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Weeks 1–2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11880" y="2011680"/>
            <a:ext cx="141732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A7B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85032" y="2121408"/>
            <a:ext cx="1271016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Build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Weeks 3–5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32120" y="2011680"/>
            <a:ext cx="150876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A7B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05272" y="2121408"/>
            <a:ext cx="1362456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Validate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Weeks 6–8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32120" y="4114800"/>
            <a:ext cx="150876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05272" y="4224528"/>
            <a:ext cx="1362456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7F86"/>
                </a:solidFill>
                <a:latin typeface="Arial"/>
              </a:defRPr>
            </a:pPr>
            <a:r>
              <a:t>Train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7F86"/>
                </a:solidFill>
                <a:latin typeface="Arial"/>
              </a:defRPr>
            </a:pPr>
            <a:r>
              <a:t>Weeks 6–8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35240" y="3017520"/>
            <a:ext cx="1508760" cy="1097280"/>
          </a:xfrm>
          <a:prstGeom prst="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08392" y="3127248"/>
            <a:ext cx="1362456" cy="87782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Decision gate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Week 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46920" y="2011680"/>
            <a:ext cx="1737360" cy="105156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20072" y="2121408"/>
            <a:ext cx="1591056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Rollout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Weeks 9–12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623560"/>
            <a:ext cx="111556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B4D"/>
                </a:solidFill>
                <a:latin typeface="Arial"/>
              </a:defRPr>
            </a:pPr>
            <a:r>
              <a:t>Design starts independently. Build enables Validate and Train; both feed the gate. Only Gate GO enables Rollout.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245352"/>
            <a:ext cx="106070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26477"/>
                </a:solidFill>
                <a:latin typeface="Arial"/>
              </a:defRPr>
            </a:pPr>
            <a:r>
              <a:t>Synthetic plan • Gate GO requires all thresholds on slide 8 • Any failed threshold means HOLD.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245352"/>
            <a:ext cx="5029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26477"/>
                </a:solidFill>
                <a:latin typeface="Arial"/>
              </a:defRPr>
            </a:pPr>
            <a: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D"/>
                </a:solidFill>
                <a:latin typeface="Arial"/>
              </a:defRPr>
            </a:pPr>
            <a:r>
              <a:t>R1 is most likely; R2 carries the greatest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26477"/>
                </a:solidFill>
                <a:latin typeface="Arial"/>
              </a:defRPr>
            </a:pPr>
            <a:r>
              <a:t>Risk positions use the stated 1–5 scores • pair each risk with its mitigation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83080"/>
            <a:ext cx="20574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Impact ↑ (1–5)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1783080"/>
            <a:ext cx="34290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Likelihood → (1–5)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2286000"/>
          <a:ext cx="55778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9640"/>
                <a:gridCol w="929640"/>
                <a:gridCol w="929640"/>
                <a:gridCol w="929640"/>
                <a:gridCol w="929640"/>
                <a:gridCol w="929640"/>
              </a:tblGrid>
              <a:tr h="579120"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Impact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marL="64008" marR="64008" marT="36576" marB="36576">
                    <a:solidFill>
                      <a:srgbClr val="E9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9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R2</a:t>
                      </a:r>
                    </a:p>
                  </a:txBody>
                  <a:tcPr marL="64008" marR="64008" marT="36576" marB="36576">
                    <a:solidFill>
                      <a:srgbClr val="E9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9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9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9F4F3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64008" marR="64008" marT="36576" marB="36576">
                    <a:solidFill>
                      <a:srgbClr val="E9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9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9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R3</a:t>
                      </a:r>
                    </a:p>
                  </a:txBody>
                  <a:tcPr marL="64008" marR="64008" marT="36576" marB="36576">
                    <a:solidFill>
                      <a:srgbClr val="E9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9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9F4F3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36576" marB="36576">
                    <a:solidFill>
                      <a:srgbClr val="E9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9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9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9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R1</a:t>
                      </a:r>
                    </a:p>
                  </a:txBody>
                  <a:tcPr marL="64008" marR="64008" marT="36576" marB="36576">
                    <a:solidFill>
                      <a:srgbClr val="E9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9F4F3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36576" marB="36576">
                    <a:solidFill>
                      <a:srgbClr val="E9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9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R4</a:t>
                      </a:r>
                    </a:p>
                  </a:txBody>
                  <a:tcPr marL="64008" marR="64008" marT="36576" marB="36576">
                    <a:solidFill>
                      <a:srgbClr val="E9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9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9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9F4F3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marL="64008" marR="64008" marT="36576" marB="36576">
                    <a:solidFill>
                      <a:srgbClr val="E9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9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9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9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9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9F4F3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1783080"/>
            <a:ext cx="52578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B4D"/>
                </a:solidFill>
                <a:latin typeface="Arial"/>
              </a:defRPr>
            </a:pPr>
            <a:r>
              <a:t>Mitigation for every risk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2286000"/>
          <a:ext cx="52578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</a:tblGrid>
              <a:tr h="694944"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Risk ID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Mitigation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R1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Cross-train two crews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R2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Dual-source hardware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R3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Test failover weekly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R4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Audit labels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6245352"/>
            <a:ext cx="106070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26477"/>
                </a:solidFill>
                <a:latin typeface="Arial"/>
              </a:defRPr>
            </a:pPr>
            <a:r>
              <a:t>Synthetic risk assessment • Likelihood increases to the right; impact increases upward • IDs mark the scored coordinates.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245352"/>
            <a:ext cx="5029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26477"/>
                </a:solidFill>
                <a:latin typeface="Arial"/>
              </a:defRPr>
            </a:pPr>
            <a: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72B4D"/>
                </a:solidFill>
                <a:latin typeface="Arial"/>
              </a:defRPr>
            </a:pPr>
            <a:r>
              <a:t>Approve $350k for Balanced; gate the rollout at week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88720"/>
            <a:ext cx="111556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B4D"/>
                </a:solidFill>
                <a:latin typeface="Arial"/>
              </a:defRPr>
            </a:pPr>
            <a:r>
              <a:t>Funding decision now: approve the selected investment. Rollout decision later: GO only when every condition passes.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965960"/>
            <a:ext cx="6766560" cy="3429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630936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7F86"/>
                </a:solidFill>
                <a:latin typeface="Arial"/>
              </a:defRPr>
            </a:pPr>
            <a:r>
              <a:t>WEEK 8  /  ALL THREE CONDITIONS REQUIRED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88920"/>
            <a:ext cx="630936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B4D"/>
                </a:solidFill>
                <a:latin typeface="Arial"/>
              </a:defRPr>
            </a:pPr>
            <a:r>
              <a:t>1   Uptime ≥99.5%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20" y="3474720"/>
            <a:ext cx="6309360" cy="0"/>
          </a:xfrm>
          <a:prstGeom prst="line">
            <a:avLst/>
          </a:prstGeom>
          <a:ln w="12700">
            <a:solidFill>
              <a:srgbClr val="CFD8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31520" y="3657600"/>
            <a:ext cx="630936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B4D"/>
                </a:solidFill>
                <a:latin typeface="Arial"/>
              </a:defRPr>
            </a:pPr>
            <a:r>
              <a:t>2   All five sites ≥95% on time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20" y="4343400"/>
            <a:ext cx="6309360" cy="0"/>
          </a:xfrm>
          <a:prstGeom prst="line">
            <a:avLst/>
          </a:prstGeom>
          <a:ln w="12700">
            <a:solidFill>
              <a:srgbClr val="CFD8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520" y="4526280"/>
            <a:ext cx="630936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B4D"/>
                </a:solidFill>
                <a:latin typeface="Arial"/>
              </a:defRPr>
            </a:pPr>
            <a:r>
              <a:t>3   Backup-power test passed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43800" y="1965960"/>
            <a:ext cx="4114800" cy="155448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2103120"/>
            <a:ext cx="36576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Arial"/>
              </a:defRPr>
            </a:pPr>
            <a:r>
              <a:t>GO: every threshold passes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670048"/>
            <a:ext cx="365760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FFFFF"/>
                </a:solidFill>
                <a:latin typeface="Arial"/>
              </a:defRPr>
            </a:pPr>
            <a:r>
              <a:t>Proceed to the next rollout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FFFFF"/>
                </a:solidFill>
                <a:latin typeface="Arial"/>
              </a:defRPr>
            </a:pPr>
            <a:r>
              <a:t>Weeks 9–12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43800" y="3749039"/>
            <a:ext cx="4114800" cy="1645920"/>
          </a:xfrm>
          <a:prstGeom prst="rect">
            <a:avLst/>
          </a:prstGeom>
          <a:solidFill>
            <a:srgbClr val="FF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3913632"/>
            <a:ext cx="36576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86520B"/>
                </a:solidFill>
                <a:latin typeface="Arial"/>
              </a:defRPr>
            </a:pPr>
            <a:r>
              <a:t>HOLD: any threshold fails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4498848"/>
            <a:ext cx="365760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72B4D"/>
                </a:solidFill>
                <a:latin typeface="Arial"/>
              </a:defRPr>
            </a:pPr>
            <a:r>
              <a:t>Hold rollout, remediate and revalidate before a new GO decision.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623560"/>
            <a:ext cx="111556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A35F10"/>
                </a:solidFill>
                <a:latin typeface="Arial"/>
              </a:defRPr>
            </a:pPr>
            <a:r>
              <a:t>Readiness gaps today: Balanced uptime 99.0%; Central 94%, South 89% and East 94% on time.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245352"/>
            <a:ext cx="106070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26477"/>
                </a:solidFill>
                <a:latin typeface="Arial"/>
              </a:defRPr>
            </a:pPr>
            <a:r>
              <a:t>Synthetic decision case • Recommended investment $350k • Annual saving $130k • Payback 2.7 years • Three-year net saving $40k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245352"/>
            <a:ext cx="5029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26477"/>
                </a:solidFill>
                <a:latin typeface="Arial"/>
              </a:defRPr>
            </a:pPr>
            <a: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