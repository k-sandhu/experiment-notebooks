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870</c:v>
                </c:pt>
                <c:pt idx="1">
                  <c:v>850</c:v>
                </c:pt>
                <c:pt idx="2">
                  <c:v>720</c:v>
                </c:pt>
                <c:pt idx="3">
                  <c:v>1080</c:v>
                </c:pt>
                <c:pt idx="4">
                  <c:v>720</c:v>
                </c:pt>
                <c:pt idx="5">
                  <c:v>910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C1C7D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950</c:v>
                </c:pt>
                <c:pt idx="1">
                  <c:v>970</c:v>
                </c:pt>
                <c:pt idx="2">
                  <c:v>840</c:v>
                </c:pt>
                <c:pt idx="3">
                  <c:v>1040</c:v>
                </c:pt>
                <c:pt idx="4">
                  <c:v>820</c:v>
                </c:pt>
                <c:pt idx="5">
                  <c:v>1050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Recommend Resilient: $440k buys $155k/yr savings and the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only uptime above the 99.5% 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Aster cold-chain · regional distribution capacity · operations committee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265176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265176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Investment (Resilient option)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310896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37560" y="1737360"/>
            <a:ext cx="265176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$155k/yr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560320"/>
            <a:ext cx="265176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37560" y="310896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72200" y="1737360"/>
            <a:ext cx="265176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2.8 yrs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560320"/>
            <a:ext cx="265176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 (440 ÷ 155)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72200" y="310896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06840" y="1737360"/>
            <a:ext cx="265176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$25k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560320"/>
            <a:ext cx="265176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Three-year net (3 × 155 − 440)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06840" y="3108960"/>
            <a:ext cx="26517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3520440"/>
            <a:ext cx="6035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Why act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977639"/>
            <a:ext cx="6035040" cy="2286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Shipments ran 520 below target over six months (5,150 vs 5,670)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South's demand (340/day) already exceeds its capacity (320/day)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Uptime now outranks price: Resilient is the only option rated above 99.5% (99.8%)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3520440"/>
            <a:ext cx="4800600" cy="269748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0" y="3520440"/>
            <a:ext cx="91440" cy="26974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3657600"/>
            <a:ext cx="4389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DECISION REQUESTED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069080"/>
            <a:ext cx="438912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Fund $440k for Resilient now; release the week 11–14 rollout only on a GO at the week-10 gate.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349240"/>
            <a:ext cx="438912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Gate: uptime ≥99.5%, all five sites ≥95% on time, backup-power test passed. Any miss → HOLD.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Shipments ran 520 below target over six months: 5,150 actual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vs 5,670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Monthly shipments, actual vs target, M1–M6 (M4 actual corrected to 1,080)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4572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78C"/>
                </a:solidFill>
                <a:latin typeface="Arial"/>
              </a:defRPr>
            </a:pPr>
            <a:r>
              <a:t>Shipments per month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78638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778240" y="1783080"/>
            <a:ext cx="28803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5,150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551176"/>
            <a:ext cx="28803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actual shipments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78240" y="3063239"/>
            <a:ext cx="28803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778240" y="3246120"/>
            <a:ext cx="28803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6B778C"/>
                </a:solidFill>
                <a:latin typeface="Arial"/>
              </a:defRPr>
            </a:pPr>
            <a:r>
              <a:t>5,670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4014215"/>
            <a:ext cx="28803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target shipments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0" y="4526279"/>
            <a:ext cx="28803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778240" y="4709160"/>
            <a:ext cx="28803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2410C"/>
                </a:solidFill>
                <a:latin typeface="Arial"/>
              </a:defRPr>
            </a:pPr>
            <a:r>
              <a:t>−520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477256"/>
            <a:ext cx="28803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Gap (9.2% below target)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78240" y="5989320"/>
            <a:ext cx="28803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30936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Five of six months missed target; only M4 beat it (1,080 vs 1,040). Largest shortfall: M6, 140 below.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Resilient costs $90k more than Balanced but is the only option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clearing the 99.5% uptime 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Reference prices unchanged · payback = investment ÷ annual saving · 3-yr net = 3 × saving − investment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383280"/>
            <a:ext cx="91440" cy="5943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 (selected)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206240"/>
            <a:ext cx="3535680" cy="228600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431596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Why not 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4937759"/>
            <a:ext cx="3316224" cy="1444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Best payback (2.3 yrs) and net ($65k), but 97.5% uptime is 2 points short of the 99.5% gate.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2920" y="4206240"/>
            <a:ext cx="3535680" cy="228600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2648" y="431596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Why not Balanced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2648" y="4937759"/>
            <a:ext cx="3316224" cy="1444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Rated 99.0% uptime misses the 99.5% gate by 0.5 pt, despite a 2.7-yr payback and $40k net.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2920" y="4206240"/>
            <a:ext cx="3535680" cy="228600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2648" y="431596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Tradeoff we accept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2648" y="4937759"/>
            <a:ext cx="3316224" cy="1444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+$90k vs Balanced, 2 more lead weeks and the lowest 3-yr net ($25k), for 99.8% uptime.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Base case nets $25k over three years; the 80% downside loses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$68k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Annual saving at 80/100/120% of Resilient's $155k; investment fixed at $440k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4572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78C"/>
                </a:solidFill>
                <a:latin typeface="Arial"/>
              </a:defRPr>
            </a:pPr>
            <a:r>
              <a:t>Annual saving, $k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58521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66560" y="1874519"/>
          <a:ext cx="48920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010"/>
                <a:gridCol w="1223010"/>
                <a:gridCol w="1223010"/>
                <a:gridCol w="1223010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124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−68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186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766560" y="4572000"/>
            <a:ext cx="4892040" cy="169164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4663440"/>
            <a:ext cx="4572000" cy="1508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Breakeven within three years needs about $147k/yr saving (≈95% of base). A shortfall of more than 5% means no three-year payback.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South is the only capacity-constrained site: 340/day demand vs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320 capacity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Daily demand and capacity by site; three sites are also below the 95% on-time gate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75895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920"/>
                <a:gridCol w="1264920"/>
                <a:gridCol w="1264920"/>
                <a:gridCol w="1264920"/>
                <a:gridCol w="1264920"/>
                <a:gridCol w="1264920"/>
              </a:tblGrid>
              <a:tr h="509451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Headroom/day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380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+20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1,600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1,710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+110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394960"/>
            <a:ext cx="75895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Below 95% on time: Central 94%, South 89%, East 94%. All must reach 95% by the week-10 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600200"/>
            <a:ext cx="315468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1,600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313432"/>
            <a:ext cx="315468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demand per day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03920" y="2788920"/>
            <a:ext cx="31546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03920" y="2971800"/>
            <a:ext cx="315468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1,710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685032"/>
            <a:ext cx="315468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capacity per day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03920" y="4160520"/>
            <a:ext cx="31546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503920" y="4434840"/>
            <a:ext cx="3154680" cy="1783080"/>
          </a:xfrm>
          <a:prstGeom prst="rect">
            <a:avLst/>
          </a:prstGeom>
          <a:solidFill>
            <a:srgbClr val="FD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526280"/>
            <a:ext cx="29260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2410C"/>
                </a:solidFill>
                <a:latin typeface="Arial"/>
              </a:defRPr>
            </a:pPr>
            <a:r>
              <a:t>CAPACITY-CONSTRAINED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4937760"/>
            <a:ext cx="29260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South: short 20/day (340 demand vs 320 capacity)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Rollout starts week 11 only after Validate and Train both clear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the week-10 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14-week plan in two lanes plus the decision gate; connectors show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78C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95260" y="1645920"/>
            <a:ext cx="1463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Week 10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164592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78C"/>
                </a:solidFill>
                <a:latin typeface="Arial"/>
              </a:defRPr>
            </a:pPr>
            <a:r>
              <a:t>Week 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2057400"/>
            <a:ext cx="96012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237744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86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2900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8056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554C0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2240280"/>
            <a:ext cx="1280160" cy="64008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2258568"/>
            <a:ext cx="128016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wk 1–2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240280"/>
            <a:ext cx="1965960" cy="64008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258568"/>
            <a:ext cx="196596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wk 3–5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2240280"/>
            <a:ext cx="1965960" cy="64008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258568"/>
            <a:ext cx="196596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wk 6–8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240280"/>
            <a:ext cx="26060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2258568"/>
            <a:ext cx="260604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Rollout wk 11–14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after GO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4343400"/>
            <a:ext cx="1965960" cy="640080"/>
          </a:xfrm>
          <a:prstGeom prst="roundRect">
            <a:avLst/>
          </a:prstGeom>
          <a:solidFill>
            <a:srgbClr val="655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4361688"/>
            <a:ext cx="196596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wk 6–8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3291840"/>
            <a:ext cx="868680" cy="64008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3310128"/>
            <a:ext cx="86868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wk 10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37560" y="2560320"/>
            <a:ext cx="9144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94960" y="2560320"/>
            <a:ext cx="9144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846320" y="2880360"/>
            <a:ext cx="640080" cy="178308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452360" y="2880360"/>
            <a:ext cx="868680" cy="41148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452360" y="3931920"/>
            <a:ext cx="868680" cy="41148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778240" y="2880360"/>
            <a:ext cx="640080" cy="41148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2920" y="544068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Dependencies: Design → Build → Validate; Build → Train; Validate AND Train → Gate (wk 10); Gate GO → Rollout (wk 11–14). No GO = 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New risk R5, backup power, now scores highest (15 of 25),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ahead of R1 and R3 (12)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Likelihood × impact on 1–5 scales; each ID sits at its rated coordinates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554480"/>
            <a:ext cx="4572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Likelihood (1 = low, 5 = high)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108960"/>
            <a:ext cx="77724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Impact (5 high, 1 low)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51560" y="196596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6858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 \ L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C2410C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0" y="1965960"/>
          <a:ext cx="47091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720"/>
                <a:gridCol w="1569720"/>
                <a:gridCol w="156972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 × I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 × 3 = 12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 × 5 = 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 × 4 = 12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 × 2 = 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 × 5 = 15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backup power before gate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949440" y="5166360"/>
            <a:ext cx="4709160" cy="91440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5212080"/>
            <a:ext cx="44805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Clear R5 before the week-10 gate, then R1 and R3; R2 is unlikely but carries maximum impact.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Decision: fund $440k for Resilient; GO to the week 11–14 rollout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only if all three gate tests pass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Go/no-go at week 10; any failed threshold triggers 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2583179" cy="8229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764792"/>
            <a:ext cx="2436875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Fund $440k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0420" y="1691640"/>
            <a:ext cx="2583179" cy="8229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33572" y="1764792"/>
            <a:ext cx="2436875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Build &amp; train wk 1–8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86100" y="210312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17919" y="1691640"/>
            <a:ext cx="2583179" cy="8229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1" y="1764792"/>
            <a:ext cx="2436875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Gate wk 10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599" y="210312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75419" y="1691640"/>
            <a:ext cx="2583179" cy="8229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8572" y="1764792"/>
            <a:ext cx="2436875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GO: rollout wk 11–14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01099" y="210312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2788920"/>
          <a:ext cx="7040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960"/>
                <a:gridCol w="2346960"/>
                <a:gridCol w="2346960"/>
              </a:tblGrid>
              <a:tr h="5943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Gate threshold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Required for GO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Current status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Uptime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≥ 99.5%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 rated 99.8%; prove at gate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On time, all five sites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≥ 95% each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 94, South 89, East 94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Backup-power test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Must pass at gate (R5)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818120" y="2788920"/>
            <a:ext cx="3840480" cy="2377440"/>
          </a:xfrm>
          <a:prstGeom prst="rect">
            <a:avLst/>
          </a:prstGeom>
          <a:solidFill>
            <a:srgbClr val="FD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926080"/>
            <a:ext cx="35204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2410C"/>
                </a:solidFill>
                <a:latin typeface="Arial"/>
              </a:defRPr>
            </a:pPr>
            <a:r>
              <a:t>IF ANY THRESHOLD FAILS → 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703320"/>
            <a:ext cx="35204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Rollout does not start. Close the failing gap, then re-run the gate.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5440680"/>
            <a:ext cx="11155680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5577840"/>
            <a:ext cx="11155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Ask today: approve $440k for Resilient ($155k/yr saving, 2.8-yr payback, $25k three-year net) and these week-10 gate criteria.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