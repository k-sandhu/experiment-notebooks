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890</c:v>
                </c:pt>
                <c:pt idx="1">
                  <c:v>890</c:v>
                </c:pt>
                <c:pt idx="2">
                  <c:v>940</c:v>
                </c:pt>
                <c:pt idx="3">
                  <c:v>980</c:v>
                </c:pt>
                <c:pt idx="4">
                  <c:v>860</c:v>
                </c:pt>
                <c:pt idx="5">
                  <c:v>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0BEC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970</c:v>
                </c:pt>
                <c:pt idx="1">
                  <c:v>980</c:v>
                </c:pt>
                <c:pt idx="2">
                  <c:v>1070</c:v>
                </c:pt>
                <c:pt idx="3">
                  <c:v>1040</c:v>
                </c:pt>
                <c:pt idx="4">
                  <c:v>930</c:v>
                </c:pt>
                <c:pt idx="5">
                  <c:v>970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$k/yr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</c:v>
                </c:pt>
                <c:pt idx="1">
                  <c:v>130</c:v>
                </c:pt>
                <c:pt idx="2">
                  <c:v>156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Recommend Balanced: fund the Cedar sensor network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C7D"/>
                </a:solidFill>
                <a:latin typeface="Arial"/>
              </a:defRPr>
            </a:pPr>
            <a:r>
              <a:t>Field sensor rollout  •  Decision for the engineering steering group  •  All data synthetic  •  Currency: $k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91672" cy="10515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DECISION:  Approve Balanced — $350k investment, subject to the Week 8 gate (Slide 8).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54680"/>
            <a:ext cx="3566160" cy="173736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3200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$130k / yr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3154680"/>
            <a:ext cx="3566160" cy="173736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3291840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3703320"/>
            <a:ext cx="3200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2.7 years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154680"/>
            <a:ext cx="3566160" cy="173736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5" y="3291840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THREE-YEAR NET SAVING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3703320"/>
            <a:ext cx="3200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$40k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110916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Payback = $350k ÷ $130k/yr = 2.7 years.   Three-year net = 3 × $130k − $350k = $40k.   Balanced closes most of the performance gap without the cost and lead time of Resilient.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09360"/>
            <a:ext cx="11091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1  •  Executive recommendation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Six months: actual trails target by 500 readings in every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C7D"/>
                </a:solidFill>
                <a:latin typeface="Arial"/>
              </a:defRPr>
            </a:pPr>
            <a:r>
              <a:t>Readings per month (M1–M6) — actual vs target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78638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0" y="1463040"/>
            <a:ext cx="2953512" cy="448056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0" y="1691640"/>
            <a:ext cx="24963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Arial"/>
              </a:defRPr>
            </a:pPr>
            <a:r>
              <a:t>SIX-MONTH TOTALS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286000"/>
            <a:ext cx="249631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Total actual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5,460 readings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3383280"/>
            <a:ext cx="249631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Total target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5,960 readings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4480560"/>
            <a:ext cx="249631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0392B"/>
                </a:solidFill>
                <a:latin typeface="Arial"/>
              </a:defRPr>
            </a:pPr>
            <a:r>
              <a:t>Gap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0392B"/>
                </a:solidFill>
                <a:latin typeface="Arial"/>
              </a:defRPr>
            </a:pPr>
            <a:r>
              <a:t>−500 readings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Actual: 890, 890, 940, 980, 860, 900  •  Target: 970, 980, 1,070, 1,040, 930, 970  •  The persistent shortfall is the problem the investment must fix.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2  •  Actual vs target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Balanced is the middle path: +$35k/yr over Lean, $90k less than Resilient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9167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6629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114800"/>
            <a:ext cx="11091672" cy="196596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0515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Selected option — Balanced: the tradeoff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105156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Balanced costs $140k more than Lean and takes 2 weeks longer, but raises uptime from 97.5% to 99.0% and saving from $95k to $130k/yr. Resilient adds only $25k/yr and 0.8 pts of uptime for another $90k and 2 more weeks — diminishing returns. Balanced accepts slightly lower uptime than Resilient in exchange for earlier delivery and lower capital at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3  •  Options  •  Reference prices unchanged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Even at 80% saving, Balanced nearly breaks even in three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6858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C7D"/>
                </a:solidFill>
                <a:latin typeface="Arial"/>
              </a:defRPr>
            </a:pPr>
            <a:r>
              <a:t>Annual saving by scenario — $k/yr (80% / 100% / 120% of $130k)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65836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06640" y="1463040"/>
            <a:ext cx="4233672" cy="420624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645920"/>
            <a:ext cx="377647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PAYBACK &amp; 3-YEAR NET ($350k invested)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194560"/>
            <a:ext cx="377647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Downside 80% — $104k/yr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Payback 3.4 yrs  •  3-yr net −$38k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291840"/>
            <a:ext cx="377647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Base 100% — $130k/yr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Payback 2.7 yrs  •  3-yr net $40k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389120"/>
            <a:ext cx="377647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Upside 120% — $156k/yr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Payback 2.2 yrs  •  3-yr net $118k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Payback = $350k ÷ saving.   Three-year net = 3 × saving − $350k.   Downside risk is bounded at −$38k over three years.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4  •  Scenarios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Three of five sites are capacity-constrained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C7D"/>
                </a:solidFill>
                <a:latin typeface="Arial"/>
              </a:defRPr>
            </a:pPr>
            <a:r>
              <a:t>Daily demand vs daily capacity by site (not six-month totals)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167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892040"/>
            <a:ext cx="5394960" cy="123444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29200"/>
            <a:ext cx="493776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Totals:  Demand 1,700/day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Capacity 1,660/day  •  Shortfall 40/day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4892040"/>
            <a:ext cx="5394960" cy="1234440"/>
          </a:xfrm>
          <a:prstGeom prst="roundRect">
            <a:avLst/>
          </a:prstGeom>
          <a:solidFill>
            <a:srgbClr val="FDECE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5029200"/>
            <a:ext cx="493776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Capacity-constrained (demand &gt; capacity):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North, Central, West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5  •  Sites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12-week roadmap: build and train converge at the Week 8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11274552" cy="1965960"/>
          </a:xfrm>
          <a:prstGeom prst="roundRect">
            <a:avLst/>
          </a:prstGeom>
          <a:solidFill>
            <a:srgbClr val="EE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3429000"/>
            <a:ext cx="11274552" cy="15087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12344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TECHFICAL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31920"/>
            <a:ext cx="1234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600200"/>
            <a:ext cx="1417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2" y="1691640"/>
            <a:ext cx="1271016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Wks 1–2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None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2212848"/>
            <a:ext cx="3657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03320" y="1600200"/>
            <a:ext cx="1691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1691640"/>
            <a:ext cx="1545336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Wks 3–5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Design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94960" y="2212848"/>
            <a:ext cx="3657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60720" y="1600200"/>
            <a:ext cx="1691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3872" y="1691640"/>
            <a:ext cx="1545336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Build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3703320"/>
            <a:ext cx="16916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3776472"/>
            <a:ext cx="1545336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Build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0" y="2834640"/>
            <a:ext cx="1005840" cy="868680"/>
          </a:xfrm>
          <a:prstGeom prst="line">
            <a:avLst/>
          </a:prstGeom>
          <a:ln w="25400">
            <a:solidFill>
              <a:srgbClr val="5A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52360" y="2212848"/>
            <a:ext cx="457200" cy="438912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452360" y="3383280"/>
            <a:ext cx="457200" cy="822960"/>
          </a:xfrm>
          <a:prstGeom prst="line">
            <a:avLst/>
          </a:prstGeom>
          <a:ln w="25400">
            <a:solidFill>
              <a:srgbClr val="5A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909560" y="2240280"/>
            <a:ext cx="1417320" cy="155448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2712" y="2377440"/>
            <a:ext cx="1271016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DECISION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Gate Wk 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AND Train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9326880" y="2212848"/>
            <a:ext cx="320040" cy="530352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46920" y="1600200"/>
            <a:ext cx="1783080" cy="123444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0072" y="1691640"/>
            <a:ext cx="1636776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Wks 9–12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Dep: Gate 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257800"/>
            <a:ext cx="110916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Sequence: Design (1–2) → Build (3–5) → Validate (6–8) and Train (6–8) in parallel → Gate at Week 8 → Rollout (9–12) only on GO. No rollout before the gate.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6  •  Roadmap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Top risks are R1 and R3; R2 is low-likelihood but highest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1554480"/>
            <a:ext cx="4572000" cy="3657600"/>
          </a:xfrm>
          <a:prstGeom prst="rect">
            <a:avLst/>
          </a:prstGeom>
          <a:solidFill>
            <a:srgbClr val="F7FAFA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194560" y="1554480"/>
            <a:ext cx="0" cy="365760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108960" y="1554480"/>
            <a:ext cx="0" cy="365760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023360" y="1554480"/>
            <a:ext cx="0" cy="365760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937760" y="1554480"/>
            <a:ext cx="0" cy="365760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0160" y="2286000"/>
            <a:ext cx="457200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80160" y="3017520"/>
            <a:ext cx="457200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80160" y="3749039"/>
            <a:ext cx="457200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80160" y="4480560"/>
            <a:ext cx="457200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80160" y="5303520"/>
            <a:ext cx="4572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1              2              3              4              5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623560"/>
            <a:ext cx="4572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Impact (1–5) 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554480"/>
            <a:ext cx="640080" cy="3657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" y="2377440"/>
            <a:ext cx="45720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B4D"/>
                </a:solidFill>
                <a:latin typeface="Arial"/>
              </a:defRPr>
            </a:pPr>
            <a:r>
              <a:t>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B4D"/>
                </a:solidFill>
                <a:latin typeface="Arial"/>
              </a:defRPr>
            </a:pPr>
            <a:r>
              <a:t>i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B4D"/>
                </a:solidFill>
                <a:latin typeface="Arial"/>
              </a:defRPr>
            </a:pPr>
            <a:r>
              <a:t>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B4D"/>
                </a:solidFill>
                <a:latin typeface="Arial"/>
              </a:defRPr>
            </a:pPr>
            <a:r>
              <a:t>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B4D"/>
                </a:solidFill>
                <a:latin typeface="Arial"/>
              </a:defRPr>
            </a:pPr>
            <a:r>
              <a:t>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B4D"/>
                </a:solidFill>
                <a:latin typeface="Arial"/>
              </a:defRPr>
            </a:pPr>
            <a:r>
              <a:t>i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B4D"/>
                </a:solidFill>
                <a:latin typeface="Arial"/>
              </a:defRPr>
            </a:pPr>
            <a:r>
              <a:t>h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B4D"/>
                </a:solidFill>
                <a:latin typeface="Arial"/>
              </a:defRPr>
            </a:pPr>
            <a:r>
              <a:t>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B4D"/>
                </a:solidFill>
                <a:latin typeface="Arial"/>
              </a:defRPr>
            </a:pPr>
            <a:r>
              <a:t>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B4D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2487168"/>
            <a:ext cx="457200" cy="329184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2542032"/>
            <a:ext cx="457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60" y="3950208"/>
            <a:ext cx="457200" cy="329184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4005072"/>
            <a:ext cx="457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218688"/>
            <a:ext cx="457200" cy="329184"/>
          </a:xfrm>
          <a:prstGeom prst="roundRect">
            <a:avLst/>
          </a:prstGeom>
          <a:solidFill>
            <a:srgbClr val="D98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3273552"/>
            <a:ext cx="457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23160" y="3950208"/>
            <a:ext cx="457200" cy="329184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23160" y="4005072"/>
            <a:ext cx="457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554480"/>
            <a:ext cx="5330952" cy="438912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737360"/>
            <a:ext cx="487375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MITIGATIONS (all risks)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286000"/>
            <a:ext cx="4873752" cy="3383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R1  L4 × I3 — Cross-train two crews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R2  L2 × I5 — Dual-source hardware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R3  L3 × I4 — Test failover weekly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R4  L2 × I2 — Audit labels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7  •  Risks  •  Likelihood (vertical) × Impact (horizontal)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Fund $350k now; rollout only if every Week 8 threshold passes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394960" cy="17373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493776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FUNDING DECISION — GO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Approve Balanced: $350k investment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$130k/yr saving  •  2.7-yr payback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234440"/>
            <a:ext cx="5394960" cy="1737360"/>
          </a:xfrm>
          <a:prstGeom prst="roundRect">
            <a:avLst/>
          </a:prstGeom>
          <a:solidFill>
            <a:srgbClr val="FDECE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417320"/>
            <a:ext cx="493776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FALLBACK — HOLD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If ANY threshold fails: HOLD.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No rollout. Fix, re-test, re-gate.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11091672" cy="201168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10515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GO / NO-GO GATE — Week 8  (all three thresholds must pass)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5156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1)  Uptime ≥ 99.5%        2)  All five sites ≥ 95% on time        3)  Backup-power test passed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Gate rule:  Uptime ≥99.5% AND all five sites ≥95% on time AND backup-power test passed.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Next step on GO:  Rollout in Weeks 9–12 to all five sites.     On HOLD:  pause rollout, remediate the failed threshold, and repeat the Week 8 gate before any rollout.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8  •  Funding &amp; decision  •  Cedar sensor network — Balanced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