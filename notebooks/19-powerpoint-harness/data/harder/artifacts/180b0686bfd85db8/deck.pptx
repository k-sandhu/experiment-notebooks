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1080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7B5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6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ASTER COLD-CHAIN  /  OPERATIONS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Choose Resilient: uptime now outranks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B4D"/>
                </a:solidFill>
                <a:latin typeface="Arial"/>
              </a:defRPr>
            </a:pPr>
            <a:r>
              <a:t>Approve $440k for regional distribution capacity. Resilient offers 99.8% reference uptime; release rollout only after the week-10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697480"/>
            <a:ext cx="2651760" cy="141732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7560" y="2697480"/>
            <a:ext cx="2651760" cy="141732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2697480"/>
            <a:ext cx="2651760" cy="141732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06840" y="2697480"/>
            <a:ext cx="2651760" cy="141732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52928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$155k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5204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52928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7F86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5204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852928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5204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Three-year net saving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480560"/>
            <a:ext cx="11155680" cy="1325880"/>
          </a:xfrm>
          <a:prstGeom prst="rect">
            <a:avLst/>
          </a:prstGeom>
          <a:solidFill>
            <a:srgbClr val="FF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36008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6520B"/>
                </a:solidFill>
                <a:latin typeface="Arial"/>
              </a:defRPr>
            </a:pPr>
            <a:r>
              <a:t>Higher uptime earns the premium; readiness still needs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106984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B4D"/>
                </a:solidFill>
                <a:latin typeface="Arial"/>
              </a:defRPr>
            </a:pPr>
            <a:r>
              <a:t>Versus Balanced: $90k more investment and $25k more annual saving. Require all gate thresholds to pass before rollout in weeks 11–14.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All data synthetic • Currency $k • Payback = investment ÷ annual saving • Three-year net = 3 × saving − investment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M4 beats target; the six-month shortfall is 520 shipments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61288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Six-month throughput • shipments • all 12 monthly values shown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783080"/>
          <a:ext cx="8412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9189720" y="1874519"/>
            <a:ext cx="2468880" cy="3977639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2057400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26477"/>
                </a:solidFill>
                <a:latin typeface="Arial"/>
              </a:defRPr>
            </a:pPr>
            <a:r>
              <a:t>TOTAL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242316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3200400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26477"/>
                </a:solidFill>
                <a:latin typeface="Arial"/>
              </a:defRPr>
            </a:pPr>
            <a:r>
              <a:t>TOTAL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356616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4343400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26477"/>
                </a:solidFill>
                <a:latin typeface="Arial"/>
              </a:defRPr>
            </a:pPr>
            <a:r>
              <a:t>SHORTFALL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4709160"/>
            <a:ext cx="2103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A35F10"/>
                </a:solidFill>
                <a:latin typeface="Arial"/>
              </a:defRPr>
            </a:pPr>
            <a:r>
              <a:t>520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5330952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477"/>
                </a:solidFill>
                <a:latin typeface="Arial"/>
              </a:defRPr>
            </a:pPr>
            <a:r>
              <a:t>shipments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data • Shortfall = total target − total actual • Monthly totals are separate from daily site demand and capacity.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Resilient alone has reference uptime above the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Reference options • all prices, savings, uptime and lead times remain unchanged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2880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4008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4663440"/>
            <a:ext cx="5394960" cy="128016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782312"/>
            <a:ext cx="4983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Selected: Resilient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166360"/>
            <a:ext cx="49834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99.8% reference uptime exceeds the ≥99.5% gate. Balanced is 99.0%; Lean is 97.5%.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663440"/>
            <a:ext cx="5532120" cy="1280160"/>
          </a:xfrm>
          <a:prstGeom prst="rect">
            <a:avLst/>
          </a:prstGeom>
          <a:solidFill>
            <a:srgbClr val="FF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4782312"/>
            <a:ext cx="511149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6520B"/>
                </a:solidFill>
                <a:latin typeface="Arial"/>
              </a:defRPr>
            </a:pPr>
            <a:r>
              <a:t>Tradeoff versus Balanced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5166360"/>
            <a:ext cx="511149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$90k more investment and 2 more lead weeks buy 0.8 percentage points of uptime and $25k/yr more saving.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data • Currency $k • Reference uptime supports selection; measured compliance is required at the week-10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 20% savings downside turns three-year net negative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Resilient sensitivity • fixed investment of $440k • annual saving in $k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783080"/>
          <a:ext cx="6446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69480" y="178308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Returns at each savings level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69480" y="2331720"/>
          <a:ext cx="43891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60579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years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269480" y="4983480"/>
            <a:ext cx="4389120" cy="960120"/>
          </a:xfrm>
          <a:prstGeom prst="rect">
            <a:avLst/>
          </a:prstGeom>
          <a:solidFill>
            <a:srgbClr val="FF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5102352"/>
            <a:ext cx="4023360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86520B"/>
                </a:solidFill>
                <a:latin typeface="Arial"/>
              </a:defRPr>
            </a:pPr>
            <a:r>
              <a:t>Downside net saving is −$68k over three years; the base case yields $25k.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data • Payback = 440 ÷ annual saving, rounded to 1 decimal • Three-year net = 3 × annual saving − 440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South is capacity-constrained despite network headroom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Daily site demand and capacity • current on-time performance and accountable owners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83080"/>
          <a:ext cx="111556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1054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074920"/>
            <a:ext cx="3474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Demand: 1,600/day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5074920"/>
            <a:ext cx="3566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Capacity: 1,710/day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5074920"/>
            <a:ext cx="374903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Headroom: 110/day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05272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35F10"/>
                </a:solidFill>
                <a:latin typeface="Arial"/>
              </a:defRPr>
            </a:pPr>
            <a:r>
              <a:t>South has a 20/day deficit. Central, South and East are below the ≥95% on-time 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data • Capacity-constrained means demand exceeds capacity • Daily figures are separate from six-month shipment totals.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Validate and Train must both clear the week-10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61288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Delivery dependencies flow left to right • weeks from approval • rollout follows Gate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11155680" cy="1508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886200"/>
            <a:ext cx="11155680" cy="1508760"/>
          </a:xfrm>
          <a:prstGeom prst="rect">
            <a:avLst/>
          </a:prstGeom>
          <a:solidFill>
            <a:srgbClr val="E9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240280"/>
            <a:ext cx="1143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43400"/>
            <a:ext cx="1143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542032"/>
            <a:ext cx="36576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0" y="2542032"/>
            <a:ext cx="50292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29200" y="2697480"/>
            <a:ext cx="502920" cy="173736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40880" y="2542032"/>
            <a:ext cx="594360" cy="86868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40880" y="3730752"/>
            <a:ext cx="594360" cy="9144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144000" y="2542032"/>
            <a:ext cx="502920" cy="1024128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874519" y="2011680"/>
            <a:ext cx="1371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7B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47672" y="2121408"/>
            <a:ext cx="122529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011680"/>
            <a:ext cx="14173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7B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121408"/>
            <a:ext cx="127101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2011680"/>
            <a:ext cx="15087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A7B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5272" y="2121408"/>
            <a:ext cx="136245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4114800"/>
            <a:ext cx="15087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05272" y="4224528"/>
            <a:ext cx="136245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3017520"/>
            <a:ext cx="1508760" cy="109728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08392" y="3127248"/>
            <a:ext cx="1362456" cy="8778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2011680"/>
            <a:ext cx="1737360" cy="10515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2121408"/>
            <a:ext cx="159105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57784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Design has no prerequisite. Build enables Validate and Train; both feed the gate. Gate GO enables Rollout.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309360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plan • Activity boxes show scheduled weeks, not a scaled time axis • Gate thresholds appear on slide 8.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09360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R2 and R5 have maximum impact; R1 is most likely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7"/>
                </a:solidFill>
                <a:latin typeface="Arial"/>
              </a:defRPr>
            </a:pPr>
            <a:r>
              <a:t>All five risks are plotted at their stated scores and paired with a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2057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Impact ↑ (1–5)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783080"/>
            <a:ext cx="3429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Likelihood → (1–5)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286000"/>
          <a:ext cx="55778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/>
                <a:gridCol w="929640"/>
                <a:gridCol w="929640"/>
                <a:gridCol w="929640"/>
                <a:gridCol w="929640"/>
                <a:gridCol w="929640"/>
              </a:tblGrid>
              <a:tr h="60960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E9F4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783080"/>
            <a:ext cx="5257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Mitigation for every risk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286000"/>
          <a:ext cx="5257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</a:tblGrid>
              <a:tr h="60960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45352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risk assessment • Likelihood increases to the right; impact increases upward • IDs mark the scored coordinates.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245352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Approve $440k for Resilient; decide rollout at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B4D"/>
                </a:solidFill>
                <a:latin typeface="Arial"/>
              </a:defRPr>
            </a:pPr>
            <a:r>
              <a:t>Fund the selected investment now. At week 10, require completed Validate AND Train plus every threshold below before GO.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6766560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63093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WEEK 10  /  ALL THREE CONDITIONS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6309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1   Uptime ≥99.5%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474720"/>
            <a:ext cx="6309360" cy="0"/>
          </a:xfrm>
          <a:prstGeom prst="line">
            <a:avLst/>
          </a:prstGeom>
          <a:ln w="12700">
            <a:solidFill>
              <a:srgbClr val="CF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657600"/>
            <a:ext cx="6309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2   All five sites ≥95% on time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343400"/>
            <a:ext cx="6309360" cy="0"/>
          </a:xfrm>
          <a:prstGeom prst="line">
            <a:avLst/>
          </a:prstGeom>
          <a:ln w="12700">
            <a:solidFill>
              <a:srgbClr val="CF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526280"/>
            <a:ext cx="6309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3   Backup-power test passed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965960"/>
            <a:ext cx="4114800" cy="15544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10312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GO: every threshold passes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70048"/>
            <a:ext cx="36576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Proceed to the next rollout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Weeks 11–14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3749039"/>
            <a:ext cx="4114800" cy="1645920"/>
          </a:xfrm>
          <a:prstGeom prst="rect">
            <a:avLst/>
          </a:prstGeom>
          <a:solidFill>
            <a:srgbClr val="FF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913632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6520B"/>
                </a:solidFill>
                <a:latin typeface="Arial"/>
              </a:defRPr>
            </a:pPr>
            <a:r>
              <a:t>HOLD: any threshold fails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498848"/>
            <a:ext cx="36576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D"/>
                </a:solidFill>
                <a:latin typeface="Arial"/>
              </a:defRPr>
            </a:pPr>
            <a:r>
              <a:t>Hold rollout, remediate and revalidate before a new GO decision.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96128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A35F10"/>
                </a:solidFill>
                <a:latin typeface="Arial"/>
              </a:defRPr>
            </a:pPr>
            <a:r>
              <a:t>Current on-time gaps: Central 94%, South 89%, East 94%. Verify uptime and backup power at the gate.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09360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Synthetic decision case • Investment $440k • Annual saving $155k • Payback 2.8 years • Three-year net saving $25k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09360"/>
            <a:ext cx="502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477"/>
                </a:solidFill>
                <a:latin typeface="Arial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