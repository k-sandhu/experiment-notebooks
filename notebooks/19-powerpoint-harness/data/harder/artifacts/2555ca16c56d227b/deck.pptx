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870</c:v>
                </c:pt>
                <c:pt idx="1">
                  <c:v>850</c:v>
                </c:pt>
                <c:pt idx="2">
                  <c:v>720</c:v>
                </c:pt>
                <c:pt idx="3">
                  <c:v>1080</c:v>
                </c:pt>
                <c:pt idx="4">
                  <c:v>720</c:v>
                </c:pt>
                <c:pt idx="5">
                  <c:v>910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C1C7D0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950</c:v>
                </c:pt>
                <c:pt idx="1">
                  <c:v>970</c:v>
                </c:pt>
                <c:pt idx="2">
                  <c:v>840</c:v>
                </c:pt>
                <c:pt idx="3">
                  <c:v>1040</c:v>
                </c:pt>
                <c:pt idx="4">
                  <c:v>820</c:v>
                </c:pt>
                <c:pt idx="5">
                  <c:v>1050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3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Annual saving $k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Downside 80%</c:v>
                </c:pt>
                <c:pt idx="1">
                  <c:v>Base 100%</c:v>
                </c:pt>
                <c:pt idx="2">
                  <c:v>Upside 120%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124</c:v>
                </c:pt>
                <c:pt idx="1">
                  <c:v>155</c:v>
                </c:pt>
                <c:pt idx="2">
                  <c:v>186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Recommend Resilient: $440k buys $155k/yr in savings and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99.8% rated uptime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Aster cold-chain · regional distribution capacity · operations committee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91640"/>
            <a:ext cx="2697480" cy="7543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$440k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14600"/>
            <a:ext cx="2697480" cy="480059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Investment (Resilient)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3063240"/>
            <a:ext cx="269748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319272" y="1691640"/>
            <a:ext cx="2697480" cy="7543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$155k/yr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19272" y="2514600"/>
            <a:ext cx="2697480" cy="480059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Annual saving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319272" y="3063240"/>
            <a:ext cx="269748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135624" y="1691640"/>
            <a:ext cx="2697480" cy="7543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2.8 yrs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35624" y="2514600"/>
            <a:ext cx="2697480" cy="480059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Payback (440 ÷ 155)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135624" y="3063240"/>
            <a:ext cx="269748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951976" y="1691640"/>
            <a:ext cx="2697480" cy="7543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$25k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51976" y="2514600"/>
            <a:ext cx="2697480" cy="480059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3-yr net (3×155 − 440)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951976" y="3063240"/>
            <a:ext cx="2697479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02920" y="3520440"/>
            <a:ext cx="60350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7F86"/>
                </a:solidFill>
                <a:latin typeface="Arial"/>
              </a:defRPr>
            </a:pPr>
            <a:r>
              <a:t>Why act now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977639"/>
            <a:ext cx="6035040" cy="23774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• 520 shipments below target in six months (5,150 vs 5,670)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• South demand of 340/day exceeds its 320/day capacity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• Only Resilient is rated above the 99.5% uptime gate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• Costs $90k more than Balanced; saves $25k/yr more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0" y="3520440"/>
            <a:ext cx="4800600" cy="2697480"/>
          </a:xfrm>
          <a:prstGeom prst="rect">
            <a:avLst/>
          </a:prstGeom>
          <a:solidFill>
            <a:srgbClr val="E6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0" y="3520440"/>
            <a:ext cx="91440" cy="269748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0" y="3657600"/>
            <a:ext cx="43891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7F86"/>
                </a:solidFill>
                <a:latin typeface="Arial"/>
              </a:defRPr>
            </a:pPr>
            <a:r>
              <a:t>DECISION REQUESTED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4069080"/>
            <a:ext cx="4389120" cy="12344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B4D"/>
                </a:solidFill>
                <a:latin typeface="Arial"/>
              </a:defRPr>
            </a:pPr>
            <a:r>
              <a:t>Fund $440k for Resilient now; release the week 11–14 rollout only on a GO at the week-10 gate.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5394960"/>
            <a:ext cx="438912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B4D"/>
                </a:solidFill>
                <a:latin typeface="Arial"/>
              </a:defRPr>
            </a:pPr>
            <a:r>
              <a:t>Gate: uptime ≥99.5%, all five sites ≥95% on time, backup-power test passed. Any miss → HOLD.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Shipments ran 520 below target over six months: 5,150 actual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vs 5,670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Monthly shipments, actual vs target, M1–M6 (M4 actual corrected to 1,080)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45720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78C"/>
                </a:solidFill>
                <a:latin typeface="Arial"/>
              </a:defRPr>
            </a:pPr>
            <a:r>
              <a:t>Shipments per month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1874519"/>
          <a:ext cx="786384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778240" y="1783080"/>
            <a:ext cx="2880360" cy="7040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5,150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2551176"/>
            <a:ext cx="2880360" cy="44805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Total actual shipments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778240" y="3063239"/>
            <a:ext cx="288036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778240" y="3246120"/>
            <a:ext cx="2880360" cy="7040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6B778C"/>
                </a:solidFill>
                <a:latin typeface="Arial"/>
              </a:defRPr>
            </a:pPr>
            <a:r>
              <a:t>5,670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4014215"/>
            <a:ext cx="2880360" cy="44805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Total target shipments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778240" y="4526279"/>
            <a:ext cx="288036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778240" y="4709160"/>
            <a:ext cx="2880360" cy="7040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C2410C"/>
                </a:solidFill>
                <a:latin typeface="Arial"/>
              </a:defRPr>
            </a:pPr>
            <a:r>
              <a:t>−520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5477256"/>
            <a:ext cx="2880360" cy="44805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Gap (9.2% below target)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778240" y="5989320"/>
            <a:ext cx="288036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02920" y="6309360"/>
            <a:ext cx="111556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B4D"/>
                </a:solidFill>
                <a:latin typeface="Arial"/>
              </a:defRPr>
            </a:pPr>
            <a:r>
              <a:t>Five of six months missed target (shortfall 80–140); only M4 beat target, by 40.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Resilient costs $90k more than Balanced but is the only option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rated above the 99.5% uptime gate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Reference values unchanged · payback = investment ÷ annual saving · 3-yr net = 3 × saving − investment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600200"/>
          <a:ext cx="11155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3668"/>
                <a:gridCol w="1593668"/>
                <a:gridCol w="1593668"/>
                <a:gridCol w="1593668"/>
                <a:gridCol w="1593668"/>
                <a:gridCol w="1593668"/>
                <a:gridCol w="1593672"/>
              </a:tblGrid>
              <a:tr h="59436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Option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Investment $k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Saving $k/yr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Uptime %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Lead weeks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Payback yrs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3-yr net $k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Lean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220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95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97.5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2.3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65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Balanced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350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130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99.0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2.7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Resilient (selected)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440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155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99.8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2.8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25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365760" y="3383280"/>
            <a:ext cx="91440" cy="59436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4297680"/>
            <a:ext cx="3535680" cy="1920240"/>
          </a:xfrm>
          <a:prstGeom prst="rect">
            <a:avLst/>
          </a:prstGeom>
          <a:solidFill>
            <a:srgbClr val="E6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4407408"/>
            <a:ext cx="331622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B4D"/>
                </a:solidFill>
                <a:latin typeface="Arial"/>
              </a:defRPr>
            </a:pPr>
            <a:r>
              <a:t>Why not Lean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5029200"/>
            <a:ext cx="3316224" cy="107899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Best payback (2.3 yrs) and net ($65k), but 97.5% uptime is 2 points below the gate.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12920" y="4297680"/>
            <a:ext cx="3535680" cy="1920240"/>
          </a:xfrm>
          <a:prstGeom prst="rect">
            <a:avLst/>
          </a:prstGeom>
          <a:solidFill>
            <a:srgbClr val="E6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22648" y="4407408"/>
            <a:ext cx="331622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B4D"/>
                </a:solidFill>
                <a:latin typeface="Arial"/>
              </a:defRPr>
            </a:pPr>
            <a:r>
              <a:t>Why not Balanced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2648" y="5029200"/>
            <a:ext cx="3316224" cy="107899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Rated 99.0% uptime is 0.5 pt short of the gate; GO would rely on beating its rating.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2920" y="4297680"/>
            <a:ext cx="3535680" cy="1920240"/>
          </a:xfrm>
          <a:prstGeom prst="rect">
            <a:avLst/>
          </a:prstGeom>
          <a:solidFill>
            <a:srgbClr val="E6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32648" y="4407408"/>
            <a:ext cx="331622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B4D"/>
                </a:solidFill>
                <a:latin typeface="Arial"/>
              </a:defRPr>
            </a:pPr>
            <a:r>
              <a:t>Tradeoff we accept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32648" y="5029200"/>
            <a:ext cx="3316224" cy="107899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Lowest 3-yr net ($25k) and a 10-week lead, so the gate moves to week 10.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Base case nets $25k over three years; an 80% downside loses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$68k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Annual saving at 80/100/120% of Resilient's $155k; investment fixed at $440k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45720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78C"/>
                </a:solidFill>
                <a:latin typeface="Arial"/>
              </a:defRPr>
            </a:pPr>
            <a:r>
              <a:t>Annual saving, $k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1874519"/>
          <a:ext cx="585216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766560" y="1874519"/>
          <a:ext cx="48920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3010"/>
                <a:gridCol w="1223010"/>
                <a:gridCol w="1223010"/>
                <a:gridCol w="1223010"/>
              </a:tblGrid>
              <a:tr h="59436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Scenario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Saving $k/yr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Payback yrs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3-yr net $k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Downside 80%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124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3.5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−68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Base 100%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155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2.8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25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Upside 120%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186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2.4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118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766560" y="4572000"/>
            <a:ext cx="4892040" cy="1371600"/>
          </a:xfrm>
          <a:prstGeom prst="rect">
            <a:avLst/>
          </a:prstGeom>
          <a:solidFill>
            <a:srgbClr val="E6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766560" y="4572000"/>
            <a:ext cx="73152" cy="137160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95160" y="4681728"/>
            <a:ext cx="452628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Three-year breakeven needs ≈$147k/yr saving (≈95% of base). A shortfall above 5% means no payback within three years.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South is the only capacity-constrained site: 340/day demand vs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320 capacity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Daily demand and capacity by site; three sites are also below the 95% on-time gate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600200"/>
          <a:ext cx="768096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280160"/>
                <a:gridCol w="1280160"/>
                <a:gridCol w="1280160"/>
                <a:gridCol w="1280160"/>
                <a:gridCol w="1280160"/>
              </a:tblGrid>
              <a:tr h="509451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Site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Demand/day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Capacity/day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Headroom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On time %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Owner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North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340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380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+40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95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Ari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Central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290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330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+40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94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Bo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South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340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320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−20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89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Cy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East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320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340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+20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94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Dee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West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310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340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+30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96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Eli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509454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Total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1,600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1,710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+110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5394960"/>
            <a:ext cx="768096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Below 95% on time: Central 94%, South 89%, East 94%. All must reach 95% by the week-10 gate.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1600200"/>
            <a:ext cx="3154680" cy="6537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1,600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2313432"/>
            <a:ext cx="3154680" cy="416051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Total demand per day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503920" y="2788920"/>
            <a:ext cx="315468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503920" y="2971800"/>
            <a:ext cx="3154680" cy="6537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1,710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3685032"/>
            <a:ext cx="3154680" cy="416051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Total capacity per day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503920" y="4160520"/>
            <a:ext cx="315468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8503920" y="4434840"/>
            <a:ext cx="3154680" cy="1783080"/>
          </a:xfrm>
          <a:prstGeom prst="rect">
            <a:avLst/>
          </a:prstGeom>
          <a:solidFill>
            <a:srgbClr val="FD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503920" y="4434840"/>
            <a:ext cx="73152" cy="178308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0" y="4544568"/>
            <a:ext cx="28803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2410C"/>
                </a:solidFill>
                <a:latin typeface="Arial"/>
              </a:defRPr>
            </a:pPr>
            <a:r>
              <a:t>CAPACITY-CONSTRAINED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4937760"/>
            <a:ext cx="288036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South (owner Cy): short 20/day, 340 demand vs 320 capacity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Rollout begins week 11 only after Validate and Train both clear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the week-10 gate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14-week plan in two lanes plus decision gate; connectors show dependencies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691640"/>
            <a:ext cx="13716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78C"/>
                </a:solidFill>
                <a:latin typeface="Arial"/>
              </a:defRPr>
            </a:pPr>
            <a:r>
              <a:t>Week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90688" y="1691640"/>
            <a:ext cx="14630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  <a:r>
              <a:t>Week 10 gate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1691640"/>
            <a:ext cx="13716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78C"/>
                </a:solidFill>
                <a:latin typeface="Arial"/>
              </a:defRPr>
            </a:pPr>
            <a:r>
              <a:t>Week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468880"/>
            <a:ext cx="14173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7F86"/>
                </a:solidFill>
                <a:latin typeface="Arial"/>
              </a:defRPr>
            </a:pPr>
            <a:r>
              <a:t>Technical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566160"/>
            <a:ext cx="14173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63440"/>
            <a:ext cx="14173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6554C0"/>
                </a:solidFill>
                <a:latin typeface="Arial"/>
              </a:defRPr>
            </a:pPr>
            <a:r>
              <a:t>People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57400" y="2331720"/>
            <a:ext cx="1280160" cy="640080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57400" y="2478024"/>
            <a:ext cx="12801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Design wk 1–2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2331720"/>
            <a:ext cx="1965960" cy="640080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2468880"/>
            <a:ext cx="19659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Build wk 3–5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0" y="2331720"/>
            <a:ext cx="1965960" cy="640080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0" y="2468880"/>
            <a:ext cx="19659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Validate wk 6–8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15400" y="2331720"/>
            <a:ext cx="26974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15400" y="2468880"/>
            <a:ext cx="26974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7F86"/>
                </a:solidFill>
                <a:latin typeface="Arial"/>
              </a:defRPr>
            </a:pPr>
            <a:r>
              <a:t>Rollout wk 11–14 (GO)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0" y="4526280"/>
            <a:ext cx="1965960" cy="640080"/>
          </a:xfrm>
          <a:prstGeom prst="roundRect">
            <a:avLst/>
          </a:prstGeom>
          <a:solidFill>
            <a:srgbClr val="6554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0" y="4663440"/>
            <a:ext cx="19659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Train wk 6–8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56448" y="3429000"/>
            <a:ext cx="740664" cy="640080"/>
          </a:xfrm>
          <a:prstGeom prst="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56448" y="3447288"/>
            <a:ext cx="740664" cy="6035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GATE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wk 10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337560" y="2651760"/>
            <a:ext cx="91440" cy="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94960" y="2651760"/>
            <a:ext cx="91440" cy="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846320" y="2971800"/>
            <a:ext cx="640080" cy="187452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452360" y="2743200"/>
            <a:ext cx="704088" cy="86868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7452360" y="3886200"/>
            <a:ext cx="704088" cy="96012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8897112" y="2971800"/>
            <a:ext cx="521208" cy="777239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02920" y="5532120"/>
            <a:ext cx="1115568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B4D"/>
                </a:solidFill>
                <a:latin typeface="Arial"/>
              </a:defRPr>
            </a:pPr>
            <a:r>
              <a:t>Dependencies: Design → Build → Validate; Build → Train; Validate AND Train → Gate (wk 10); Gate GO → Rollout (wk 11–14). No GO = HOLD.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New risk R5, backup power, now scores highest (15 of 25); R1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and R3 follow at 12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Likelihood × impact on 1–5 scales; each ID sits at its rated coordinates, score in brackets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554480"/>
            <a:ext cx="45720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72B4D"/>
                </a:solidFill>
                <a:latin typeface="Arial"/>
              </a:defRPr>
            </a:pPr>
            <a:r>
              <a:t>Likelihood (1 = low, 5 = high) 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3291840"/>
            <a:ext cx="82296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72B4D"/>
                </a:solidFill>
                <a:latin typeface="Arial"/>
              </a:defRPr>
            </a:pPr>
            <a:r>
              <a:t>Impact (1–5) ↓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051560" y="1965960"/>
          <a:ext cx="54864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14400"/>
                <a:gridCol w="914400"/>
                <a:gridCol w="914400"/>
                <a:gridCol w="914400"/>
                <a:gridCol w="914400"/>
              </a:tblGrid>
              <a:tr h="68580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 \ L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R2 (10)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R5 (15)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R3 (12)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R1 (12)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R4 (4)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949440" y="1965960"/>
          <a:ext cx="47091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9720"/>
                <a:gridCol w="1569720"/>
                <a:gridCol w="1569720"/>
              </a:tblGrid>
              <a:tr h="5486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ID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 × I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Mitigation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R1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 × 3 = 12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Cross-train two crews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R2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 × 5 = 10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Dual-source hardware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R3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 × 4 = 12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Test failover weekly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R4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 × 2 = 4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Audit labels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R5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 × 5 = 15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Test backup power before gate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949440" y="5440680"/>
            <a:ext cx="4709160" cy="868680"/>
          </a:xfrm>
          <a:prstGeom prst="rect">
            <a:avLst/>
          </a:prstGeom>
          <a:solidFill>
            <a:srgbClr val="E6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949440" y="5440680"/>
            <a:ext cx="73152" cy="86868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0" y="5486400"/>
            <a:ext cx="448056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B4D"/>
                </a:solidFill>
                <a:latin typeface="Arial"/>
              </a:defRPr>
            </a:pPr>
            <a:r>
              <a:t>Act first on R5 before the week-10 gate, then R1 and R3; R2 is unlikely but has maximum impact.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Decision: fund $440k for Resilient now; GO to the week 11–14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rollout only if all three gate tests pass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Go/no-go at week 10; any failed threshold triggers HOLD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91640"/>
            <a:ext cx="2583179" cy="82296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1764792"/>
            <a:ext cx="2436875" cy="6766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Fund $440k</a:t>
            </a:r>
          </a:p>
        </p:txBody>
      </p:sp>
      <p:sp>
        <p:nvSpPr>
          <p:cNvPr id="7" name="Rectangle 6"/>
          <p:cNvSpPr/>
          <p:nvPr/>
        </p:nvSpPr>
        <p:spPr>
          <a:xfrm>
            <a:off x="3360420" y="1691640"/>
            <a:ext cx="2583179" cy="82296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33572" y="1764792"/>
            <a:ext cx="2436875" cy="6766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Build &amp; train wk 1–8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86100" y="2103120"/>
            <a:ext cx="274320" cy="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6217919" y="1691640"/>
            <a:ext cx="2583179" cy="82296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91071" y="1764792"/>
            <a:ext cx="2436875" cy="6766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Gate wk 10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599" y="2103120"/>
            <a:ext cx="274320" cy="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9075419" y="1691640"/>
            <a:ext cx="2583179" cy="82296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8572" y="1764792"/>
            <a:ext cx="2436875" cy="6766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GO: rollout wk 11–14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801099" y="2103120"/>
            <a:ext cx="274320" cy="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02920" y="2788920"/>
          <a:ext cx="70408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6960"/>
                <a:gridCol w="2346960"/>
                <a:gridCol w="2346960"/>
              </a:tblGrid>
              <a:tr h="59436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Gate threshold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Required for GO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Current status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Uptime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≥ 99.5%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Resilient rated 99.8%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On time, all five sites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≥ 95% each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Central 94, South 89, East 94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Backup-power test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Passed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Test before gate (R5)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7818120" y="2788920"/>
            <a:ext cx="3840480" cy="2377440"/>
          </a:xfrm>
          <a:prstGeom prst="rect">
            <a:avLst/>
          </a:prstGeom>
          <a:solidFill>
            <a:srgbClr val="FD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818120" y="2788920"/>
            <a:ext cx="73152" cy="23774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2926080"/>
            <a:ext cx="347472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C2410C"/>
                </a:solidFill>
                <a:latin typeface="Arial"/>
              </a:defRPr>
            </a:pPr>
            <a:r>
              <a:t>IF ANY THRESHOLD FAILS → HOLD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3703320"/>
            <a:ext cx="3474720" cy="13258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Rollout does not start. Close the failing gap, then re-run the gate.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02920" y="5440680"/>
            <a:ext cx="11155680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02920" y="5577840"/>
            <a:ext cx="1115568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7F86"/>
                </a:solidFill>
                <a:latin typeface="Arial"/>
              </a:defRPr>
            </a:pPr>
            <a:r>
              <a:t>Ask today: approve $440k for Resilient ($155k/yr saving, 2.8-yr payback, $25k three-year net) and these week-10 gate criteria.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