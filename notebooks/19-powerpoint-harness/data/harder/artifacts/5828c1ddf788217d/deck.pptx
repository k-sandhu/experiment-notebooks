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910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0BE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Balanced: $130k/yr saving, 2.7-year payback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— regional distribution capacity | Operations committee | Synthetic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183112" cy="123444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DECISION REQUESTED: Approve Balanced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Invest $350k to close the capacity and reliability gap, subject to the Week 8 go / no-go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 — Balanced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$130k/yr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2.7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 (350 ÷ 130)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6364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0" y="3154680"/>
            <a:ext cx="2542032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05072"/>
            <a:ext cx="2542032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saving  (3×130 − 350)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4572000"/>
            <a:ext cx="25420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4892040"/>
            <a:ext cx="11183112" cy="141732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1060704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Why now: six-month shipments were 690 below target. Balanced targets 99.0% uptime in 8 lead weeks, with funding released only if every Week 8 threshold passes; otherwise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Six months fell 690 shipments short of target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shipments, M1–M6 | All 12 values labelled |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Shipments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680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49640" y="169164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32304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49640" y="292608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315468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C7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895344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438912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49640" y="461772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540A"/>
                </a:solidFill>
                <a:latin typeface="Arial"/>
              </a:defRPr>
            </a:pPr>
            <a:r>
              <a:t>690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358383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 = 5,670 − 4,980  (12.2% below target)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49640" y="585216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Every month missed target. The shortfall is persistent, not a single-month dip.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Balanced buys most reliability without Resilient's $440k cost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Option comparison — reference prices unchanged | Selected option highlighted in narrative below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83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5943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297680"/>
            <a:ext cx="5440680" cy="196596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493776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Balanced vs Lean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+$130k investment buys +$35k/yr saving and +1.5 pts uptime (99.0% vs 97.5%), at +2 lead weeks.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4297680"/>
            <a:ext cx="5440680" cy="196596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4434840"/>
            <a:ext cx="493776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Tradeoff vs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Balanced saves $90k upfront and is 2 weeks faster, but gives up $25k/yr saving and 0.8 pts uptime (99.0% vs 99.8%).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pays back in 2.7 years; downside does not pay 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in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Scenarios at 80% / 100% / 120% of Balanced saving | Investment held at $350k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Annual saving, $k/yr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6217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1874519"/>
          <a:ext cx="46451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</a:tblGrid>
              <a:tr h="7086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4892040"/>
            <a:ext cx="464515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Payback = 350 ÷ saving.  Three-year net = 3×saving − 350.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11183112" cy="59436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08192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Read: only the downside case is net-negative over three years (−$38k) — the Week 8 gate protects against committing rollout spend into that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over capacity today; network headroom is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110/day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(shipments/day) —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78638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572768"/>
                <a:gridCol w="1572768"/>
                <a:gridCol w="1572768"/>
                <a:gridCol w="1572768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0" y="1691640"/>
            <a:ext cx="299923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404872"/>
            <a:ext cx="299923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0" y="2880360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0" y="3063240"/>
            <a:ext cx="299923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776472"/>
            <a:ext cx="299923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capacity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4251960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4434840"/>
            <a:ext cx="299923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C7D"/>
                </a:solidFill>
                <a:latin typeface="Arial"/>
              </a:defRPr>
            </a:pPr>
            <a:r>
              <a:t>110/day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148072"/>
            <a:ext cx="299923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Network headroom (1,710 − 1,600)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5623559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5440680"/>
            <a:ext cx="11183112" cy="91440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59552"/>
            <a:ext cx="106070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1E1E"/>
                </a:solidFill>
                <a:latin typeface="Arial"/>
              </a:defRPr>
            </a:pPr>
            <a:r>
              <a:t>Capacity-constrained site: South — demand 340/day exceeds capacity 320/day by 20/day (106% utilisation), with the lowest on-time rate (89%). All other sites have demand below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Gate at Week 8: rollout starts only after Validate and Train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Two-lane roadmap, Weeks 1–12 | Dependencies shown under each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11183112" cy="178308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96596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2" y="2057400"/>
            <a:ext cx="15544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25420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96596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2057400"/>
            <a:ext cx="1828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5420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96596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057400"/>
            <a:ext cx="1828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65960"/>
            <a:ext cx="22402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2057400"/>
            <a:ext cx="21031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9–12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11183112" cy="155448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51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540A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254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931920"/>
            <a:ext cx="1828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6320" y="3108960"/>
            <a:ext cx="1828800" cy="731520"/>
          </a:xfrm>
          <a:prstGeom prst="line">
            <a:avLst/>
          </a:prstGeom>
          <a:ln w="25400">
            <a:solidFill>
              <a:srgbClr val="C254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58200" y="3246120"/>
            <a:ext cx="1417320" cy="9601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3337560"/>
            <a:ext cx="1298448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 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83879" y="2697480"/>
            <a:ext cx="685801" cy="54864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183879" y="4023360"/>
            <a:ext cx="502921" cy="18288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75520" y="3108960"/>
            <a:ext cx="457200" cy="2743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5394960"/>
            <a:ext cx="11183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Gate dependency: Validate AND Train must both complete. Rollout (Weeks 9–12) depends on Gate GO — no GO, no rollout.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Top risks cluster at high impact: R2 and R3 need active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Risk matrix — likelihood (vertical) by impact (horizontal), each scored 1–5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4572000" cy="4114800"/>
          </a:xfrm>
          <a:prstGeom prst="rect">
            <a:avLst/>
          </a:prstGeom>
          <a:solidFill>
            <a:srgbClr val="F4F7F8"/>
          </a:solidFill>
          <a:ln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011680" y="173736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173736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0" y="173736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173736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56032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338328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420624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502920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36392" y="2761488"/>
            <a:ext cx="493776" cy="420624"/>
          </a:xfrm>
          <a:prstGeom prst="roundRect">
            <a:avLst/>
          </a:prstGeom>
          <a:solidFill>
            <a:srgbClr val="C2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283464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5192" y="4407408"/>
            <a:ext cx="493776" cy="420624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448056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584448"/>
            <a:ext cx="493776" cy="420624"/>
          </a:xfrm>
          <a:prstGeom prst="roundRect">
            <a:avLst/>
          </a:prstGeom>
          <a:solidFill>
            <a:srgbClr val="C2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0791" y="365760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21992" y="4407408"/>
            <a:ext cx="493776" cy="420624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1992" y="448056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9788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1              2              3              4              5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21792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  (1 → 5)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737360"/>
            <a:ext cx="457200" cy="4114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97880"/>
            <a:ext cx="548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2B4D"/>
                </a:solidFill>
                <a:latin typeface="Arial"/>
              </a:defRPr>
            </a:pPr>
            <a:r>
              <a:t>LIKELIHOOD ↑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35040" y="1737360"/>
          <a:ext cx="565099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748"/>
                <a:gridCol w="1412748"/>
                <a:gridCol w="1412748"/>
                <a:gridCol w="1412748"/>
              </a:tblGrid>
              <a:tr h="71323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35040" y="5486400"/>
            <a:ext cx="565099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Positions use the table scores exactly: R1 (L4, I3), R2 (L2, I5), R3 (L3, I4), R4 (L2, I2).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Decision: fund $350k now; rollout only on a Week 8 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Go / no-go gate, thresholds, fallback and next step — Aster cold-chain (synthetic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566160" cy="182880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06324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FUNDING 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$350k for 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$130k/yr saving · 2.7-yr payback · $40k 3-yr 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657600" cy="18288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15468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GO / NO-GO GATE — WEEK 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All three thresholds must pass (AND):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645920"/>
            <a:ext cx="3502152" cy="182880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301752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NEXT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9–12, only after Gate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1:  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2:  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3:  Backup-power test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120640"/>
            <a:ext cx="544068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03520"/>
            <a:ext cx="49377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GO — all thresholds pass → proceed to rollout, Weeks 9–12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5120640"/>
            <a:ext cx="5440680" cy="1188720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5303520"/>
            <a:ext cx="49377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HOLD — if ANY threshold fails: stop, remediate, re-gate. No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