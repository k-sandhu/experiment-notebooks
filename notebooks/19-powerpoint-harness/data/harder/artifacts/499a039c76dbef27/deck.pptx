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7C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Choose Resilient: uptime now leads the investment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Aster cold-chain | Regional distribution capacity | Operations committee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676D"/>
                </a:solidFill>
                <a:latin typeface="Arial"/>
              </a:defRPr>
            </a:pPr>
            <a:r>
              <a:t>Approve $440k for Resilient; make rollout conditional on the week 10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7530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0690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283464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7530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40690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283464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7530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40690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0" y="283464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57530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40690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4434840"/>
            <a:ext cx="3535680" cy="16459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5445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Prioritize uptime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166359"/>
            <a:ext cx="3316224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Resilient lists 99.8% uptime. Its $90k premium over Balanced buys 0.8 percentage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4434840"/>
            <a:ext cx="3535680" cy="16459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45445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Close service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5166359"/>
            <a:ext cx="3316224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shipments are 520 below six-month target. South is the capacity-constrained site.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434840"/>
            <a:ext cx="3535680" cy="16459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45445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Control the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5166359"/>
            <a:ext cx="3316224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Require every threshold at week 10. GO enables weeks 11–14 rollout; any failure means HOLD.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data. Currency: $k. Payback = investment / annual saving; three-year net = 3 × saving − investment.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corrected six-month shipment shortfall is 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M4 exceeds target by 40; the other five months miss. Total actual is 9.2% below target.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64592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Monthly shipments | All 12 values shown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9552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23960" y="178308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9631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2971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3960" y="32461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0869B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9593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443484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23960" y="470916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36624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42239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Actual minus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58978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M4 actual corrected to 1,080 shipments. Targets are unchanged. Daily site figures are separate from these period totals. 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the highest listed uptime for a $90k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Selected option: Resilient. All reference prices, savings, uptime specifications and lead times remain unchanged.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34840"/>
            <a:ext cx="6949440" cy="164592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99432"/>
            <a:ext cx="6492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676D"/>
                </a:solidFill>
                <a:latin typeface="Arial"/>
              </a:defRPr>
            </a:pPr>
            <a:r>
              <a:t>Tradeoff versus 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6492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Pay $90k more for 0.8 points more uptime and $25k more annual saving. Lead time rises by two weeks; three-year net saving falls from $40k to $25k.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4434840"/>
            <a:ext cx="3931920" cy="164592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599432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Uptime is the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10912"/>
            <a:ext cx="34747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Only Resilient lists uptime above the 99.5% gate. Demonstrated performance must still pass.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Listed uptime is a reference specification, not evidence that the operational release gate has passed. 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delivers $25k three-year net saving in the base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Investment stays at $440k; downside, base and upside savings are 80%, 100% and 120% of $155k.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53949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691640"/>
            <a:ext cx="5440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Returns at the same $440k investment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194560"/>
          <a:ext cx="54406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67437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5166360"/>
            <a:ext cx="5440680" cy="86868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294376"/>
            <a:ext cx="5074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4B19"/>
                </a:solidFill>
                <a:latin typeface="Arial"/>
              </a:defRPr>
            </a:pPr>
            <a:r>
              <a:t>Downside loses $68k over three years.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4B19"/>
                </a:solidFill>
                <a:latin typeface="Arial"/>
              </a:defRPr>
            </a:pPr>
            <a:r>
              <a:t>Break-even saving: $146.7k/year.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Payback = 440 / annual saving, rounded to one decimal year. Three-year net = 3 × annual saving − 440. 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Daily site figures reveal a local bottleneck; three sites also fall below the 95% on-time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/ day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126480"/>
            <a:ext cx="256031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/ 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6126480"/>
            <a:ext cx="25603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17920" y="4983480"/>
            <a:ext cx="5440680" cy="118872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02352"/>
            <a:ext cx="50749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Capacity-constrained: South, short 20/day.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Network headroom: 110/day.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Below 95% on time: Central, South and East.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Demand and capacity are daily shipments; they are distinct from the six-month shipment totals on slide 2. 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Both delivery lanes must clear the week 10 decision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Design, Build, Validate and Train retain their weeks. Gate GO enables rollout in weeks 11–14.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74519"/>
            <a:ext cx="1115568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11155680" cy="150876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76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338327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84648" y="2633472"/>
            <a:ext cx="34747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84648" y="2633472"/>
            <a:ext cx="347472" cy="21031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633472"/>
            <a:ext cx="45720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32320" y="3547872"/>
            <a:ext cx="457200" cy="11887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81160" y="2633472"/>
            <a:ext cx="45720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0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2194560"/>
            <a:ext cx="136245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Deps: 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194560"/>
            <a:ext cx="136245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10312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194560"/>
            <a:ext cx="145389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420624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83B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4297680"/>
            <a:ext cx="145389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816352"/>
            <a:ext cx="1691640" cy="14630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916936"/>
            <a:ext cx="1508760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AND 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GO / 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103120"/>
            <a:ext cx="169164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2" y="2194560"/>
            <a:ext cx="154533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Read dependencies left to right. Validate AND Train are required; all gate thresholds must also pass.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Gate moves to week 10; rollout moves to weeks 11–14. Gate criteria appear on slide 8. 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R5 adds a maximum-impact risk: test backup power before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Likelihood increases left to right; impact increases upward. Ratings use a 1–5 scale.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Impact ↑  |  5 = highest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48840"/>
          <a:ext cx="5303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89888" y="5870448"/>
            <a:ext cx="4416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Likelihood →  |  1 low to 5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5532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Mitigations for all five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2148840"/>
          <a:ext cx="5532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(likelihood, impact)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 (4, 3)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 (2, 5)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 (3, 4)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 (2, 2)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 (3, 5)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0" y="5870448"/>
            <a:ext cx="5532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64B19"/>
                </a:solidFill>
                <a:latin typeface="Arial"/>
              </a:defRPr>
            </a:pPr>
            <a:r>
              <a:t>R5: likelihood 3, impact 5; complete before week 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R1–R4 ratings and mitigations are unchanged. Each risk ID occupies its likelihood column and impact row. 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$440k; release rollout only after the week 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Resilient funding | $155k annual saving | 2.8-year payback | $25k three-year net saving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64208"/>
            <a:ext cx="6720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Week 10 gate: ALL conditions must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6720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420"/>
                <a:gridCol w="3360420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At least 99.5%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service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at least 95% each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 power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 passed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691640"/>
            <a:ext cx="4069080" cy="1874519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65376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676D"/>
                </a:solidFill>
                <a:latin typeface="Arial"/>
              </a:defRPr>
            </a:pPr>
            <a:r>
              <a:t>GO: every threshold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676D"/>
                </a:solidFill>
                <a:latin typeface="Arial"/>
              </a:defRPr>
            </a:pPr>
            <a:r>
              <a:t>Authorize the next rollout across all five sites in weeks 11–14.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3840480"/>
            <a:ext cx="4069080" cy="1874519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014215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4B19"/>
                </a:solidFill>
                <a:latin typeface="Arial"/>
              </a:defRPr>
            </a:pPr>
            <a:r>
              <a:t>HOLD: any threshold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4B19"/>
                </a:solidFill>
                <a:latin typeface="Arial"/>
              </a:defRPr>
            </a:pPr>
            <a:r>
              <a:t>Pause rollout, remediate, then repeat the gate before release.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937760"/>
            <a:ext cx="6720840" cy="10515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65776"/>
            <a:ext cx="635508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Prerequisites: Validate AND Train, both weeks 6–8.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Confirm uptime in operation, lift Central/South/East to 95% on time, and pass the backup-power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All data are synthetic. Funding approval does not replace the week 10 release gate. 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