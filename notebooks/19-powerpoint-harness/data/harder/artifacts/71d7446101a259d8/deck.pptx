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890</c:v>
                </c:pt>
                <c:pt idx="1">
                  <c:v>890</c:v>
                </c:pt>
                <c:pt idx="2">
                  <c:v>940</c:v>
                </c:pt>
                <c:pt idx="3">
                  <c:v>1150</c:v>
                </c:pt>
                <c:pt idx="4">
                  <c:v>860</c:v>
                </c:pt>
                <c:pt idx="5">
                  <c:v>900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9CAFC4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970</c:v>
                </c:pt>
                <c:pt idx="1">
                  <c:v>980</c:v>
                </c:pt>
                <c:pt idx="2">
                  <c:v>1070</c:v>
                </c:pt>
                <c:pt idx="3">
                  <c:v>1040</c:v>
                </c:pt>
                <c:pt idx="4">
                  <c:v>930</c:v>
                </c:pt>
                <c:pt idx="5">
                  <c:v>970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4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Downside 80%</c:v>
                </c:pt>
                <c:pt idx="1">
                  <c:v>Base 100%</c:v>
                </c:pt>
                <c:pt idx="2">
                  <c:v>Upside 120%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124</c:v>
                </c:pt>
                <c:pt idx="1">
                  <c:v>155</c:v>
                </c:pt>
                <c:pt idx="2">
                  <c:v>186</c:v>
                </c:pt>
              </c:numCache>
            </c:numRef>
          </c:val>
        </c:ser>
        <c:dLbls>
          <c:txPr>
            <a:bodyPr/>
            <a:lstStyle/>
            <a:p>
              <a:pPr>
                <a:defRPr sz="15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5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Arial"/>
              </a:defRPr>
            </a:pPr>
            <a:r>
              <a:t>CEDAR SENSOR NETWORK  /  ENGINEERING STEERING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Recommend Resilient; make rollout conditional on the week-10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56231"/>
            <a:ext cx="110642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B4D"/>
                </a:solidFill>
                <a:latin typeface="Arial"/>
              </a:defRPr>
            </a:pPr>
            <a:r>
              <a:t>Approve $440k for the field sensor rollout. Uptime now outranks price; deployment requires demonstrated readiness.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724912"/>
            <a:ext cx="35661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71216"/>
            <a:ext cx="31089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7F86"/>
                </a:solidFill>
                <a:latin typeface="Arial"/>
              </a:defRPr>
            </a:pPr>
            <a:r>
              <a:t>$155k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02736"/>
            <a:ext cx="3108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Annual saving · base case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5968" y="2724912"/>
            <a:ext cx="35661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2871216"/>
            <a:ext cx="31089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7F86"/>
                </a:solidFill>
                <a:latin typeface="Arial"/>
              </a:defRPr>
            </a:pPr>
            <a:r>
              <a:t>2.8 years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3602736"/>
            <a:ext cx="3108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Simple payback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19872" y="2724912"/>
            <a:ext cx="35661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2871216"/>
            <a:ext cx="31089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7F86"/>
                </a:solidFill>
                <a:latin typeface="Arial"/>
              </a:defRPr>
            </a:pPr>
            <a:r>
              <a:t>$25k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2" y="3602736"/>
            <a:ext cx="3108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Three-year net saving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480560"/>
            <a:ext cx="11183112" cy="1508760"/>
          </a:xfrm>
          <a:prstGeom prst="rect">
            <a:avLst/>
          </a:prstGeom>
          <a:solidFill>
            <a:srgbClr val="E5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645152"/>
            <a:ext cx="106527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B4D"/>
                </a:solidFill>
                <a:latin typeface="Arial"/>
              </a:defRPr>
            </a:pPr>
            <a:r>
              <a:t>99.8% reference uptime supports the choice; the gate still applies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157216"/>
            <a:ext cx="106527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Resilient exceeds the 99.5% reference threshold. Confirm measured uptime, all five sites’ on-time service and the backup-power test before GO.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382512"/>
            <a:ext cx="104241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B4D"/>
                </a:solidFill>
                <a:latin typeface="Arial"/>
              </a:defRPr>
            </a:pPr>
            <a:r>
              <a:t>All data synthetic · Currency: $k · Payback = investment / saving · Three-year net = 3 × annual saving − investment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82528" y="6382512"/>
            <a:ext cx="5943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B4D"/>
                </a:solidFill>
                <a:latin typeface="Arial"/>
              </a:defRPr>
            </a:pPr>
            <a: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M4 beat plan; the six-month shortfall narrows to 330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Actual delivery reached 94.5% of target. M4 was the only month above plan.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527048"/>
            <a:ext cx="3200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2657D"/>
                </a:solidFill>
                <a:latin typeface="Arial"/>
              </a:defRPr>
            </a:pPr>
            <a:r>
              <a:t>Readings per month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856231"/>
          <a:ext cx="78181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686800" y="1737360"/>
            <a:ext cx="2999232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42832" y="1938528"/>
            <a:ext cx="2487168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5,630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42832" y="2578608"/>
            <a:ext cx="2487168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Total actual readings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42832" y="3218688"/>
            <a:ext cx="2487168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B4D"/>
                </a:solidFill>
                <a:latin typeface="Arial"/>
              </a:defRPr>
            </a:pPr>
            <a:r>
              <a:t>5,960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42832" y="3858768"/>
            <a:ext cx="2487168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Total target readings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42832" y="4498848"/>
            <a:ext cx="2487168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A55120"/>
                </a:solidFill>
                <a:latin typeface="Arial"/>
              </a:defRPr>
            </a:pPr>
            <a:r>
              <a:t>330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42832" y="5138928"/>
            <a:ext cx="2487168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Shortfall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Target − actual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382512"/>
            <a:ext cx="104241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B4D"/>
                </a:solidFill>
                <a:latin typeface="Arial"/>
              </a:defRPr>
            </a:pPr>
            <a:r>
              <a:t>Synthetic data · M4 actual revised to 1,150; all targets unchanged · Site demand and capacity are daily measures.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82528" y="6382512"/>
            <a:ext cx="5943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B4D"/>
                </a:solidFill>
                <a:latin typeface="Arial"/>
              </a:defRPr>
            </a:pPr>
            <a: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Resilient wins on uptime, at a $90k premium to Balanced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Uptime now outranks price. All reference option prices, savings, uptime and lead times remain unchanged.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91640"/>
          <a:ext cx="11183112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6622"/>
                <a:gridCol w="2236622"/>
                <a:gridCol w="2236622"/>
                <a:gridCol w="2236622"/>
                <a:gridCol w="2236624"/>
              </a:tblGrid>
              <a:tr h="60579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Option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Investment $k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$k/yr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Uptime %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Lead weeks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Lean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97.5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Balanced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130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Resilient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4416552"/>
            <a:ext cx="5468112" cy="1627632"/>
          </a:xfrm>
          <a:prstGeom prst="rect">
            <a:avLst/>
          </a:prstGeom>
          <a:solidFill>
            <a:srgbClr val="E5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81144"/>
            <a:ext cx="50109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7F86"/>
                </a:solidFill>
                <a:latin typeface="Arial"/>
              </a:defRPr>
            </a:pPr>
            <a:r>
              <a:t>SELECTED: RESILIENT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0056"/>
            <a:ext cx="5010912" cy="8412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99.8% reference uptime is 0.3 points above the gate and 0.8 points above Balanced.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4416552"/>
            <a:ext cx="5468112" cy="1627632"/>
          </a:xfrm>
          <a:prstGeom prst="rect">
            <a:avLst/>
          </a:prstGeom>
          <a:solidFill>
            <a:srgbClr val="FF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4581144"/>
            <a:ext cx="50109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A55120"/>
                </a:solidFill>
                <a:latin typeface="Arial"/>
              </a:defRPr>
            </a:pPr>
            <a:r>
              <a:t>TRADEOFF TO ACCEPT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5020056"/>
            <a:ext cx="5010912" cy="8412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Versus Balanced: $90k more investment buys $25k more annual saving, with 2 more lead weeks.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382512"/>
            <a:ext cx="104241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B4D"/>
                </a:solidFill>
                <a:latin typeface="Arial"/>
              </a:defRPr>
            </a:pPr>
            <a:r>
              <a:t>Synthetic reference options · Reference uptime supports selection; measured readiness must still pass the week-10 gate.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82528" y="6382512"/>
            <a:ext cx="5943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B4D"/>
                </a:solidFill>
                <a:latin typeface="Arial"/>
              </a:defRPr>
            </a:pPr>
            <a: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A 20% saving reduction produces a $68k three-year loss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Resilient sensitivity uses 80%, 100% and 120% of $155k annual saving; investment remains $440k.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572768"/>
            <a:ext cx="5029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57D"/>
                </a:solidFill>
                <a:latin typeface="Arial"/>
              </a:defRPr>
            </a:pPr>
            <a:r>
              <a:t>Annual saving ($k/year)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938528"/>
          <a:ext cx="548640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355080" y="1828800"/>
          <a:ext cx="5330952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6984"/>
                <a:gridCol w="1776984"/>
                <a:gridCol w="1776984"/>
              </a:tblGrid>
              <a:tr h="72009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Payback years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3-year net $k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Downside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3.5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−68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Base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Upside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118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355080" y="4983480"/>
            <a:ext cx="5330952" cy="1051560"/>
          </a:xfrm>
          <a:prstGeom prst="rect">
            <a:avLst/>
          </a:prstGeom>
          <a:solidFill>
            <a:srgbClr val="FF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5392" y="5129784"/>
            <a:ext cx="4892040" cy="7680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8F471C"/>
                </a:solidFill>
                <a:latin typeface="Arial"/>
              </a:defRPr>
            </a:pPr>
            <a:r>
              <a:t>Downside payback extends to 3.5 years. The base case delivers a modest $25k three-year net saving.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382512"/>
            <a:ext cx="104241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B4D"/>
                </a:solidFill>
                <a:latin typeface="Arial"/>
              </a:defRPr>
            </a:pPr>
            <a:r>
              <a:t>Synthetic sensitivity · Payback = 440 / annual saving, rounded to 1 decimal · Three-year net = 3 × annual saving − 440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82528" y="6382512"/>
            <a:ext cx="5943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B4D"/>
                </a:solidFill>
                <a:latin typeface="Arial"/>
              </a:defRPr>
            </a:pPr>
            <a: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North, Central and West are capacity-constrained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Daily demand exceeds total capacity by 40 readings; local bottlenecks also require attention.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45920"/>
          <a:ext cx="11183112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6622"/>
                <a:gridCol w="2236622"/>
                <a:gridCol w="2236622"/>
                <a:gridCol w="2236622"/>
                <a:gridCol w="2236624"/>
              </a:tblGrid>
              <a:tr h="496388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Demand/day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Capacity/day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 %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Ari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Bo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East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290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Dee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West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Eli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1,700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1,660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5394960"/>
            <a:ext cx="5468112" cy="804672"/>
          </a:xfrm>
          <a:prstGeom prst="rect">
            <a:avLst/>
          </a:prstGeom>
          <a:solidFill>
            <a:srgbClr val="FF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5513832"/>
            <a:ext cx="5065776" cy="5669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8F471C"/>
                </a:solidFill>
                <a:latin typeface="Arial"/>
              </a:defRPr>
            </a:pPr>
            <a:r>
              <a:t>Daily deficits: North 40 · Central 80 · West 50 readings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5394960"/>
            <a:ext cx="5468112" cy="804672"/>
          </a:xfrm>
          <a:prstGeom prst="rect">
            <a:avLst/>
          </a:prstGeom>
          <a:solidFill>
            <a:srgbClr val="E5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5513832"/>
            <a:ext cx="5065776" cy="5669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Below 95% on time: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North, East and West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042416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B4D"/>
                </a:solidFill>
                <a:latin typeface="Arial"/>
              </a:defRPr>
            </a:pPr>
            <a:r>
              <a:t>Synthetic site data · Demand and capacity are daily readings, not six-month totals · Every site must reach ≥95% on time.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82528" y="6428232"/>
            <a:ext cx="59436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B4D"/>
                </a:solidFill>
                <a:latin typeface="Arial"/>
              </a:defRPr>
            </a:pPr>
            <a: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Validate and Train both feed the week-10 decision gate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Activity weeks stay fixed through validation and training; a GO releases rollout in weeks 11–14.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920240"/>
            <a:ext cx="11183112" cy="1463040"/>
          </a:xfrm>
          <a:prstGeom prst="rect">
            <a:avLst/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3657600"/>
            <a:ext cx="11183112" cy="1463040"/>
          </a:xfrm>
          <a:prstGeom prst="rect">
            <a:avLst/>
          </a:prstGeom>
          <a:solidFill>
            <a:srgbClr val="E5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2404872"/>
            <a:ext cx="13258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Technical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4160520"/>
            <a:ext cx="13258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People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37560" y="2633472"/>
            <a:ext cx="320040" cy="0"/>
          </a:xfrm>
          <a:prstGeom prst="line">
            <a:avLst/>
          </a:prstGeom>
          <a:ln w="25400">
            <a:solidFill>
              <a:srgbClr val="526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983480" y="2633472"/>
            <a:ext cx="365760" cy="0"/>
          </a:xfrm>
          <a:prstGeom prst="line">
            <a:avLst/>
          </a:prstGeom>
          <a:ln w="25400">
            <a:solidFill>
              <a:srgbClr val="526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15968" y="3108960"/>
            <a:ext cx="0" cy="128016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315968" y="4389120"/>
            <a:ext cx="1033272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812280" y="2633472"/>
            <a:ext cx="548640" cy="0"/>
          </a:xfrm>
          <a:prstGeom prst="line">
            <a:avLst/>
          </a:prstGeom>
          <a:ln w="25400">
            <a:solidFill>
              <a:srgbClr val="526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812280" y="4389120"/>
            <a:ext cx="1280160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8092440" y="3246120"/>
            <a:ext cx="0" cy="11430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823960" y="2633472"/>
            <a:ext cx="548640" cy="0"/>
          </a:xfrm>
          <a:prstGeom prst="line">
            <a:avLst/>
          </a:prstGeom>
          <a:ln w="25400">
            <a:solidFill>
              <a:srgbClr val="526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965960" y="2148840"/>
            <a:ext cx="1371600" cy="960120"/>
          </a:xfrm>
          <a:prstGeom prst="rect">
            <a:avLst/>
          </a:prstGeom>
          <a:solidFill>
            <a:srgbClr val="FFFFFF"/>
          </a:solidFill>
          <a:ln>
            <a:solidFill>
              <a:srgbClr val="B7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39112" y="2276856"/>
            <a:ext cx="1225296" cy="7132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Design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Weeks 1–2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2148840"/>
            <a:ext cx="1325880" cy="960120"/>
          </a:xfrm>
          <a:prstGeom prst="rect">
            <a:avLst/>
          </a:prstGeom>
          <a:solidFill>
            <a:srgbClr val="FFFFFF"/>
          </a:solidFill>
          <a:ln>
            <a:solidFill>
              <a:srgbClr val="B7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30752" y="2276856"/>
            <a:ext cx="1179576" cy="7132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Build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Weeks 3–5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49240" y="2148840"/>
            <a:ext cx="1463040" cy="960120"/>
          </a:xfrm>
          <a:prstGeom prst="rect">
            <a:avLst/>
          </a:prstGeom>
          <a:solidFill>
            <a:srgbClr val="FFFFFF"/>
          </a:solidFill>
          <a:ln>
            <a:solidFill>
              <a:srgbClr val="B7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31536" y="2276856"/>
            <a:ext cx="1298448" cy="7132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Validate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Weeks 6–8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49240" y="3904487"/>
            <a:ext cx="1463040" cy="960120"/>
          </a:xfrm>
          <a:prstGeom prst="rect">
            <a:avLst/>
          </a:prstGeom>
          <a:solidFill>
            <a:srgbClr val="FFFFFF"/>
          </a:solidFill>
          <a:ln>
            <a:solidFill>
              <a:srgbClr val="75AE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31536" y="4032504"/>
            <a:ext cx="1298448" cy="7132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Train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Weeks 6–8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60920" y="1993392"/>
            <a:ext cx="1463040" cy="1252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43216" y="2130552"/>
            <a:ext cx="1298448" cy="9692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Decision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gate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Week 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72600" y="2148840"/>
            <a:ext cx="19659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B7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54896" y="2276856"/>
            <a:ext cx="1801368" cy="7132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Rollout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Weeks 11–14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51392" y="2157984"/>
            <a:ext cx="5029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Arial"/>
              </a:defRPr>
            </a:pPr>
            <a:r>
              <a:t>GO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504688"/>
            <a:ext cx="1097280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Dependencies: Design has none. Build follows Design; Validate and Train follow Build. Gate requires both; Rollout requires Gate GO.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382512"/>
            <a:ext cx="11183112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B4D"/>
                </a:solidFill>
                <a:latin typeface="Arial"/>
              </a:defRPr>
            </a:pPr>
            <a:r>
              <a:t>Synthetic delivery plan · Read connections left to right toward dependent activities.                                                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R1 is most likely; R2 and R5 share the highest impact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Five risks mapped on 1–5 scales. R5 adds a backup-power test before the week-10 gate.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9344"/>
            <a:ext cx="48920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Likelihood ↓  (1 = low; 5 = high)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011680"/>
          <a:ext cx="489204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5340"/>
                <a:gridCol w="815340"/>
                <a:gridCol w="815340"/>
                <a:gridCol w="815340"/>
                <a:gridCol w="815340"/>
                <a:gridCol w="815340"/>
              </a:tblGrid>
              <a:tr h="603504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 / I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E5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5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5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5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5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5F2F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E5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5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5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R1</a:t>
                      </a:r>
                    </a:p>
                  </a:txBody>
                  <a:tcPr marL="64008" marR="64008" marT="36576" marB="36576">
                    <a:solidFill>
                      <a:srgbClr val="E5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5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5F2F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E5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5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5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5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R3</a:t>
                      </a:r>
                    </a:p>
                  </a:txBody>
                  <a:tcPr marL="64008" marR="64008" marT="36576" marB="36576">
                    <a:solidFill>
                      <a:srgbClr val="E5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R5</a:t>
                      </a:r>
                    </a:p>
                  </a:txBody>
                  <a:tcPr marL="64008" marR="64008" marT="36576" marB="36576">
                    <a:solidFill>
                      <a:srgbClr val="E5F2F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E5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5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R4</a:t>
                      </a:r>
                    </a:p>
                  </a:txBody>
                  <a:tcPr marL="64008" marR="64008" marT="36576" marB="36576">
                    <a:solidFill>
                      <a:srgbClr val="E5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5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5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R2</a:t>
                      </a:r>
                    </a:p>
                  </a:txBody>
                  <a:tcPr marL="64008" marR="64008" marT="36576" marB="36576">
                    <a:solidFill>
                      <a:srgbClr val="E5F2F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36576" marB="36576">
                    <a:solidFill>
                      <a:srgbClr val="E5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5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5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5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5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5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779008"/>
            <a:ext cx="4892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Impact →  (1 = low; 5 = high)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15000" y="2011680"/>
          <a:ext cx="5971032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5516"/>
                <a:gridCol w="2985516"/>
              </a:tblGrid>
              <a:tr h="603504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 · L / I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Mitigation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R1 · 4 / 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Cross-train two crews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R2 · 2 / 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Dual-source hardware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R3 · 3 / 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Test failover weekly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R4 · 2 / 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Audit labels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R5 · 3 / 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Test backup power before gate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715000" y="5779008"/>
            <a:ext cx="597103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7F86"/>
                </a:solidFill>
                <a:latin typeface="Arial"/>
              </a:defRPr>
            </a:pPr>
            <a:r>
              <a:t>R5 mitigation directly supports the backup-power gate.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382512"/>
            <a:ext cx="104241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B4D"/>
                </a:solidFill>
                <a:latin typeface="Arial"/>
              </a:defRPr>
            </a:pPr>
            <a:r>
              <a:t>Synthetic risk assessment · Matrix rows show likelihood; columns show impact · L / I = likelihood / impact.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82528" y="6382512"/>
            <a:ext cx="5943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B4D"/>
                </a:solidFill>
                <a:latin typeface="Arial"/>
              </a:defRPr>
            </a:pPr>
            <a: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Approve $440k for Resilient; gate deployment at week 10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Fund the selected option now. At the end of week 10, release rollout only when every threshold passes.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45920"/>
            <a:ext cx="3154680" cy="4498848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901952"/>
            <a:ext cx="2660904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8DCDD"/>
                </a:solidFill>
                <a:latin typeface="Arial"/>
              </a:defRPr>
            </a:pPr>
            <a:r>
              <a:t>FUNDING REQUEST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423160"/>
            <a:ext cx="2660904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FFFFFF"/>
                </a:solidFill>
                <a:latin typeface="Arial"/>
              </a:defRPr>
            </a:pPr>
            <a:r>
              <a:t>$440k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264408"/>
            <a:ext cx="2660904" cy="9418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Resilient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Cedar sensor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443984"/>
            <a:ext cx="2660904" cy="13075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Base case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$155k annual saving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2.8-year payback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$25k three-year 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1709928"/>
            <a:ext cx="766267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7F86"/>
                </a:solidFill>
                <a:latin typeface="Arial"/>
              </a:defRPr>
            </a:pPr>
            <a:r>
              <a:t>WEEK 10: GO ONLY IF ALL THREE PASS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2267712"/>
            <a:ext cx="7662672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24528" y="2386584"/>
            <a:ext cx="7260336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B4D"/>
                </a:solidFill>
                <a:latin typeface="Arial"/>
              </a:defRPr>
            </a:pPr>
            <a:r>
              <a:t>1   Uptime ≥99.5%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3017520"/>
            <a:ext cx="7662672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24528" y="3136392"/>
            <a:ext cx="7260336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B4D"/>
                </a:solidFill>
                <a:latin typeface="Arial"/>
              </a:defRPr>
            </a:pPr>
            <a:r>
              <a:t>2   All five sites ≥95% on 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0" y="3767328"/>
            <a:ext cx="7662672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24528" y="3886200"/>
            <a:ext cx="7260336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B4D"/>
                </a:solidFill>
                <a:latin typeface="Arial"/>
              </a:defRPr>
            </a:pPr>
            <a:r>
              <a:t>3   Backup-power test passed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3360" y="4617720"/>
            <a:ext cx="3685032" cy="1527048"/>
          </a:xfrm>
          <a:prstGeom prst="rect">
            <a:avLst/>
          </a:prstGeom>
          <a:solidFill>
            <a:srgbClr val="E5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24528" y="4754880"/>
            <a:ext cx="3282696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F86"/>
                </a:solidFill>
                <a:latin typeface="Arial"/>
              </a:defRPr>
            </a:pPr>
            <a:r>
              <a:t>ALL PASS → 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24528" y="5230368"/>
            <a:ext cx="3282696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Proceed to the next rollout in weeks 11–14.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09560" y="4617720"/>
            <a:ext cx="3776472" cy="1527048"/>
          </a:xfrm>
          <a:prstGeom prst="rect">
            <a:avLst/>
          </a:prstGeom>
          <a:solidFill>
            <a:srgbClr val="FF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0727" y="4754880"/>
            <a:ext cx="3374136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A55120"/>
                </a:solidFill>
                <a:latin typeface="Arial"/>
              </a:defRPr>
            </a:pPr>
            <a:r>
              <a:t>ANY FAIL → HOLD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0727" y="5230368"/>
            <a:ext cx="3374136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Remediate and re-test; defer rollout until all pass.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382512"/>
            <a:ext cx="104241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B4D"/>
                </a:solidFill>
                <a:latin typeface="Arial"/>
              </a:defRPr>
            </a:pPr>
            <a:r>
              <a:t>Synthetic decision case · 99.8% reference uptime does not replace measured readiness · Validate AND Train remain prerequisites.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82528" y="6382512"/>
            <a:ext cx="5943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B4D"/>
                </a:solidFill>
                <a:latin typeface="Arial"/>
              </a:defRPr>
            </a:pPr>
            <a: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