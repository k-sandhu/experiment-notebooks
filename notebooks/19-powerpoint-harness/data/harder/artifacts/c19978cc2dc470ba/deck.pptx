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870</c:v>
                </c:pt>
                <c:pt idx="1">
                  <c:v>850</c:v>
                </c:pt>
                <c:pt idx="2">
                  <c:v>720</c:v>
                </c:pt>
                <c:pt idx="3">
                  <c:v>1080</c:v>
                </c:pt>
                <c:pt idx="4">
                  <c:v>720</c:v>
                </c:pt>
                <c:pt idx="5">
                  <c:v>910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B3BAC5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950</c:v>
                </c:pt>
                <c:pt idx="1">
                  <c:v>970</c:v>
                </c:pt>
                <c:pt idx="2">
                  <c:v>840</c:v>
                </c:pt>
                <c:pt idx="3">
                  <c:v>1040</c:v>
                </c:pt>
                <c:pt idx="4">
                  <c:v>820</c:v>
                </c:pt>
                <c:pt idx="5">
                  <c:v>1050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 $k/yr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80%</c:v>
                </c:pt>
                <c:pt idx="1">
                  <c:v>Base 100%</c:v>
                </c:pt>
                <c:pt idx="2">
                  <c:v>Upside 120%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</c:v>
                </c:pt>
                <c:pt idx="1">
                  <c:v>155</c:v>
                </c:pt>
                <c:pt idx="2">
                  <c:v>186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Recommendation: fund Resilient - $440k for $155k/yr saving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2526E"/>
                </a:solidFill>
                <a:latin typeface="Arial"/>
              </a:defRPr>
            </a:pPr>
            <a:r>
              <a:t>Aster cold-chain  |  Regional distribution capacity  |  Operations committee decision  |  All data synthetic  |  Uptime outranks price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2606040" cy="1417320"/>
          </a:xfrm>
          <a:prstGeom prst="roundRect">
            <a:avLst/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233172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CHOSEN INVESTMENT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$440k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Resilient option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508760"/>
            <a:ext cx="2606040" cy="1417320"/>
          </a:xfrm>
          <a:prstGeom prst="roundRect">
            <a:avLst/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645920"/>
            <a:ext cx="233172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ANNUAL SAVING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$155k/yr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Base case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2606040" cy="1417320"/>
          </a:xfrm>
          <a:prstGeom prst="round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233172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SIMPLE PAYBACK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2.8 years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440 / 155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508760"/>
            <a:ext cx="2587752" cy="1417320"/>
          </a:xfrm>
          <a:prstGeom prst="roundRect">
            <a:avLst/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645920"/>
            <a:ext cx="2313432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THREE-YEAR NET SAVING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$25k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3 x 155 - 440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46120"/>
            <a:ext cx="6766560" cy="265176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456432"/>
            <a:ext cx="6263640" cy="2286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Why Resilient — uptime outranks price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- 99.8% uptime (highest) and 10-week lead time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- $25k/yr more saving than Balanced, for $90k more investment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- $60k/yr more saving than Lean, +2.3 points uptime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- Protects value with a Week 10 go / no-go gate before rollout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3246120"/>
            <a:ext cx="4005072" cy="265176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3520440"/>
            <a:ext cx="3474720" cy="2194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DECISION ASKED TODAY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Approve $440k for Resilient.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Rollout in Weeks 11-14 only if the Week 10 gate returns GO.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19088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78C"/>
                </a:solidFill>
                <a:latin typeface="Arial"/>
              </a:defRPr>
            </a:pPr>
            <a:r>
              <a:t>Currency: $k  |  Payback = investment / annual saving  |  Three-year net = 3 x saving - investment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2B4D"/>
                </a:solidFill>
                <a:latin typeface="Arial"/>
              </a:defRPr>
            </a:pPr>
            <a:r>
              <a:t>Six months fell 520 shipments short: 5,150 actual vs 5,670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7498079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2526E"/>
                </a:solidFill>
                <a:latin typeface="Arial"/>
              </a:defRPr>
            </a:pPr>
            <a:r>
              <a:t>Shipments by month, M1-M6 - actual vs target (shipments)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417320"/>
          <a:ext cx="7498079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366760" y="1417320"/>
            <a:ext cx="3273552" cy="1234440"/>
          </a:xfrm>
          <a:prstGeom prst="roundRect">
            <a:avLst/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554480"/>
            <a:ext cx="2907792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TOTAL ACTUAL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5,150 shipments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2880360"/>
            <a:ext cx="3273552" cy="123444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3017520"/>
            <a:ext cx="2907792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TOTAL TARGET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5,670 shipments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4343400"/>
            <a:ext cx="3273552" cy="1508760"/>
          </a:xfrm>
          <a:prstGeom prst="roundRect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4480560"/>
            <a:ext cx="2907792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42318"/>
                </a:solidFill>
                <a:latin typeface="Arial"/>
              </a:defRPr>
            </a:pPr>
            <a:r>
              <a:t>GAP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42318"/>
                </a:solidFill>
                <a:latin typeface="Arial"/>
              </a:defRPr>
            </a:pPr>
            <a:r>
              <a:t>520 shipments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42318"/>
                </a:solidFill>
                <a:latin typeface="Arial"/>
              </a:defRPr>
            </a:pPr>
            <a:r>
              <a:t>9.2% below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2526E"/>
                </a:solidFill>
                <a:latin typeface="Arial"/>
              </a:defRPr>
            </a:pPr>
            <a:r>
              <a:t>Actual was below target in M1-M3 and M5-M6; M4 actual 1,080 beat target 1,040. Gap = 5,670 - 5,150 = 520 shipments.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78C"/>
                </a:solidFill>
                <a:latin typeface="Arial"/>
              </a:defRPr>
            </a:pPr>
            <a:r>
              <a:t>Aster cold-chain  |  Six-month performance  |  Units: shipments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Resilient wins on uptime: 99.8% is the top score, and uptime outranks 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2526E"/>
                </a:solidFill>
                <a:latin typeface="Arial"/>
              </a:defRPr>
            </a:pPr>
            <a:r>
              <a:t>All option prices shown unchanged. Selected option: Resilient.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1091672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334"/>
                <a:gridCol w="2218334"/>
                <a:gridCol w="2218334"/>
                <a:gridCol w="2218334"/>
                <a:gridCol w="2218336"/>
              </a:tblGrid>
              <a:tr h="62865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Investment $k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Uptime %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Lead weeks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Lean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220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97.5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Balanced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130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Resilient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440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99.8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434840"/>
            <a:ext cx="11091672" cy="1783080"/>
          </a:xfrm>
          <a:prstGeom prst="round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590288"/>
            <a:ext cx="10561320" cy="1508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Selected-option tradeoff - Resilient ($440k, $155k/yr, 99.8%, 10 weeks)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Vs Lean: pay $220k more and wait 4 weeks longer, gain $60k/yr saving and +2.3 points uptime.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Vs Balanced: pay $90k more and wait 2 weeks longer, gain $25k/yr saving and +0.8 points uptime.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78C"/>
                </a:solidFill>
                <a:latin typeface="Arial"/>
              </a:defRPr>
            </a:pPr>
            <a:r>
              <a:t>Reference prices remain Lean $220k and Balanced $350k after the Resilient recommendation.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Downside still pays back in 3.5 years; base case nets $25k over three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6126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2526E"/>
                </a:solidFill>
                <a:latin typeface="Arial"/>
              </a:defRPr>
            </a:pPr>
            <a:r>
              <a:t>Annual saving by scenario ($k/yr) - Resilient, $440k investment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645920"/>
          <a:ext cx="61264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995160" y="1188720"/>
            <a:ext cx="464515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2526E"/>
                </a:solidFill>
                <a:latin typeface="Arial"/>
              </a:defRPr>
            </a:pPr>
            <a:r>
              <a:t>Payback and three-year net by scenario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995160" y="1645920"/>
          <a:ext cx="464515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288"/>
                <a:gridCol w="1161288"/>
                <a:gridCol w="1161288"/>
                <a:gridCol w="1161288"/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yrs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3-year net $k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Downside 80%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124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3.5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-68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Base 100%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2.8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Upside 120%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186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2.4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118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995160" y="4800600"/>
            <a:ext cx="4645152" cy="1051560"/>
          </a:xfrm>
          <a:prstGeom prst="roundRect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4937760"/>
            <a:ext cx="42976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Downside is -$68k at Year 3: the Week 10 gate must protect against committing rollout on weak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526E"/>
                </a:solidFill>
                <a:latin typeface="Arial"/>
              </a:defRPr>
            </a:pPr>
            <a:r>
              <a:t>Scenarios = 80% / 100% / 120% of $155k/yr. Payback = 440 / saving. Three-year net = 3 x saving - 440.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78C"/>
                </a:solidFill>
                <a:latin typeface="Arial"/>
              </a:defRPr>
            </a:pPr>
            <a:r>
              <a:t>Aster cold-chain  |  Resilient scenarios  |  Currency: $k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9167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South is the only capacity-constrained site: 340/day demand vs 320/day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2526E"/>
                </a:solidFill>
                <a:latin typeface="Arial"/>
              </a:defRPr>
            </a:pPr>
            <a:r>
              <a:t>Daily demand and capacity by site (shipments/day) - not six-month totals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109167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334"/>
                <a:gridCol w="2218334"/>
                <a:gridCol w="2218334"/>
                <a:gridCol w="2218334"/>
                <a:gridCol w="2218336"/>
              </a:tblGrid>
              <a:tr h="5029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Demand/day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Capacity/day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 %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380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Ari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290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94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Bo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Cy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94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Dee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340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96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Eli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892040"/>
            <a:ext cx="3520440" cy="1280160"/>
          </a:xfrm>
          <a:prstGeom prst="roundRect">
            <a:avLst/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315468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TOTAL DAILY DEMAND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1,600 / 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4892040"/>
            <a:ext cx="3520440" cy="1280160"/>
          </a:xfrm>
          <a:prstGeom prst="roundRect">
            <a:avLst/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5029200"/>
            <a:ext cx="315468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TOTAL DAILY CAPACITY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1,710 / 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892040"/>
            <a:ext cx="3502152" cy="1280160"/>
          </a:xfrm>
          <a:prstGeom prst="roundRect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5010912"/>
            <a:ext cx="324612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42318"/>
                </a:solidFill>
                <a:latin typeface="Arial"/>
              </a:defRPr>
            </a:pPr>
            <a:r>
              <a:t>CONSTRAINED: South only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42318"/>
                </a:solidFill>
                <a:latin typeface="Arial"/>
              </a:defRPr>
            </a:pPr>
            <a:r>
              <a:t>20/day over capacity; 89% on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109167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78C"/>
                </a:solidFill>
                <a:latin typeface="Arial"/>
              </a:defRPr>
            </a:pPr>
            <a:r>
              <a:t>Network headroom is 110/day overall (1,710 - 1,600), but it sits at North, Central, East and West - not South.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167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Roadmap: Week 10 Decision gate after Validate + Train, then rollout Weeks 11-14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91672" cy="196596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3383280"/>
            <a:ext cx="11091672" cy="169164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8686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77639"/>
            <a:ext cx="868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People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91640" y="1783080"/>
            <a:ext cx="1691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1874519"/>
            <a:ext cx="16002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Weeks 1-2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Dep: None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1783080"/>
            <a:ext cx="1691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1874519"/>
            <a:ext cx="16002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Weeks 3-5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Dep: Design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1783080"/>
            <a:ext cx="1691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1874519"/>
            <a:ext cx="16002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Weeks 6-8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Dep: Build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0" y="3749039"/>
            <a:ext cx="1691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547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3840480"/>
            <a:ext cx="16002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Weeks 6-8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Dep: Build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2743200"/>
            <a:ext cx="1691640" cy="105156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2816352"/>
            <a:ext cx="16002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DECISION 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Week 10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Dep: Validate + Train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21240" y="1783080"/>
            <a:ext cx="1554480" cy="96012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60" y="1874519"/>
            <a:ext cx="14630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Weeks 11-14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Dep: Gate GO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383280" y="2267712"/>
            <a:ext cx="320040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394960" y="2267712"/>
            <a:ext cx="320040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29200" y="2743200"/>
            <a:ext cx="1005840" cy="1005839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406640" y="2468880"/>
            <a:ext cx="411480" cy="50292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406640" y="3566160"/>
            <a:ext cx="411480" cy="50292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9509760" y="2743200"/>
            <a:ext cx="731520" cy="18288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5303520"/>
            <a:ext cx="1109167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Sequence: Design (1-2) -&gt; Build (3-5) -&gt; Validate (6-8) and Train (6-8) -&gt; Decision Gate (Week 10) -&gt; Rollout (11-14, Gate GO only).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172200"/>
            <a:ext cx="1109167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78C"/>
                </a:solidFill>
                <a:latin typeface="Arial"/>
              </a:defRPr>
            </a:pPr>
            <a:r>
              <a:t>Lines show dependencies. Both Validate AND Train must complete before the Week 10 gate. No rollout before a GO decision.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2B4D"/>
                </a:solidFill>
                <a:latin typeface="Arial"/>
              </a:defRPr>
            </a:pPr>
            <a:r>
              <a:t>Top risk is now R5 (L3 x I5): high-impact risks R2, R3 and R5 need mitigation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554480"/>
            <a:ext cx="4114800" cy="4114800"/>
          </a:xfrm>
          <a:prstGeom prst="rect">
            <a:avLst/>
          </a:prstGeom>
          <a:solidFill>
            <a:srgbClr val="FFF8E6"/>
          </a:solidFill>
          <a:ln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737360" y="1554480"/>
            <a:ext cx="0" cy="4114800"/>
          </a:xfrm>
          <a:prstGeom prst="line">
            <a:avLst/>
          </a:prstGeom>
          <a:ln w="12700">
            <a:solidFill>
              <a:srgbClr val="B3B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560320" y="1554480"/>
            <a:ext cx="0" cy="4114800"/>
          </a:xfrm>
          <a:prstGeom prst="line">
            <a:avLst/>
          </a:prstGeom>
          <a:ln w="12700">
            <a:solidFill>
              <a:srgbClr val="B3B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383280" y="1554480"/>
            <a:ext cx="0" cy="4114800"/>
          </a:xfrm>
          <a:prstGeom prst="line">
            <a:avLst/>
          </a:prstGeom>
          <a:ln w="12700">
            <a:solidFill>
              <a:srgbClr val="B3B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206240" y="1554480"/>
            <a:ext cx="0" cy="4114800"/>
          </a:xfrm>
          <a:prstGeom prst="line">
            <a:avLst/>
          </a:prstGeom>
          <a:ln w="12700">
            <a:solidFill>
              <a:srgbClr val="B3B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14400" y="2377440"/>
            <a:ext cx="4114800" cy="0"/>
          </a:xfrm>
          <a:prstGeom prst="line">
            <a:avLst/>
          </a:prstGeom>
          <a:ln w="12700">
            <a:solidFill>
              <a:srgbClr val="B3B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14400" y="3200400"/>
            <a:ext cx="4114800" cy="0"/>
          </a:xfrm>
          <a:prstGeom prst="line">
            <a:avLst/>
          </a:prstGeom>
          <a:ln w="12700">
            <a:solidFill>
              <a:srgbClr val="B3B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4400" y="4023360"/>
            <a:ext cx="4114800" cy="0"/>
          </a:xfrm>
          <a:prstGeom prst="line">
            <a:avLst/>
          </a:prstGeom>
          <a:ln w="12700">
            <a:solidFill>
              <a:srgbClr val="B3B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" y="4846320"/>
            <a:ext cx="4114800" cy="0"/>
          </a:xfrm>
          <a:prstGeom prst="line">
            <a:avLst/>
          </a:prstGeom>
          <a:ln w="12700">
            <a:solidFill>
              <a:srgbClr val="B3B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651760" y="2633472"/>
            <a:ext cx="640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42318"/>
                </a:solidFill>
                <a:latin typeface="Arial"/>
              </a:defRPr>
            </a:pPr>
            <a:r>
              <a:t>R1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4279392"/>
            <a:ext cx="640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42318"/>
                </a:solidFill>
                <a:latin typeface="Arial"/>
              </a:defRPr>
            </a:pPr>
            <a:r>
              <a:t>R2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456432"/>
            <a:ext cx="640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42318"/>
                </a:solidFill>
                <a:latin typeface="Arial"/>
              </a:defRPr>
            </a:pPr>
            <a:r>
              <a:t>R3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279392"/>
            <a:ext cx="640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F86"/>
                </a:solidFill>
                <a:latin typeface="Arial"/>
              </a:defRPr>
            </a:pPr>
            <a:r>
              <a:t>R4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456432"/>
            <a:ext cx="640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42318"/>
                </a:solidFill>
                <a:latin typeface="Arial"/>
              </a:defRPr>
            </a:pPr>
            <a:r>
              <a:t>R5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1207008"/>
            <a:ext cx="411480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Likelihood 1-5 (1 at bottom, 5 at top)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035040"/>
            <a:ext cx="411480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2B4D"/>
                </a:solidFill>
                <a:latin typeface="Arial"/>
              </a:defRPr>
            </a:pPr>
            <a:r>
              <a:t>Impact 1-5 -&gt;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715000"/>
            <a:ext cx="4114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2526E"/>
                </a:solidFill>
                <a:latin typeface="Arial"/>
              </a:defRPr>
            </a:pPr>
            <a:r>
              <a:t>1             2             3             4             5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1691640"/>
            <a:ext cx="365760" cy="3840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2526E"/>
                </a:solidFill>
                <a:latin typeface="Arial"/>
              </a:defRPr>
            </a:pPr>
            <a:r>
              <a:t>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2526E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2526E"/>
                </a:solidFill>
                <a:latin typeface="Arial"/>
              </a:defRPr>
            </a:pPr>
            <a:r>
              <a:t>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2526E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2526E"/>
                </a:solidFill>
                <a:latin typeface="Arial"/>
              </a:defRPr>
            </a:pPr>
            <a:r>
              <a:t>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2526E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2526E"/>
                </a:solidFill>
                <a:latin typeface="Arial"/>
              </a:defRPr>
            </a:pPr>
            <a:r>
              <a:t>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2526E"/>
                </a:solidFill>
                <a:latin typeface="Arial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2526E"/>
                </a:solidFill>
                <a:latin typeface="Arial"/>
              </a:defRPr>
            </a:pPr>
            <a:r>
              <a:t>1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486400" y="1554480"/>
          <a:ext cx="6153912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8478"/>
                <a:gridCol w="1538478"/>
                <a:gridCol w="1538478"/>
                <a:gridCol w="1538478"/>
              </a:tblGrid>
              <a:tr h="5943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ID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Likelihood 1-5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Impact 1-5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R1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Cross-train two crews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R2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Dual-source hardware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R3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failover weekly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R4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Audit labels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R5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backup power before gate</a:t>
                      </a:r>
                    </a:p>
                  </a:txBody>
                  <a:tcPr marL="64008" marR="64008" marT="36576" marB="36576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486400" y="5303520"/>
            <a:ext cx="6153912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526E"/>
                </a:solidFill>
                <a:latin typeface="Arial"/>
              </a:defRPr>
            </a:pPr>
            <a:r>
              <a:t>Read: R1 = L4 x I3, R2 = L2 x I5, R3 = L3 x I4, R4 = L2 x I2, R5 = L3 x I5. Matrix plots Likelihood (vertical) by Impact (horizontal).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Decision: fund Resilient now; Week 10 gate is GO only if every threshold passes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3566160" cy="3108960"/>
          </a:xfrm>
          <a:prstGeom prst="roundRect">
            <a:avLst/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3108960" cy="2743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FUNDING - RESILIENT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Investment: $440k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Annual saving: $155k/yr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Payback: 2.8 years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Three-year net: $25k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325880"/>
            <a:ext cx="4160520" cy="3108960"/>
          </a:xfrm>
          <a:prstGeom prst="round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463040"/>
            <a:ext cx="37033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GO / NO-GO GATE - WEEK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011680"/>
            <a:ext cx="37033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1. Uptime &gt;= 99.5%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606040"/>
            <a:ext cx="370332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2. All five sites &gt;= 95% on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337560"/>
            <a:ext cx="37033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3. Backup-power test passed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931920"/>
            <a:ext cx="3703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2526E"/>
                </a:solidFill>
                <a:latin typeface="Arial"/>
              </a:defRPr>
            </a:pPr>
            <a:r>
              <a:t>All three must pass (AND).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1325880"/>
            <a:ext cx="2724912" cy="141732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1463040"/>
            <a:ext cx="2450592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IF GO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Rollout Weeks 11-14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3017520"/>
            <a:ext cx="2724912" cy="1417320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3154680"/>
            <a:ext cx="2450592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IF ANY FAILS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HOLD - no rollout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09160"/>
            <a:ext cx="11091672" cy="1325880"/>
          </a:xfrm>
          <a:prstGeom prst="round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64608"/>
            <a:ext cx="1056132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Fallback and next step: HOLD if any threshold fails at Week 10 - fix and re-test before any rollout. On GO, proceed directly to rollout in Weeks 11-14 (Gate dependency: Validate AND Train complete).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26364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2526E"/>
                </a:solidFill>
                <a:latin typeface="Arial"/>
              </a:defRPr>
            </a:pPr>
            <a:r>
              <a:t>Gate rule: Uptime &gt;=99.5% AND all five sites &gt;=95% on time AND backup-power test passed.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37960"/>
            <a:ext cx="11091672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78C"/>
                </a:solidFill>
                <a:latin typeface="Arial"/>
              </a:defRPr>
            </a:pPr>
            <a:r>
              <a:t>Aster cold-chain  |  Resilient $440k  |  Currency: $k  |  All data synthetic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