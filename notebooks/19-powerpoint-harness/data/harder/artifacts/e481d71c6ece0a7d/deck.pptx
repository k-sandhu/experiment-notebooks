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3BAC5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950</c:v>
                </c:pt>
                <c:pt idx="1">
                  <c:v>970</c:v>
                </c:pt>
                <c:pt idx="2">
                  <c:v>840</c:v>
                </c:pt>
                <c:pt idx="3">
                  <c:v>1040</c:v>
                </c:pt>
                <c:pt idx="4">
                  <c:v>820</c:v>
                </c:pt>
                <c:pt idx="5">
                  <c:v>1050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870</c:v>
                </c:pt>
                <c:pt idx="1">
                  <c:v>850</c:v>
                </c:pt>
                <c:pt idx="2">
                  <c:v>720</c:v>
                </c:pt>
                <c:pt idx="3">
                  <c:v>1080</c:v>
                </c:pt>
                <c:pt idx="4">
                  <c:v>720</c:v>
                </c:pt>
                <c:pt idx="5">
                  <c:v>910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$k/yr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155</c:v>
                </c:pt>
                <c:pt idx="2">
                  <c:v>186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Fund Resilient: $440k saves $155k/yr, pays back in 2.8 years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Aster cold-chain · regional distribution capacity · operations committee decision · synthetic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2587752" cy="173736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2331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7F86"/>
                </a:solidFill>
                <a:latin typeface="Arial"/>
              </a:defRPr>
            </a:pPr>
            <a:r>
              <a:t>$440k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23317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Investment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Resilient option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783080"/>
            <a:ext cx="2587752" cy="17373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920240"/>
            <a:ext cx="2331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2B4D"/>
                </a:solidFill>
                <a:latin typeface="Arial"/>
              </a:defRPr>
            </a:pPr>
            <a:r>
              <a:t>$155k/yr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743200"/>
            <a:ext cx="23317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Annual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base 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2587752" cy="17373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920240"/>
            <a:ext cx="2331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2B4D"/>
                </a:solidFill>
                <a:latin typeface="Arial"/>
              </a:defRPr>
            </a:pPr>
            <a:r>
              <a:t>2.8 yrs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43200"/>
            <a:ext cx="23317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Simple payback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440 ÷ 155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1783080"/>
            <a:ext cx="2587752" cy="17373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1920240"/>
            <a:ext cx="2331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2B4D"/>
                </a:solidFill>
                <a:latin typeface="Arial"/>
              </a:defRPr>
            </a:pPr>
            <a:r>
              <a:t>+$25k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743200"/>
            <a:ext cx="23317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Three-year net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3 × 155 − 440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40480"/>
            <a:ext cx="6766560" cy="2286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77639"/>
            <a:ext cx="6400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Why act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34840"/>
            <a:ext cx="6400800" cy="1600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Shipments 520 (9.2%) below six-month target: 5,150 vs 5,670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South demand of 340/day exceeds its 320/day capacity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Uptime now outranks price: only Resilient (99.8%) is rated above the 99.5% gate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3840480"/>
            <a:ext cx="4050791" cy="2286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3977639"/>
            <a:ext cx="3657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Decision requested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434840"/>
            <a:ext cx="3657600" cy="1600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Fund $440k for Resilient today.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Go/no-go gate at week 10; rollout weeks 11–14 only on GO, otherwise HOLD.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Shipments missed target in 5 of 6 months, 520 short overall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Monthly gap vs target: M1 −80 · M2 −120 · M3 −120 · M4 +40 · M5 −100 · M6 −140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7680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E6C84"/>
                </a:solidFill>
                <a:latin typeface="Arial"/>
              </a:defRPr>
            </a:pPr>
            <a:r>
              <a:t>Shipments per month, actual vs target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2057400"/>
          <a:ext cx="768096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8595360" y="1828800"/>
            <a:ext cx="3044952" cy="114300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32520" y="1892807"/>
            <a:ext cx="27889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7F86"/>
                </a:solidFill>
                <a:latin typeface="Arial"/>
              </a:defRPr>
            </a:pPr>
            <a:r>
              <a:t>5,150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2487168"/>
            <a:ext cx="2788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Total actual shipments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3108960"/>
            <a:ext cx="3044952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3172968"/>
            <a:ext cx="27889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5,670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767328"/>
            <a:ext cx="2788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Total target shipments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4389120"/>
            <a:ext cx="3044952" cy="1143000"/>
          </a:xfrm>
          <a:prstGeom prst="rect">
            <a:avLst/>
          </a:prstGeom>
          <a:solidFill>
            <a:srgbClr val="FB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4453128"/>
            <a:ext cx="27889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B42318"/>
                </a:solidFill>
                <a:latin typeface="Arial"/>
              </a:defRPr>
            </a:pPr>
            <a:r>
              <a:t>−520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5047488"/>
            <a:ext cx="2788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Gap (9.2% below target)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5669280"/>
            <a:ext cx="304495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M4 is the only month above target (+40); largest shortfall M6 at −140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Resilient is the only option rated above the 99.5% uptime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Reference option values unchanged; Resilient now selected because uptime outranks price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76809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2.3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 (selected)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84048" y="3749039"/>
            <a:ext cx="109728" cy="5486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76809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Payback = investment ÷ annual saving (one decimal). 3-yr net = 3 × saving − investment.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0"/>
            <a:ext cx="7680960" cy="1097280"/>
          </a:xfrm>
          <a:prstGeom prst="rect">
            <a:avLst/>
          </a:prstGeom>
          <a:solidFill>
            <a:srgbClr val="FB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73152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42318"/>
                </a:solidFill>
                <a:latin typeface="Arial"/>
              </a:defRPr>
            </a:pPr>
            <a:r>
              <a:t>Cost of the uptime: Resilient has the lowest 3-yr net of the three ($25k vs $40k Balanced and $65k Lean).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1783080"/>
            <a:ext cx="3136392" cy="434340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874519"/>
            <a:ext cx="28346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The tradeoff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331720"/>
            <a:ext cx="2834640" cy="3703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vs Balanced: +$90k cost, +$25k/yr saving, +0.8 pts uptime, 2 weeks longer; 3-yr net $15k lower.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vs Lean: +$220k cost, +$60k/yr saving, +2.3 pts uptime, 4 weeks longer; 3-yr net $40k lower.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Why: 99.8% clears the 99.5% gate; Balanced (99.0%) and Lean (97.5%) do not.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Downside misses 3-yr breakeven; base clears it by only $25k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Scenarios at 80 / 100 / 120% of Resilient's $155k/yr saving; $440k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217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E6C84"/>
                </a:solidFill>
                <a:latin typeface="Arial"/>
              </a:defRPr>
            </a:pPr>
            <a:r>
              <a:t>Annual saving by scenario, $k/yr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2057400"/>
          <a:ext cx="6217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0" y="2057400"/>
          <a:ext cx="450799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998"/>
                <a:gridCol w="1126998"/>
                <a:gridCol w="1126998"/>
                <a:gridCol w="1126998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124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−68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+25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186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+118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132320" y="4526280"/>
            <a:ext cx="4507992" cy="1600200"/>
          </a:xfrm>
          <a:prstGeom prst="rect">
            <a:avLst/>
          </a:prstGeom>
          <a:solidFill>
            <a:srgbClr val="FB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4617720"/>
            <a:ext cx="4160520" cy="1417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Three-year breakeven needs ≥$147k/yr (440 ÷ 3). Downside is ≈$23k/yr short, so the week-10 gate must confirm performance before rollout spend.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South is the only site where daily demand exceeds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Daily shipments by site; headroom = capacity − demand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78638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640"/>
                <a:gridCol w="1310640"/>
                <a:gridCol w="1310640"/>
                <a:gridCol w="1310640"/>
                <a:gridCol w="1310640"/>
                <a:gridCol w="1310640"/>
              </a:tblGrid>
              <a:tr h="5486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Headroom/day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380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+30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1,600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1,710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+110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84048" y="3429000"/>
            <a:ext cx="109728" cy="54864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32520" y="1783080"/>
            <a:ext cx="2907792" cy="128016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847088"/>
            <a:ext cx="26517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7F86"/>
                </a:solidFill>
                <a:latin typeface="Arial"/>
              </a:defRPr>
            </a:pPr>
            <a:r>
              <a:t>1,600 / 1,710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395728"/>
            <a:ext cx="26517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Total daily demand / capacity (94% utilized)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8732520" y="3200400"/>
            <a:ext cx="2907792" cy="1143000"/>
          </a:xfrm>
          <a:prstGeom prst="rect">
            <a:avLst/>
          </a:prstGeom>
          <a:solidFill>
            <a:srgbClr val="FB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3291840"/>
            <a:ext cx="265176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42318"/>
                </a:solidFill>
                <a:latin typeface="Arial"/>
              </a:defRPr>
            </a:pPr>
            <a:r>
              <a:t>Capacity-constrained: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42318"/>
                </a:solidFill>
                <a:latin typeface="Arial"/>
              </a:defRPr>
            </a:pPr>
            <a:r>
              <a:t>South (−20/day)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32520" y="4480560"/>
            <a:ext cx="2907792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4544568"/>
            <a:ext cx="265176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Below 95% on-time gate: Central 94, South 89, East 94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Gate moves to week 10; rollout runs weeks 11–14 only on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Critical path: Design → Build → Validate → Gate → Rollout; Train runs alongside Validate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645920"/>
            <a:ext cx="685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E6C84"/>
                </a:solidFill>
                <a:latin typeface="Arial"/>
              </a:defRPr>
            </a:pPr>
            <a:r>
              <a:t>W1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0680" y="1645920"/>
            <a:ext cx="685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E6C84"/>
                </a:solidFill>
                <a:latin typeface="Arial"/>
              </a:defRPr>
            </a:pPr>
            <a:r>
              <a:t>W6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1645920"/>
            <a:ext cx="685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1645920"/>
            <a:ext cx="685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E6C84"/>
                </a:solidFill>
                <a:latin typeface="Arial"/>
              </a:defRPr>
            </a:pPr>
            <a:r>
              <a:t>W14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04288"/>
            <a:ext cx="1371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38728"/>
            <a:ext cx="1371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64608"/>
            <a:ext cx="1371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66543" y="2011680"/>
            <a:ext cx="1261872" cy="10058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66543" y="2103120"/>
            <a:ext cx="126187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W1–2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No dependency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8144" y="2011680"/>
            <a:ext cx="1947672" cy="10058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8144" y="2148840"/>
            <a:ext cx="194767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Build · W3–5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After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95544" y="2011680"/>
            <a:ext cx="1947672" cy="10058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95544" y="2148840"/>
            <a:ext cx="194767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Validate · W6–8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After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24544" y="2011680"/>
            <a:ext cx="2633472" cy="1005840"/>
          </a:xfrm>
          <a:prstGeom prst="rect">
            <a:avLst/>
          </a:prstGeom>
          <a:solidFill>
            <a:srgbClr val="005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24544" y="2148840"/>
            <a:ext cx="263347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Rollout · W11–14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After Gate 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38744" y="3337560"/>
            <a:ext cx="576072" cy="82296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3024" y="3474720"/>
            <a:ext cx="66751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95544" y="4572000"/>
            <a:ext cx="1947672" cy="1005840"/>
          </a:xfrm>
          <a:prstGeom prst="rect">
            <a:avLst/>
          </a:prstGeom>
          <a:solidFill>
            <a:srgbClr val="4C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95544" y="4709160"/>
            <a:ext cx="194767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Train · W6–8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After Build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328416" y="2514600"/>
            <a:ext cx="109728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85816" y="2514600"/>
            <a:ext cx="109728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29200" y="3017520"/>
            <a:ext cx="640080" cy="155448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223760" y="3017520"/>
            <a:ext cx="1014984" cy="59436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443216" y="3931920"/>
            <a:ext cx="795528" cy="91440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814816" y="3017520"/>
            <a:ext cx="512064" cy="54864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B4D"/>
                </a:solidFill>
                <a:latin typeface="Arial"/>
              </a:defRPr>
            </a:pPr>
            <a:r>
              <a:t>Week-10 go/no-go gate needs Validate AND Train complete (both end week 8). GO → Rollout weeks 11–14; any failed threshold → HOLD.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New R5 (backup power, 3 × 5 = 15) is now the top risk; every risk has a named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463040" y="1828800"/>
            <a:ext cx="4343400" cy="3886200"/>
          </a:xfrm>
          <a:prstGeom prst="rect">
            <a:avLst/>
          </a:prstGeom>
          <a:solidFill>
            <a:srgbClr val="F7F8F9"/>
          </a:solidFill>
          <a:ln>
            <a:solidFill>
              <a:srgbClr val="C1C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331720" y="1828800"/>
            <a:ext cx="0" cy="388620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00400" y="1828800"/>
            <a:ext cx="0" cy="388620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069080" y="1828800"/>
            <a:ext cx="0" cy="388620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937760" y="1828800"/>
            <a:ext cx="0" cy="388620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606040"/>
            <a:ext cx="434340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63040" y="3383280"/>
            <a:ext cx="434340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63040" y="4160520"/>
            <a:ext cx="434340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63040" y="4937760"/>
            <a:ext cx="434340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069080" y="3566160"/>
            <a:ext cx="868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42318"/>
                </a:solidFill>
                <a:latin typeface="Arial"/>
              </a:defRPr>
            </a:pPr>
            <a:r>
              <a:t>R1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011680"/>
            <a:ext cx="868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54708"/>
                </a:solidFill>
                <a:latin typeface="Arial"/>
              </a:defRPr>
            </a:pPr>
            <a: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88920"/>
            <a:ext cx="868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42318"/>
                </a:solidFill>
                <a:latin typeface="Arial"/>
              </a:defRPr>
            </a:pPr>
            <a:r>
              <a:t>R3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343400"/>
            <a:ext cx="868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Arial"/>
              </a:defRPr>
            </a:pPr>
            <a:r>
              <a:t>R4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011680"/>
            <a:ext cx="868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42318"/>
                </a:solidFill>
                <a:latin typeface="Arial"/>
              </a:defRPr>
            </a:pPr>
            <a:r>
              <a:t>R5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74243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74243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74243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574243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574243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029968"/>
            <a:ext cx="365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2807208"/>
            <a:ext cx="365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584448"/>
            <a:ext cx="365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361688"/>
            <a:ext cx="365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138928"/>
            <a:ext cx="365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6080760"/>
            <a:ext cx="4343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Likelihood (1–5)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1828800"/>
            <a:ext cx="8686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↑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Impact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(1–5)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309360" y="1828800"/>
          <a:ext cx="5330952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6984"/>
                <a:gridCol w="1776984"/>
                <a:gridCol w="1776984"/>
              </a:tblGrid>
              <a:tr h="6477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Likelihood × Impact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 × 3 = 12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 × 5 = 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 × 4 = 12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 × 2 = 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 × 5 = 15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backup power before gate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Approve $440k now; roll out weeks 11–14 only if all thresholds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One funding decision today, one go/no-go decision at the week-10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2743200" cy="39319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3774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1 · Fund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237744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$440k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Resilient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237744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$155k/yr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2.8-yr payback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+$25k three-year net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783080"/>
            <a:ext cx="4572000" cy="39319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920240"/>
            <a:ext cx="4206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2 · Week-10 gate: all three must pass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2423160"/>
            <a:ext cx="42062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1C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487168"/>
            <a:ext cx="3977639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Uptime ≥ 99.5%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Resilient is rated 99.8%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3520440"/>
            <a:ext cx="42062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1C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3584448"/>
            <a:ext cx="3977639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All five sites ≥ 95% on time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Today 2 of 5 meet it (North, West)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4617720"/>
            <a:ext cx="42062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1C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4681728"/>
            <a:ext cx="3977639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Backup-power test passed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Result required at the week-10 gate (R5)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38160" y="2697480"/>
            <a:ext cx="274320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138160" y="4800600"/>
            <a:ext cx="274320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412480" y="1783080"/>
            <a:ext cx="3227832" cy="1828800"/>
          </a:xfrm>
          <a:prstGeom prst="rect">
            <a:avLst/>
          </a:prstGeom>
          <a:solidFill>
            <a:srgbClr val="E6F4F4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965960"/>
            <a:ext cx="288036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Arial"/>
              </a:defRPr>
            </a:pPr>
            <a:r>
              <a:t>GO — all pass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Arial"/>
              </a:defRPr>
            </a:pPr>
            <a:r>
              <a:t>Roll out weeks 11–14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3886200"/>
            <a:ext cx="3227832" cy="1828800"/>
          </a:xfrm>
          <a:prstGeom prst="rect">
            <a:avLst/>
          </a:prstGeom>
          <a:solidFill>
            <a:srgbClr val="FBEAE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4069080"/>
            <a:ext cx="288036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42318"/>
                </a:solidFill>
                <a:latin typeface="Arial"/>
              </a:defRPr>
            </a:pPr>
            <a:r>
              <a:t>HOLD — any one fails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42318"/>
                </a:solidFill>
                <a:latin typeface="Arial"/>
              </a:defRPr>
            </a:pPr>
            <a:r>
              <a:t>No rollout until the committee reviews again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Ask: approve $440k for Resilient today and confirm the three thresholds as the binding week-10 go/no-go criteria.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