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910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7C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Fund Balanced; release rollout only after the week 8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79"/>
                </a:solidFill>
                <a:latin typeface="Arial"/>
              </a:defRPr>
            </a:pPr>
            <a:r>
              <a:t>Aster cold-chain | Regional distribution capacity | Operations committee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691640"/>
            <a:ext cx="11155680" cy="82296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676D"/>
                </a:solidFill>
                <a:latin typeface="Arial"/>
              </a:defRPr>
            </a:pPr>
            <a:r>
              <a:t>Recommendation: approve the $350k Balanced investment with conditional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102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11480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3280" y="288036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$130k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62102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411480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288036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2.7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62102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411480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61120" y="2880360"/>
            <a:ext cx="26517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621024"/>
            <a:ext cx="26517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0" y="411480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4526280"/>
            <a:ext cx="3535680" cy="150876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636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Close the service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257800"/>
            <a:ext cx="3316224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Six-month actual shipments are 690 below target; South is capacity-constrained.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4526280"/>
            <a:ext cx="3535680" cy="150876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2648" y="4636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Resolve the uptime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2648" y="5257800"/>
            <a:ext cx="3316224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Balanced lists 99.0% uptime; demonstrate at least 99.5% before rollout.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4526280"/>
            <a:ext cx="3535680" cy="150876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648" y="4636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Keep release conditional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648" y="5257800"/>
            <a:ext cx="3316224" cy="66751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 8 gate controls GO. Any failed threshold means HOLD.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All data are synthetic. Currency: $k. Payback = investment / annual saving; three-year net = 3 × saving − investment. 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shipments miss the six-month target by 690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Actual is below target in every month; the cumulative shortfall is 12.2% of target.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645920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Monthly shipments | All 12 values shown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03120"/>
          <a:ext cx="7955279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23960" y="178308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49631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297180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23960" y="324612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70869B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95935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443484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23960" y="4709160"/>
            <a:ext cx="26517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36624"/>
                </a:solidFill>
                <a:latin typeface="Arial"/>
              </a:defRPr>
            </a:pPr>
            <a:r>
              <a:t>−690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422392"/>
            <a:ext cx="26517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Actual minus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3960" y="589788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Period totals are shipments over six months. Daily site demand and capacity are shown separately on slide 5. 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buys a middle-cost path, with an uptime hurdle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Reference option prices and specifications are unchanged. Selected option: Balanced.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943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480560"/>
            <a:ext cx="7132320" cy="1417320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45152"/>
            <a:ext cx="6675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Balanced tradeoff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$130k more than Lean buys $35k more annual saving. Versus Resilient, it saves $90k upfront but gives up $25k annual saving and 0.8 points of uptime.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4480560"/>
            <a:ext cx="3749039" cy="141732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4645152"/>
            <a:ext cx="3291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864B19"/>
                </a:solidFill>
                <a:latin typeface="Arial"/>
              </a:defRPr>
            </a:pPr>
            <a:r>
              <a:t>Gate remains binding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864B19"/>
                </a:solidFill>
                <a:latin typeface="Arial"/>
              </a:defRPr>
            </a:pPr>
            <a:r>
              <a:t>99.0% listed uptime is below the 99.5% rollout threshold. Validate performance at week 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Lead time is the reference option specification; the delivery roadmap schedules the release decision at week 8. 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The downside case produces a $38k three-year net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Balanced investment stays at $350k; annual saving varies to 80%, 100% and 120% of base.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91640"/>
            <a:ext cx="5303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Annual saving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539496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691640"/>
            <a:ext cx="5440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Return at the same $350k investment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194560"/>
          <a:ext cx="54406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67437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5166360"/>
            <a:ext cx="5440680" cy="77724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5074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64B19"/>
                </a:solidFill>
                <a:latin typeface="Arial"/>
              </a:defRPr>
            </a:pPr>
            <a:r>
              <a:t>Three-year break-even requires $116.7k annual saving.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Simple payback = 350 / annual saving, rounded to one decimal year. Three-year net = 3 × annual saving − 350. 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capacity-constrained despite network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Daily site figures show a local bottleneck; three sites also fall below the 95% on-time gate.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029200"/>
            <a:ext cx="256032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87568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 / day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126480"/>
            <a:ext cx="256031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1840" y="5029200"/>
            <a:ext cx="256032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687568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 / 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6126480"/>
            <a:ext cx="256032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17920" y="4983480"/>
            <a:ext cx="5440680" cy="1143000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102352"/>
            <a:ext cx="50749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64B19"/>
                </a:solidFill>
                <a:latin typeface="Arial"/>
              </a:defRPr>
            </a:pPr>
            <a:r>
              <a:t>Capacity-constrained: South, short 20/day.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64B19"/>
                </a:solidFill>
                <a:latin typeface="Arial"/>
              </a:defRPr>
            </a:pPr>
            <a:r>
              <a:t>Network headroom: 110/day.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64B19"/>
                </a:solidFill>
                <a:latin typeface="Arial"/>
              </a:defRPr>
            </a:pPr>
            <a:r>
              <a:t>Below 95% on time: Central, South and East.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Demand and capacity are daily shipments; they are distinct from the six-month shipment totals on slide 2. 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Validation and training converge at the week 8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Both lanes must finish before the gate; rollout in weeks 9–12 depends on Gate GO.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74519"/>
            <a:ext cx="11155680" cy="150876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977639"/>
            <a:ext cx="11155680" cy="1508760"/>
          </a:xfrm>
          <a:prstGeom prst="rect">
            <a:avLst/>
          </a:prstGeom>
          <a:solidFill>
            <a:srgbClr val="EA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143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143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76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33472"/>
            <a:ext cx="338327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84648" y="2633472"/>
            <a:ext cx="34747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84648" y="2633472"/>
            <a:ext cx="347472" cy="210312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2633472"/>
            <a:ext cx="45720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32320" y="3547872"/>
            <a:ext cx="457200" cy="118872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281160" y="2633472"/>
            <a:ext cx="45720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828800" y="2103120"/>
            <a:ext cx="15087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2194560"/>
            <a:ext cx="136245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No dependency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7" y="2103120"/>
            <a:ext cx="15087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194560"/>
            <a:ext cx="136245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After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103120"/>
            <a:ext cx="160020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2194560"/>
            <a:ext cx="145389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4206240"/>
            <a:ext cx="160020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83B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4297680"/>
            <a:ext cx="145389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816352"/>
            <a:ext cx="1691640" cy="14630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916936"/>
            <a:ext cx="1508760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Validate AND 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/ 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2103120"/>
            <a:ext cx="169164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2" y="2194560"/>
            <a:ext cx="154533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9–12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After Gate 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Connectors show prerequisite → dependent activity, read from left to right. Gate criteria appear on slide 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The gate is a shared decision across Technical and People delivery lanes. 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Prioritize R1 and R3; protect against R2’s maximum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1920240"/>
            <a:ext cx="4114800" cy="3291840"/>
          </a:xfrm>
          <a:prstGeom prst="rect">
            <a:avLst/>
          </a:prstGeom>
          <a:solidFill>
            <a:srgbClr val="F0F5F8"/>
          </a:solidFill>
          <a:ln>
            <a:solidFill>
              <a:srgbClr val="A7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03120" y="1920240"/>
            <a:ext cx="0" cy="329184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926080" y="1920240"/>
            <a:ext cx="0" cy="329184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49039" y="1920240"/>
            <a:ext cx="0" cy="329184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1920240"/>
            <a:ext cx="0" cy="329184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80160" y="2578608"/>
            <a:ext cx="4114800" cy="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3236976"/>
            <a:ext cx="4114800" cy="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0160" y="3895344"/>
            <a:ext cx="4114800" cy="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4553712"/>
            <a:ext cx="4114800" cy="0"/>
          </a:xfrm>
          <a:prstGeom prst="line">
            <a:avLst/>
          </a:prstGeom>
          <a:ln w="12700">
            <a:solidFill>
              <a:srgbClr val="C8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17320" y="5330952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5330952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5330952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330952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330952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8304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59936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01568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084831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374136"/>
            <a:ext cx="6400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057400"/>
            <a:ext cx="6400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B36624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715768"/>
            <a:ext cx="6400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6400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526579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353312"/>
            <a:ext cx="35661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Impact ↑  (1 low → 5 high)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52160"/>
            <a:ext cx="41148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Likelihood →  (1 low → 5 high)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035040" y="1920240"/>
          <a:ext cx="5623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</a:tblGrid>
              <a:tr h="658368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035040" y="5486400"/>
            <a:ext cx="5623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R1: likelihood 4, impact 3  |  R3: 3, 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R2: likelihood 2, impact 5  |  R4: 2,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Risk positions use the supplied 1–5 ratings. 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$350k now; require every week 8 threshold for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Funding request: Balanced | $130k annual saving | 2.7-year payback | $40k three-year net saving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64208"/>
            <a:ext cx="6720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Week 8 decision gate: ALL conditions must 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6720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420"/>
                <a:gridCol w="3360420"/>
              </a:tblGrid>
              <a:tr h="6057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 threshold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At least 99.5%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On-time service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All five sites at least 95% each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 power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 passed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691640"/>
            <a:ext cx="4069080" cy="1874519"/>
          </a:xfrm>
          <a:prstGeom prst="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65376"/>
            <a:ext cx="361188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676D"/>
                </a:solidFill>
                <a:latin typeface="Arial"/>
              </a:defRPr>
            </a:pPr>
            <a:r>
              <a:t>GO: every condition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676D"/>
                </a:solidFill>
                <a:latin typeface="Arial"/>
              </a:defRPr>
            </a:pPr>
            <a:r>
              <a:t>Authorize the next rollout across the five sites in weeks 9–12.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3840480"/>
            <a:ext cx="4069080" cy="1874519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014215"/>
            <a:ext cx="361188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4B19"/>
                </a:solidFill>
                <a:latin typeface="Arial"/>
              </a:defRPr>
            </a:pPr>
            <a:r>
              <a:t>HOLD: any condition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4B19"/>
                </a:solidFill>
                <a:latin typeface="Arial"/>
              </a:defRPr>
            </a:pPr>
            <a:r>
              <a:t>Pause rollout, remediate failed conditions, then repeat the gate before release.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937760"/>
            <a:ext cx="6720840" cy="8686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63550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Evidence to close: Balanced lists 99.0% uptime; Central, South and East currently miss 95% on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All data are synthetic. Funding approval does not replace the week 8 release gate. 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