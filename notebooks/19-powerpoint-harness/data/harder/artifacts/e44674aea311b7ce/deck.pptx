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6C8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Recommend Resilient: uptime takes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Approve $440k for the field sensor rollout. Release only after all operational conditions pass at the week-10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3566160" cy="146304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CHOSEN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468880"/>
            <a:ext cx="35661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65176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06324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468880"/>
            <a:ext cx="35661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6324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51960"/>
            <a:ext cx="5349240" cy="155448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4892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$25k = 3 × $155k − $440k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34340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99.8% reference uptime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800600"/>
            <a:ext cx="53035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Resilient is 0.3 percentage points above the 99.5% threshold. Measured uptime, site readiness and backup power must still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01  /  Fictional committee • All data synthetic • Currency throughout: $k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PERFORMANCE  /  SIX-MONTH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M4 beats target; six-month delivery is still 330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79552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A"/>
                </a:solidFill>
                <a:latin typeface="Arial"/>
              </a:defRPr>
            </a:pPr>
            <a:r>
              <a:t>Monthly readings • All 12 values shown • M4 actual corrected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148840"/>
          <a:ext cx="7955279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732520" y="2148840"/>
            <a:ext cx="2926080" cy="37490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2331720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SIX-MONTH TOTALS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78892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F86"/>
                </a:solidFill>
                <a:latin typeface="Arial"/>
              </a:defRPr>
            </a:pPr>
            <a:r>
              <a:t>5,630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356616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5,960 target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4343400"/>
            <a:ext cx="2468880" cy="0"/>
          </a:xfrm>
          <a:prstGeom prst="line">
            <a:avLst/>
          </a:prstGeom>
          <a:ln w="1270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0" y="457200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65F24"/>
                </a:solidFill>
                <a:latin typeface="Arial"/>
              </a:defRPr>
            </a:pPr>
            <a:r>
              <a:t>330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5257800"/>
            <a:ext cx="2468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A"/>
                </a:solidFill>
                <a:latin typeface="Arial"/>
              </a:defRPr>
            </a:pPr>
            <a:r>
              <a:t>5.5% below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02  /  All data synthetic • Monthly and total units: readings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OPTIONS  /  UNCHANGED REFERENCE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Resilient alone clears the reference uptime threshold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74519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709160"/>
            <a:ext cx="6995160" cy="123444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6537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SELECTED: RESILIENT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6537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Versus Balanced: $90k more investment and 2 more lead weeks, for $25k/year more saving and higher uptime.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754880"/>
            <a:ext cx="374903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Uptime now outranks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166360"/>
            <a:ext cx="3749039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99.8% reference uptime exceeds the 99.5% gate by 0.3 percentage 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03  /  All data synthetic • Reference option prices and specifications remain unchanged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ECONOMICS  /  SAVINGS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Resilient returns $25k over three years in the base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5760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Annual saving ($k) • Fixed investment: $440k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148840"/>
          <a:ext cx="57150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214884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7200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5303520"/>
            <a:ext cx="5120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65F24"/>
                </a:solidFill>
                <a:latin typeface="Arial"/>
              </a:defRPr>
            </a:pPr>
            <a:r>
              <a:t>At 80% of expected saving, investment is not recovered in three years: net loss of $68k.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04  /  Synthetic data • Payback = investment ÷ annual saving; 3-year net = 3 × annual saving −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SITE READINESS  /  DAILY OPERATING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North, Central and West need more daily capacity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74519"/>
          <a:ext cx="8321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5867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098280" y="1874519"/>
            <a:ext cx="25603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2057400"/>
            <a:ext cx="2194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DAILY TOTALS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606040"/>
            <a:ext cx="2194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1,700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3657600"/>
            <a:ext cx="2194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Arial"/>
              </a:defRPr>
            </a:pPr>
            <a:r>
              <a:t>1,660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475488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65F24"/>
                </a:solidFill>
                <a:latin typeface="Arial"/>
              </a:defRPr>
            </a:pPr>
            <a:r>
              <a:t>40/day net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65F24"/>
                </a:solidFill>
                <a:latin typeface="Arial"/>
              </a:defRPr>
            </a:pPr>
            <a:r>
              <a:t>Capacity deficits: North 40/day; Central 80/day; West 50/day.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65F24"/>
                </a:solidFill>
                <a:latin typeface="Arial"/>
              </a:defRPr>
            </a:pPr>
            <a:r>
              <a:t>Below the 95% on-time gate: North, East and West.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05  /  All data synthetic • Demand and capacity are daily readings, separate from the six-month totals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EXECUTION  /  TWO-LANE DEPENDENCY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Week-10 gate requires both validation and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1155680" cy="150876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11155680" cy="15087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280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26280"/>
            <a:ext cx="1280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2651760"/>
            <a:ext cx="365759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32120" y="2651760"/>
            <a:ext cx="36576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3108960"/>
            <a:ext cx="1143000" cy="1600200"/>
          </a:xfrm>
          <a:prstGeom prst="line">
            <a:avLst/>
          </a:prstGeom>
          <a:ln w="25400">
            <a:solidFill>
              <a:srgbClr val="52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52360" y="2651760"/>
            <a:ext cx="548640" cy="100584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52360" y="3657600"/>
            <a:ext cx="548640" cy="1051560"/>
          </a:xfrm>
          <a:prstGeom prst="line">
            <a:avLst/>
          </a:prstGeom>
          <a:ln w="25400">
            <a:solidFill>
              <a:srgbClr val="52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555480" y="2651760"/>
            <a:ext cx="365760" cy="100584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5740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331720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331720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331720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42519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2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89120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154680"/>
            <a:ext cx="1554480" cy="10058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236976"/>
            <a:ext cx="1371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2194560"/>
            <a:ext cx="1554480" cy="9144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331720"/>
            <a:ext cx="14630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Dependencies flow left to right. Design: none. Build enables Validate and Train.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Gate requires Validate AND Train; Rollout requires Gate GO.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06  /  All data synthetic • Week numbers are relative to project start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RISK  /  LIKELIHOOD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R2 and R5 have highest impact; R1 is most likely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5577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A"/>
                </a:solidFill>
                <a:latin typeface="Arial"/>
              </a:defRPr>
            </a:pPr>
            <a:r>
              <a:t>Impact ↑  1 low to 5 high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148840"/>
          <a:ext cx="5577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5943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806440"/>
            <a:ext cx="4709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Likelihood →  1 low to 5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5166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MITIGATIONS  /  (LIKELIHOOD, IMPACT)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48840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76856"/>
            <a:ext cx="4800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R1  ·  (4, 3)  Cross-train two crews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07792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035808"/>
            <a:ext cx="4800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R2  ·  (2, 5)  Dual-source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666744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794760"/>
            <a:ext cx="4800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R3  ·  (3, 4)  Test failover weekly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425696"/>
            <a:ext cx="5166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553712"/>
            <a:ext cx="4800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R4  ·  (2, 2)  Audit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184648"/>
            <a:ext cx="5166360" cy="86868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5312664"/>
            <a:ext cx="4800600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R5  ·  (3, 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Test backup power before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07  /  All data synthetic • Coordinate pairs are (likelihood, impact); IDs occupy their specified matrix 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DECISION  /  FUNDING AND RELEASE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Fund Resilient at $440k; release only if every gate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154680" cy="41148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697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FUNDING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697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2697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Resilient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26974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Base 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$155k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2.8-year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$25k three-year 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874519"/>
            <a:ext cx="7589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WEEK 10  /  ALL THREE CONDITIONS MUST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51460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33472"/>
            <a:ext cx="7223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29184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410712"/>
            <a:ext cx="7223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06908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187952"/>
            <a:ext cx="7223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4983480"/>
            <a:ext cx="7589520" cy="0"/>
          </a:xfrm>
          <a:prstGeom prst="line">
            <a:avLst/>
          </a:prstGeom>
          <a:ln w="1270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69080" y="5212080"/>
            <a:ext cx="37033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GO: every threshold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Next rollout: weeks 11–14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12080"/>
            <a:ext cx="3611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65F24"/>
                </a:solidFill>
                <a:latin typeface="Arial"/>
              </a:defRPr>
            </a:pPr>
            <a:r>
              <a:t>HOLD: any threshold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65F24"/>
                </a:solidFill>
                <a:latin typeface="Arial"/>
              </a:defRPr>
            </a:pPr>
            <a:r>
              <a:t>Remediate and repeat 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08  /  All data synthetic • Funding approval is distinct from the week-10 operational GO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