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980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9CAFC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Recommend Balanced; release rollout only after the week-8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73936"/>
            <a:ext cx="10881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t>Authorize the $350k investment for the field sensor rollout, with deployment conditional on measured readiness.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70048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852928"/>
            <a:ext cx="3154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$130k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538728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Annual saving · base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2670048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852928"/>
            <a:ext cx="3154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2.7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3538728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670048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852928"/>
            <a:ext cx="3154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$40k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38728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26280"/>
            <a:ext cx="11183112" cy="1417320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81728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The recommendation carries a readiness 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69848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Balanced reference uptime is 99.0%, below the 99.5% gate. Validate performance and all site thresholds before a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64224"/>
            <a:ext cx="10515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Synthetic decision case · Currency: $k · Payback = investment / annual saving · Three-year net = 3 × saving −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2528" y="6364224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Six-month readings missed target by 500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delivery reached 91.6% of target; every month finished below plan.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627632"/>
          <a:ext cx="79095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1417320"/>
            <a:ext cx="2743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D"/>
                </a:solidFill>
                <a:latin typeface="Arial"/>
              </a:defRPr>
            </a:pPr>
            <a:r>
              <a:t>Readings per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8732520" y="1737360"/>
            <a:ext cx="2944368" cy="4224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965960"/>
            <a:ext cx="248716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5,460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578608"/>
            <a:ext cx="248716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Total actual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200400"/>
            <a:ext cx="248716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813048"/>
            <a:ext cx="248716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Total target readings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4434840"/>
            <a:ext cx="248716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65F28"/>
                </a:solidFill>
                <a:latin typeface="Arial"/>
              </a:defRPr>
            </a:pPr>
            <a: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5047488"/>
            <a:ext cx="248716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Shortfall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Target − 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64224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Synthetic data · Six-month totals are readings; site demand and capacity later in the deck are daily measures.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364224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Balanced buys more saving than Lean, but uptime remains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option prices and performance remain unchanged; Balanced is the selected investment.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60579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434840"/>
            <a:ext cx="5468112" cy="1508760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90288"/>
            <a:ext cx="5010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SELECTED: 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10912"/>
            <a:ext cx="501091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Versus Lean: $140k more investment buys $35k more annual saving and 1.5 points of uptime.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434840"/>
            <a:ext cx="5468112" cy="1508760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590288"/>
            <a:ext cx="50109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55120"/>
                </a:solidFill>
                <a:latin typeface="Arial"/>
              </a:defRPr>
            </a:pPr>
            <a:r>
              <a:t>TRADEOFF TO 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010912"/>
            <a:ext cx="501091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Resilient costs $90k more, saves $25k more annually and adds 0.8 uptime points, with 2 more lead weeks.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64224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Synthetic reference options · Balanced uptime of 99.0% does not establish compliance with the 99.5% rollout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364224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The downside case turns three-year net saving negative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Savings sensitivity uses 80%, 100% and 120% of Balanced’s $130k annual saving; investment stays $350k.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4389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D"/>
                </a:solidFill>
                <a:latin typeface="Arial"/>
              </a:defRPr>
            </a:pPr>
            <a:r>
              <a:t>Annual saving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486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828800"/>
          <a:ext cx="53309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984"/>
                <a:gridCol w="1776984"/>
                <a:gridCol w="1776984"/>
              </a:tblGrid>
              <a:tr h="72009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55080" y="4983480"/>
            <a:ext cx="5330952" cy="960120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5129784"/>
            <a:ext cx="4892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F471C"/>
                </a:solidFill>
                <a:latin typeface="Arial"/>
              </a:defRPr>
            </a:pPr>
            <a:r>
              <a:t>A 20% saving reduction extends payback to 3.4 years and yields a $38k three-year net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64224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Synthetic sensitivity · Simple payback = 350 / annual saving, rounded to 1 decimal · Three-year net = 3 × annual saving − 350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364224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North, Central and West are capacity-constrained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Total daily demand exceeds capacity by 40; site-level bottlenecks require attention even where on-time service is high.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8311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49638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394960"/>
            <a:ext cx="5468112" cy="758952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13832"/>
            <a:ext cx="51023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F471C"/>
                </a:solidFill>
                <a:latin typeface="Arial"/>
              </a:defRPr>
            </a:pPr>
            <a:r>
              <a:t>Daily capacity deficits: North 40 · Central 80 · West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5394960"/>
            <a:ext cx="5468112" cy="758952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513832"/>
            <a:ext cx="51023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Below the 95% on-time gate: North, East and West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64224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Synthetic site data · Demand and capacity are daily readings, not six-month totals · Each site must reach ≥95% on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364224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Validate and Train must both finish before the week-8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Connected Technical and People lanes; rollout in weeks 9–12 depends on a GO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1183112" cy="146304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657600"/>
            <a:ext cx="11183112" cy="1463040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404872"/>
            <a:ext cx="1325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160520"/>
            <a:ext cx="1325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33472"/>
            <a:ext cx="32004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83480" y="2633472"/>
            <a:ext cx="36576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15968" y="3108960"/>
            <a:ext cx="0" cy="128016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15968" y="4389120"/>
            <a:ext cx="103327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12280" y="2633472"/>
            <a:ext cx="54864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12280" y="4389120"/>
            <a:ext cx="128016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92440" y="3246120"/>
            <a:ext cx="0" cy="11430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23960" y="2633472"/>
            <a:ext cx="548640" cy="0"/>
          </a:xfrm>
          <a:prstGeom prst="line">
            <a:avLst/>
          </a:prstGeom>
          <a:ln w="25400">
            <a:solidFill>
              <a:srgbClr val="526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65960" y="2148840"/>
            <a:ext cx="13716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39112" y="2276856"/>
            <a:ext cx="1225296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148840"/>
            <a:ext cx="13258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2276856"/>
            <a:ext cx="1179576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148840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6" y="2276856"/>
            <a:ext cx="129844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3904487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75A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4032504"/>
            <a:ext cx="129844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993392"/>
            <a:ext cx="1463040" cy="1252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130552"/>
            <a:ext cx="1298448" cy="9692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148840"/>
            <a:ext cx="19659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2276856"/>
            <a:ext cx="180136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Weeks 9–12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157984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522976"/>
            <a:ext cx="10972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Dependencies: Design has none; Build follows Design; Validate and Train follow Build; Gate requires both; Rollout requires Gate GO.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64224"/>
            <a:ext cx="1118311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Synthetic delivery plan · Connections show prerequisite → dependent activity.                                                                                    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R1 is most likely; R2 has the highest impact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Risk coordinates use likelihood and impact on 1–5 scales; mitigations cover all four identified risks.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828800"/>
            <a:ext cx="4114800" cy="3657600"/>
          </a:xfrm>
          <a:prstGeom prst="rect">
            <a:avLst/>
          </a:prstGeom>
          <a:solidFill>
            <a:srgbClr val="EAF0F6"/>
          </a:solidFill>
          <a:ln>
            <a:solidFill>
              <a:srgbClr val="B7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828800"/>
            <a:ext cx="1645920" cy="1463040"/>
          </a:xfrm>
          <a:prstGeom prst="rect">
            <a:avLst/>
          </a:prstGeom>
          <a:solidFill>
            <a:srgbClr val="F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11680" y="1828800"/>
            <a:ext cx="0" cy="36576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834640" y="1828800"/>
            <a:ext cx="0" cy="36576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1828800"/>
            <a:ext cx="0" cy="36576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60" y="1828800"/>
            <a:ext cx="0" cy="36576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2560320"/>
            <a:ext cx="41148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3291840"/>
            <a:ext cx="41148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4023360"/>
            <a:ext cx="41148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4754880"/>
            <a:ext cx="41148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1472184"/>
            <a:ext cx="3291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Likelihood (1 = low; 5 = high)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01168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7784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57784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57784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7784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57784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971032"/>
            <a:ext cx="4114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Impact (1 = low; 5 = high)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724912"/>
            <a:ext cx="73152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187952"/>
            <a:ext cx="73152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456432"/>
            <a:ext cx="73152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187952"/>
            <a:ext cx="73152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715000" y="1828800"/>
          <a:ext cx="597103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5516"/>
                <a:gridCol w="2985516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· L /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 · 4 / 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 · 2 /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 · 3 / 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 · 2 / 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$350k for Balanced; make rollout a conditional 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The steering group funds the selected option now and makes the deployment decision at the end of week 8.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154680" cy="449884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6609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8DCDD"/>
                </a:solidFill>
                <a:latin typeface="Arial"/>
              </a:defRPr>
            </a:pPr>
            <a:r>
              <a:t>FUNDING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266090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73552"/>
            <a:ext cx="2660904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Cedar sensor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352544"/>
            <a:ext cx="2660904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Base 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$130k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2.7-year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$40k three-year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91640"/>
            <a:ext cx="7406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WEEK 8: GO ONLY IF ALL THREE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267712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386584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017520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3136392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767328"/>
            <a:ext cx="766267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3886200"/>
            <a:ext cx="72603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617720"/>
            <a:ext cx="3685032" cy="1527048"/>
          </a:xfrm>
          <a:prstGeom prst="rect">
            <a:avLst/>
          </a:prstGeom>
          <a:solidFill>
            <a:srgbClr val="E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4754880"/>
            <a:ext cx="32826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ALL PASS →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5230368"/>
            <a:ext cx="328269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Proceed to the next rollout in weeks 9–12.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4617720"/>
            <a:ext cx="3776472" cy="1527048"/>
          </a:xfrm>
          <a:prstGeom prst="rect">
            <a:avLst/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7" y="4754880"/>
            <a:ext cx="33741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55120"/>
                </a:solidFill>
                <a:latin typeface="Arial"/>
              </a:defRPr>
            </a:pPr>
            <a:r>
              <a:t>ANY FAIL → 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5230368"/>
            <a:ext cx="337413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Remediate and re-test; defer rollout until all pass.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64224"/>
            <a:ext cx="104241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Synthetic decision case · The 99.0% Balanced reference uptime is below the gate; demonstrated readiness is required.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364224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